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5"/>
  </p:sldMasterIdLst>
  <p:notesMasterIdLst>
    <p:notesMasterId r:id="rId35"/>
  </p:notesMasterIdLst>
  <p:handoutMasterIdLst>
    <p:handoutMasterId r:id="rId36"/>
  </p:handoutMasterIdLst>
  <p:sldIdLst>
    <p:sldId id="256" r:id="rId6"/>
    <p:sldId id="258" r:id="rId7"/>
    <p:sldId id="259" r:id="rId8"/>
    <p:sldId id="287" r:id="rId9"/>
    <p:sldId id="260" r:id="rId10"/>
    <p:sldId id="261" r:id="rId11"/>
    <p:sldId id="286" r:id="rId12"/>
    <p:sldId id="262" r:id="rId13"/>
    <p:sldId id="263" r:id="rId14"/>
    <p:sldId id="264" r:id="rId15"/>
    <p:sldId id="265" r:id="rId16"/>
    <p:sldId id="266" r:id="rId17"/>
    <p:sldId id="267" r:id="rId18"/>
    <p:sldId id="268" r:id="rId19"/>
    <p:sldId id="269" r:id="rId20"/>
    <p:sldId id="289" r:id="rId21"/>
    <p:sldId id="285" r:id="rId22"/>
    <p:sldId id="270" r:id="rId23"/>
    <p:sldId id="271" r:id="rId24"/>
    <p:sldId id="272" r:id="rId25"/>
    <p:sldId id="282" r:id="rId26"/>
    <p:sldId id="274" r:id="rId27"/>
    <p:sldId id="275" r:id="rId28"/>
    <p:sldId id="276" r:id="rId29"/>
    <p:sldId id="277" r:id="rId30"/>
    <p:sldId id="278" r:id="rId31"/>
    <p:sldId id="279" r:id="rId32"/>
    <p:sldId id="288" r:id="rId33"/>
    <p:sldId id="300" r:id="rId34"/>
  </p:sldIdLst>
  <p:sldSz cx="9144000" cy="6858000" type="screen4x3"/>
  <p:notesSz cx="9144000" cy="6858000"/>
  <p:custDataLst>
    <p:tags r:id="rId37"/>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Untitled Section" id="{4284EADD-FE41-494D-A42C-2B60CCFC2DE6}">
          <p14:sldIdLst>
            <p14:sldId id="256"/>
            <p14:sldId id="258"/>
            <p14:sldId id="259"/>
            <p14:sldId id="287"/>
            <p14:sldId id="260"/>
            <p14:sldId id="261"/>
            <p14:sldId id="286"/>
            <p14:sldId id="262"/>
            <p14:sldId id="263"/>
            <p14:sldId id="264"/>
            <p14:sldId id="265"/>
            <p14:sldId id="266"/>
            <p14:sldId id="267"/>
            <p14:sldId id="268"/>
            <p14:sldId id="269"/>
            <p14:sldId id="289"/>
            <p14:sldId id="285"/>
            <p14:sldId id="270"/>
            <p14:sldId id="271"/>
            <p14:sldId id="272"/>
            <p14:sldId id="282"/>
            <p14:sldId id="274"/>
            <p14:sldId id="275"/>
            <p14:sldId id="276"/>
            <p14:sldId id="277"/>
            <p14:sldId id="278"/>
            <p14:sldId id="279"/>
            <p14:sldId id="288"/>
            <p14:sldId id="300"/>
          </p14:sldIdLst>
        </p14:section>
      </p14:sectionLst>
    </p:ext>
    <p:ext uri="{EFAFB233-063F-42B5-8137-9DF3F51BA10A}">
      <p15:sldGuideLst xmlns:p15="http://schemas.microsoft.com/office/powerpoint/2012/main">
        <p15:guide id="4" orient="horz" pos="3838">
          <p15:clr>
            <a:srgbClr val="A4A3A4"/>
          </p15:clr>
        </p15:guide>
        <p15:guide id="5" pos="2880">
          <p15:clr>
            <a:srgbClr val="A4A3A4"/>
          </p15:clr>
        </p15:guide>
        <p15:guide id="7" pos="5103">
          <p15:clr>
            <a:srgbClr val="A4A3A4"/>
          </p15:clr>
        </p15:guide>
        <p15:guide id="12" pos="6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99DAC"/>
    <a:srgbClr val="1A9DAC"/>
    <a:srgbClr val="16818D"/>
    <a:srgbClr val="1C9DAC"/>
    <a:srgbClr val="7A7392"/>
    <a:srgbClr val="598752"/>
    <a:srgbClr val="6DA463"/>
    <a:srgbClr val="A65C45"/>
    <a:srgbClr val="CC705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C42105-93D7-4D10-86AF-2E783EFD0554}" v="1" dt="2026-10-11T08:09:46.4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42" autoAdjust="0"/>
    <p:restoredTop sz="96327"/>
  </p:normalViewPr>
  <p:slideViewPr>
    <p:cSldViewPr showGuides="1">
      <p:cViewPr varScale="1">
        <p:scale>
          <a:sx n="54" d="100"/>
          <a:sy n="54" d="100"/>
        </p:scale>
        <p:origin x="52" y="148"/>
      </p:cViewPr>
      <p:guideLst>
        <p:guide orient="horz" pos="3838"/>
        <p:guide pos="2880"/>
        <p:guide pos="5103"/>
        <p:guide pos="657"/>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183" d="100"/>
          <a:sy n="183" d="100"/>
        </p:scale>
        <p:origin x="208" y="3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43"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Wyatt" userId="1b0a4936-1a58-4717-8936-09533ddce9e9" providerId="ADAL" clId="{78B570B4-0A49-41D2-8737-23D6749A7F5B}"/>
    <pc:docChg chg="addSld modSld">
      <pc:chgData name="David Wyatt" userId="1b0a4936-1a58-4717-8936-09533ddce9e9" providerId="ADAL" clId="{78B570B4-0A49-41D2-8737-23D6749A7F5B}" dt="2026-10-11T08:09:46.403" v="0"/>
      <pc:docMkLst>
        <pc:docMk/>
      </pc:docMkLst>
      <pc:sldChg chg="add">
        <pc:chgData name="David Wyatt" userId="1b0a4936-1a58-4717-8936-09533ddce9e9" providerId="ADAL" clId="{78B570B4-0A49-41D2-8737-23D6749A7F5B}" dt="2026-10-11T08:09:46.403" v="0"/>
        <pc:sldMkLst>
          <pc:docMk/>
          <pc:sldMk cId="1653041656" sldId="30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43CF07-9307-6C48-9A7D-CFB6D27789B3}"/>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3757DB75-BAF4-B743-9A92-74B92A91E0A3}"/>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22C6B3-A39F-7849-8137-15C55F281F8E}"/>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A11F245-9DFC-A14D-946D-EB14F66A9135}" type="slidenum">
              <a:rPr lang="en-US" smtClean="0"/>
              <a:t>‹#›</a:t>
            </a:fld>
            <a:endParaRPr lang="en-US"/>
          </a:p>
        </p:txBody>
      </p:sp>
    </p:spTree>
    <p:extLst>
      <p:ext uri="{BB962C8B-B14F-4D97-AF65-F5344CB8AC3E}">
        <p14:creationId xmlns:p14="http://schemas.microsoft.com/office/powerpoint/2010/main" val="1287902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269"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ＭＳ Ｐゴシック"/>
                <a:cs typeface="Calibri"/>
              </a:rPr>
              <a:t>URL- Uniform Resource Locator</a:t>
            </a:r>
            <a:endParaRPr lang="en-US" dirty="0">
              <a:latin typeface="Calibri"/>
              <a:cs typeface="Calibri"/>
            </a:endParaRP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a:pPr>
                <a:defRPr/>
              </a:pPr>
              <a:t>13</a:t>
            </a:fld>
            <a:endParaRPr lang="en-US" altLang="en-US"/>
          </a:p>
        </p:txBody>
      </p:sp>
    </p:spTree>
    <p:extLst>
      <p:ext uri="{BB962C8B-B14F-4D97-AF65-F5344CB8AC3E}">
        <p14:creationId xmlns:p14="http://schemas.microsoft.com/office/powerpoint/2010/main" val="2843665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21</a:t>
            </a:fld>
            <a:endParaRPr lang="en-US" altLang="en-US"/>
          </a:p>
        </p:txBody>
      </p:sp>
    </p:spTree>
    <p:extLst>
      <p:ext uri="{BB962C8B-B14F-4D97-AF65-F5344CB8AC3E}">
        <p14:creationId xmlns:p14="http://schemas.microsoft.com/office/powerpoint/2010/main" val="794883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1A9DAC"/>
        </a:solidFill>
        <a:effectLst/>
      </p:bgPr>
    </p:bg>
    <p:spTree>
      <p:nvGrpSpPr>
        <p:cNvPr id="1" name=""/>
        <p:cNvGrpSpPr/>
        <p:nvPr/>
      </p:nvGrpSpPr>
      <p:grpSpPr>
        <a:xfrm>
          <a:off x="0" y="0"/>
          <a:ext cx="0" cy="0"/>
          <a:chOff x="0" y="0"/>
          <a:chExt cx="0" cy="0"/>
        </a:xfrm>
      </p:grpSpPr>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GB"/>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nSpc>
                <a:spcPts val="1300"/>
              </a:lnSpc>
              <a:spcBef>
                <a:spcPts val="0"/>
              </a:spcBef>
              <a:buFontTx/>
              <a:buNone/>
              <a:defRPr sz="16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7"/>
            <a:ext cx="1219139" cy="402300"/>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GB"/>
              <a:t>Click to 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98505" y="2913639"/>
            <a:ext cx="1219139" cy="371345"/>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GB"/>
              <a:t>Click to 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345828"/>
          </a:xfrm>
          <a:prstGeom prst="rect">
            <a:avLst/>
          </a:prstGeom>
        </p:spPr>
        <p:txBody>
          <a:bodyPr lIns="0" tIns="0" rIns="0" bIns="0"/>
          <a:lstStyle>
            <a:lvl1pPr marL="0" indent="0">
              <a:lnSpc>
                <a:spcPts val="1300"/>
              </a:lnSpc>
              <a:spcBef>
                <a:spcPts val="0"/>
              </a:spcBef>
              <a:buFontTx/>
              <a:buNone/>
              <a:defRPr sz="1600" b="0" i="0">
                <a:solidFill>
                  <a:schemeClr val="bg1"/>
                </a:solidFill>
                <a:latin typeface="+mn-lt"/>
                <a:ea typeface="Tahoma"/>
                <a:cs typeface="Tahoma"/>
              </a:defRPr>
            </a:lvl1pPr>
          </a:lstStyle>
          <a:p>
            <a:pPr lvl="0"/>
            <a:r>
              <a:rPr lang="en-US" dirty="0"/>
              <a:t>Presentation date</a:t>
            </a:r>
          </a:p>
        </p:txBody>
      </p:sp>
    </p:spTree>
    <p:extLst>
      <p:ext uri="{BB962C8B-B14F-4D97-AF65-F5344CB8AC3E}">
        <p14:creationId xmlns:p14="http://schemas.microsoft.com/office/powerpoint/2010/main" val="2037226853"/>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2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1A9DAC"/>
                </a:solidFill>
              </a:defRPr>
            </a:lvl1pPr>
          </a:lstStyle>
          <a:p>
            <a:r>
              <a:rPr lang="en-GB"/>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GB"/>
              <a:t>Click to edit Master text styles</a:t>
            </a:r>
          </a:p>
        </p:txBody>
      </p:sp>
    </p:spTree>
    <p:extLst>
      <p:ext uri="{BB962C8B-B14F-4D97-AF65-F5344CB8AC3E}">
        <p14:creationId xmlns:p14="http://schemas.microsoft.com/office/powerpoint/2010/main" val="1924506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1A9DAC"/>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1A9DAC"/>
              </a:buClr>
              <a:tabLst/>
              <a:defRPr sz="1800">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36" userDrawn="1">
          <p15:clr>
            <a:srgbClr val="FBAE40"/>
          </p15:clr>
        </p15:guide>
        <p15:guide id="2"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lvl1pPr>
              <a:defRPr>
                <a:solidFill>
                  <a:srgbClr val="1A9DAC"/>
                </a:solidFill>
              </a:defRPr>
            </a:lvl1pPr>
          </a:lstStyle>
          <a:p>
            <a:r>
              <a:rPr lang="en-GB"/>
              <a:t>Click to edit Master title style</a:t>
            </a:r>
            <a:endParaRPr lang="en-US" dirty="0"/>
          </a:p>
        </p:txBody>
      </p:sp>
      <p:sp>
        <p:nvSpPr>
          <p:cNvPr id="3" name="Text Placeholder 2"/>
          <p:cNvSpPr>
            <a:spLocks noGrp="1"/>
          </p:cNvSpPr>
          <p:nvPr>
            <p:ph type="body" sz="quarter" idx="11"/>
          </p:nvPr>
        </p:nvSpPr>
        <p:spPr>
          <a:xfrm>
            <a:off x="900113" y="1700213"/>
            <a:ext cx="6551612" cy="4465637"/>
          </a:xfrm>
          <a:prstGeom prst="rect">
            <a:avLst/>
          </a:prstGeom>
        </p:spPr>
        <p:txBody>
          <a:bodyPr lIns="0" tIns="0" rIns="0" bIns="0"/>
          <a:lstStyle>
            <a:lvl1pPr marL="266700" indent="-266700">
              <a:buClr>
                <a:srgbClr val="1A9DAC"/>
              </a:buClr>
              <a:buFont typeface="+mj-lt"/>
              <a:buAutoNum type="arabicPeriod"/>
              <a:defRPr sz="1800">
                <a:latin typeface="+mn-lt"/>
                <a:ea typeface="Tahoma" panose="020B0604030504040204" pitchFamily="34" charset="0"/>
                <a:cs typeface="Tahoma" panose="020B0604030504040204" pitchFamily="34" charset="0"/>
              </a:defRPr>
            </a:lvl1pPr>
            <a:lvl2pPr marL="609600" indent="-342900">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915988" marR="0" indent="-285750" algn="l" defTabSz="606425" rtl="0" eaLnBrk="1" fontAlgn="base" latinLnBrk="0" hangingPunct="1">
              <a:lnSpc>
                <a:spcPct val="100000"/>
              </a:lnSpc>
              <a:spcBef>
                <a:spcPct val="20000"/>
              </a:spcBef>
              <a:spcAft>
                <a:spcPct val="0"/>
              </a:spcAft>
              <a:buClr>
                <a:srgbClr val="1A9DAC"/>
              </a:buClr>
              <a:buSzTx/>
              <a:buFont typeface="Arial" panose="020B0604020202020204" pitchFamily="34" charset="0"/>
              <a:buChar char="•"/>
              <a:tabLst/>
              <a:defRPr sz="18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38606882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GB"/>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GB"/>
              <a:t>Click to 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GB"/>
              <a:t>Click to edit Master text styles</a:t>
            </a:r>
          </a:p>
        </p:txBody>
      </p:sp>
    </p:spTree>
    <p:extLst>
      <p:ext uri="{BB962C8B-B14F-4D97-AF65-F5344CB8AC3E}">
        <p14:creationId xmlns:p14="http://schemas.microsoft.com/office/powerpoint/2010/main" val="190362276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lvl1pPr>
              <a:defRPr>
                <a:solidFill>
                  <a:srgbClr val="1A9DAC"/>
                </a:solidFill>
              </a:defRPr>
            </a:lvl1pPr>
          </a:lstStyle>
          <a:p>
            <a:r>
              <a:rPr lang="en-GB"/>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lvl1pPr>
              <a:defRPr>
                <a:solidFill>
                  <a:srgbClr val="1A9DAC"/>
                </a:solidFill>
              </a:defRPr>
            </a:lvl1pPr>
          </a:lstStyle>
          <a:p>
            <a:r>
              <a:rPr lang="en-GB"/>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baseline="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966788" indent="0">
              <a:buFont typeface="Arial" panose="020B0604020202020204" pitchFamily="34" charset="0"/>
              <a:buNone/>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0"/>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lvl1pPr>
              <a:defRPr>
                <a:solidFill>
                  <a:srgbClr val="1A9DAC"/>
                </a:solidFill>
              </a:defRPr>
            </a:lvl1pPr>
          </a:lstStyle>
          <a:p>
            <a:r>
              <a:rPr lang="en-GB"/>
              <a:t>Click to edit Master title style</a:t>
            </a:r>
            <a:endParaRPr lang="en-US" dirty="0"/>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GB" noProof="0"/>
              <a:t>Click icon to add chart</a:t>
            </a:r>
            <a:endParaRPr lang="en-US" noProof="0" dirty="0"/>
          </a:p>
        </p:txBody>
      </p:sp>
    </p:spTree>
    <p:extLst>
      <p:ext uri="{BB962C8B-B14F-4D97-AF65-F5344CB8AC3E}">
        <p14:creationId xmlns:p14="http://schemas.microsoft.com/office/powerpoint/2010/main" val="94753494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lvl1pPr>
              <a:defRPr>
                <a:solidFill>
                  <a:srgbClr val="1A9DAC"/>
                </a:solidFill>
              </a:defRPr>
            </a:lvl1pPr>
          </a:lstStyle>
          <a:p>
            <a:r>
              <a:rPr lang="en-GB"/>
              <a:t>Click to edit Master title style</a:t>
            </a:r>
            <a:endParaRPr lang="en-US" dirty="0"/>
          </a:p>
        </p:txBody>
      </p:sp>
      <p:sp>
        <p:nvSpPr>
          <p:cNvPr id="6" name="Text Placeholder 5"/>
          <p:cNvSpPr>
            <a:spLocks noGrp="1"/>
          </p:cNvSpPr>
          <p:nvPr>
            <p:ph type="body" sz="quarter" idx="11"/>
          </p:nvPr>
        </p:nvSpPr>
        <p:spPr>
          <a:xfrm>
            <a:off x="899592" y="1628800"/>
            <a:ext cx="3312368"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GB"/>
              <a:t>Click to 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GB" noProof="0"/>
              <a:t>Click icon to add chart</a:t>
            </a:r>
            <a:endParaRPr lang="en-US" noProof="0" dirty="0"/>
          </a:p>
        </p:txBody>
      </p:sp>
    </p:spTree>
    <p:extLst>
      <p:ext uri="{BB962C8B-B14F-4D97-AF65-F5344CB8AC3E}">
        <p14:creationId xmlns:p14="http://schemas.microsoft.com/office/powerpoint/2010/main" val="162861172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lvl1pPr>
              <a:defRPr>
                <a:solidFill>
                  <a:srgbClr val="1A9DAC"/>
                </a:solidFill>
              </a:defRPr>
            </a:lvl1pPr>
          </a:lstStyle>
          <a:p>
            <a:r>
              <a:rPr lang="en-GB"/>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GB"/>
              <a:t>Click icon to add picture</a:t>
            </a:r>
            <a:endParaRPr lang="en-US" dirty="0"/>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lvl1pPr>
              <a:defRPr>
                <a:solidFill>
                  <a:srgbClr val="1A9DAC"/>
                </a:solidFill>
              </a:defRPr>
            </a:lvl1pPr>
          </a:lstStyle>
          <a:p>
            <a:r>
              <a:rPr lang="en-GB"/>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GB"/>
              <a:t>Click icon to add picture</a:t>
            </a:r>
            <a:endParaRPr lang="en-US" dirty="0"/>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GB"/>
              <a:t>Click icon to add picture</a:t>
            </a:r>
            <a:endParaRPr lang="en-US"/>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GB"/>
              <a:t>Click icon to add picture</a:t>
            </a:r>
            <a:endParaRPr lang="en-US"/>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GB"/>
              <a:t>Click icon to add picture</a:t>
            </a:r>
            <a:endParaRPr lang="en-US" dirty="0"/>
          </a:p>
        </p:txBody>
      </p:sp>
    </p:spTree>
    <p:extLst>
      <p:ext uri="{BB962C8B-B14F-4D97-AF65-F5344CB8AC3E}">
        <p14:creationId xmlns:p14="http://schemas.microsoft.com/office/powerpoint/2010/main" val="1974219801"/>
      </p:ext>
    </p:extLst>
  </p:cSld>
  <p:clrMapOvr>
    <a:masterClrMapping/>
  </p:clrMapOvr>
  <p:transition spd="slow">
    <p:fade/>
  </p:transition>
  <p:extLst>
    <p:ext uri="{DCECCB84-F9BA-43D5-87BE-67443E8EF086}">
      <p15:sldGuideLst xmlns:p15="http://schemas.microsoft.com/office/powerpoint/2012/main">
        <p15:guide id="1" orient="horz" pos="332" userDrawn="1">
          <p15:clr>
            <a:srgbClr val="FBAE40"/>
          </p15:clr>
        </p15:guide>
        <p15:guide id="2" pos="2880" userDrawn="1">
          <p15:clr>
            <a:srgbClr val="FBAE40"/>
          </p15:clr>
        </p15:guide>
        <p15:guide id="4" pos="3833" userDrawn="1">
          <p15:clr>
            <a:srgbClr val="FBAE40"/>
          </p15:clr>
        </p15:guide>
        <p15:guide id="5" orient="horz" pos="2614" userDrawn="1">
          <p15:clr>
            <a:srgbClr val="FBAE40"/>
          </p15:clr>
        </p15:guide>
        <p15:guide id="6" pos="567" userDrawn="1">
          <p15:clr>
            <a:srgbClr val="FBAE40"/>
          </p15:clr>
        </p15:guide>
        <p15:guide id="8" pos="1927" userDrawn="1">
          <p15:clr>
            <a:srgbClr val="FBAE40"/>
          </p15:clr>
        </p15:guide>
        <p15:guide id="9" pos="3854" userDrawn="1">
          <p15:clr>
            <a:srgbClr val="FBAE40"/>
          </p15:clr>
        </p15:guide>
        <p15:guide id="10" orient="horz" pos="25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6"/>
            <a:ext cx="7886700" cy="768356"/>
          </a:xfrm>
        </p:spPr>
        <p:txBody>
          <a:bodyPr/>
          <a:lstStyle/>
          <a:p>
            <a:r>
              <a:rPr lang="en-GB"/>
              <a:t>Click to edit Master title style</a:t>
            </a:r>
            <a:endParaRPr lang="en-US" dirty="0"/>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GB"/>
              <a:t>Click icon to add picture</a:t>
            </a:r>
            <a:endParaRPr lang="en-US" dirty="0"/>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GB"/>
              <a:t>Click icon to add picture</a:t>
            </a:r>
            <a:endParaRPr lang="en-US" dirty="0"/>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GB"/>
              <a:t>Click icon to add picture</a:t>
            </a:r>
            <a:endParaRPr lang="en-US" dirty="0"/>
          </a:p>
        </p:txBody>
      </p:sp>
    </p:spTree>
    <p:extLst>
      <p:ext uri="{BB962C8B-B14F-4D97-AF65-F5344CB8AC3E}">
        <p14:creationId xmlns:p14="http://schemas.microsoft.com/office/powerpoint/2010/main" val="2761453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3856" userDrawn="1">
          <p15:clr>
            <a:srgbClr val="FBAE40"/>
          </p15:clr>
        </p15:guide>
        <p15:guide id="4" pos="3833" userDrawn="1">
          <p15:clr>
            <a:srgbClr val="FBAE40"/>
          </p15:clr>
        </p15:guide>
        <p15:guide id="6" orient="horz" pos="2590" userDrawn="1">
          <p15:clr>
            <a:srgbClr val="FBAE40"/>
          </p15:clr>
        </p15:guide>
        <p15:guide id="7" orient="horz" pos="261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224136"/>
          </a:xfrm>
        </p:spPr>
        <p:txBody>
          <a:bodyPr/>
          <a:lstStyle/>
          <a:p>
            <a:r>
              <a:rPr lang="en-GB"/>
              <a:t>Click to edit Master title style</a:t>
            </a:r>
            <a:endParaRPr lang="en-US" dirty="0"/>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1A9DAC"/>
                </a:solidFill>
                <a:latin typeface="+mj-lt"/>
              </a:defRPr>
            </a:lvl1pPr>
            <a:lvl2pPr marL="609600" indent="0">
              <a:lnSpc>
                <a:spcPts val="3600"/>
              </a:lnSpc>
              <a:buNone/>
              <a:defRPr sz="2800" b="0" i="1" baseline="0">
                <a:solidFill>
                  <a:srgbClr val="1A9DAC"/>
                </a:solidFill>
                <a:latin typeface="+mj-lt"/>
              </a:defRPr>
            </a:lvl2pPr>
            <a:lvl3pPr marL="1219200" indent="0">
              <a:lnSpc>
                <a:spcPts val="3600"/>
              </a:lnSpc>
              <a:buNone/>
              <a:defRPr sz="2800" b="0" i="1" baseline="0">
                <a:solidFill>
                  <a:srgbClr val="1A9DAC"/>
                </a:solidFill>
                <a:latin typeface="+mj-lt"/>
              </a:defRPr>
            </a:lvl3pPr>
            <a:lvl4pPr marL="1828800" indent="0">
              <a:lnSpc>
                <a:spcPts val="3600"/>
              </a:lnSpc>
              <a:buNone/>
              <a:defRPr sz="2800" b="0" i="1" baseline="0">
                <a:solidFill>
                  <a:srgbClr val="1A9DAC"/>
                </a:solidFill>
                <a:latin typeface="+mj-lt"/>
              </a:defRPr>
            </a:lvl4pPr>
            <a:lvl5pPr marL="2438400" indent="0">
              <a:lnSpc>
                <a:spcPts val="3600"/>
              </a:lnSpc>
              <a:buNone/>
              <a:defRPr sz="2800" b="0" i="1" baseline="0">
                <a:solidFill>
                  <a:srgbClr val="1A9DAC"/>
                </a:solidFill>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2120694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5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C024-4559-4C02-9AB3-98D956AC73B6}"/>
              </a:ext>
            </a:extLst>
          </p:cNvPr>
          <p:cNvSpPr>
            <a:spLocks noGrp="1"/>
          </p:cNvSpPr>
          <p:nvPr>
            <p:ph type="title"/>
          </p:nvPr>
        </p:nvSpPr>
        <p:spPr/>
        <p:txBody>
          <a:bodyPr/>
          <a:lstStyle/>
          <a:p>
            <a:r>
              <a:rPr lang="en-GB"/>
              <a:t>Click to edit Master title style</a:t>
            </a:r>
            <a:endParaRPr lang="en-GB" dirty="0"/>
          </a:p>
        </p:txBody>
      </p:sp>
      <p:sp>
        <p:nvSpPr>
          <p:cNvPr id="4" name="Text Placeholder 3">
            <a:extLst>
              <a:ext uri="{FF2B5EF4-FFF2-40B4-BE49-F238E27FC236}">
                <a16:creationId xmlns:a16="http://schemas.microsoft.com/office/drawing/2014/main" id="{E8E056E6-17B0-445E-93EC-A3A4B42B212F}"/>
              </a:ext>
            </a:extLst>
          </p:cNvPr>
          <p:cNvSpPr>
            <a:spLocks noGrp="1"/>
          </p:cNvSpPr>
          <p:nvPr>
            <p:ph type="body" sz="quarter" idx="10" hasCustomPrompt="1"/>
          </p:nvPr>
        </p:nvSpPr>
        <p:spPr>
          <a:xfrm>
            <a:off x="467544" y="2349500"/>
            <a:ext cx="4104456" cy="2879725"/>
          </a:xfrm>
          <a:prstGeom prst="rect">
            <a:avLst/>
          </a:prstGeom>
        </p:spPr>
        <p:txBody>
          <a:bodyPr/>
          <a:lstStyle>
            <a:lvl1pPr marL="0" indent="0">
              <a:buFont typeface="Arial" panose="020B0604020202020204" pitchFamily="34" charset="0"/>
              <a:buNone/>
              <a:defRPr sz="13000">
                <a:solidFill>
                  <a:srgbClr val="199DAC"/>
                </a:solidFill>
              </a:defRPr>
            </a:lvl1pPr>
            <a:lvl2pPr marL="609600" indent="0">
              <a:buNone/>
              <a:defRPr>
                <a:solidFill>
                  <a:srgbClr val="16818D"/>
                </a:solidFill>
              </a:defRPr>
            </a:lvl2pPr>
            <a:lvl3pPr marL="1219200" indent="0">
              <a:buNone/>
              <a:defRPr>
                <a:solidFill>
                  <a:srgbClr val="16818D"/>
                </a:solidFill>
              </a:defRPr>
            </a:lvl3pPr>
            <a:lvl4pPr marL="1828800" indent="0">
              <a:buNone/>
              <a:defRPr>
                <a:solidFill>
                  <a:srgbClr val="16818D"/>
                </a:solidFill>
              </a:defRPr>
            </a:lvl4pPr>
            <a:lvl5pPr marL="2438400" indent="0">
              <a:buNone/>
              <a:defRPr>
                <a:solidFill>
                  <a:srgbClr val="16818D"/>
                </a:solidFill>
              </a:defRPr>
            </a:lvl5pPr>
          </a:lstStyle>
          <a:p>
            <a:pPr lvl="0"/>
            <a:r>
              <a:rPr lang="en-US" dirty="0"/>
              <a:t>100%</a:t>
            </a:r>
            <a:endParaRPr lang="en-GB" dirty="0"/>
          </a:p>
        </p:txBody>
      </p:sp>
      <p:sp>
        <p:nvSpPr>
          <p:cNvPr id="6" name="Text Placeholder 5">
            <a:extLst>
              <a:ext uri="{FF2B5EF4-FFF2-40B4-BE49-F238E27FC236}">
                <a16:creationId xmlns:a16="http://schemas.microsoft.com/office/drawing/2014/main" id="{0212DBA2-E4CA-4633-9C0C-58EB9F03F1E2}"/>
              </a:ext>
            </a:extLst>
          </p:cNvPr>
          <p:cNvSpPr>
            <a:spLocks noGrp="1"/>
          </p:cNvSpPr>
          <p:nvPr>
            <p:ph type="body" sz="quarter" idx="11"/>
          </p:nvPr>
        </p:nvSpPr>
        <p:spPr>
          <a:xfrm>
            <a:off x="4716016" y="2349500"/>
            <a:ext cx="3672334" cy="2879725"/>
          </a:xfrm>
          <a:prstGeom prst="rect">
            <a:avLst/>
          </a:prstGeom>
        </p:spPr>
        <p:txBody>
          <a:bodyPr/>
          <a:lstStyle>
            <a:lvl1pPr marL="0" indent="0">
              <a:buNone/>
              <a:defRPr sz="1800">
                <a:solidFill>
                  <a:srgbClr val="199DAC"/>
                </a:solidFill>
              </a:defRPr>
            </a:lvl1pPr>
            <a:lvl2pPr marL="609600" indent="0">
              <a:buNone/>
              <a:defRPr sz="1800">
                <a:solidFill>
                  <a:srgbClr val="199DAC"/>
                </a:solidFill>
              </a:defRPr>
            </a:lvl2pPr>
            <a:lvl3pPr marL="1219200" indent="0">
              <a:buNone/>
              <a:defRPr sz="1800">
                <a:solidFill>
                  <a:srgbClr val="199DAC"/>
                </a:solidFill>
              </a:defRPr>
            </a:lvl3pPr>
            <a:lvl4pPr marL="1828800" indent="0">
              <a:buNone/>
              <a:defRPr sz="1800">
                <a:solidFill>
                  <a:srgbClr val="199DAC"/>
                </a:solidFill>
              </a:defRPr>
            </a:lvl4pPr>
            <a:lvl5pPr marL="2438400" indent="0">
              <a:buNone/>
              <a:defRPr sz="1800">
                <a:solidFill>
                  <a:srgbClr val="199DAC"/>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Text Placeholder 7">
            <a:extLst>
              <a:ext uri="{FF2B5EF4-FFF2-40B4-BE49-F238E27FC236}">
                <a16:creationId xmlns:a16="http://schemas.microsoft.com/office/drawing/2014/main" id="{E6D44D0B-0878-42C4-9A43-6D580C188C57}"/>
              </a:ext>
            </a:extLst>
          </p:cNvPr>
          <p:cNvSpPr>
            <a:spLocks noGrp="1"/>
          </p:cNvSpPr>
          <p:nvPr>
            <p:ph type="body" sz="quarter" idx="12"/>
          </p:nvPr>
        </p:nvSpPr>
        <p:spPr>
          <a:xfrm>
            <a:off x="628650" y="5157192"/>
            <a:ext cx="7472363" cy="792162"/>
          </a:xfrm>
          <a:prstGeom prst="rect">
            <a:avLst/>
          </a:prstGeom>
        </p:spPr>
        <p:txBody>
          <a:bodyPr/>
          <a:lstStyle>
            <a:lvl1pPr marL="0" indent="0" algn="r">
              <a:buNone/>
              <a:defRPr sz="1800"/>
            </a:lvl1pPr>
            <a:lvl2pPr marL="609600" indent="0" algn="r">
              <a:buNone/>
              <a:defRPr sz="1800"/>
            </a:lvl2pPr>
            <a:lvl3pPr marL="1219200" indent="0" algn="r">
              <a:buNone/>
              <a:defRPr sz="1800"/>
            </a:lvl3pPr>
            <a:lvl4pPr marL="1828800" indent="0" algn="r">
              <a:buNone/>
              <a:defRPr sz="1800"/>
            </a:lvl4pPr>
            <a:lvl5pPr marL="2438400" indent="0" algn="r">
              <a:buNone/>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1465793842"/>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6"/>
            <a:ext cx="7886700" cy="1325563"/>
          </a:xfrm>
          <a:prstGeom prst="rect">
            <a:avLst/>
          </a:prstGeom>
        </p:spPr>
        <p:txBody>
          <a:bodyPr vert="horz" lIns="0" tIns="0" rIns="0" bIns="0" rtlCol="0" anchor="t" anchorCtr="0">
            <a:normAutofit/>
          </a:bodyPr>
          <a:lstStyle/>
          <a:p>
            <a:r>
              <a:rPr lang="en-GB"/>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6" r:id="rId14"/>
  </p:sldLayoutIdLst>
  <p:transition spd="slow">
    <p:fade/>
  </p:transition>
  <p:txStyles>
    <p:titleStyle>
      <a:lvl1pPr algn="l" defTabSz="606425" rtl="0" eaLnBrk="1" fontAlgn="base" hangingPunct="1">
        <a:spcBef>
          <a:spcPct val="0"/>
        </a:spcBef>
        <a:spcAft>
          <a:spcPct val="0"/>
        </a:spcAft>
        <a:defRPr sz="3600" kern="1200">
          <a:solidFill>
            <a:srgbClr val="1A9DAC"/>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mailto:alice@example.com"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4C6A-CA2E-4C35-8BA5-916C10203F2E}"/>
              </a:ext>
            </a:extLst>
          </p:cNvPr>
          <p:cNvSpPr>
            <a:spLocks noGrp="1"/>
          </p:cNvSpPr>
          <p:nvPr>
            <p:ph type="title"/>
          </p:nvPr>
        </p:nvSpPr>
        <p:spPr/>
        <p:txBody>
          <a:bodyPr>
            <a:normAutofit/>
          </a:bodyPr>
          <a:lstStyle/>
          <a:p>
            <a:r>
              <a:rPr lang="en-GB" sz="3600" dirty="0"/>
              <a:t>RESTful Web Services</a:t>
            </a:r>
            <a:br>
              <a:rPr lang="en-GB" altLang="en-US" sz="3600" dirty="0">
                <a:ea typeface="ＭＳ Ｐゴシック" charset="-128"/>
              </a:rPr>
            </a:br>
            <a:endParaRPr lang="en-GB" dirty="0"/>
          </a:p>
        </p:txBody>
      </p:sp>
      <p:sp>
        <p:nvSpPr>
          <p:cNvPr id="3" name="Text Placeholder 2">
            <a:extLst>
              <a:ext uri="{FF2B5EF4-FFF2-40B4-BE49-F238E27FC236}">
                <a16:creationId xmlns:a16="http://schemas.microsoft.com/office/drawing/2014/main" id="{876BE806-4523-4FEC-B19F-B5D4FF00D6A6}"/>
              </a:ext>
            </a:extLst>
          </p:cNvPr>
          <p:cNvSpPr>
            <a:spLocks noGrp="1"/>
          </p:cNvSpPr>
          <p:nvPr>
            <p:ph type="body" sz="quarter" idx="15"/>
          </p:nvPr>
        </p:nvSpPr>
        <p:spPr/>
        <p:txBody>
          <a:bodyPr/>
          <a:lstStyle/>
          <a:p>
            <a:endParaRPr lang="en-GB"/>
          </a:p>
        </p:txBody>
      </p:sp>
      <p:sp>
        <p:nvSpPr>
          <p:cNvPr id="4" name="Text Placeholder 3">
            <a:extLst>
              <a:ext uri="{FF2B5EF4-FFF2-40B4-BE49-F238E27FC236}">
                <a16:creationId xmlns:a16="http://schemas.microsoft.com/office/drawing/2014/main" id="{FA5FC82F-1F0B-4D11-BC78-0C43FDE0F394}"/>
              </a:ext>
            </a:extLst>
          </p:cNvPr>
          <p:cNvSpPr>
            <a:spLocks noGrp="1"/>
          </p:cNvSpPr>
          <p:nvPr>
            <p:ph type="body" sz="quarter" idx="16"/>
          </p:nvPr>
        </p:nvSpPr>
        <p:spPr/>
        <p:txBody>
          <a:bodyPr/>
          <a:lstStyle/>
          <a:p>
            <a:r>
              <a:rPr lang="en-GB" dirty="0"/>
              <a:t>Dr David Wyatt</a:t>
            </a:r>
          </a:p>
        </p:txBody>
      </p:sp>
      <p:sp>
        <p:nvSpPr>
          <p:cNvPr id="6" name="Text Placeholder 5">
            <a:extLst>
              <a:ext uri="{FF2B5EF4-FFF2-40B4-BE49-F238E27FC236}">
                <a16:creationId xmlns:a16="http://schemas.microsoft.com/office/drawing/2014/main" id="{8AF42F57-4342-4892-B2AD-019DCDCB61B2}"/>
              </a:ext>
            </a:extLst>
          </p:cNvPr>
          <p:cNvSpPr>
            <a:spLocks noGrp="1"/>
          </p:cNvSpPr>
          <p:nvPr>
            <p:ph type="body" sz="quarter" idx="18"/>
          </p:nvPr>
        </p:nvSpPr>
        <p:spPr/>
        <p:txBody>
          <a:bodyPr lIns="0" tIns="0" rIns="0" bIns="0" anchor="t"/>
          <a:lstStyle/>
          <a:p>
            <a:endParaRPr lang="en-GB" dirty="0"/>
          </a:p>
        </p:txBody>
      </p:sp>
    </p:spTree>
    <p:extLst>
      <p:ext uri="{BB962C8B-B14F-4D97-AF65-F5344CB8AC3E}">
        <p14:creationId xmlns:p14="http://schemas.microsoft.com/office/powerpoint/2010/main" val="3764760811"/>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A93DA-9975-43A2-9678-60BDA25B6C21}"/>
              </a:ext>
            </a:extLst>
          </p:cNvPr>
          <p:cNvSpPr>
            <a:spLocks noGrp="1"/>
          </p:cNvSpPr>
          <p:nvPr>
            <p:ph type="title"/>
          </p:nvPr>
        </p:nvSpPr>
        <p:spPr/>
        <p:txBody>
          <a:bodyPr/>
          <a:lstStyle/>
          <a:p>
            <a:r>
              <a:rPr lang="en-GB" dirty="0"/>
              <a:t>Session Plan</a:t>
            </a:r>
          </a:p>
        </p:txBody>
      </p:sp>
      <p:sp>
        <p:nvSpPr>
          <p:cNvPr id="3" name="Text Placeholder 2">
            <a:extLst>
              <a:ext uri="{FF2B5EF4-FFF2-40B4-BE49-F238E27FC236}">
                <a16:creationId xmlns:a16="http://schemas.microsoft.com/office/drawing/2014/main" id="{D1474684-16B6-4667-AD9F-523AB5D333B5}"/>
              </a:ext>
            </a:extLst>
          </p:cNvPr>
          <p:cNvSpPr>
            <a:spLocks noGrp="1"/>
          </p:cNvSpPr>
          <p:nvPr>
            <p:ph type="body" sz="quarter" idx="11"/>
          </p:nvPr>
        </p:nvSpPr>
        <p:spPr>
          <a:xfrm>
            <a:off x="899228" y="1412776"/>
            <a:ext cx="6551612" cy="4608512"/>
          </a:xfrm>
        </p:spPr>
        <p:txBody>
          <a:bodyPr/>
          <a:lstStyle/>
          <a:p>
            <a:r>
              <a:rPr lang="en-US" altLang="x-none" sz="2000" dirty="0">
                <a:ea typeface="Arial" charset="0"/>
                <a:cs typeface="Arial" charset="0"/>
              </a:rPr>
              <a:t>Hypertext Transfer Protocol (HTTP)</a:t>
            </a:r>
          </a:p>
          <a:p>
            <a:r>
              <a:rPr lang="en-GB" sz="2000" dirty="0"/>
              <a:t>HTTP Request Methods</a:t>
            </a:r>
          </a:p>
          <a:p>
            <a:r>
              <a:rPr lang="en-US" sz="2000" dirty="0"/>
              <a:t>HTTP Response Codes</a:t>
            </a:r>
            <a:endParaRPr lang="en-GB" sz="2000" dirty="0"/>
          </a:p>
          <a:p>
            <a:r>
              <a:rPr lang="en-GB" sz="2000" dirty="0"/>
              <a:t>RESTful Services</a:t>
            </a:r>
          </a:p>
          <a:p>
            <a:pPr lvl="1"/>
            <a:r>
              <a:rPr lang="en-GB" sz="2000" dirty="0"/>
              <a:t>Motivation for REST</a:t>
            </a:r>
          </a:p>
          <a:p>
            <a:pPr lvl="1"/>
            <a:r>
              <a:rPr lang="en-GB" sz="2000" dirty="0"/>
              <a:t>REST Principles</a:t>
            </a:r>
          </a:p>
          <a:p>
            <a:pPr lvl="1"/>
            <a:r>
              <a:rPr lang="en-GB" sz="2000" dirty="0"/>
              <a:t>REST Design Pattern</a:t>
            </a:r>
          </a:p>
          <a:p>
            <a:r>
              <a:rPr lang="en-US" sz="2000" dirty="0"/>
              <a:t>CRUD/HTTP Mapping</a:t>
            </a:r>
            <a:endParaRPr lang="en-GB" sz="2000" dirty="0"/>
          </a:p>
          <a:p>
            <a:r>
              <a:rPr lang="en-US" altLang="x-none" sz="2000" dirty="0"/>
              <a:t>Fundamental Aspects of the REST</a:t>
            </a:r>
          </a:p>
          <a:p>
            <a:r>
              <a:rPr lang="en-US" sz="2000" dirty="0"/>
              <a:t>Characteristics of REST</a:t>
            </a:r>
          </a:p>
          <a:p>
            <a:r>
              <a:rPr lang="en-US" sz="2000" dirty="0"/>
              <a:t>Using URL’s to Name Resources</a:t>
            </a:r>
            <a:endParaRPr lang="en-GB" sz="2000" dirty="0"/>
          </a:p>
          <a:p>
            <a:r>
              <a:rPr lang="en-GB" sz="2000" dirty="0"/>
              <a:t>Using HTTP Request methods</a:t>
            </a:r>
          </a:p>
          <a:p>
            <a:r>
              <a:rPr lang="en-GB" sz="2000" dirty="0"/>
              <a:t>Case study</a:t>
            </a:r>
          </a:p>
          <a:p>
            <a:r>
              <a:rPr lang="en-US" altLang="x-none" sz="2000" dirty="0"/>
              <a:t>REST and SOAP</a:t>
            </a:r>
            <a:endParaRPr lang="en-GB" sz="2000" dirty="0"/>
          </a:p>
          <a:p>
            <a:pPr marL="9525" indent="0">
              <a:buNone/>
            </a:pPr>
            <a:endParaRPr lang="en-GB" sz="2000" dirty="0"/>
          </a:p>
          <a:p>
            <a:endParaRPr lang="en-GB" sz="2000" dirty="0"/>
          </a:p>
        </p:txBody>
      </p:sp>
    </p:spTree>
    <p:extLst>
      <p:ext uri="{BB962C8B-B14F-4D97-AF65-F5344CB8AC3E}">
        <p14:creationId xmlns:p14="http://schemas.microsoft.com/office/powerpoint/2010/main" val="1719998758"/>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09692-B1E1-759C-5AC1-45D0AD9D2A25}"/>
              </a:ext>
            </a:extLst>
          </p:cNvPr>
          <p:cNvSpPr>
            <a:spLocks noGrp="1"/>
          </p:cNvSpPr>
          <p:nvPr>
            <p:ph type="title"/>
          </p:nvPr>
        </p:nvSpPr>
        <p:spPr/>
        <p:txBody>
          <a:bodyPr>
            <a:normAutofit/>
          </a:bodyPr>
          <a:lstStyle/>
          <a:p>
            <a:r>
              <a:rPr lang="en-US" altLang="x-none" dirty="0">
                <a:latin typeface="Arial" charset="0"/>
                <a:ea typeface="Arial" charset="0"/>
                <a:cs typeface="Arial" charset="0"/>
              </a:rPr>
              <a:t>Hypertext Transfer Protocol (HTTP/S)</a:t>
            </a:r>
            <a:endParaRPr lang="en-GB" dirty="0"/>
          </a:p>
        </p:txBody>
      </p:sp>
      <p:sp>
        <p:nvSpPr>
          <p:cNvPr id="3" name="Text Placeholder 2">
            <a:extLst>
              <a:ext uri="{FF2B5EF4-FFF2-40B4-BE49-F238E27FC236}">
                <a16:creationId xmlns:a16="http://schemas.microsoft.com/office/drawing/2014/main" id="{271922FF-A12C-0127-596D-217518275BB1}"/>
              </a:ext>
            </a:extLst>
          </p:cNvPr>
          <p:cNvSpPr>
            <a:spLocks noGrp="1"/>
          </p:cNvSpPr>
          <p:nvPr>
            <p:ph type="body" sz="quarter" idx="11"/>
          </p:nvPr>
        </p:nvSpPr>
        <p:spPr>
          <a:xfrm>
            <a:off x="899591" y="1700808"/>
            <a:ext cx="4680521" cy="4608512"/>
          </a:xfrm>
        </p:spPr>
        <p:txBody>
          <a:bodyPr/>
          <a:lstStyle/>
          <a:p>
            <a:r>
              <a:rPr lang="en-GB" sz="2000" dirty="0"/>
              <a:t>The protocol that drives the web, runs on top of TCP/IP</a:t>
            </a:r>
          </a:p>
          <a:p>
            <a:pPr lvl="1"/>
            <a:r>
              <a:rPr lang="en-US" dirty="0"/>
              <a:t>simple, stateless, request/response protocol</a:t>
            </a:r>
            <a:endParaRPr lang="en-GB" dirty="0"/>
          </a:p>
          <a:p>
            <a:pPr lvl="1"/>
            <a:r>
              <a:rPr lang="en-GB" dirty="0"/>
              <a:t>allows clients (e.g. web browsers) to send requests to web servers</a:t>
            </a:r>
          </a:p>
          <a:p>
            <a:pPr lvl="1"/>
            <a:r>
              <a:rPr lang="en-GB" dirty="0"/>
              <a:t>for web pages, images, music, videos</a:t>
            </a:r>
          </a:p>
          <a:p>
            <a:pPr lvl="1"/>
            <a:r>
              <a:rPr lang="en-GB" dirty="0"/>
              <a:t>JSON data, XML data etc.</a:t>
            </a:r>
          </a:p>
          <a:p>
            <a:pPr lvl="1"/>
            <a:r>
              <a:rPr lang="en-GB" dirty="0"/>
              <a:t>it is connectionless as</a:t>
            </a:r>
          </a:p>
          <a:p>
            <a:pPr lvl="2"/>
            <a:r>
              <a:rPr lang="en-GB" sz="1600" dirty="0"/>
              <a:t>each request makes a new connection to the server</a:t>
            </a:r>
          </a:p>
          <a:p>
            <a:endParaRPr lang="en-US" altLang="x-none" sz="2000" dirty="0">
              <a:ea typeface="Tahoma" charset="0"/>
              <a:cs typeface="Tahoma" charset="0"/>
            </a:endParaRPr>
          </a:p>
          <a:p>
            <a:r>
              <a:rPr lang="en-US" altLang="x-none" sz="2000" dirty="0">
                <a:ea typeface="Tahoma" charset="0"/>
                <a:cs typeface="Tahoma" charset="0"/>
              </a:rPr>
              <a:t>Resources accessed by HTTP are identified by URIs (more specifically URLs), using the HTTP URI schemes. </a:t>
            </a:r>
          </a:p>
          <a:p>
            <a:endParaRPr lang="en-GB" sz="2000" dirty="0"/>
          </a:p>
          <a:p>
            <a:endParaRPr lang="en-GB" sz="2000" dirty="0"/>
          </a:p>
        </p:txBody>
      </p:sp>
      <p:pic>
        <p:nvPicPr>
          <p:cNvPr id="4" name="Picture 3" descr="HTTP">
            <a:extLst>
              <a:ext uri="{FF2B5EF4-FFF2-40B4-BE49-F238E27FC236}">
                <a16:creationId xmlns:a16="http://schemas.microsoft.com/office/drawing/2014/main" id="{9B42AC67-4FCA-B5A7-AF33-EC6FE4BFD0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0153" y="2230055"/>
            <a:ext cx="2812634" cy="3007956"/>
          </a:xfrm>
          <a:prstGeom prst="rect">
            <a:avLst/>
          </a:prstGeom>
        </p:spPr>
      </p:pic>
    </p:spTree>
    <p:extLst>
      <p:ext uri="{BB962C8B-B14F-4D97-AF65-F5344CB8AC3E}">
        <p14:creationId xmlns:p14="http://schemas.microsoft.com/office/powerpoint/2010/main" val="3818288204"/>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84A3E-53CF-3830-CEC8-2C6C7A2E7608}"/>
              </a:ext>
            </a:extLst>
          </p:cNvPr>
          <p:cNvSpPr>
            <a:spLocks noGrp="1"/>
          </p:cNvSpPr>
          <p:nvPr>
            <p:ph type="title"/>
          </p:nvPr>
        </p:nvSpPr>
        <p:spPr/>
        <p:txBody>
          <a:bodyPr>
            <a:normAutofit/>
          </a:bodyPr>
          <a:lstStyle/>
          <a:p>
            <a:r>
              <a:rPr lang="en-US" sz="3200" dirty="0">
                <a:ea typeface="ＭＳ Ｐゴシック"/>
              </a:rPr>
              <a:t>Four Layers of </a:t>
            </a:r>
            <a:r>
              <a:rPr lang="en-US" sz="3200" dirty="0">
                <a:ea typeface="+mj-lt"/>
                <a:cs typeface="+mj-lt"/>
              </a:rPr>
              <a:t>Transmission Control Protocol/ Internet Protocol (</a:t>
            </a:r>
            <a:r>
              <a:rPr lang="en-US" sz="3200" dirty="0">
                <a:ea typeface="ＭＳ Ｐゴシック"/>
              </a:rPr>
              <a:t>TCP/IP)</a:t>
            </a:r>
            <a:endParaRPr lang="en-US" sz="3200" dirty="0"/>
          </a:p>
        </p:txBody>
      </p:sp>
      <p:pic>
        <p:nvPicPr>
          <p:cNvPr id="4" name="Picture 4" descr="Graphical user interface, text, application, chat or text message&#10;&#10;Description automatically generated">
            <a:extLst>
              <a:ext uri="{FF2B5EF4-FFF2-40B4-BE49-F238E27FC236}">
                <a16:creationId xmlns:a16="http://schemas.microsoft.com/office/drawing/2014/main" id="{912CD2CE-4D56-6559-49EE-C00C7482F75C}"/>
              </a:ext>
            </a:extLst>
          </p:cNvPr>
          <p:cNvPicPr>
            <a:picLocks noChangeAspect="1"/>
          </p:cNvPicPr>
          <p:nvPr/>
        </p:nvPicPr>
        <p:blipFill rotWithShape="1">
          <a:blip r:embed="rId2"/>
          <a:srcRect t="11290" r="270" b="538"/>
          <a:stretch/>
        </p:blipFill>
        <p:spPr>
          <a:xfrm>
            <a:off x="601828" y="2204864"/>
            <a:ext cx="7940344" cy="3528392"/>
          </a:xfrm>
          <a:prstGeom prst="rect">
            <a:avLst/>
          </a:prstGeom>
        </p:spPr>
      </p:pic>
    </p:spTree>
    <p:extLst>
      <p:ext uri="{BB962C8B-B14F-4D97-AF65-F5344CB8AC3E}">
        <p14:creationId xmlns:p14="http://schemas.microsoft.com/office/powerpoint/2010/main" val="651612744"/>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EF2EB-6A1A-941A-99A2-6F91E18633E9}"/>
              </a:ext>
            </a:extLst>
          </p:cNvPr>
          <p:cNvSpPr>
            <a:spLocks noGrp="1"/>
          </p:cNvSpPr>
          <p:nvPr>
            <p:ph type="title"/>
          </p:nvPr>
        </p:nvSpPr>
        <p:spPr/>
        <p:txBody>
          <a:bodyPr>
            <a:normAutofit/>
          </a:bodyPr>
          <a:lstStyle/>
          <a:p>
            <a:r>
              <a:rPr lang="en-GB" dirty="0"/>
              <a:t>HTTP Request Methods</a:t>
            </a:r>
          </a:p>
        </p:txBody>
      </p:sp>
      <p:graphicFrame>
        <p:nvGraphicFramePr>
          <p:cNvPr id="4" name="Table 4">
            <a:extLst>
              <a:ext uri="{FF2B5EF4-FFF2-40B4-BE49-F238E27FC236}">
                <a16:creationId xmlns:a16="http://schemas.microsoft.com/office/drawing/2014/main" id="{6E191629-362D-68DE-2E12-2CCC7DEBE0D2}"/>
              </a:ext>
            </a:extLst>
          </p:cNvPr>
          <p:cNvGraphicFramePr>
            <a:graphicFrameLocks noGrp="1"/>
          </p:cNvGraphicFramePr>
          <p:nvPr>
            <p:extLst>
              <p:ext uri="{D42A27DB-BD31-4B8C-83A1-F6EECF244321}">
                <p14:modId xmlns:p14="http://schemas.microsoft.com/office/powerpoint/2010/main" val="2800864726"/>
              </p:ext>
            </p:extLst>
          </p:nvPr>
        </p:nvGraphicFramePr>
        <p:xfrm>
          <a:off x="395536" y="1556792"/>
          <a:ext cx="8390755" cy="4426973"/>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3580389310"/>
                    </a:ext>
                  </a:extLst>
                </a:gridCol>
                <a:gridCol w="4968552">
                  <a:extLst>
                    <a:ext uri="{9D8B030D-6E8A-4147-A177-3AD203B41FA5}">
                      <a16:colId xmlns:a16="http://schemas.microsoft.com/office/drawing/2014/main" val="3805455495"/>
                    </a:ext>
                  </a:extLst>
                </a:gridCol>
                <a:gridCol w="1368152">
                  <a:extLst>
                    <a:ext uri="{9D8B030D-6E8A-4147-A177-3AD203B41FA5}">
                      <a16:colId xmlns:a16="http://schemas.microsoft.com/office/drawing/2014/main" val="3351829718"/>
                    </a:ext>
                  </a:extLst>
                </a:gridCol>
                <a:gridCol w="973931">
                  <a:extLst>
                    <a:ext uri="{9D8B030D-6E8A-4147-A177-3AD203B41FA5}">
                      <a16:colId xmlns:a16="http://schemas.microsoft.com/office/drawing/2014/main" val="3036685784"/>
                    </a:ext>
                  </a:extLst>
                </a:gridCol>
              </a:tblGrid>
              <a:tr h="578353">
                <a:tc>
                  <a:txBody>
                    <a:bodyPr/>
                    <a:lstStyle/>
                    <a:p>
                      <a:pPr algn="ctr"/>
                      <a:r>
                        <a:rPr lang="en-GB" sz="2000" dirty="0"/>
                        <a:t>Method</a:t>
                      </a:r>
                    </a:p>
                  </a:txBody>
                  <a:tcPr marL="115671" marR="115671" marT="57835" marB="57835" anchor="ctr"/>
                </a:tc>
                <a:tc>
                  <a:txBody>
                    <a:bodyPr/>
                    <a:lstStyle/>
                    <a:p>
                      <a:pPr algn="ctr"/>
                      <a:r>
                        <a:rPr lang="en-GB" sz="2000" dirty="0"/>
                        <a:t>Description</a:t>
                      </a:r>
                    </a:p>
                  </a:txBody>
                  <a:tcPr marL="115671" marR="115671" marT="57835" marB="57835" anchor="ctr"/>
                </a:tc>
                <a:tc>
                  <a:txBody>
                    <a:bodyPr/>
                    <a:lstStyle/>
                    <a:p>
                      <a:pPr algn="ctr"/>
                      <a:r>
                        <a:rPr lang="en-GB" sz="1600" dirty="0"/>
                        <a:t>Idempotent?</a:t>
                      </a:r>
                    </a:p>
                  </a:txBody>
                  <a:tcPr marL="115671" marR="115671" marT="57835" marB="57835" anchor="ctr"/>
                </a:tc>
                <a:tc>
                  <a:txBody>
                    <a:bodyPr/>
                    <a:lstStyle/>
                    <a:p>
                      <a:pPr algn="ctr"/>
                      <a:r>
                        <a:rPr lang="en-GB" sz="1600" dirty="0"/>
                        <a:t>Safe?</a:t>
                      </a:r>
                    </a:p>
                  </a:txBody>
                  <a:tcPr marL="115671" marR="115671" marT="57835" marB="57835" anchor="ctr"/>
                </a:tc>
                <a:extLst>
                  <a:ext uri="{0D108BD9-81ED-4DB2-BD59-A6C34878D82A}">
                    <a16:rowId xmlns:a16="http://schemas.microsoft.com/office/drawing/2014/main" val="1672737665"/>
                  </a:ext>
                </a:extLst>
              </a:tr>
              <a:tr h="504000">
                <a:tc>
                  <a:txBody>
                    <a:bodyPr/>
                    <a:lstStyle/>
                    <a:p>
                      <a:pPr algn="ctr"/>
                      <a:r>
                        <a:rPr lang="en-GB" sz="2000" dirty="0"/>
                        <a:t>GET</a:t>
                      </a:r>
                    </a:p>
                  </a:txBody>
                  <a:tcPr marL="115671" marR="115671" marT="57835" marB="57835" anchor="ctr"/>
                </a:tc>
                <a:tc>
                  <a:txBody>
                    <a:bodyPr/>
                    <a:lstStyle/>
                    <a:p>
                      <a:r>
                        <a:rPr lang="en-GB" sz="1800" dirty="0"/>
                        <a:t>Requests data (web pages are data)</a:t>
                      </a:r>
                    </a:p>
                  </a:txBody>
                  <a:tcPr marL="115671" marR="115671" marT="57835" marB="57835" anchor="ctr"/>
                </a:tc>
                <a:tc>
                  <a:txBody>
                    <a:bodyPr/>
                    <a:lstStyle/>
                    <a:p>
                      <a:pPr algn="ctr"/>
                      <a:r>
                        <a:rPr lang="en-GB" sz="1800" dirty="0"/>
                        <a:t>Yes</a:t>
                      </a:r>
                    </a:p>
                  </a:txBody>
                  <a:tcPr marL="115671" marR="115671" marT="57835" marB="57835" anchor="ctr"/>
                </a:tc>
                <a:tc>
                  <a:txBody>
                    <a:bodyPr/>
                    <a:lstStyle/>
                    <a:p>
                      <a:pPr algn="ctr"/>
                      <a:r>
                        <a:rPr lang="en-GB" sz="1800" dirty="0"/>
                        <a:t>Yes</a:t>
                      </a:r>
                    </a:p>
                  </a:txBody>
                  <a:tcPr marL="115671" marR="115671" marT="57835" marB="57835" anchor="ctr"/>
                </a:tc>
                <a:extLst>
                  <a:ext uri="{0D108BD9-81ED-4DB2-BD59-A6C34878D82A}">
                    <a16:rowId xmlns:a16="http://schemas.microsoft.com/office/drawing/2014/main" val="1857698837"/>
                  </a:ext>
                </a:extLst>
              </a:tr>
              <a:tr h="504000">
                <a:tc>
                  <a:txBody>
                    <a:bodyPr/>
                    <a:lstStyle/>
                    <a:p>
                      <a:pPr algn="ctr"/>
                      <a:r>
                        <a:rPr lang="en-GB" sz="2000" dirty="0"/>
                        <a:t>HEAD</a:t>
                      </a:r>
                    </a:p>
                  </a:txBody>
                  <a:tcPr marL="115671" marR="115671" marT="57835" marB="57835" anchor="ctr"/>
                </a:tc>
                <a:tc>
                  <a:txBody>
                    <a:bodyPr/>
                    <a:lstStyle/>
                    <a:p>
                      <a:r>
                        <a:rPr lang="en-GB" sz="1800" dirty="0"/>
                        <a:t>Requests header info</a:t>
                      </a:r>
                    </a:p>
                  </a:txBody>
                  <a:tcPr marL="115671" marR="115671" marT="57835" marB="57835" anchor="ctr"/>
                </a:tc>
                <a:tc>
                  <a:txBody>
                    <a:bodyPr/>
                    <a:lstStyle/>
                    <a:p>
                      <a:pPr algn="ctr"/>
                      <a:r>
                        <a:rPr lang="en-GB" sz="1800" dirty="0"/>
                        <a:t>Yes</a:t>
                      </a:r>
                    </a:p>
                  </a:txBody>
                  <a:tcPr marL="115671" marR="115671" marT="57835" marB="57835" anchor="ctr"/>
                </a:tc>
                <a:tc>
                  <a:txBody>
                    <a:bodyPr/>
                    <a:lstStyle/>
                    <a:p>
                      <a:pPr algn="ctr"/>
                      <a:r>
                        <a:rPr lang="en-GB" sz="1800" dirty="0"/>
                        <a:t>Yes</a:t>
                      </a:r>
                    </a:p>
                  </a:txBody>
                  <a:tcPr marL="115671" marR="115671" marT="57835" marB="57835" anchor="ctr"/>
                </a:tc>
                <a:extLst>
                  <a:ext uri="{0D108BD9-81ED-4DB2-BD59-A6C34878D82A}">
                    <a16:rowId xmlns:a16="http://schemas.microsoft.com/office/drawing/2014/main" val="3386211664"/>
                  </a:ext>
                </a:extLst>
              </a:tr>
              <a:tr h="504000">
                <a:tc>
                  <a:txBody>
                    <a:bodyPr/>
                    <a:lstStyle/>
                    <a:p>
                      <a:pPr algn="ctr"/>
                      <a:r>
                        <a:rPr lang="en-GB" sz="2000" dirty="0"/>
                        <a:t>POST</a:t>
                      </a:r>
                    </a:p>
                  </a:txBody>
                  <a:tcPr marL="115671" marR="115671" marT="57835" marB="57835" anchor="ctr"/>
                </a:tc>
                <a:tc>
                  <a:txBody>
                    <a:bodyPr/>
                    <a:lstStyle/>
                    <a:p>
                      <a:r>
                        <a:rPr lang="en-GB" sz="1800" dirty="0"/>
                        <a:t>Used to submit data to a server</a:t>
                      </a:r>
                    </a:p>
                  </a:txBody>
                  <a:tcPr marL="115671" marR="115671" marT="57835" marB="57835" anchor="ctr"/>
                </a:tc>
                <a:tc>
                  <a:txBody>
                    <a:bodyPr/>
                    <a:lstStyle/>
                    <a:p>
                      <a:pPr algn="ctr"/>
                      <a:r>
                        <a:rPr lang="en-GB" sz="1800" dirty="0"/>
                        <a:t>Usually No</a:t>
                      </a:r>
                    </a:p>
                  </a:txBody>
                  <a:tcPr marL="115671" marR="115671" marT="57835" marB="57835" anchor="ctr"/>
                </a:tc>
                <a:tc>
                  <a:txBody>
                    <a:bodyPr/>
                    <a:lstStyle/>
                    <a:p>
                      <a:pPr algn="ctr"/>
                      <a:r>
                        <a:rPr lang="en-GB" sz="1800" dirty="0"/>
                        <a:t>No</a:t>
                      </a:r>
                    </a:p>
                  </a:txBody>
                  <a:tcPr marL="115671" marR="115671" marT="57835" marB="57835" anchor="ctr"/>
                </a:tc>
                <a:extLst>
                  <a:ext uri="{0D108BD9-81ED-4DB2-BD59-A6C34878D82A}">
                    <a16:rowId xmlns:a16="http://schemas.microsoft.com/office/drawing/2014/main" val="2022106427"/>
                  </a:ext>
                </a:extLst>
              </a:tr>
              <a:tr h="504000">
                <a:tc>
                  <a:txBody>
                    <a:bodyPr/>
                    <a:lstStyle/>
                    <a:p>
                      <a:pPr algn="ctr"/>
                      <a:r>
                        <a:rPr lang="en-GB" sz="2000" dirty="0"/>
                        <a:t>PUT</a:t>
                      </a:r>
                    </a:p>
                  </a:txBody>
                  <a:tcPr marL="115671" marR="115671" marT="57835" marB="57835" anchor="ctr"/>
                </a:tc>
                <a:tc>
                  <a:txBody>
                    <a:bodyPr/>
                    <a:lstStyle/>
                    <a:p>
                      <a:r>
                        <a:rPr lang="en-GB" sz="1800" dirty="0"/>
                        <a:t>Replace/update the data on a server</a:t>
                      </a:r>
                    </a:p>
                  </a:txBody>
                  <a:tcPr marL="115671" marR="115671" marT="57835" marB="57835" anchor="ctr"/>
                </a:tc>
                <a:tc>
                  <a:txBody>
                    <a:bodyPr/>
                    <a:lstStyle/>
                    <a:p>
                      <a:pPr algn="ctr"/>
                      <a:r>
                        <a:rPr lang="en-GB" sz="1800" dirty="0"/>
                        <a:t>Yes</a:t>
                      </a:r>
                    </a:p>
                  </a:txBody>
                  <a:tcPr marL="115671" marR="115671" marT="57835" marB="57835" anchor="ctr"/>
                </a:tc>
                <a:tc>
                  <a:txBody>
                    <a:bodyPr/>
                    <a:lstStyle/>
                    <a:p>
                      <a:pPr algn="ctr"/>
                      <a:r>
                        <a:rPr lang="en-GB" sz="1800" dirty="0"/>
                        <a:t>No</a:t>
                      </a:r>
                    </a:p>
                  </a:txBody>
                  <a:tcPr marL="115671" marR="115671" marT="57835" marB="57835" anchor="ctr"/>
                </a:tc>
                <a:extLst>
                  <a:ext uri="{0D108BD9-81ED-4DB2-BD59-A6C34878D82A}">
                    <a16:rowId xmlns:a16="http://schemas.microsoft.com/office/drawing/2014/main" val="3883009980"/>
                  </a:ext>
                </a:extLst>
              </a:tr>
              <a:tr h="504000">
                <a:tc>
                  <a:txBody>
                    <a:bodyPr/>
                    <a:lstStyle/>
                    <a:p>
                      <a:pPr algn="ctr"/>
                      <a:r>
                        <a:rPr lang="en-GB" sz="2000" dirty="0"/>
                        <a:t>PATCH</a:t>
                      </a:r>
                    </a:p>
                  </a:txBody>
                  <a:tcPr marL="115671" marR="115671" marT="57835" marB="57835" anchor="ctr"/>
                </a:tc>
                <a:tc>
                  <a:txBody>
                    <a:bodyPr/>
                    <a:lstStyle/>
                    <a:p>
                      <a:r>
                        <a:rPr lang="en-GB" sz="1800" dirty="0"/>
                        <a:t>Partially update some data on a server </a:t>
                      </a:r>
                    </a:p>
                  </a:txBody>
                  <a:tcPr marL="115671" marR="115671" marT="57835" marB="57835" anchor="ctr"/>
                </a:tc>
                <a:tc>
                  <a:txBody>
                    <a:bodyPr/>
                    <a:lstStyle/>
                    <a:p>
                      <a:pPr algn="ctr"/>
                      <a:r>
                        <a:rPr lang="en-GB" sz="1800" dirty="0"/>
                        <a:t>Not Guaranteed</a:t>
                      </a:r>
                    </a:p>
                  </a:txBody>
                  <a:tcPr marL="115671" marR="115671" marT="57835" marB="57835" anchor="ctr"/>
                </a:tc>
                <a:tc>
                  <a:txBody>
                    <a:bodyPr/>
                    <a:lstStyle/>
                    <a:p>
                      <a:pPr algn="ctr"/>
                      <a:r>
                        <a:rPr lang="en-GB" sz="1800" dirty="0"/>
                        <a:t>No</a:t>
                      </a:r>
                    </a:p>
                  </a:txBody>
                  <a:tcPr marL="115671" marR="115671" marT="57835" marB="57835" anchor="ctr"/>
                </a:tc>
                <a:extLst>
                  <a:ext uri="{0D108BD9-81ED-4DB2-BD59-A6C34878D82A}">
                    <a16:rowId xmlns:a16="http://schemas.microsoft.com/office/drawing/2014/main" val="781367186"/>
                  </a:ext>
                </a:extLst>
              </a:tr>
              <a:tr h="504000">
                <a:tc>
                  <a:txBody>
                    <a:bodyPr/>
                    <a:lstStyle/>
                    <a:p>
                      <a:pPr algn="ctr"/>
                      <a:r>
                        <a:rPr lang="en-GB" sz="2000" dirty="0"/>
                        <a:t>DELETE</a:t>
                      </a:r>
                    </a:p>
                  </a:txBody>
                  <a:tcPr marL="115671" marR="115671" marT="57835" marB="57835" anchor="ctr"/>
                </a:tc>
                <a:tc>
                  <a:txBody>
                    <a:bodyPr/>
                    <a:lstStyle/>
                    <a:p>
                      <a:r>
                        <a:rPr lang="en-GB" sz="1800" dirty="0"/>
                        <a:t>Used to delete some data on a server</a:t>
                      </a:r>
                    </a:p>
                  </a:txBody>
                  <a:tcPr marL="115671" marR="115671" marT="57835" marB="57835" anchor="ctr"/>
                </a:tc>
                <a:tc>
                  <a:txBody>
                    <a:bodyPr/>
                    <a:lstStyle/>
                    <a:p>
                      <a:pPr algn="ctr"/>
                      <a:r>
                        <a:rPr lang="en-GB" sz="1800" dirty="0"/>
                        <a:t>Yes</a:t>
                      </a:r>
                    </a:p>
                  </a:txBody>
                  <a:tcPr marL="115671" marR="115671" marT="57835" marB="57835" anchor="ctr"/>
                </a:tc>
                <a:tc>
                  <a:txBody>
                    <a:bodyPr/>
                    <a:lstStyle/>
                    <a:p>
                      <a:pPr algn="ctr"/>
                      <a:r>
                        <a:rPr lang="en-GB" sz="1800" dirty="0"/>
                        <a:t>No</a:t>
                      </a:r>
                    </a:p>
                  </a:txBody>
                  <a:tcPr marL="115671" marR="115671" marT="57835" marB="57835" anchor="ctr"/>
                </a:tc>
                <a:extLst>
                  <a:ext uri="{0D108BD9-81ED-4DB2-BD59-A6C34878D82A}">
                    <a16:rowId xmlns:a16="http://schemas.microsoft.com/office/drawing/2014/main" val="2843498379"/>
                  </a:ext>
                </a:extLst>
              </a:tr>
              <a:tr h="504000">
                <a:tc>
                  <a:txBody>
                    <a:bodyPr/>
                    <a:lstStyle/>
                    <a:p>
                      <a:pPr algn="ctr"/>
                      <a:r>
                        <a:rPr lang="en-GB" sz="2000" dirty="0"/>
                        <a:t>TRACE</a:t>
                      </a:r>
                    </a:p>
                  </a:txBody>
                  <a:tcPr marL="115671" marR="115671" marT="57835" marB="57835" anchor="ctr"/>
                </a:tc>
                <a:tc>
                  <a:txBody>
                    <a:bodyPr/>
                    <a:lstStyle/>
                    <a:p>
                      <a:r>
                        <a:rPr lang="en-GB" sz="1800" dirty="0"/>
                        <a:t>Performs a message loop-back test along the path to the target</a:t>
                      </a:r>
                    </a:p>
                  </a:txBody>
                  <a:tcPr marL="115671" marR="115671" marT="57835" marB="57835" anchor="ctr"/>
                </a:tc>
                <a:tc>
                  <a:txBody>
                    <a:bodyPr/>
                    <a:lstStyle/>
                    <a:p>
                      <a:pPr algn="ctr"/>
                      <a:r>
                        <a:rPr lang="en-GB" sz="1800" dirty="0"/>
                        <a:t>Yes</a:t>
                      </a:r>
                    </a:p>
                  </a:txBody>
                  <a:tcPr marL="115671" marR="115671" marT="57835" marB="57835" anchor="ctr"/>
                </a:tc>
                <a:tc>
                  <a:txBody>
                    <a:bodyPr/>
                    <a:lstStyle/>
                    <a:p>
                      <a:pPr algn="ctr"/>
                      <a:r>
                        <a:rPr lang="en-GB" sz="1800" dirty="0"/>
                        <a:t>Yes</a:t>
                      </a:r>
                    </a:p>
                  </a:txBody>
                  <a:tcPr marL="115671" marR="115671" marT="57835" marB="57835" anchor="ctr"/>
                </a:tc>
                <a:extLst>
                  <a:ext uri="{0D108BD9-81ED-4DB2-BD59-A6C34878D82A}">
                    <a16:rowId xmlns:a16="http://schemas.microsoft.com/office/drawing/2014/main" val="3837821458"/>
                  </a:ext>
                </a:extLst>
              </a:tr>
            </a:tbl>
          </a:graphicData>
        </a:graphic>
      </p:graphicFrame>
      <p:sp>
        <p:nvSpPr>
          <p:cNvPr id="3" name="TextBox 2">
            <a:extLst>
              <a:ext uri="{FF2B5EF4-FFF2-40B4-BE49-F238E27FC236}">
                <a16:creationId xmlns:a16="http://schemas.microsoft.com/office/drawing/2014/main" id="{96BD191C-FD9D-ADD8-E2BB-2222F6E5584A}"/>
              </a:ext>
            </a:extLst>
          </p:cNvPr>
          <p:cNvSpPr txBox="1"/>
          <p:nvPr/>
        </p:nvSpPr>
        <p:spPr>
          <a:xfrm>
            <a:off x="585268" y="6093296"/>
            <a:ext cx="8011290" cy="523220"/>
          </a:xfrm>
          <a:prstGeom prst="rect">
            <a:avLst/>
          </a:prstGeom>
          <a:noFill/>
        </p:spPr>
        <p:txBody>
          <a:bodyPr wrap="square" rtlCol="0">
            <a:spAutoFit/>
          </a:bodyPr>
          <a:lstStyle/>
          <a:p>
            <a:pPr algn="ctr"/>
            <a:r>
              <a:rPr lang="en-GB" sz="1400" dirty="0"/>
              <a:t>*idempotent (</a:t>
            </a:r>
            <a:r>
              <a:rPr lang="zh-CN" altLang="en-US" sz="1400" dirty="0"/>
              <a:t>幂等的</a:t>
            </a:r>
            <a:r>
              <a:rPr lang="en-GB" altLang="zh-CN" sz="1400" dirty="0"/>
              <a:t>) – repeated usage does not change the final state beyond the first request</a:t>
            </a:r>
          </a:p>
          <a:p>
            <a:pPr algn="ctr"/>
            <a:r>
              <a:rPr lang="en-GB" sz="1400" dirty="0"/>
              <a:t>*safe (</a:t>
            </a:r>
            <a:r>
              <a:rPr lang="zh-CN" altLang="en-US" sz="1400" dirty="0"/>
              <a:t>安全的</a:t>
            </a:r>
            <a:r>
              <a:rPr lang="en-GB" sz="1400" dirty="0"/>
              <a:t>) – it does not change anything</a:t>
            </a:r>
          </a:p>
        </p:txBody>
      </p:sp>
    </p:spTree>
    <p:extLst>
      <p:ext uri="{BB962C8B-B14F-4D97-AF65-F5344CB8AC3E}">
        <p14:creationId xmlns:p14="http://schemas.microsoft.com/office/powerpoint/2010/main" val="658879840"/>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714E9-969D-D9B0-D0A3-C5EA666BE19D}"/>
              </a:ext>
            </a:extLst>
          </p:cNvPr>
          <p:cNvSpPr>
            <a:spLocks noGrp="1"/>
          </p:cNvSpPr>
          <p:nvPr>
            <p:ph type="title"/>
          </p:nvPr>
        </p:nvSpPr>
        <p:spPr>
          <a:xfrm>
            <a:off x="899592" y="476672"/>
            <a:ext cx="7886700" cy="1011108"/>
          </a:xfrm>
        </p:spPr>
        <p:txBody>
          <a:bodyPr>
            <a:normAutofit/>
          </a:bodyPr>
          <a:lstStyle/>
          <a:p>
            <a:r>
              <a:rPr lang="en-US" dirty="0"/>
              <a:t>Common REST HTTP Response Codes</a:t>
            </a:r>
            <a:endParaRPr lang="en-GB" dirty="0"/>
          </a:p>
        </p:txBody>
      </p:sp>
      <p:graphicFrame>
        <p:nvGraphicFramePr>
          <p:cNvPr id="4" name="Table 4">
            <a:extLst>
              <a:ext uri="{FF2B5EF4-FFF2-40B4-BE49-F238E27FC236}">
                <a16:creationId xmlns:a16="http://schemas.microsoft.com/office/drawing/2014/main" id="{638394DC-50B3-F0D3-BFB4-11F486E3CE73}"/>
              </a:ext>
            </a:extLst>
          </p:cNvPr>
          <p:cNvGraphicFramePr>
            <a:graphicFrameLocks noGrp="1"/>
          </p:cNvGraphicFramePr>
          <p:nvPr>
            <p:extLst>
              <p:ext uri="{D42A27DB-BD31-4B8C-83A1-F6EECF244321}">
                <p14:modId xmlns:p14="http://schemas.microsoft.com/office/powerpoint/2010/main" val="1517194387"/>
              </p:ext>
            </p:extLst>
          </p:nvPr>
        </p:nvGraphicFramePr>
        <p:xfrm>
          <a:off x="668194" y="1340768"/>
          <a:ext cx="7936254" cy="4879150"/>
        </p:xfrm>
        <a:graphic>
          <a:graphicData uri="http://schemas.openxmlformats.org/drawingml/2006/table">
            <a:tbl>
              <a:tblPr firstRow="1" bandRow="1">
                <a:tableStyleId>{5C22544A-7EE6-4342-B048-85BDC9FD1C3A}</a:tableStyleId>
              </a:tblPr>
              <a:tblGrid>
                <a:gridCol w="842609">
                  <a:extLst>
                    <a:ext uri="{9D8B030D-6E8A-4147-A177-3AD203B41FA5}">
                      <a16:colId xmlns:a16="http://schemas.microsoft.com/office/drawing/2014/main" val="1841965250"/>
                    </a:ext>
                  </a:extLst>
                </a:gridCol>
                <a:gridCol w="1210625">
                  <a:extLst>
                    <a:ext uri="{9D8B030D-6E8A-4147-A177-3AD203B41FA5}">
                      <a16:colId xmlns:a16="http://schemas.microsoft.com/office/drawing/2014/main" val="2669258981"/>
                    </a:ext>
                  </a:extLst>
                </a:gridCol>
                <a:gridCol w="2498644">
                  <a:extLst>
                    <a:ext uri="{9D8B030D-6E8A-4147-A177-3AD203B41FA5}">
                      <a16:colId xmlns:a16="http://schemas.microsoft.com/office/drawing/2014/main" val="4286751757"/>
                    </a:ext>
                  </a:extLst>
                </a:gridCol>
                <a:gridCol w="3384376">
                  <a:extLst>
                    <a:ext uri="{9D8B030D-6E8A-4147-A177-3AD203B41FA5}">
                      <a16:colId xmlns:a16="http://schemas.microsoft.com/office/drawing/2014/main" val="1886582458"/>
                    </a:ext>
                  </a:extLst>
                </a:gridCol>
              </a:tblGrid>
              <a:tr h="679376">
                <a:tc gridSpan="2">
                  <a:txBody>
                    <a:bodyPr/>
                    <a:lstStyle/>
                    <a:p>
                      <a:pPr algn="ctr"/>
                      <a:r>
                        <a:rPr lang="en-GB" sz="2000" dirty="0"/>
                        <a:t>Type</a:t>
                      </a:r>
                    </a:p>
                  </a:txBody>
                  <a:tcPr marL="117613" marR="117613" marT="58807" marB="58807" anchor="ctr"/>
                </a:tc>
                <a:tc hMerge="1">
                  <a:txBody>
                    <a:bodyPr/>
                    <a:lstStyle/>
                    <a:p>
                      <a:pPr algn="ctr"/>
                      <a:endParaRPr lang="en-GB" sz="2000" dirty="0"/>
                    </a:p>
                  </a:txBody>
                  <a:tcPr marL="117613" marR="117613" marT="58807" marB="58807" anchor="ctr"/>
                </a:tc>
                <a:tc>
                  <a:txBody>
                    <a:bodyPr/>
                    <a:lstStyle/>
                    <a:p>
                      <a:pPr algn="ctr"/>
                      <a:r>
                        <a:rPr lang="en-GB" sz="2000" dirty="0"/>
                        <a:t>Code</a:t>
                      </a:r>
                    </a:p>
                  </a:txBody>
                  <a:tcPr marL="117613" marR="117613" marT="58807" marB="58807" anchor="ctr"/>
                </a:tc>
                <a:tc>
                  <a:txBody>
                    <a:bodyPr/>
                    <a:lstStyle/>
                    <a:p>
                      <a:pPr algn="ctr"/>
                      <a:r>
                        <a:rPr lang="en-GB" sz="2000" dirty="0"/>
                        <a:t>Meaning</a:t>
                      </a:r>
                    </a:p>
                  </a:txBody>
                  <a:tcPr marL="117613" marR="117613" marT="58807" marB="58807" anchor="ctr"/>
                </a:tc>
                <a:extLst>
                  <a:ext uri="{0D108BD9-81ED-4DB2-BD59-A6C34878D82A}">
                    <a16:rowId xmlns:a16="http://schemas.microsoft.com/office/drawing/2014/main" val="2390560151"/>
                  </a:ext>
                </a:extLst>
              </a:tr>
              <a:tr h="396000">
                <a:tc rowSpan="3">
                  <a:txBody>
                    <a:bodyPr/>
                    <a:lstStyle/>
                    <a:p>
                      <a:pPr algn="ctr"/>
                      <a:r>
                        <a:rPr lang="en-GB" sz="1700" dirty="0"/>
                        <a:t>2XX</a:t>
                      </a:r>
                    </a:p>
                  </a:txBody>
                  <a:tcPr marL="117613" marR="117613" marT="58807" marB="58807" anchor="ctr"/>
                </a:tc>
                <a:tc rowSpan="3">
                  <a:txBody>
                    <a:bodyPr/>
                    <a:lstStyle/>
                    <a:p>
                      <a:pPr algn="ctr"/>
                      <a:r>
                        <a:rPr lang="en-GB" sz="1700" dirty="0"/>
                        <a:t>Successful</a:t>
                      </a:r>
                    </a:p>
                  </a:txBody>
                  <a:tcPr marL="117613" marR="117613" marT="58807" marB="58807" anchor="ctr"/>
                </a:tc>
                <a:tc>
                  <a:txBody>
                    <a:bodyPr/>
                    <a:lstStyle/>
                    <a:p>
                      <a:pPr algn="l"/>
                      <a:r>
                        <a:rPr lang="en-US" sz="1700" dirty="0"/>
                        <a:t>200 OK</a:t>
                      </a:r>
                    </a:p>
                  </a:txBody>
                  <a:tcPr marL="117613" marR="117613" marT="58807" marB="58807" anchor="ctr"/>
                </a:tc>
                <a:tc>
                  <a:txBody>
                    <a:bodyPr/>
                    <a:lstStyle/>
                    <a:p>
                      <a:pPr algn="l"/>
                      <a:r>
                        <a:rPr lang="en-US" sz="1700" dirty="0"/>
                        <a:t>Request succeeded</a:t>
                      </a:r>
                    </a:p>
                  </a:txBody>
                  <a:tcPr marL="117613" marR="117613" marT="58807" marB="58807" anchor="ctr"/>
                </a:tc>
                <a:extLst>
                  <a:ext uri="{0D108BD9-81ED-4DB2-BD59-A6C34878D82A}">
                    <a16:rowId xmlns:a16="http://schemas.microsoft.com/office/drawing/2014/main" val="2109512451"/>
                  </a:ext>
                </a:extLst>
              </a:tr>
              <a:tr h="396000">
                <a:tc vMerge="1">
                  <a:txBody>
                    <a:bodyPr/>
                    <a:lstStyle/>
                    <a:p>
                      <a:endParaRPr lang="en-GB"/>
                    </a:p>
                  </a:txBody>
                  <a:tcPr/>
                </a:tc>
                <a:tc vMerge="1">
                  <a:txBody>
                    <a:bodyPr/>
                    <a:lstStyle/>
                    <a:p>
                      <a:endParaRPr lang="en-GB"/>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sz="1700" dirty="0"/>
                        <a:t>201 Created</a:t>
                      </a:r>
                      <a:endParaRPr lang="en-GB" sz="1700" dirty="0"/>
                    </a:p>
                  </a:txBody>
                  <a:tcPr marL="117613" marR="117613" marT="58807" marB="58807" anchor="ct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GB" sz="1700" dirty="0"/>
                        <a:t>New resource created</a:t>
                      </a:r>
                    </a:p>
                  </a:txBody>
                  <a:tcPr marL="117613" marR="117613" marT="58807" marB="58807" anchor="ctr"/>
                </a:tc>
                <a:extLst>
                  <a:ext uri="{0D108BD9-81ED-4DB2-BD59-A6C34878D82A}">
                    <a16:rowId xmlns:a16="http://schemas.microsoft.com/office/drawing/2014/main" val="2235865510"/>
                  </a:ext>
                </a:extLst>
              </a:tr>
              <a:tr h="396000">
                <a:tc vMerge="1">
                  <a:txBody>
                    <a:bodyPr/>
                    <a:lstStyle/>
                    <a:p>
                      <a:endParaRPr lang="en-GB"/>
                    </a:p>
                  </a:txBody>
                  <a:tcPr/>
                </a:tc>
                <a:tc vMerge="1">
                  <a:txBody>
                    <a:bodyPr/>
                    <a:lstStyle/>
                    <a:p>
                      <a:endParaRPr lang="en-GB"/>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sz="1700" dirty="0"/>
                        <a:t>204 No Content</a:t>
                      </a:r>
                      <a:endParaRPr lang="en-GB" sz="1700" dirty="0"/>
                    </a:p>
                  </a:txBody>
                  <a:tcPr marL="117613" marR="117613" marT="58807" marB="58807" anchor="ct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GB" sz="1700" dirty="0"/>
                        <a:t>Success, no body returned</a:t>
                      </a:r>
                    </a:p>
                  </a:txBody>
                  <a:tcPr marL="117613" marR="117613" marT="58807" marB="58807" anchor="ctr"/>
                </a:tc>
                <a:extLst>
                  <a:ext uri="{0D108BD9-81ED-4DB2-BD59-A6C34878D82A}">
                    <a16:rowId xmlns:a16="http://schemas.microsoft.com/office/drawing/2014/main" val="1764701768"/>
                  </a:ext>
                </a:extLst>
              </a:tr>
              <a:tr h="396000">
                <a:tc rowSpan="5">
                  <a:txBody>
                    <a:bodyPr/>
                    <a:lstStyle/>
                    <a:p>
                      <a:pPr algn="ctr"/>
                      <a:r>
                        <a:rPr lang="en-GB" sz="1700" dirty="0"/>
                        <a:t>4XX</a:t>
                      </a:r>
                    </a:p>
                  </a:txBody>
                  <a:tcPr marL="117613" marR="117613" marT="58807" marB="58807" anchor="ctr"/>
                </a:tc>
                <a:tc rowSpan="5">
                  <a:txBody>
                    <a:bodyPr/>
                    <a:lstStyle/>
                    <a:p>
                      <a:pPr algn="ctr"/>
                      <a:r>
                        <a:rPr lang="en-GB" sz="1700" dirty="0"/>
                        <a:t>Client Error</a:t>
                      </a:r>
                    </a:p>
                  </a:txBody>
                  <a:tcPr marL="117613" marR="117613" marT="58807" marB="58807" anchor="ct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sz="1700" dirty="0"/>
                        <a:t>400 Bad Request</a:t>
                      </a:r>
                    </a:p>
                  </a:txBody>
                  <a:tcPr marL="117613" marR="117613" marT="58807" marB="58807" anchor="ct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sz="1700" dirty="0"/>
                        <a:t>Invalid request</a:t>
                      </a:r>
                    </a:p>
                  </a:txBody>
                  <a:tcPr marL="117613" marR="117613" marT="58807" marB="58807" anchor="ctr"/>
                </a:tc>
                <a:extLst>
                  <a:ext uri="{0D108BD9-81ED-4DB2-BD59-A6C34878D82A}">
                    <a16:rowId xmlns:a16="http://schemas.microsoft.com/office/drawing/2014/main" val="3848369382"/>
                  </a:ext>
                </a:extLst>
              </a:tr>
              <a:tr h="396000">
                <a:tc vMerge="1">
                  <a:txBody>
                    <a:bodyPr/>
                    <a:lstStyle/>
                    <a:p>
                      <a:endParaRPr lang="en-GB"/>
                    </a:p>
                  </a:txBody>
                  <a:tcPr/>
                </a:tc>
                <a:tc vMerge="1">
                  <a:txBody>
                    <a:bodyPr/>
                    <a:lstStyle/>
                    <a:p>
                      <a:endParaRPr lang="en-GB"/>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sz="1700" dirty="0"/>
                        <a:t>401 Unauthorized</a:t>
                      </a:r>
                    </a:p>
                  </a:txBody>
                  <a:tcPr marL="117613" marR="117613" marT="58807" marB="58807" anchor="ct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sz="1700" dirty="0"/>
                        <a:t>Authentication required/failed</a:t>
                      </a:r>
                    </a:p>
                  </a:txBody>
                  <a:tcPr marL="117613" marR="117613" marT="58807" marB="58807" anchor="ctr"/>
                </a:tc>
                <a:extLst>
                  <a:ext uri="{0D108BD9-81ED-4DB2-BD59-A6C34878D82A}">
                    <a16:rowId xmlns:a16="http://schemas.microsoft.com/office/drawing/2014/main" val="1389377627"/>
                  </a:ext>
                </a:extLst>
              </a:tr>
              <a:tr h="396000">
                <a:tc vMerge="1">
                  <a:txBody>
                    <a:bodyPr/>
                    <a:lstStyle/>
                    <a:p>
                      <a:endParaRPr lang="en-GB"/>
                    </a:p>
                  </a:txBody>
                  <a:tcPr/>
                </a:tc>
                <a:tc vMerge="1">
                  <a:txBody>
                    <a:bodyPr/>
                    <a:lstStyle/>
                    <a:p>
                      <a:endParaRPr lang="en-GB"/>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sz="1700" dirty="0"/>
                        <a:t>403 Forbidden</a:t>
                      </a:r>
                    </a:p>
                  </a:txBody>
                  <a:tcPr marL="117613" marR="117613" marT="58807" marB="58807" anchor="ct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GB" sz="1700" dirty="0"/>
                        <a:t>Request understood but not allowed</a:t>
                      </a:r>
                      <a:endParaRPr lang="en-US" sz="1700" dirty="0"/>
                    </a:p>
                  </a:txBody>
                  <a:tcPr marL="117613" marR="117613" marT="58807" marB="58807" anchor="ctr"/>
                </a:tc>
                <a:extLst>
                  <a:ext uri="{0D108BD9-81ED-4DB2-BD59-A6C34878D82A}">
                    <a16:rowId xmlns:a16="http://schemas.microsoft.com/office/drawing/2014/main" val="1057165135"/>
                  </a:ext>
                </a:extLst>
              </a:tr>
              <a:tr h="396000">
                <a:tc vMerge="1">
                  <a:txBody>
                    <a:bodyPr/>
                    <a:lstStyle/>
                    <a:p>
                      <a:endParaRPr lang="en-GB"/>
                    </a:p>
                  </a:txBody>
                  <a:tcPr/>
                </a:tc>
                <a:tc vMerge="1">
                  <a:txBody>
                    <a:bodyPr/>
                    <a:lstStyle/>
                    <a:p>
                      <a:endParaRPr lang="en-GB"/>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sz="1700" dirty="0"/>
                        <a:t>404 Not Found</a:t>
                      </a:r>
                    </a:p>
                  </a:txBody>
                  <a:tcPr marL="117613" marR="117613" marT="58807" marB="58807" anchor="ct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sz="1700" dirty="0"/>
                        <a:t>Resource does not exist</a:t>
                      </a:r>
                    </a:p>
                  </a:txBody>
                  <a:tcPr marL="117613" marR="117613" marT="58807" marB="58807" anchor="ctr"/>
                </a:tc>
                <a:extLst>
                  <a:ext uri="{0D108BD9-81ED-4DB2-BD59-A6C34878D82A}">
                    <a16:rowId xmlns:a16="http://schemas.microsoft.com/office/drawing/2014/main" val="749699356"/>
                  </a:ext>
                </a:extLst>
              </a:tr>
              <a:tr h="396000">
                <a:tc vMerge="1">
                  <a:txBody>
                    <a:bodyPr/>
                    <a:lstStyle/>
                    <a:p>
                      <a:endParaRPr lang="en-GB"/>
                    </a:p>
                  </a:txBody>
                  <a:tcPr/>
                </a:tc>
                <a:tc vMerge="1">
                  <a:txBody>
                    <a:bodyPr/>
                    <a:lstStyle/>
                    <a:p>
                      <a:endParaRPr lang="en-GB"/>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sz="1700" dirty="0"/>
                        <a:t>409 Conflict</a:t>
                      </a:r>
                    </a:p>
                  </a:txBody>
                  <a:tcPr marL="117613" marR="117613" marT="58807" marB="58807" anchor="ct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GB" sz="1700" dirty="0"/>
                        <a:t>Request conflicts with current state</a:t>
                      </a:r>
                      <a:endParaRPr lang="en-US" sz="1700" dirty="0"/>
                    </a:p>
                  </a:txBody>
                  <a:tcPr marL="117613" marR="117613" marT="58807" marB="58807" anchor="ctr"/>
                </a:tc>
                <a:extLst>
                  <a:ext uri="{0D108BD9-81ED-4DB2-BD59-A6C34878D82A}">
                    <a16:rowId xmlns:a16="http://schemas.microsoft.com/office/drawing/2014/main" val="2476382649"/>
                  </a:ext>
                </a:extLst>
              </a:tr>
              <a:tr h="396000">
                <a:tc rowSpan="2">
                  <a:txBody>
                    <a:bodyPr/>
                    <a:lstStyle/>
                    <a:p>
                      <a:pPr algn="ctr"/>
                      <a:r>
                        <a:rPr lang="en-GB" sz="1700" dirty="0"/>
                        <a:t>5XX</a:t>
                      </a:r>
                    </a:p>
                  </a:txBody>
                  <a:tcPr marL="117613" marR="117613" marT="58807" marB="58807" anchor="ctr"/>
                </a:tc>
                <a:tc rowSpan="2">
                  <a:txBody>
                    <a:bodyPr/>
                    <a:lstStyle/>
                    <a:p>
                      <a:pPr algn="ctr"/>
                      <a:r>
                        <a:rPr lang="en-GB" sz="1700" dirty="0"/>
                        <a:t>Server Error</a:t>
                      </a:r>
                    </a:p>
                  </a:txBody>
                  <a:tcPr marL="117613" marR="117613" marT="58807" marB="58807" anchor="ctr"/>
                </a:tc>
                <a:tc>
                  <a:txBody>
                    <a:bodyPr/>
                    <a:lstStyle/>
                    <a:p>
                      <a:pPr algn="l"/>
                      <a:r>
                        <a:rPr lang="en-US" sz="1700" dirty="0"/>
                        <a:t>500 Internal Server Error</a:t>
                      </a:r>
                      <a:endParaRPr lang="en-GB" sz="1700" dirty="0"/>
                    </a:p>
                  </a:txBody>
                  <a:tcPr marL="117613" marR="117613" marT="58807" marB="58807" anchor="ctr"/>
                </a:tc>
                <a:tc>
                  <a:txBody>
                    <a:bodyPr/>
                    <a:lstStyle/>
                    <a:p>
                      <a:pPr algn="l"/>
                      <a:r>
                        <a:rPr lang="en-GB" sz="1700" dirty="0"/>
                        <a:t>Server-side failure</a:t>
                      </a:r>
                    </a:p>
                  </a:txBody>
                  <a:tcPr marL="117613" marR="117613" marT="58807" marB="58807" anchor="ctr"/>
                </a:tc>
                <a:extLst>
                  <a:ext uri="{0D108BD9-81ED-4DB2-BD59-A6C34878D82A}">
                    <a16:rowId xmlns:a16="http://schemas.microsoft.com/office/drawing/2014/main" val="3740918729"/>
                  </a:ext>
                </a:extLst>
              </a:tr>
              <a:tr h="396000">
                <a:tc vMerge="1">
                  <a:txBody>
                    <a:bodyPr/>
                    <a:lstStyle/>
                    <a:p>
                      <a:endParaRPr lang="en-GB"/>
                    </a:p>
                  </a:txBody>
                  <a:tcPr/>
                </a:tc>
                <a:tc vMerge="1">
                  <a:txBody>
                    <a:bodyPr/>
                    <a:lstStyle/>
                    <a:p>
                      <a:endParaRPr lang="en-GB"/>
                    </a:p>
                  </a:txBody>
                  <a:tcPr/>
                </a:tc>
                <a:tc>
                  <a:txBody>
                    <a:bodyPr/>
                    <a:lstStyle/>
                    <a:p>
                      <a:pPr algn="l"/>
                      <a:r>
                        <a:rPr lang="en-US" sz="1700" dirty="0"/>
                        <a:t>503 Service Unavailable</a:t>
                      </a:r>
                      <a:endParaRPr lang="en-GB" sz="1700" dirty="0"/>
                    </a:p>
                  </a:txBody>
                  <a:tcPr marL="117613" marR="117613" marT="58807" marB="58807" anchor="ctr"/>
                </a:tc>
                <a:tc>
                  <a:txBody>
                    <a:bodyPr/>
                    <a:lstStyle/>
                    <a:p>
                      <a:pPr algn="l"/>
                      <a:r>
                        <a:rPr lang="en-GB" sz="1700" dirty="0"/>
                        <a:t>Service temporarily unavailable</a:t>
                      </a:r>
                    </a:p>
                  </a:txBody>
                  <a:tcPr marL="117613" marR="117613" marT="58807" marB="58807" anchor="ctr"/>
                </a:tc>
                <a:extLst>
                  <a:ext uri="{0D108BD9-81ED-4DB2-BD59-A6C34878D82A}">
                    <a16:rowId xmlns:a16="http://schemas.microsoft.com/office/drawing/2014/main" val="3311191255"/>
                  </a:ext>
                </a:extLst>
              </a:tr>
            </a:tbl>
          </a:graphicData>
        </a:graphic>
      </p:graphicFrame>
    </p:spTree>
    <p:extLst>
      <p:ext uri="{BB962C8B-B14F-4D97-AF65-F5344CB8AC3E}">
        <p14:creationId xmlns:p14="http://schemas.microsoft.com/office/powerpoint/2010/main" val="3071836931"/>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609E6-351F-FEB6-98AE-51FCED43DF3C}"/>
              </a:ext>
            </a:extLst>
          </p:cNvPr>
          <p:cNvSpPr>
            <a:spLocks noGrp="1"/>
          </p:cNvSpPr>
          <p:nvPr>
            <p:ph type="title"/>
          </p:nvPr>
        </p:nvSpPr>
        <p:spPr/>
        <p:txBody>
          <a:bodyPr/>
          <a:lstStyle/>
          <a:p>
            <a:r>
              <a:rPr lang="en-US" dirty="0">
                <a:ea typeface="ＭＳ Ｐゴシック"/>
              </a:rPr>
              <a:t>Sample Request &amp; Respond</a:t>
            </a:r>
            <a:endParaRPr lang="en-US" dirty="0"/>
          </a:p>
        </p:txBody>
      </p:sp>
      <p:pic>
        <p:nvPicPr>
          <p:cNvPr id="4" name="Picture 4" descr="Text&#10;&#10;Description automatically generated">
            <a:extLst>
              <a:ext uri="{FF2B5EF4-FFF2-40B4-BE49-F238E27FC236}">
                <a16:creationId xmlns:a16="http://schemas.microsoft.com/office/drawing/2014/main" id="{554BF9E1-AF6B-BBCF-90FF-EC267EB91F62}"/>
              </a:ext>
            </a:extLst>
          </p:cNvPr>
          <p:cNvPicPr>
            <a:picLocks noChangeAspect="1"/>
          </p:cNvPicPr>
          <p:nvPr/>
        </p:nvPicPr>
        <p:blipFill>
          <a:blip r:embed="rId2"/>
          <a:stretch>
            <a:fillRect/>
          </a:stretch>
        </p:blipFill>
        <p:spPr>
          <a:xfrm>
            <a:off x="159133" y="2119805"/>
            <a:ext cx="8825733" cy="2618390"/>
          </a:xfrm>
          <a:prstGeom prst="rect">
            <a:avLst/>
          </a:prstGeom>
        </p:spPr>
      </p:pic>
    </p:spTree>
    <p:extLst>
      <p:ext uri="{BB962C8B-B14F-4D97-AF65-F5344CB8AC3E}">
        <p14:creationId xmlns:p14="http://schemas.microsoft.com/office/powerpoint/2010/main" val="601775077"/>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2AA6E-0693-D6AE-ECD3-7ABEF2540A66}"/>
              </a:ext>
            </a:extLst>
          </p:cNvPr>
          <p:cNvSpPr>
            <a:spLocks noGrp="1"/>
          </p:cNvSpPr>
          <p:nvPr>
            <p:ph type="title"/>
          </p:nvPr>
        </p:nvSpPr>
        <p:spPr/>
        <p:txBody>
          <a:bodyPr>
            <a:normAutofit/>
          </a:bodyPr>
          <a:lstStyle/>
          <a:p>
            <a:r>
              <a:rPr lang="en-GB" dirty="0"/>
              <a:t>RESTful Services</a:t>
            </a:r>
          </a:p>
        </p:txBody>
      </p:sp>
      <p:sp>
        <p:nvSpPr>
          <p:cNvPr id="3" name="Text Placeholder 2">
            <a:extLst>
              <a:ext uri="{FF2B5EF4-FFF2-40B4-BE49-F238E27FC236}">
                <a16:creationId xmlns:a16="http://schemas.microsoft.com/office/drawing/2014/main" id="{2DCF3AA2-9706-B086-842E-1734A50D60A9}"/>
              </a:ext>
            </a:extLst>
          </p:cNvPr>
          <p:cNvSpPr>
            <a:spLocks noGrp="1"/>
          </p:cNvSpPr>
          <p:nvPr>
            <p:ph type="body" sz="quarter" idx="11"/>
          </p:nvPr>
        </p:nvSpPr>
        <p:spPr>
          <a:xfrm>
            <a:off x="899590" y="1700808"/>
            <a:ext cx="7886699" cy="4608512"/>
          </a:xfrm>
        </p:spPr>
        <p:txBody>
          <a:bodyPr/>
          <a:lstStyle/>
          <a:p>
            <a:pPr algn="ctr" eaLnBrk="1" hangingPunct="1">
              <a:lnSpc>
                <a:spcPct val="115000"/>
              </a:lnSpc>
              <a:buFont typeface="Wingdings" pitchFamily="2" charset="2"/>
              <a:buNone/>
            </a:pPr>
            <a:r>
              <a:rPr lang="en-GB" altLang="en-US" sz="2800" b="1" dirty="0">
                <a:solidFill>
                  <a:schemeClr val="tx2">
                    <a:lumMod val="60000"/>
                    <a:lumOff val="40000"/>
                  </a:schemeClr>
                </a:solidFill>
                <a:cs typeface="Arial" panose="020B0604020202020204" pitchFamily="34" charset="0"/>
              </a:rPr>
              <a:t>Re</a:t>
            </a:r>
            <a:r>
              <a:rPr lang="en-GB" altLang="en-US" sz="2800" b="1" dirty="0">
                <a:cs typeface="Arial" panose="020B0604020202020204" pitchFamily="34" charset="0"/>
              </a:rPr>
              <a:t>presentational </a:t>
            </a:r>
            <a:r>
              <a:rPr lang="en-GB" altLang="en-US" sz="2800" b="1" dirty="0">
                <a:solidFill>
                  <a:schemeClr val="tx2">
                    <a:lumMod val="60000"/>
                    <a:lumOff val="40000"/>
                  </a:schemeClr>
                </a:solidFill>
                <a:cs typeface="Arial" panose="020B0604020202020204" pitchFamily="34" charset="0"/>
              </a:rPr>
              <a:t>S</a:t>
            </a:r>
            <a:r>
              <a:rPr lang="en-GB" altLang="en-US" sz="2800" b="1" dirty="0">
                <a:cs typeface="Arial" panose="020B0604020202020204" pitchFamily="34" charset="0"/>
              </a:rPr>
              <a:t>tate </a:t>
            </a:r>
            <a:r>
              <a:rPr lang="en-GB" altLang="en-US" sz="2800" b="1" dirty="0">
                <a:solidFill>
                  <a:schemeClr val="tx2">
                    <a:lumMod val="60000"/>
                    <a:lumOff val="40000"/>
                  </a:schemeClr>
                </a:solidFill>
                <a:cs typeface="Arial" panose="020B0604020202020204" pitchFamily="34" charset="0"/>
              </a:rPr>
              <a:t>T</a:t>
            </a:r>
            <a:r>
              <a:rPr lang="en-GB" altLang="en-US" sz="2800" b="1" dirty="0">
                <a:cs typeface="Arial" panose="020B0604020202020204" pitchFamily="34" charset="0"/>
              </a:rPr>
              <a:t>ransfer</a:t>
            </a:r>
            <a:endParaRPr lang="en-GB" altLang="en-US" sz="2800" dirty="0">
              <a:cs typeface="Arial" panose="020B0604020202020204" pitchFamily="34" charset="0"/>
            </a:endParaRPr>
          </a:p>
          <a:p>
            <a:endParaRPr lang="en-GB" altLang="en-US" sz="2000" dirty="0">
              <a:cs typeface="Arial" panose="020B0604020202020204" pitchFamily="34" charset="0"/>
            </a:endParaRPr>
          </a:p>
          <a:p>
            <a:r>
              <a:rPr lang="en-GB" altLang="en-US" sz="2000" dirty="0">
                <a:cs typeface="Arial" panose="020B0604020202020204" pitchFamily="34" charset="0"/>
              </a:rPr>
              <a:t>A simplified approach to web-based interactions</a:t>
            </a:r>
          </a:p>
          <a:p>
            <a:pPr lvl="2"/>
            <a:endParaRPr lang="en-GB" altLang="en-US" sz="2000" dirty="0">
              <a:cs typeface="Arial" panose="020B0604020202020204" pitchFamily="34" charset="0"/>
            </a:endParaRPr>
          </a:p>
          <a:p>
            <a:r>
              <a:rPr lang="en-US" altLang="en-US" sz="2000" dirty="0">
                <a:cs typeface="Arial" panose="020B0604020202020204" pitchFamily="34" charset="0"/>
              </a:rPr>
              <a:t>"REST" was coined by </a:t>
            </a:r>
            <a:r>
              <a:rPr lang="en-US" altLang="en-US" sz="2000" u="sng" dirty="0">
                <a:cs typeface="Arial" panose="020B0604020202020204" pitchFamily="34" charset="0"/>
              </a:rPr>
              <a:t>Roy Fielding </a:t>
            </a:r>
            <a:r>
              <a:rPr lang="en-US" altLang="en-US" sz="2000" dirty="0">
                <a:cs typeface="Arial" panose="020B0604020202020204" pitchFamily="34" charset="0"/>
              </a:rPr>
              <a:t>in his PhD Thesis </a:t>
            </a:r>
          </a:p>
          <a:p>
            <a:pPr lvl="1"/>
            <a:r>
              <a:rPr lang="en-US" altLang="en-US" dirty="0">
                <a:cs typeface="Arial" panose="020B0604020202020204" pitchFamily="34" charset="0"/>
              </a:rPr>
              <a:t>to describe a design pattern for implementing networked systems.</a:t>
            </a:r>
          </a:p>
          <a:p>
            <a:pPr lvl="1"/>
            <a:r>
              <a:rPr lang="en-GB" altLang="en-US" dirty="0">
                <a:cs typeface="Arial" panose="020B0604020202020204" pitchFamily="34" charset="0"/>
              </a:rPr>
              <a:t>Fielding – one of the principal authors of HTTP</a:t>
            </a:r>
          </a:p>
          <a:p>
            <a:pPr lvl="1"/>
            <a:r>
              <a:rPr lang="en-GB" altLang="en-US" dirty="0">
                <a:cs typeface="Arial" panose="020B0604020202020204" pitchFamily="34" charset="0"/>
              </a:rPr>
              <a:t>Used REST to describe the architectural pattern of the web</a:t>
            </a:r>
            <a:endParaRPr lang="en-US" altLang="en-US" dirty="0">
              <a:cs typeface="Arial" panose="020B0604020202020204" pitchFamily="34" charset="0"/>
            </a:endParaRPr>
          </a:p>
          <a:p>
            <a:endParaRPr lang="en-GB" altLang="en-US" sz="2000" dirty="0">
              <a:cs typeface="Arial" panose="020B0604020202020204" pitchFamily="34" charset="0"/>
            </a:endParaRPr>
          </a:p>
          <a:p>
            <a:endParaRPr lang="en-GB" sz="2000" dirty="0"/>
          </a:p>
        </p:txBody>
      </p:sp>
      <p:pic>
        <p:nvPicPr>
          <p:cNvPr id="4" name="Picture 3">
            <a:extLst>
              <a:ext uri="{FF2B5EF4-FFF2-40B4-BE49-F238E27FC236}">
                <a16:creationId xmlns:a16="http://schemas.microsoft.com/office/drawing/2014/main" id="{4810992D-9D7D-C6DA-D5A7-A7CC46C57E2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023790" y="5301208"/>
            <a:ext cx="3762499" cy="1434321"/>
          </a:xfrm>
          <a:prstGeom prst="rect">
            <a:avLst/>
          </a:prstGeom>
        </p:spPr>
      </p:pic>
    </p:spTree>
    <p:extLst>
      <p:ext uri="{BB962C8B-B14F-4D97-AF65-F5344CB8AC3E}">
        <p14:creationId xmlns:p14="http://schemas.microsoft.com/office/powerpoint/2010/main" val="1244673718"/>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DF075-D6F0-F2E7-A8E4-E929181C70CD}"/>
              </a:ext>
            </a:extLst>
          </p:cNvPr>
          <p:cNvSpPr>
            <a:spLocks noGrp="1"/>
          </p:cNvSpPr>
          <p:nvPr>
            <p:ph type="title"/>
          </p:nvPr>
        </p:nvSpPr>
        <p:spPr/>
        <p:txBody>
          <a:bodyPr>
            <a:normAutofit/>
          </a:bodyPr>
          <a:lstStyle/>
          <a:p>
            <a:r>
              <a:rPr lang="en-GB" dirty="0"/>
              <a:t>Motivation for REST</a:t>
            </a:r>
          </a:p>
        </p:txBody>
      </p:sp>
      <p:sp>
        <p:nvSpPr>
          <p:cNvPr id="3" name="Text Placeholder 2">
            <a:extLst>
              <a:ext uri="{FF2B5EF4-FFF2-40B4-BE49-F238E27FC236}">
                <a16:creationId xmlns:a16="http://schemas.microsoft.com/office/drawing/2014/main" id="{58F6EEFB-61C5-A403-A4E6-6E3E74B7068E}"/>
              </a:ext>
            </a:extLst>
          </p:cNvPr>
          <p:cNvSpPr>
            <a:spLocks noGrp="1"/>
          </p:cNvSpPr>
          <p:nvPr>
            <p:ph type="body" sz="quarter" idx="11"/>
          </p:nvPr>
        </p:nvSpPr>
        <p:spPr>
          <a:xfrm>
            <a:off x="899591" y="1700808"/>
            <a:ext cx="3672409" cy="4608512"/>
          </a:xfrm>
        </p:spPr>
        <p:txBody>
          <a:bodyPr/>
          <a:lstStyle/>
          <a:p>
            <a:r>
              <a:rPr lang="en-GB" altLang="en-US" sz="2000" dirty="0">
                <a:cs typeface="Arial" panose="020B0604020202020204" pitchFamily="34" charset="0"/>
              </a:rPr>
              <a:t>Aimed to create a design pattern to describe the interactions within the Web</a:t>
            </a:r>
          </a:p>
          <a:p>
            <a:endParaRPr lang="en-GB" altLang="en-US" sz="1050" dirty="0">
              <a:cs typeface="Arial" panose="020B0604020202020204" pitchFamily="34" charset="0"/>
            </a:endParaRPr>
          </a:p>
          <a:p>
            <a:r>
              <a:rPr lang="en-GB" altLang="en-US" sz="2000" dirty="0">
                <a:cs typeface="Arial" panose="020B0604020202020204" pitchFamily="34" charset="0"/>
              </a:rPr>
              <a:t>But with an eye to Web Services and other potential communication frameworks</a:t>
            </a:r>
          </a:p>
          <a:p>
            <a:endParaRPr lang="en-GB" altLang="en-US" sz="1050" dirty="0">
              <a:cs typeface="Arial" panose="020B0604020202020204" pitchFamily="34" charset="0"/>
            </a:endParaRPr>
          </a:p>
          <a:p>
            <a:r>
              <a:rPr lang="en-GB" altLang="en-US" sz="2000" dirty="0">
                <a:cs typeface="Arial" panose="020B0604020202020204" pitchFamily="34" charset="0"/>
              </a:rPr>
              <a:t>Really a set of principles for how </a:t>
            </a:r>
            <a:r>
              <a:rPr lang="en-GB" altLang="en-US" sz="2000" i="1" dirty="0">
                <a:cs typeface="Arial" panose="020B0604020202020204" pitchFamily="34" charset="0"/>
              </a:rPr>
              <a:t>resources</a:t>
            </a:r>
            <a:r>
              <a:rPr lang="en-GB" altLang="en-US" sz="2000" dirty="0">
                <a:cs typeface="Arial" panose="020B0604020202020204" pitchFamily="34" charset="0"/>
              </a:rPr>
              <a:t> are defined and used</a:t>
            </a:r>
          </a:p>
          <a:p>
            <a:pPr lvl="1"/>
            <a:r>
              <a:rPr lang="en-GB" altLang="en-US" dirty="0">
                <a:cs typeface="Arial" panose="020B0604020202020204" pitchFamily="34" charset="0"/>
              </a:rPr>
              <a:t>resources are things which provide information</a:t>
            </a:r>
          </a:p>
          <a:p>
            <a:endParaRPr lang="en-GB" altLang="en-US" sz="1050" dirty="0">
              <a:cs typeface="Arial" panose="020B0604020202020204" pitchFamily="34" charset="0"/>
            </a:endParaRPr>
          </a:p>
          <a:p>
            <a:r>
              <a:rPr lang="en-GB" altLang="en-US" sz="2000" dirty="0">
                <a:cs typeface="Arial" panose="020B0604020202020204" pitchFamily="34" charset="0"/>
              </a:rPr>
              <a:t>Systems which follow these principles are termed RESTful</a:t>
            </a:r>
            <a:endParaRPr lang="en-US" altLang="en-US" sz="2000" dirty="0">
              <a:cs typeface="Arial" panose="020B0604020202020204" pitchFamily="34" charset="0"/>
            </a:endParaRPr>
          </a:p>
          <a:p>
            <a:endParaRPr lang="en-GB" sz="2000" dirty="0"/>
          </a:p>
        </p:txBody>
      </p:sp>
      <p:sp>
        <p:nvSpPr>
          <p:cNvPr id="4" name="TextBox 3">
            <a:extLst>
              <a:ext uri="{FF2B5EF4-FFF2-40B4-BE49-F238E27FC236}">
                <a16:creationId xmlns:a16="http://schemas.microsoft.com/office/drawing/2014/main" id="{7090DDBE-341E-E0BA-21F1-AC7CF153C7AD}"/>
              </a:ext>
            </a:extLst>
          </p:cNvPr>
          <p:cNvSpPr txBox="1"/>
          <p:nvPr/>
        </p:nvSpPr>
        <p:spPr>
          <a:xfrm>
            <a:off x="4841837" y="1473691"/>
            <a:ext cx="3961518" cy="4524315"/>
          </a:xfrm>
          <a:prstGeom prst="rect">
            <a:avLst/>
          </a:prstGeom>
          <a:noFill/>
          <a:ln w="31750">
            <a:solidFill>
              <a:schemeClr val="accent1"/>
            </a:solidFill>
          </a:ln>
        </p:spPr>
        <p:txBody>
          <a:bodyPr wrap="square" lIns="91440" tIns="45720" rIns="91440" bIns="45720" rtlCol="0" anchor="t">
            <a:spAutoFit/>
          </a:bodyPr>
          <a:lstStyle/>
          <a:p>
            <a:r>
              <a:rPr lang="en-GB" altLang="en-US" sz="3600" b="1" dirty="0">
                <a:solidFill>
                  <a:srgbClr val="7030A0"/>
                </a:solidFill>
                <a:latin typeface="Arial"/>
                <a:ea typeface="ＭＳ Ｐゴシック"/>
                <a:cs typeface="Arial"/>
              </a:rPr>
              <a:t>Re</a:t>
            </a:r>
            <a:r>
              <a:rPr lang="en-GB" altLang="en-US" sz="3600" b="1" dirty="0">
                <a:latin typeface="Arial"/>
                <a:ea typeface="ＭＳ Ｐゴシック"/>
                <a:cs typeface="Arial"/>
              </a:rPr>
              <a:t>presentational </a:t>
            </a:r>
            <a:endParaRPr lang="en-US" dirty="0"/>
          </a:p>
          <a:p>
            <a:endParaRPr lang="en-GB" altLang="en-US" sz="3600" b="1" dirty="0">
              <a:solidFill>
                <a:srgbClr val="000000"/>
              </a:solidFill>
              <a:latin typeface="Arial"/>
              <a:ea typeface="ＭＳ Ｐゴシック"/>
              <a:cs typeface="Arial"/>
            </a:endParaRPr>
          </a:p>
          <a:p>
            <a:r>
              <a:rPr lang="en-GB" altLang="en-US" sz="3600" b="1" dirty="0">
                <a:solidFill>
                  <a:srgbClr val="7030A0"/>
                </a:solidFill>
                <a:latin typeface="Arial" panose="020B0604020202020204" pitchFamily="34" charset="0"/>
                <a:cs typeface="Arial" panose="020B0604020202020204" pitchFamily="34" charset="0"/>
              </a:rPr>
              <a:t>S</a:t>
            </a:r>
            <a:r>
              <a:rPr lang="en-GB" altLang="en-US" sz="3600" b="1" dirty="0">
                <a:latin typeface="Arial" panose="020B0604020202020204" pitchFamily="34" charset="0"/>
                <a:cs typeface="Arial" panose="020B0604020202020204" pitchFamily="34" charset="0"/>
              </a:rPr>
              <a:t>tate </a:t>
            </a:r>
          </a:p>
          <a:p>
            <a:endParaRPr lang="en-GB" altLang="en-US" sz="3600" b="1" dirty="0">
              <a:latin typeface="Arial" panose="020B0604020202020204" pitchFamily="34" charset="0"/>
              <a:cs typeface="Arial" panose="020B0604020202020204" pitchFamily="34" charset="0"/>
            </a:endParaRPr>
          </a:p>
          <a:p>
            <a:endParaRPr lang="en-GB" altLang="en-US" sz="3600" b="1" dirty="0">
              <a:solidFill>
                <a:srgbClr val="000000"/>
              </a:solidFill>
              <a:latin typeface="Arial"/>
              <a:ea typeface="ＭＳ Ｐゴシック"/>
              <a:cs typeface="Arial"/>
            </a:endParaRPr>
          </a:p>
          <a:p>
            <a:r>
              <a:rPr lang="en-GB" altLang="en-US" sz="3600" b="1" dirty="0">
                <a:solidFill>
                  <a:srgbClr val="7030A0"/>
                </a:solidFill>
                <a:latin typeface="Arial" panose="020B0604020202020204" pitchFamily="34" charset="0"/>
                <a:cs typeface="Arial" panose="020B0604020202020204" pitchFamily="34" charset="0"/>
              </a:rPr>
              <a:t>T</a:t>
            </a:r>
            <a:r>
              <a:rPr lang="en-GB" altLang="en-US" sz="3600" b="1" dirty="0">
                <a:latin typeface="Arial" panose="020B0604020202020204" pitchFamily="34" charset="0"/>
                <a:cs typeface="Arial" panose="020B0604020202020204" pitchFamily="34" charset="0"/>
              </a:rPr>
              <a:t>ransfer</a:t>
            </a:r>
            <a:endParaRPr lang="en-US" altLang="en-US" sz="3600" b="1" dirty="0">
              <a:latin typeface="Arial" panose="020B0604020202020204" pitchFamily="34" charset="0"/>
              <a:cs typeface="Arial" panose="020B0604020202020204" pitchFamily="34" charset="0"/>
            </a:endParaRPr>
          </a:p>
          <a:p>
            <a:endParaRPr lang="en-GB" sz="3600" dirty="0"/>
          </a:p>
        </p:txBody>
      </p:sp>
    </p:spTree>
    <p:extLst>
      <p:ext uri="{BB962C8B-B14F-4D97-AF65-F5344CB8AC3E}">
        <p14:creationId xmlns:p14="http://schemas.microsoft.com/office/powerpoint/2010/main" val="3214602145"/>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58B66-F273-C4D8-255E-CCF2A6C7B854}"/>
              </a:ext>
            </a:extLst>
          </p:cNvPr>
          <p:cNvSpPr>
            <a:spLocks noGrp="1"/>
          </p:cNvSpPr>
          <p:nvPr>
            <p:ph type="title"/>
          </p:nvPr>
        </p:nvSpPr>
        <p:spPr/>
        <p:txBody>
          <a:bodyPr>
            <a:normAutofit/>
          </a:bodyPr>
          <a:lstStyle/>
          <a:p>
            <a:r>
              <a:rPr lang="en-GB" dirty="0"/>
              <a:t>REST Principles</a:t>
            </a:r>
          </a:p>
        </p:txBody>
      </p:sp>
      <p:sp>
        <p:nvSpPr>
          <p:cNvPr id="3" name="Text Placeholder 2">
            <a:extLst>
              <a:ext uri="{FF2B5EF4-FFF2-40B4-BE49-F238E27FC236}">
                <a16:creationId xmlns:a16="http://schemas.microsoft.com/office/drawing/2014/main" id="{4651A954-DEBF-BD45-50AF-492F2AC0275E}"/>
              </a:ext>
            </a:extLst>
          </p:cNvPr>
          <p:cNvSpPr>
            <a:spLocks noGrp="1"/>
          </p:cNvSpPr>
          <p:nvPr>
            <p:ph type="body" sz="quarter" idx="11"/>
          </p:nvPr>
        </p:nvSpPr>
        <p:spPr>
          <a:xfrm>
            <a:off x="899590" y="1700808"/>
            <a:ext cx="7416825" cy="4608512"/>
          </a:xfrm>
        </p:spPr>
        <p:txBody>
          <a:bodyPr lIns="0" tIns="0" rIns="0" bIns="0" anchor="t"/>
          <a:lstStyle/>
          <a:p>
            <a:r>
              <a:rPr lang="en-GB" sz="2400" dirty="0"/>
              <a:t>Application state and functionality are abstracted into resources</a:t>
            </a:r>
          </a:p>
          <a:p>
            <a:endParaRPr lang="en-GB" sz="1400" dirty="0"/>
          </a:p>
          <a:p>
            <a:r>
              <a:rPr lang="en-GB" sz="2400" dirty="0"/>
              <a:t>Every resource is uniquely addressable (using a URI)</a:t>
            </a:r>
          </a:p>
          <a:p>
            <a:pPr marL="541020" lvl="1" indent="-274320"/>
            <a:r>
              <a:rPr lang="en-GB" sz="2000" dirty="0">
                <a:ea typeface="Tahoma"/>
                <a:cs typeface="Tahoma"/>
              </a:rPr>
              <a:t>Using a standardized syntax with a common interface</a:t>
            </a:r>
          </a:p>
          <a:p>
            <a:pPr lvl="2"/>
            <a:r>
              <a:rPr lang="en-GB" dirty="0"/>
              <a:t>Via a constrained set of defined operations</a:t>
            </a:r>
          </a:p>
          <a:p>
            <a:pPr lvl="2"/>
            <a:r>
              <a:rPr lang="en-GB" dirty="0"/>
              <a:t>A constrained set of content types (e.g., JSON, XML, text)</a:t>
            </a:r>
          </a:p>
          <a:p>
            <a:pPr lvl="2"/>
            <a:r>
              <a:rPr lang="en-GB" dirty="0"/>
              <a:t>Data-centric not functionality centric</a:t>
            </a:r>
          </a:p>
          <a:p>
            <a:pPr lvl="1"/>
            <a:r>
              <a:rPr lang="en-GB" sz="2000" dirty="0"/>
              <a:t>A simple vocabulary for indexing information etc.</a:t>
            </a:r>
          </a:p>
          <a:p>
            <a:pPr lvl="1"/>
            <a:r>
              <a:rPr lang="en-GB" sz="2000" dirty="0"/>
              <a:t>Via http methods</a:t>
            </a:r>
          </a:p>
          <a:p>
            <a:endParaRPr lang="en-GB" sz="1400" dirty="0"/>
          </a:p>
          <a:p>
            <a:r>
              <a:rPr lang="en-GB" sz="2400" dirty="0"/>
              <a:t>Via a protocol which is stateless, client-server oriented</a:t>
            </a:r>
          </a:p>
          <a:p>
            <a:endParaRPr lang="en-GB" sz="2000" dirty="0"/>
          </a:p>
          <a:p>
            <a:endParaRPr lang="en-GB" sz="2000" dirty="0"/>
          </a:p>
        </p:txBody>
      </p:sp>
    </p:spTree>
    <p:extLst>
      <p:ext uri="{BB962C8B-B14F-4D97-AF65-F5344CB8AC3E}">
        <p14:creationId xmlns:p14="http://schemas.microsoft.com/office/powerpoint/2010/main" val="2553495445"/>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B1C0-2C02-315F-D392-377E3A3674A5}"/>
              </a:ext>
            </a:extLst>
          </p:cNvPr>
          <p:cNvSpPr>
            <a:spLocks noGrp="1"/>
          </p:cNvSpPr>
          <p:nvPr>
            <p:ph type="title"/>
          </p:nvPr>
        </p:nvSpPr>
        <p:spPr/>
        <p:txBody>
          <a:bodyPr>
            <a:normAutofit/>
          </a:bodyPr>
          <a:lstStyle/>
          <a:p>
            <a:r>
              <a:rPr lang="en-GB" dirty="0"/>
              <a:t>REST Design Pattern</a:t>
            </a:r>
          </a:p>
        </p:txBody>
      </p:sp>
      <p:sp>
        <p:nvSpPr>
          <p:cNvPr id="3" name="Text Placeholder 2">
            <a:extLst>
              <a:ext uri="{FF2B5EF4-FFF2-40B4-BE49-F238E27FC236}">
                <a16:creationId xmlns:a16="http://schemas.microsoft.com/office/drawing/2014/main" id="{3091D874-4826-8CA9-346C-161399814386}"/>
              </a:ext>
            </a:extLst>
          </p:cNvPr>
          <p:cNvSpPr>
            <a:spLocks noGrp="1"/>
          </p:cNvSpPr>
          <p:nvPr>
            <p:ph type="body" sz="quarter" idx="11"/>
          </p:nvPr>
        </p:nvSpPr>
        <p:spPr>
          <a:xfrm>
            <a:off x="899591" y="1700808"/>
            <a:ext cx="7344818" cy="4608512"/>
          </a:xfrm>
        </p:spPr>
        <p:txBody>
          <a:bodyPr lIns="0" tIns="0" rIns="0" bIns="0" anchor="t"/>
          <a:lstStyle/>
          <a:p>
            <a:r>
              <a:rPr lang="en-GB" sz="2400" dirty="0"/>
              <a:t>All interactions between a client and a web service are done with simple operations</a:t>
            </a:r>
          </a:p>
          <a:p>
            <a:endParaRPr lang="en-GB" sz="1400" dirty="0"/>
          </a:p>
          <a:p>
            <a:r>
              <a:rPr lang="en-GB" sz="2400" dirty="0"/>
              <a:t>Most web interactions are done using http and just four operations:</a:t>
            </a:r>
          </a:p>
          <a:p>
            <a:pPr lvl="1"/>
            <a:r>
              <a:rPr lang="en-GB" sz="2000" dirty="0">
                <a:ea typeface="Tahoma"/>
                <a:cs typeface="Tahoma"/>
              </a:rPr>
              <a:t>Retrieve information (</a:t>
            </a:r>
            <a:r>
              <a:rPr lang="en-GB" sz="2000" dirty="0">
                <a:ea typeface="+mn-lt"/>
                <a:cs typeface="+mn-lt"/>
              </a:rPr>
              <a:t>HTTP </a:t>
            </a:r>
            <a:r>
              <a:rPr lang="en-GB" sz="2000" dirty="0">
                <a:ea typeface="Tahoma"/>
                <a:cs typeface="Tahoma"/>
              </a:rPr>
              <a:t>GET)</a:t>
            </a:r>
            <a:endParaRPr lang="en-GB" dirty="0">
              <a:ea typeface="Tahoma"/>
              <a:cs typeface="Tahoma"/>
            </a:endParaRPr>
          </a:p>
          <a:p>
            <a:pPr marL="541020" lvl="1" indent="-274320"/>
            <a:r>
              <a:rPr lang="en-GB" sz="2000" dirty="0"/>
              <a:t>Create information (HTTP POST)</a:t>
            </a:r>
          </a:p>
          <a:p>
            <a:pPr marL="541020" lvl="1" indent="-274320"/>
            <a:r>
              <a:rPr lang="en-GB" sz="2000" dirty="0"/>
              <a:t>Update information (HTTP PUT)</a:t>
            </a:r>
          </a:p>
          <a:p>
            <a:pPr marL="541020" lvl="1" indent="-274320"/>
            <a:r>
              <a:rPr lang="en-GB" sz="2000" dirty="0"/>
              <a:t>Delete information (HTTP DELETE)</a:t>
            </a:r>
          </a:p>
          <a:p>
            <a:pPr marL="266382" indent="-274320"/>
            <a:endParaRPr lang="en-GB" sz="1400" dirty="0"/>
          </a:p>
          <a:p>
            <a:r>
              <a:rPr lang="en-GB" sz="2400" dirty="0"/>
              <a:t>Plus</a:t>
            </a:r>
          </a:p>
          <a:p>
            <a:pPr marL="541020" lvl="1" indent="-274320"/>
            <a:r>
              <a:rPr lang="en-GB" sz="2000" dirty="0"/>
              <a:t>What HTTP methods are supported (HTTP OPTIONS)</a:t>
            </a:r>
          </a:p>
          <a:p>
            <a:pPr marL="541020" lvl="1" indent="-274320"/>
            <a:r>
              <a:rPr lang="en-GB" sz="2000" dirty="0"/>
              <a:t>Meta-information about the resource (HTTP HEAD)</a:t>
            </a:r>
          </a:p>
        </p:txBody>
      </p:sp>
    </p:spTree>
    <p:extLst>
      <p:ext uri="{BB962C8B-B14F-4D97-AF65-F5344CB8AC3E}">
        <p14:creationId xmlns:p14="http://schemas.microsoft.com/office/powerpoint/2010/main" val="3131791612"/>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79C6C-EF80-ADE9-EB3B-41E02F6B56BA}"/>
              </a:ext>
            </a:extLst>
          </p:cNvPr>
          <p:cNvSpPr>
            <a:spLocks noGrp="1"/>
          </p:cNvSpPr>
          <p:nvPr>
            <p:ph type="title"/>
          </p:nvPr>
        </p:nvSpPr>
        <p:spPr/>
        <p:txBody>
          <a:bodyPr>
            <a:normAutofit/>
          </a:bodyPr>
          <a:lstStyle/>
          <a:p>
            <a:r>
              <a:rPr lang="en-US" dirty="0"/>
              <a:t>CRUD/HTTP Mapping</a:t>
            </a:r>
            <a:endParaRPr lang="en-GB" dirty="0"/>
          </a:p>
        </p:txBody>
      </p:sp>
      <p:graphicFrame>
        <p:nvGraphicFramePr>
          <p:cNvPr id="4" name="Table 4">
            <a:extLst>
              <a:ext uri="{FF2B5EF4-FFF2-40B4-BE49-F238E27FC236}">
                <a16:creationId xmlns:a16="http://schemas.microsoft.com/office/drawing/2014/main" id="{BC8B0D3E-020D-2BE4-24B8-AE65EB1A453F}"/>
              </a:ext>
            </a:extLst>
          </p:cNvPr>
          <p:cNvGraphicFramePr>
            <a:graphicFrameLocks noGrp="1"/>
          </p:cNvGraphicFramePr>
          <p:nvPr>
            <p:extLst>
              <p:ext uri="{D42A27DB-BD31-4B8C-83A1-F6EECF244321}">
                <p14:modId xmlns:p14="http://schemas.microsoft.com/office/powerpoint/2010/main" val="2232649773"/>
              </p:ext>
            </p:extLst>
          </p:nvPr>
        </p:nvGraphicFramePr>
        <p:xfrm>
          <a:off x="899591" y="1340768"/>
          <a:ext cx="7344819" cy="4710960"/>
        </p:xfrm>
        <a:graphic>
          <a:graphicData uri="http://schemas.openxmlformats.org/drawingml/2006/table">
            <a:tbl>
              <a:tblPr firstRow="1" bandRow="1">
                <a:tableStyleId>{5C22544A-7EE6-4342-B048-85BDC9FD1C3A}</a:tableStyleId>
              </a:tblPr>
              <a:tblGrid>
                <a:gridCol w="1944217">
                  <a:extLst>
                    <a:ext uri="{9D8B030D-6E8A-4147-A177-3AD203B41FA5}">
                      <a16:colId xmlns:a16="http://schemas.microsoft.com/office/drawing/2014/main" val="331097341"/>
                    </a:ext>
                  </a:extLst>
                </a:gridCol>
                <a:gridCol w="1512168">
                  <a:extLst>
                    <a:ext uri="{9D8B030D-6E8A-4147-A177-3AD203B41FA5}">
                      <a16:colId xmlns:a16="http://schemas.microsoft.com/office/drawing/2014/main" val="2786373116"/>
                    </a:ext>
                  </a:extLst>
                </a:gridCol>
                <a:gridCol w="3888434">
                  <a:extLst>
                    <a:ext uri="{9D8B030D-6E8A-4147-A177-3AD203B41FA5}">
                      <a16:colId xmlns:a16="http://schemas.microsoft.com/office/drawing/2014/main" val="4238304530"/>
                    </a:ext>
                  </a:extLst>
                </a:gridCol>
              </a:tblGrid>
              <a:tr h="520140">
                <a:tc>
                  <a:txBody>
                    <a:bodyPr/>
                    <a:lstStyle/>
                    <a:p>
                      <a:pPr algn="ctr"/>
                      <a:r>
                        <a:rPr lang="en-US" sz="2400" kern="1200" dirty="0">
                          <a:solidFill>
                            <a:srgbClr val="FF0000"/>
                          </a:solidFill>
                          <a:latin typeface="+mn-lt"/>
                          <a:ea typeface="+mn-ea"/>
                          <a:cs typeface="+mn-cs"/>
                        </a:rPr>
                        <a:t>CRUD</a:t>
                      </a:r>
                      <a:r>
                        <a:rPr lang="en-US" sz="2400" b="1" baseline="0" dirty="0"/>
                        <a:t> Task</a:t>
                      </a:r>
                      <a:endParaRPr lang="en-US" sz="2400" b="1" dirty="0"/>
                    </a:p>
                  </a:txBody>
                  <a:tcPr anchor="ctr"/>
                </a:tc>
                <a:tc>
                  <a:txBody>
                    <a:bodyPr/>
                    <a:lstStyle/>
                    <a:p>
                      <a:pPr algn="ctr"/>
                      <a:r>
                        <a:rPr lang="en-US" sz="2400" b="1" dirty="0"/>
                        <a:t>HTTP Method</a:t>
                      </a:r>
                    </a:p>
                  </a:txBody>
                  <a:tcPr anchor="ctr"/>
                </a:tc>
                <a:tc>
                  <a:txBody>
                    <a:bodyPr/>
                    <a:lstStyle/>
                    <a:p>
                      <a:pPr algn="ctr"/>
                      <a:r>
                        <a:rPr lang="en-US" sz="2400" b="1" dirty="0"/>
                        <a:t>Action</a:t>
                      </a:r>
                    </a:p>
                  </a:txBody>
                  <a:tcPr anchor="ctr"/>
                </a:tc>
                <a:extLst>
                  <a:ext uri="{0D108BD9-81ED-4DB2-BD59-A6C34878D82A}">
                    <a16:rowId xmlns:a16="http://schemas.microsoft.com/office/drawing/2014/main" val="2397135266"/>
                  </a:ext>
                </a:extLst>
              </a:tr>
              <a:tr h="972000">
                <a:tc>
                  <a:txBody>
                    <a:bodyPr/>
                    <a:lstStyle/>
                    <a:p>
                      <a:pPr algn="ctr"/>
                      <a:r>
                        <a:rPr lang="en-US" sz="2000" b="1" dirty="0">
                          <a:solidFill>
                            <a:srgbClr val="FF0000"/>
                          </a:solidFill>
                        </a:rPr>
                        <a:t>C</a:t>
                      </a:r>
                      <a:r>
                        <a:rPr lang="en-US" sz="2000" dirty="0"/>
                        <a:t>reate</a:t>
                      </a:r>
                    </a:p>
                  </a:txBody>
                  <a:tcPr anchor="ctr"/>
                </a:tc>
                <a:tc>
                  <a:txBody>
                    <a:bodyPr/>
                    <a:lstStyle/>
                    <a:p>
                      <a:pPr algn="ctr"/>
                      <a:r>
                        <a:rPr lang="en-US" sz="2000" dirty="0"/>
                        <a:t>POST</a:t>
                      </a:r>
                    </a:p>
                  </a:txBody>
                  <a:tcPr anchor="ctr"/>
                </a:tc>
                <a:tc>
                  <a:txBody>
                    <a:bodyPr/>
                    <a:lstStyle/>
                    <a:p>
                      <a:r>
                        <a:rPr lang="en-US" sz="2000" dirty="0"/>
                        <a:t>Create</a:t>
                      </a:r>
                      <a:r>
                        <a:rPr lang="en-US" sz="2000" baseline="0" dirty="0"/>
                        <a:t> a resource (without an ID)</a:t>
                      </a:r>
                      <a:endParaRPr lang="en-US" sz="2000" dirty="0"/>
                    </a:p>
                  </a:txBody>
                  <a:tcPr anchor="ctr"/>
                </a:tc>
                <a:extLst>
                  <a:ext uri="{0D108BD9-81ED-4DB2-BD59-A6C34878D82A}">
                    <a16:rowId xmlns:a16="http://schemas.microsoft.com/office/drawing/2014/main" val="580339148"/>
                  </a:ext>
                </a:extLst>
              </a:tr>
              <a:tr h="972000">
                <a:tc>
                  <a:txBody>
                    <a:bodyPr/>
                    <a:lstStyle/>
                    <a:p>
                      <a:pPr algn="ctr"/>
                      <a:r>
                        <a:rPr lang="en-US" sz="2000" b="1" dirty="0">
                          <a:solidFill>
                            <a:srgbClr val="FF0000"/>
                          </a:solidFill>
                        </a:rPr>
                        <a:t>R</a:t>
                      </a:r>
                      <a:r>
                        <a:rPr lang="en-US" sz="2000" dirty="0"/>
                        <a:t>ead</a:t>
                      </a:r>
                    </a:p>
                  </a:txBody>
                  <a:tcPr anchor="ctr"/>
                </a:tc>
                <a:tc>
                  <a:txBody>
                    <a:bodyPr/>
                    <a:lstStyle/>
                    <a:p>
                      <a:pPr algn="ctr"/>
                      <a:r>
                        <a:rPr lang="en-US" sz="2000" dirty="0"/>
                        <a:t>GET</a:t>
                      </a:r>
                    </a:p>
                  </a:txBody>
                  <a:tcPr anchor="ctr"/>
                </a:tc>
                <a:tc>
                  <a:txBody>
                    <a:bodyPr/>
                    <a:lstStyle/>
                    <a:p>
                      <a:r>
                        <a:rPr lang="en-US" sz="2000" dirty="0"/>
                        <a:t>Read a resource</a:t>
                      </a:r>
                    </a:p>
                    <a:p>
                      <a:r>
                        <a:rPr lang="en-US" sz="2000" baseline="0" dirty="0"/>
                        <a:t>(no side effects, </a:t>
                      </a:r>
                      <a:r>
                        <a:rPr lang="en-US" sz="2000" baseline="0" noProof="0" dirty="0"/>
                        <a:t>possibly</a:t>
                      </a:r>
                      <a:r>
                        <a:rPr lang="en-US" sz="2000" baseline="0" dirty="0"/>
                        <a:t> cached)</a:t>
                      </a:r>
                      <a:endParaRPr lang="en-US" sz="2000" dirty="0"/>
                    </a:p>
                  </a:txBody>
                  <a:tcPr anchor="ctr"/>
                </a:tc>
                <a:extLst>
                  <a:ext uri="{0D108BD9-81ED-4DB2-BD59-A6C34878D82A}">
                    <a16:rowId xmlns:a16="http://schemas.microsoft.com/office/drawing/2014/main" val="2023359567"/>
                  </a:ext>
                </a:extLst>
              </a:tr>
              <a:tr h="972000">
                <a:tc>
                  <a:txBody>
                    <a:bodyPr/>
                    <a:lstStyle/>
                    <a:p>
                      <a:pPr algn="ctr"/>
                      <a:r>
                        <a:rPr lang="en-US" sz="2000" b="1" dirty="0">
                          <a:solidFill>
                            <a:srgbClr val="FF0000"/>
                          </a:solidFill>
                        </a:rPr>
                        <a:t>U</a:t>
                      </a:r>
                      <a:r>
                        <a:rPr lang="en-US" sz="2000" dirty="0"/>
                        <a:t>pdate</a:t>
                      </a:r>
                    </a:p>
                  </a:txBody>
                  <a:tcPr anchor="ctr"/>
                </a:tc>
                <a:tc>
                  <a:txBody>
                    <a:bodyPr/>
                    <a:lstStyle/>
                    <a:p>
                      <a:pPr algn="ctr"/>
                      <a:r>
                        <a:rPr lang="en-US" sz="2000" dirty="0"/>
                        <a:t>PUT</a:t>
                      </a:r>
                    </a:p>
                  </a:txBody>
                  <a:tcPr anchor="ctr"/>
                </a:tc>
                <a:tc>
                  <a:txBody>
                    <a:bodyPr/>
                    <a:lstStyle/>
                    <a:p>
                      <a:r>
                        <a:rPr lang="en-US" sz="2000" dirty="0"/>
                        <a:t>Update</a:t>
                      </a:r>
                      <a:r>
                        <a:rPr lang="en-US" sz="2000" baseline="0" dirty="0"/>
                        <a:t> (or possibly create) a resource with an ID</a:t>
                      </a:r>
                      <a:endParaRPr lang="en-US" sz="2000" dirty="0"/>
                    </a:p>
                  </a:txBody>
                  <a:tcPr anchor="ctr"/>
                </a:tc>
                <a:extLst>
                  <a:ext uri="{0D108BD9-81ED-4DB2-BD59-A6C34878D82A}">
                    <a16:rowId xmlns:a16="http://schemas.microsoft.com/office/drawing/2014/main" val="1684587923"/>
                  </a:ext>
                </a:extLst>
              </a:tr>
              <a:tr h="972000">
                <a:tc>
                  <a:txBody>
                    <a:bodyPr/>
                    <a:lstStyle/>
                    <a:p>
                      <a:pPr algn="ctr"/>
                      <a:r>
                        <a:rPr lang="en-US" sz="2000" b="1" dirty="0">
                          <a:solidFill>
                            <a:srgbClr val="FF0000"/>
                          </a:solidFill>
                        </a:rPr>
                        <a:t>D</a:t>
                      </a:r>
                      <a:r>
                        <a:rPr lang="en-US" sz="2000" dirty="0"/>
                        <a:t>elete</a:t>
                      </a:r>
                    </a:p>
                  </a:txBody>
                  <a:tcPr anchor="ctr"/>
                </a:tc>
                <a:tc>
                  <a:txBody>
                    <a:bodyPr/>
                    <a:lstStyle/>
                    <a:p>
                      <a:pPr algn="ctr"/>
                      <a:r>
                        <a:rPr lang="en-US" sz="2000" dirty="0"/>
                        <a:t>DELETE</a:t>
                      </a:r>
                    </a:p>
                  </a:txBody>
                  <a:tcPr anchor="ctr"/>
                </a:tc>
                <a:tc>
                  <a:txBody>
                    <a:bodyPr/>
                    <a:lstStyle/>
                    <a:p>
                      <a:r>
                        <a:rPr lang="en-US" sz="2000" dirty="0"/>
                        <a:t>Delete a resource</a:t>
                      </a:r>
                    </a:p>
                  </a:txBody>
                  <a:tcPr anchor="ctr"/>
                </a:tc>
                <a:extLst>
                  <a:ext uri="{0D108BD9-81ED-4DB2-BD59-A6C34878D82A}">
                    <a16:rowId xmlns:a16="http://schemas.microsoft.com/office/drawing/2014/main" val="2656886126"/>
                  </a:ext>
                </a:extLst>
              </a:tr>
            </a:tbl>
          </a:graphicData>
        </a:graphic>
      </p:graphicFrame>
    </p:spTree>
    <p:extLst>
      <p:ext uri="{BB962C8B-B14F-4D97-AF65-F5344CB8AC3E}">
        <p14:creationId xmlns:p14="http://schemas.microsoft.com/office/powerpoint/2010/main" val="2267861368"/>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0B873-34DE-5888-EBB6-C1932A4C2FA2}"/>
              </a:ext>
            </a:extLst>
          </p:cNvPr>
          <p:cNvSpPr>
            <a:spLocks noGrp="1"/>
          </p:cNvSpPr>
          <p:nvPr>
            <p:ph type="title"/>
          </p:nvPr>
        </p:nvSpPr>
        <p:spPr/>
        <p:txBody>
          <a:bodyPr>
            <a:normAutofit fontScale="90000"/>
          </a:bodyPr>
          <a:lstStyle/>
          <a:p>
            <a:r>
              <a:rPr lang="en-US" altLang="x-none" dirty="0"/>
              <a:t>The Three Fundamental Aspects of the REST Design Pattern</a:t>
            </a:r>
            <a:endParaRPr lang="en-GB" dirty="0"/>
          </a:p>
        </p:txBody>
      </p:sp>
      <p:sp>
        <p:nvSpPr>
          <p:cNvPr id="3" name="Text Placeholder 2">
            <a:extLst>
              <a:ext uri="{FF2B5EF4-FFF2-40B4-BE49-F238E27FC236}">
                <a16:creationId xmlns:a16="http://schemas.microsoft.com/office/drawing/2014/main" id="{BA02D7B6-346F-E235-51AD-DA8BBE066A0A}"/>
              </a:ext>
            </a:extLst>
          </p:cNvPr>
          <p:cNvSpPr>
            <a:spLocks noGrp="1"/>
          </p:cNvSpPr>
          <p:nvPr>
            <p:ph type="body" sz="quarter" idx="11"/>
          </p:nvPr>
        </p:nvSpPr>
        <p:spPr>
          <a:xfrm>
            <a:off x="899591" y="1916832"/>
            <a:ext cx="4320481" cy="4392488"/>
          </a:xfrm>
        </p:spPr>
        <p:txBody>
          <a:bodyPr lIns="0" tIns="0" rIns="0" bIns="0" anchor="t"/>
          <a:lstStyle/>
          <a:p>
            <a:r>
              <a:rPr lang="en-US" altLang="x-none" sz="2400" b="1" dirty="0">
                <a:ea typeface="Tahoma"/>
                <a:cs typeface="Tahoma"/>
              </a:rPr>
              <a:t>Resources</a:t>
            </a:r>
            <a:endParaRPr lang="en-US" altLang="x-none" sz="2400" dirty="0"/>
          </a:p>
          <a:p>
            <a:pPr marL="541020" lvl="1" indent="-274320"/>
            <a:r>
              <a:rPr lang="en-US" altLang="x-none" sz="2000" dirty="0">
                <a:ea typeface="Tahoma"/>
                <a:cs typeface="Tahoma"/>
              </a:rPr>
              <a:t>Every distinguishable entity is a resource.  e.g., a JSON document, a Web service, </a:t>
            </a:r>
            <a:endParaRPr lang="en-US" altLang="x-none" sz="2000" dirty="0"/>
          </a:p>
          <a:p>
            <a:endParaRPr lang="en-US" altLang="x-none" sz="1400" b="1" dirty="0">
              <a:ea typeface="Tahoma"/>
              <a:cs typeface="Tahoma"/>
            </a:endParaRPr>
          </a:p>
          <a:p>
            <a:r>
              <a:rPr lang="en-US" altLang="x-none" sz="2400" b="1" dirty="0">
                <a:ea typeface="Tahoma"/>
                <a:cs typeface="Tahoma"/>
              </a:rPr>
              <a:t>URIs Identify Resources</a:t>
            </a:r>
            <a:endParaRPr lang="en-US" altLang="x-none" sz="2400" dirty="0"/>
          </a:p>
          <a:p>
            <a:pPr marL="541020" lvl="1" indent="-274320"/>
            <a:r>
              <a:rPr lang="en-US" altLang="x-none" sz="2000" dirty="0">
                <a:ea typeface="Tahoma"/>
                <a:cs typeface="Tahoma"/>
              </a:rPr>
              <a:t>Every resource is uniquely identified by a URI. </a:t>
            </a:r>
            <a:endParaRPr lang="en-US" altLang="x-none" sz="2000" dirty="0"/>
          </a:p>
          <a:p>
            <a:endParaRPr lang="en-US" altLang="x-none" sz="1400" b="1" dirty="0">
              <a:ea typeface="Tahoma"/>
              <a:cs typeface="Tahoma"/>
            </a:endParaRPr>
          </a:p>
          <a:p>
            <a:r>
              <a:rPr lang="en-US" altLang="x-none" sz="2400" b="1" dirty="0">
                <a:ea typeface="Tahoma"/>
                <a:cs typeface="Tahoma"/>
              </a:rPr>
              <a:t>Simple Operations</a:t>
            </a:r>
            <a:endParaRPr lang="en-GB" sz="2400" dirty="0">
              <a:ea typeface="Tahoma"/>
              <a:cs typeface="Tahoma"/>
            </a:endParaRPr>
          </a:p>
          <a:p>
            <a:pPr marL="541020" lvl="1" indent="-274320"/>
            <a:r>
              <a:rPr lang="en-GB" sz="2000" dirty="0">
                <a:ea typeface="Tahoma"/>
                <a:cs typeface="Tahoma"/>
              </a:rPr>
              <a:t>Create, Read, Update, Delete (CRUD)</a:t>
            </a:r>
          </a:p>
        </p:txBody>
      </p:sp>
      <p:grpSp>
        <p:nvGrpSpPr>
          <p:cNvPr id="4" name="Group 3">
            <a:extLst>
              <a:ext uri="{FF2B5EF4-FFF2-40B4-BE49-F238E27FC236}">
                <a16:creationId xmlns:a16="http://schemas.microsoft.com/office/drawing/2014/main" id="{E63C0DDF-7356-FF24-7642-3324C8EFD224}"/>
              </a:ext>
            </a:extLst>
          </p:cNvPr>
          <p:cNvGrpSpPr/>
          <p:nvPr/>
        </p:nvGrpSpPr>
        <p:grpSpPr>
          <a:xfrm>
            <a:off x="5508104" y="2780928"/>
            <a:ext cx="3456385" cy="2520280"/>
            <a:chOff x="3854825" y="2025908"/>
            <a:chExt cx="4079393" cy="2047005"/>
          </a:xfrm>
        </p:grpSpPr>
        <p:sp>
          <p:nvSpPr>
            <p:cNvPr id="5" name="Text Box 3">
              <a:extLst>
                <a:ext uri="{FF2B5EF4-FFF2-40B4-BE49-F238E27FC236}">
                  <a16:creationId xmlns:a16="http://schemas.microsoft.com/office/drawing/2014/main" id="{DD69E1AC-4505-B36E-C03D-033C2DA1C322}"/>
                </a:ext>
              </a:extLst>
            </p:cNvPr>
            <p:cNvSpPr txBox="1">
              <a:spLocks noChangeArrowheads="1"/>
            </p:cNvSpPr>
            <p:nvPr/>
          </p:nvSpPr>
          <p:spPr bwMode="auto">
            <a:xfrm>
              <a:off x="4981166" y="2025908"/>
              <a:ext cx="1455163" cy="381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sz="1400" dirty="0"/>
                <a:t>Resources</a:t>
              </a:r>
              <a:endParaRPr lang="en-US" altLang="x-none" sz="2000" dirty="0"/>
            </a:p>
          </p:txBody>
        </p:sp>
        <p:sp>
          <p:nvSpPr>
            <p:cNvPr id="6" name="Text Box 4">
              <a:extLst>
                <a:ext uri="{FF2B5EF4-FFF2-40B4-BE49-F238E27FC236}">
                  <a16:creationId xmlns:a16="http://schemas.microsoft.com/office/drawing/2014/main" id="{EBD76110-365B-F426-05DA-B0B6677FD8FF}"/>
                </a:ext>
              </a:extLst>
            </p:cNvPr>
            <p:cNvSpPr txBox="1">
              <a:spLocks noChangeArrowheads="1"/>
            </p:cNvSpPr>
            <p:nvPr/>
          </p:nvSpPr>
          <p:spPr bwMode="auto">
            <a:xfrm>
              <a:off x="3854825" y="3519065"/>
              <a:ext cx="689046" cy="249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sz="1400" dirty="0"/>
                <a:t>URIs</a:t>
              </a:r>
              <a:endParaRPr lang="en-US" altLang="x-none" sz="2000" dirty="0"/>
            </a:p>
          </p:txBody>
        </p:sp>
        <p:sp>
          <p:nvSpPr>
            <p:cNvPr id="7" name="Text Box 5">
              <a:extLst>
                <a:ext uri="{FF2B5EF4-FFF2-40B4-BE49-F238E27FC236}">
                  <a16:creationId xmlns:a16="http://schemas.microsoft.com/office/drawing/2014/main" id="{2A2188E5-ADDD-998C-26A1-D72C40F31B29}"/>
                </a:ext>
              </a:extLst>
            </p:cNvPr>
            <p:cNvSpPr txBox="1">
              <a:spLocks noChangeArrowheads="1"/>
            </p:cNvSpPr>
            <p:nvPr/>
          </p:nvSpPr>
          <p:spPr bwMode="auto">
            <a:xfrm>
              <a:off x="6452158" y="3423555"/>
              <a:ext cx="1482060" cy="64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sz="1400" dirty="0"/>
                <a:t>Simple </a:t>
              </a:r>
            </a:p>
            <a:p>
              <a:r>
                <a:rPr lang="en-US" altLang="x-none" sz="1400" dirty="0"/>
                <a:t>Operations</a:t>
              </a:r>
              <a:endParaRPr lang="en-US" altLang="x-none" sz="2000" dirty="0"/>
            </a:p>
          </p:txBody>
        </p:sp>
        <p:sp>
          <p:nvSpPr>
            <p:cNvPr id="8" name="Triangle 7">
              <a:extLst>
                <a:ext uri="{FF2B5EF4-FFF2-40B4-BE49-F238E27FC236}">
                  <a16:creationId xmlns:a16="http://schemas.microsoft.com/office/drawing/2014/main" id="{6FD20162-D352-7EF7-532E-1A4F12B92F5B}"/>
                </a:ext>
              </a:extLst>
            </p:cNvPr>
            <p:cNvSpPr/>
            <p:nvPr/>
          </p:nvSpPr>
          <p:spPr>
            <a:xfrm>
              <a:off x="4606939" y="2331697"/>
              <a:ext cx="1813560" cy="120134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0"/>
            </a:p>
          </p:txBody>
        </p:sp>
      </p:grpSp>
    </p:spTree>
    <p:extLst>
      <p:ext uri="{BB962C8B-B14F-4D97-AF65-F5344CB8AC3E}">
        <p14:creationId xmlns:p14="http://schemas.microsoft.com/office/powerpoint/2010/main" val="3888042066"/>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08A40-0712-F442-08DC-DD22C605627F}"/>
              </a:ext>
            </a:extLst>
          </p:cNvPr>
          <p:cNvSpPr>
            <a:spLocks noGrp="1"/>
          </p:cNvSpPr>
          <p:nvPr>
            <p:ph type="title"/>
          </p:nvPr>
        </p:nvSpPr>
        <p:spPr>
          <a:xfrm>
            <a:off x="899591" y="488795"/>
            <a:ext cx="7886700" cy="563941"/>
          </a:xfrm>
        </p:spPr>
        <p:txBody>
          <a:bodyPr>
            <a:normAutofit/>
          </a:bodyPr>
          <a:lstStyle/>
          <a:p>
            <a:r>
              <a:rPr lang="en-US" dirty="0"/>
              <a:t>The six characteristics of REST:</a:t>
            </a:r>
            <a:endParaRPr lang="en-GB" dirty="0"/>
          </a:p>
        </p:txBody>
      </p:sp>
      <p:sp>
        <p:nvSpPr>
          <p:cNvPr id="3" name="Text Placeholder 2">
            <a:extLst>
              <a:ext uri="{FF2B5EF4-FFF2-40B4-BE49-F238E27FC236}">
                <a16:creationId xmlns:a16="http://schemas.microsoft.com/office/drawing/2014/main" id="{4D7198F8-3B85-A145-CFF4-347940D07332}"/>
              </a:ext>
            </a:extLst>
          </p:cNvPr>
          <p:cNvSpPr>
            <a:spLocks noGrp="1"/>
          </p:cNvSpPr>
          <p:nvPr>
            <p:ph type="body" sz="quarter" idx="11"/>
          </p:nvPr>
        </p:nvSpPr>
        <p:spPr>
          <a:xfrm>
            <a:off x="539553" y="1268760"/>
            <a:ext cx="8246738" cy="5040560"/>
          </a:xfrm>
        </p:spPr>
        <p:txBody>
          <a:bodyPr/>
          <a:lstStyle/>
          <a:p>
            <a:r>
              <a:rPr lang="en-GB" sz="1600" b="1" dirty="0"/>
              <a:t>Uniform interface</a:t>
            </a:r>
          </a:p>
          <a:p>
            <a:pPr lvl="1"/>
            <a:r>
              <a:rPr lang="en-GB" sz="1400" dirty="0"/>
              <a:t>resources are accessed in a consistent way, typically using standard HTTP methods such as GET, POST, PUT and DELETE</a:t>
            </a:r>
          </a:p>
          <a:p>
            <a:endParaRPr lang="en-GB" sz="700" dirty="0"/>
          </a:p>
          <a:p>
            <a:r>
              <a:rPr lang="en-GB" sz="1600" b="1" dirty="0"/>
              <a:t>Decoupled client-server interaction</a:t>
            </a:r>
          </a:p>
          <a:p>
            <a:pPr lvl="1"/>
            <a:r>
              <a:rPr lang="en-GB" sz="1400" dirty="0"/>
              <a:t>client and server have separate responsibilities; the client handles the user interface while the server handles data and business logic</a:t>
            </a:r>
          </a:p>
          <a:p>
            <a:endParaRPr lang="en-GB" sz="700" dirty="0"/>
          </a:p>
          <a:p>
            <a:r>
              <a:rPr lang="en-GB" sz="1600" b="1" dirty="0"/>
              <a:t>Stateless</a:t>
            </a:r>
          </a:p>
          <a:p>
            <a:pPr lvl="1"/>
            <a:r>
              <a:rPr lang="en-GB" sz="1400" dirty="0"/>
              <a:t>each request must contain all the information needed to process it; the server does not keep client session state between requests</a:t>
            </a:r>
          </a:p>
          <a:p>
            <a:endParaRPr lang="en-GB" sz="800" dirty="0"/>
          </a:p>
          <a:p>
            <a:r>
              <a:rPr lang="en-GB" sz="1600" b="1" dirty="0"/>
              <a:t>Cacheable</a:t>
            </a:r>
          </a:p>
          <a:p>
            <a:pPr lvl="1"/>
            <a:r>
              <a:rPr lang="en-GB" sz="1400" dirty="0"/>
              <a:t>responses should indicate whether they can be cached, helping reduce repeated requests and improve performance.</a:t>
            </a:r>
          </a:p>
          <a:p>
            <a:endParaRPr lang="en-GB" sz="800" dirty="0"/>
          </a:p>
          <a:p>
            <a:r>
              <a:rPr lang="en-GB" sz="1600" b="1" dirty="0"/>
              <a:t>Layered</a:t>
            </a:r>
          </a:p>
          <a:p>
            <a:pPr lvl="1"/>
            <a:r>
              <a:rPr lang="en-GB" sz="1400" dirty="0"/>
              <a:t>a client does not need to know whether it is communicating directly with the server or through intermediaries such as proxies, gateways or load balancers</a:t>
            </a:r>
          </a:p>
          <a:p>
            <a:endParaRPr lang="en-GB" sz="700" dirty="0"/>
          </a:p>
          <a:p>
            <a:r>
              <a:rPr lang="en-GB" sz="1600" b="1" dirty="0"/>
              <a:t>Code on demand </a:t>
            </a:r>
            <a:r>
              <a:rPr lang="en-GB" sz="1600" dirty="0"/>
              <a:t>(optional)</a:t>
            </a:r>
          </a:p>
          <a:p>
            <a:pPr lvl="1"/>
            <a:r>
              <a:rPr lang="en-GB" sz="1400" dirty="0"/>
              <a:t>the server may send executable code to the client, such as JavaScript, to extend client functionality.</a:t>
            </a:r>
          </a:p>
          <a:p>
            <a:endParaRPr lang="en-GB" sz="800" dirty="0"/>
          </a:p>
          <a:p>
            <a:pPr marL="9525" indent="0">
              <a:buNone/>
            </a:pPr>
            <a:r>
              <a:rPr lang="en-GB" sz="1400" u="sng" dirty="0"/>
              <a:t>* Services that do not conform to the above-required constraints are not strictly RESTful web services.</a:t>
            </a:r>
          </a:p>
          <a:p>
            <a:endParaRPr lang="en-GB" sz="2000" dirty="0"/>
          </a:p>
          <a:p>
            <a:endParaRPr lang="en-GB" sz="2000" dirty="0"/>
          </a:p>
          <a:p>
            <a:endParaRPr lang="en-GB" sz="2000" dirty="0"/>
          </a:p>
          <a:p>
            <a:endParaRPr lang="en-GB" sz="2000" dirty="0"/>
          </a:p>
        </p:txBody>
      </p:sp>
    </p:spTree>
    <p:extLst>
      <p:ext uri="{BB962C8B-B14F-4D97-AF65-F5344CB8AC3E}">
        <p14:creationId xmlns:p14="http://schemas.microsoft.com/office/powerpoint/2010/main" val="3931181850"/>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DAC77-7BB5-D8B6-1092-8F5C8662247D}"/>
              </a:ext>
            </a:extLst>
          </p:cNvPr>
          <p:cNvSpPr>
            <a:spLocks noGrp="1"/>
          </p:cNvSpPr>
          <p:nvPr>
            <p:ph type="title"/>
          </p:nvPr>
        </p:nvSpPr>
        <p:spPr/>
        <p:txBody>
          <a:bodyPr>
            <a:normAutofit/>
          </a:bodyPr>
          <a:lstStyle/>
          <a:p>
            <a:r>
              <a:rPr lang="en-US" dirty="0"/>
              <a:t>Using URIs to Name Resources</a:t>
            </a:r>
            <a:endParaRPr lang="en-GB" dirty="0"/>
          </a:p>
        </p:txBody>
      </p:sp>
      <p:sp>
        <p:nvSpPr>
          <p:cNvPr id="3" name="Text Placeholder 2">
            <a:extLst>
              <a:ext uri="{FF2B5EF4-FFF2-40B4-BE49-F238E27FC236}">
                <a16:creationId xmlns:a16="http://schemas.microsoft.com/office/drawing/2014/main" id="{377B120B-8AA0-5683-88A2-62778A393C10}"/>
              </a:ext>
            </a:extLst>
          </p:cNvPr>
          <p:cNvSpPr>
            <a:spLocks noGrp="1"/>
          </p:cNvSpPr>
          <p:nvPr>
            <p:ph type="body" sz="quarter" idx="11"/>
          </p:nvPr>
        </p:nvSpPr>
        <p:spPr>
          <a:xfrm>
            <a:off x="899590" y="1700808"/>
            <a:ext cx="7488833" cy="4608512"/>
          </a:xfrm>
        </p:spPr>
        <p:txBody>
          <a:bodyPr/>
          <a:lstStyle/>
          <a:p>
            <a:r>
              <a:rPr lang="en-US" sz="2000" dirty="0"/>
              <a:t>Customers </a:t>
            </a:r>
          </a:p>
          <a:p>
            <a:pPr marL="266700" lvl="1" indent="0" algn="ctr">
              <a:buNone/>
            </a:pPr>
            <a:r>
              <a:rPr lang="en-US" b="1" i="1" dirty="0"/>
              <a:t>http://</a:t>
            </a:r>
            <a:r>
              <a:rPr lang="en-US" b="1" i="1" dirty="0" err="1"/>
              <a:t>bookshop.com</a:t>
            </a:r>
            <a:r>
              <a:rPr lang="en-US" b="1" i="1" dirty="0"/>
              <a:t>/customers </a:t>
            </a:r>
          </a:p>
          <a:p>
            <a:endParaRPr lang="en-US" sz="700" dirty="0"/>
          </a:p>
          <a:p>
            <a:r>
              <a:rPr lang="en-US" sz="2000" dirty="0"/>
              <a:t>Orders</a:t>
            </a:r>
          </a:p>
          <a:p>
            <a:pPr marL="266700" lvl="1" indent="0" algn="ctr">
              <a:buNone/>
            </a:pPr>
            <a:r>
              <a:rPr lang="en-US" b="1" i="1" dirty="0"/>
              <a:t>http://bookshop.com/orders/</a:t>
            </a:r>
          </a:p>
          <a:p>
            <a:endParaRPr lang="en-US" sz="800" dirty="0"/>
          </a:p>
          <a:p>
            <a:r>
              <a:rPr lang="en-US" sz="2000" dirty="0"/>
              <a:t>Customer with id 1234</a:t>
            </a:r>
          </a:p>
          <a:p>
            <a:pPr marL="266700" lvl="1" indent="0" algn="ctr">
              <a:buNone/>
            </a:pPr>
            <a:r>
              <a:rPr lang="en-US" b="1" i="1" dirty="0"/>
              <a:t>http://bookshop.com/customers/1234</a:t>
            </a:r>
          </a:p>
          <a:p>
            <a:endParaRPr lang="en-US" sz="700" dirty="0"/>
          </a:p>
          <a:p>
            <a:r>
              <a:rPr lang="en-US" sz="2000" dirty="0"/>
              <a:t>Order with id 5678 </a:t>
            </a:r>
          </a:p>
          <a:p>
            <a:pPr marL="266700" lvl="1" indent="0" algn="ctr">
              <a:buNone/>
            </a:pPr>
            <a:r>
              <a:rPr lang="en-US" b="1" i="1" dirty="0"/>
              <a:t>http://bookshop.com/orders/5678</a:t>
            </a:r>
          </a:p>
          <a:p>
            <a:endParaRPr lang="en-US" sz="700" dirty="0"/>
          </a:p>
          <a:p>
            <a:r>
              <a:rPr lang="en-US" sz="2000" dirty="0"/>
              <a:t>Orders for customer with id 1234 </a:t>
            </a:r>
          </a:p>
          <a:p>
            <a:pPr marL="266700" lvl="1" indent="0" algn="ctr">
              <a:buNone/>
            </a:pPr>
            <a:r>
              <a:rPr lang="en-US" b="1" i="1" dirty="0"/>
              <a:t>http://bookshop.com/customers/1234/orders</a:t>
            </a:r>
          </a:p>
          <a:p>
            <a:endParaRPr lang="en-US" sz="700" dirty="0"/>
          </a:p>
          <a:p>
            <a:r>
              <a:rPr lang="en-US" sz="2000" dirty="0"/>
              <a:t>List of all customers with the last name of more </a:t>
            </a:r>
          </a:p>
          <a:p>
            <a:pPr marL="266700" lvl="1" indent="0" algn="ctr">
              <a:buNone/>
            </a:pPr>
            <a:r>
              <a:rPr lang="en-US" b="1" i="1" dirty="0"/>
              <a:t>http://bookshop.com/customers?last-name=moore</a:t>
            </a:r>
          </a:p>
          <a:p>
            <a:endParaRPr lang="en-GB" dirty="0"/>
          </a:p>
        </p:txBody>
      </p:sp>
    </p:spTree>
    <p:extLst>
      <p:ext uri="{BB962C8B-B14F-4D97-AF65-F5344CB8AC3E}">
        <p14:creationId xmlns:p14="http://schemas.microsoft.com/office/powerpoint/2010/main" val="3248194650"/>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D05F5-6160-237C-7A6F-2E8454C3E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8C5A1-F791-28DF-61AF-98DAC3A4BDC5}"/>
              </a:ext>
            </a:extLst>
          </p:cNvPr>
          <p:cNvSpPr>
            <a:spLocks noGrp="1"/>
          </p:cNvSpPr>
          <p:nvPr>
            <p:ph type="title"/>
          </p:nvPr>
        </p:nvSpPr>
        <p:spPr>
          <a:xfrm>
            <a:off x="899591" y="404664"/>
            <a:ext cx="7886700" cy="723075"/>
          </a:xfrm>
        </p:spPr>
        <p:txBody>
          <a:bodyPr>
            <a:normAutofit/>
          </a:bodyPr>
          <a:lstStyle/>
          <a:p>
            <a:r>
              <a:rPr lang="en-GB" dirty="0"/>
              <a:t>Resource vs Representation</a:t>
            </a:r>
          </a:p>
        </p:txBody>
      </p:sp>
      <p:sp>
        <p:nvSpPr>
          <p:cNvPr id="3" name="Text Placeholder 2">
            <a:extLst>
              <a:ext uri="{FF2B5EF4-FFF2-40B4-BE49-F238E27FC236}">
                <a16:creationId xmlns:a16="http://schemas.microsoft.com/office/drawing/2014/main" id="{DF5329D4-2F74-08DB-C6B6-891B2782CD42}"/>
              </a:ext>
            </a:extLst>
          </p:cNvPr>
          <p:cNvSpPr>
            <a:spLocks noGrp="1"/>
          </p:cNvSpPr>
          <p:nvPr>
            <p:ph type="body" sz="quarter" idx="11"/>
          </p:nvPr>
        </p:nvSpPr>
        <p:spPr>
          <a:xfrm>
            <a:off x="899590" y="1196752"/>
            <a:ext cx="7488833" cy="5040560"/>
          </a:xfrm>
        </p:spPr>
        <p:txBody>
          <a:bodyPr lIns="0" tIns="0" rIns="0" bIns="0" anchor="t"/>
          <a:lstStyle/>
          <a:p>
            <a:r>
              <a:rPr lang="en-GB" dirty="0"/>
              <a:t>REST transfers representations of resources — not the resources themselves.</a:t>
            </a:r>
            <a:endParaRPr lang="en-GB" b="1" dirty="0"/>
          </a:p>
          <a:p>
            <a:pPr marL="9525" indent="0">
              <a:buNone/>
            </a:pPr>
            <a:r>
              <a:rPr lang="en-GB" sz="2000" b="1" dirty="0"/>
              <a:t>Resource</a:t>
            </a:r>
          </a:p>
          <a:p>
            <a:pPr lvl="1"/>
            <a:r>
              <a:rPr lang="en-GB" dirty="0"/>
              <a:t>The actual thing being identified.</a:t>
            </a:r>
          </a:p>
          <a:p>
            <a:pPr lvl="1"/>
            <a:r>
              <a:rPr lang="en-GB" dirty="0"/>
              <a:t>Has a unique URI.</a:t>
            </a:r>
          </a:p>
          <a:p>
            <a:pPr lvl="1"/>
            <a:r>
              <a:rPr lang="en-GB" dirty="0"/>
              <a:t>Example: customer 1234.</a:t>
            </a:r>
          </a:p>
          <a:p>
            <a:endParaRPr lang="en-GB" sz="700" dirty="0"/>
          </a:p>
          <a:p>
            <a:pPr marL="9525" indent="0">
              <a:buNone/>
            </a:pPr>
            <a:r>
              <a:rPr lang="en-GB" sz="2000" b="1" dirty="0"/>
              <a:t>Representation</a:t>
            </a:r>
          </a:p>
          <a:p>
            <a:pPr lvl="1"/>
            <a:r>
              <a:rPr lang="en-GB" dirty="0"/>
              <a:t>The data sent to describe the current state of that resource.</a:t>
            </a:r>
          </a:p>
          <a:p>
            <a:pPr lvl="1"/>
            <a:r>
              <a:rPr lang="en-GB" dirty="0"/>
              <a:t>Can be formatted as JSON, XML, etc.</a:t>
            </a:r>
          </a:p>
          <a:p>
            <a:pPr marL="9525" indent="0">
              <a:buNone/>
            </a:pPr>
            <a:endParaRPr lang="en-GB" sz="1100" dirty="0"/>
          </a:p>
          <a:p>
            <a:pPr marL="9525" indent="0">
              <a:buNone/>
            </a:pPr>
            <a:r>
              <a:rPr lang="en-GB" b="1" dirty="0"/>
              <a:t>Example:</a:t>
            </a:r>
          </a:p>
          <a:p>
            <a:pPr marL="533400" lvl="2" indent="0">
              <a:spcBef>
                <a:spcPts val="0"/>
              </a:spcBef>
              <a:buNone/>
            </a:pPr>
            <a:r>
              <a:rPr lang="en-GB" dirty="0"/>
              <a:t>	</a:t>
            </a:r>
            <a:r>
              <a:rPr lang="en-GB" sz="1200" dirty="0">
                <a:latin typeface="Consolas" panose="020B0609020204030204" pitchFamily="49" charset="0"/>
              </a:rPr>
              <a:t>{</a:t>
            </a:r>
          </a:p>
          <a:p>
            <a:pPr marL="533400" lvl="2" indent="0">
              <a:spcBef>
                <a:spcPts val="0"/>
              </a:spcBef>
              <a:buNone/>
            </a:pPr>
            <a:r>
              <a:rPr lang="en-GB" sz="1200" dirty="0">
                <a:latin typeface="Consolas" panose="020B0609020204030204" pitchFamily="49" charset="0"/>
              </a:rPr>
              <a:t>		"id": 1234,</a:t>
            </a:r>
          </a:p>
          <a:p>
            <a:pPr marL="533400" lvl="2" indent="0">
              <a:spcBef>
                <a:spcPts val="0"/>
              </a:spcBef>
              <a:buNone/>
            </a:pPr>
            <a:r>
              <a:rPr lang="en-GB" sz="1200" dirty="0">
                <a:latin typeface="Consolas" panose="020B0609020204030204" pitchFamily="49" charset="0"/>
              </a:rPr>
              <a:t>		"name": "Alice Smith",</a:t>
            </a:r>
          </a:p>
          <a:p>
            <a:pPr marL="533400" lvl="2" indent="0">
              <a:spcBef>
                <a:spcPts val="0"/>
              </a:spcBef>
              <a:buNone/>
            </a:pPr>
            <a:r>
              <a:rPr lang="en-GB" sz="1200" dirty="0">
                <a:latin typeface="Consolas" panose="020B0609020204030204" pitchFamily="49" charset="0"/>
              </a:rPr>
              <a:t>		"email": </a:t>
            </a:r>
            <a:r>
              <a:rPr lang="en-GB" sz="1200" dirty="0">
                <a:latin typeface="Consolas" panose="020B0609020204030204" pitchFamily="49" charset="0"/>
                <a:hlinkClick r:id="rId2"/>
              </a:rPr>
              <a:t>alice@example.com</a:t>
            </a:r>
            <a:endParaRPr lang="en-GB" sz="1200" dirty="0">
              <a:latin typeface="Consolas" panose="020B0609020204030204" pitchFamily="49" charset="0"/>
            </a:endParaRPr>
          </a:p>
          <a:p>
            <a:pPr marL="533400" lvl="2" indent="0">
              <a:spcBef>
                <a:spcPts val="0"/>
              </a:spcBef>
              <a:buNone/>
            </a:pPr>
            <a:r>
              <a:rPr lang="en-GB" sz="1200" dirty="0">
                <a:latin typeface="Consolas" panose="020B0609020204030204" pitchFamily="49" charset="0"/>
              </a:rPr>
              <a:t>	}</a:t>
            </a:r>
          </a:p>
          <a:p>
            <a:pPr lvl="1"/>
            <a:r>
              <a:rPr lang="en-GB" sz="1600" b="1" dirty="0"/>
              <a:t>GET /customers/1234</a:t>
            </a:r>
            <a:r>
              <a:rPr lang="en-GB" sz="1600" dirty="0"/>
              <a:t> means “</a:t>
            </a:r>
            <a:r>
              <a:rPr lang="en-GB" sz="1600" i="1" dirty="0"/>
              <a:t>Give me a representation of customer 1234</a:t>
            </a:r>
            <a:r>
              <a:rPr lang="en-GB" sz="1600" dirty="0"/>
              <a:t>.”</a:t>
            </a:r>
          </a:p>
          <a:p>
            <a:pPr lvl="2"/>
            <a:r>
              <a:rPr lang="en-GB" sz="1600" dirty="0"/>
              <a:t>The </a:t>
            </a:r>
            <a:r>
              <a:rPr lang="en-GB" sz="1600" b="1" dirty="0">
                <a:solidFill>
                  <a:srgbClr val="FF0000"/>
                </a:solidFill>
              </a:rPr>
              <a:t>resource</a:t>
            </a:r>
            <a:r>
              <a:rPr lang="en-GB" sz="1600" dirty="0"/>
              <a:t> is the customer.</a:t>
            </a:r>
          </a:p>
          <a:p>
            <a:pPr lvl="2"/>
            <a:r>
              <a:rPr lang="en-GB" sz="1600" dirty="0"/>
              <a:t>The JSON is one kind of </a:t>
            </a:r>
            <a:r>
              <a:rPr lang="en-GB" sz="1600" b="1" dirty="0">
                <a:solidFill>
                  <a:srgbClr val="FF0000"/>
                </a:solidFill>
              </a:rPr>
              <a:t>representation</a:t>
            </a:r>
            <a:r>
              <a:rPr lang="en-GB" sz="1600" dirty="0"/>
              <a:t> of that customer – it could be represented in XML or some other format (HTML, CSV, etc).</a:t>
            </a:r>
            <a:endParaRPr lang="en-GB" dirty="0"/>
          </a:p>
        </p:txBody>
      </p:sp>
    </p:spTree>
    <p:extLst>
      <p:ext uri="{BB962C8B-B14F-4D97-AF65-F5344CB8AC3E}">
        <p14:creationId xmlns:p14="http://schemas.microsoft.com/office/powerpoint/2010/main" val="3129255559"/>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735E1-97B4-D1B7-52FC-34222185BC64}"/>
              </a:ext>
            </a:extLst>
          </p:cNvPr>
          <p:cNvSpPr>
            <a:spLocks noGrp="1"/>
          </p:cNvSpPr>
          <p:nvPr>
            <p:ph type="title"/>
          </p:nvPr>
        </p:nvSpPr>
        <p:spPr/>
        <p:txBody>
          <a:bodyPr>
            <a:normAutofit/>
          </a:bodyPr>
          <a:lstStyle/>
          <a:p>
            <a:r>
              <a:rPr lang="en-GB" dirty="0"/>
              <a:t>Using HTTP Request methods</a:t>
            </a:r>
          </a:p>
        </p:txBody>
      </p:sp>
      <p:graphicFrame>
        <p:nvGraphicFramePr>
          <p:cNvPr id="4" name="Table 4">
            <a:extLst>
              <a:ext uri="{FF2B5EF4-FFF2-40B4-BE49-F238E27FC236}">
                <a16:creationId xmlns:a16="http://schemas.microsoft.com/office/drawing/2014/main" id="{74CB2E06-2F3E-8F38-E713-6256F17E6B18}"/>
              </a:ext>
            </a:extLst>
          </p:cNvPr>
          <p:cNvGraphicFramePr>
            <a:graphicFrameLocks noGrp="1"/>
          </p:cNvGraphicFramePr>
          <p:nvPr>
            <p:extLst>
              <p:ext uri="{D42A27DB-BD31-4B8C-83A1-F6EECF244321}">
                <p14:modId xmlns:p14="http://schemas.microsoft.com/office/powerpoint/2010/main" val="3605764372"/>
              </p:ext>
            </p:extLst>
          </p:nvPr>
        </p:nvGraphicFramePr>
        <p:xfrm>
          <a:off x="304614" y="1556793"/>
          <a:ext cx="8534771" cy="4848324"/>
        </p:xfrm>
        <a:graphic>
          <a:graphicData uri="http://schemas.openxmlformats.org/drawingml/2006/table">
            <a:tbl>
              <a:tblPr firstRow="1" bandRow="1">
                <a:tableStyleId>{5C22544A-7EE6-4342-B048-85BDC9FD1C3A}</a:tableStyleId>
              </a:tblPr>
              <a:tblGrid>
                <a:gridCol w="1171042">
                  <a:extLst>
                    <a:ext uri="{9D8B030D-6E8A-4147-A177-3AD203B41FA5}">
                      <a16:colId xmlns:a16="http://schemas.microsoft.com/office/drawing/2014/main" val="4250555765"/>
                    </a:ext>
                  </a:extLst>
                </a:gridCol>
                <a:gridCol w="4518805">
                  <a:extLst>
                    <a:ext uri="{9D8B030D-6E8A-4147-A177-3AD203B41FA5}">
                      <a16:colId xmlns:a16="http://schemas.microsoft.com/office/drawing/2014/main" val="1525994038"/>
                    </a:ext>
                  </a:extLst>
                </a:gridCol>
                <a:gridCol w="2844924">
                  <a:extLst>
                    <a:ext uri="{9D8B030D-6E8A-4147-A177-3AD203B41FA5}">
                      <a16:colId xmlns:a16="http://schemas.microsoft.com/office/drawing/2014/main" val="3795499646"/>
                    </a:ext>
                  </a:extLst>
                </a:gridCol>
              </a:tblGrid>
              <a:tr h="723556">
                <a:tc>
                  <a:txBody>
                    <a:bodyPr/>
                    <a:lstStyle/>
                    <a:p>
                      <a:pPr algn="ctr"/>
                      <a:r>
                        <a:rPr lang="en-GB" sz="2000" dirty="0"/>
                        <a:t>Method</a:t>
                      </a:r>
                    </a:p>
                  </a:txBody>
                  <a:tcPr anchor="ctr"/>
                </a:tc>
                <a:tc>
                  <a:txBody>
                    <a:bodyPr/>
                    <a:lstStyle/>
                    <a:p>
                      <a:pPr algn="ctr"/>
                      <a:r>
                        <a:rPr lang="en-GB" sz="2000" dirty="0"/>
                        <a:t>URL</a:t>
                      </a:r>
                    </a:p>
                  </a:txBody>
                  <a:tcPr anchor="ctr"/>
                </a:tc>
                <a:tc>
                  <a:txBody>
                    <a:bodyPr/>
                    <a:lstStyle/>
                    <a:p>
                      <a:pPr algn="ctr"/>
                      <a:r>
                        <a:rPr lang="en-GB" sz="2000" dirty="0"/>
                        <a:t>Purpose</a:t>
                      </a:r>
                    </a:p>
                  </a:txBody>
                  <a:tcPr anchor="ctr"/>
                </a:tc>
                <a:extLst>
                  <a:ext uri="{0D108BD9-81ED-4DB2-BD59-A6C34878D82A}">
                    <a16:rowId xmlns:a16="http://schemas.microsoft.com/office/drawing/2014/main" val="2887726316"/>
                  </a:ext>
                </a:extLst>
              </a:tr>
              <a:tr h="428700">
                <a:tc>
                  <a:txBody>
                    <a:bodyPr/>
                    <a:lstStyle/>
                    <a:p>
                      <a:pPr algn="ctr"/>
                      <a:r>
                        <a:rPr lang="en-US" sz="2000" dirty="0"/>
                        <a:t>GET</a:t>
                      </a:r>
                      <a:endParaRPr lang="en-GB"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http://</a:t>
                      </a:r>
                      <a:r>
                        <a:rPr lang="en-US" sz="2000" dirty="0" err="1"/>
                        <a:t>bookshop.com</a:t>
                      </a:r>
                      <a:r>
                        <a:rPr lang="en-US" sz="2000" dirty="0"/>
                        <a:t>/customers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Retrieve all customers</a:t>
                      </a:r>
                    </a:p>
                  </a:txBody>
                  <a:tcPr anchor="ctr"/>
                </a:tc>
                <a:extLst>
                  <a:ext uri="{0D108BD9-81ED-4DB2-BD59-A6C34878D82A}">
                    <a16:rowId xmlns:a16="http://schemas.microsoft.com/office/drawing/2014/main" val="2393236223"/>
                  </a:ext>
                </a:extLst>
              </a:tr>
              <a:tr h="677251">
                <a:tc>
                  <a:txBody>
                    <a:bodyPr/>
                    <a:lstStyle/>
                    <a:p>
                      <a:pPr algn="ctr"/>
                      <a:r>
                        <a:rPr lang="en-US" sz="2000" dirty="0"/>
                        <a:t>GET</a:t>
                      </a:r>
                      <a:endParaRPr lang="en-GB"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http://</a:t>
                      </a:r>
                      <a:r>
                        <a:rPr lang="en-US" sz="2000" dirty="0" err="1"/>
                        <a:t>bookshop.com</a:t>
                      </a:r>
                      <a:r>
                        <a:rPr lang="en-US" sz="2000" dirty="0"/>
                        <a:t>/customers/1234</a:t>
                      </a:r>
                      <a:endParaRPr lang="en-GB"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Retrieve customer 1234 details</a:t>
                      </a:r>
                    </a:p>
                  </a:txBody>
                  <a:tcPr anchor="ctr"/>
                </a:tc>
                <a:extLst>
                  <a:ext uri="{0D108BD9-81ED-4DB2-BD59-A6C34878D82A}">
                    <a16:rowId xmlns:a16="http://schemas.microsoft.com/office/drawing/2014/main" val="782505109"/>
                  </a:ext>
                </a:extLst>
              </a:tr>
              <a:tr h="739947">
                <a:tc>
                  <a:txBody>
                    <a:bodyPr/>
                    <a:lstStyle/>
                    <a:p>
                      <a:pPr algn="ctr"/>
                      <a:r>
                        <a:rPr lang="en-GB" sz="2000" dirty="0"/>
                        <a:t>POST</a:t>
                      </a:r>
                    </a:p>
                  </a:txBody>
                  <a:tcPr anchor="ctr"/>
                </a:tc>
                <a:tc>
                  <a:txBody>
                    <a:bodyPr/>
                    <a:lstStyle/>
                    <a:p>
                      <a:pPr algn="ctr"/>
                      <a:r>
                        <a:rPr lang="en-US" sz="2000" dirty="0"/>
                        <a:t>http://</a:t>
                      </a:r>
                      <a:r>
                        <a:rPr lang="en-US" sz="2000" dirty="0" err="1"/>
                        <a:t>bookshop.com</a:t>
                      </a:r>
                      <a:r>
                        <a:rPr lang="en-US" sz="2000" dirty="0"/>
                        <a:t>/customers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Create new customer; details in body of request</a:t>
                      </a:r>
                    </a:p>
                  </a:txBody>
                  <a:tcPr anchor="ctr"/>
                </a:tc>
                <a:extLst>
                  <a:ext uri="{0D108BD9-81ED-4DB2-BD59-A6C34878D82A}">
                    <a16:rowId xmlns:a16="http://schemas.microsoft.com/office/drawing/2014/main" val="3043600883"/>
                  </a:ext>
                </a:extLst>
              </a:tr>
              <a:tr h="1057069">
                <a:tc>
                  <a:txBody>
                    <a:bodyPr/>
                    <a:lstStyle/>
                    <a:p>
                      <a:pPr algn="ctr"/>
                      <a:r>
                        <a:rPr lang="en-GB" sz="2000" dirty="0"/>
                        <a:t>PUT</a:t>
                      </a:r>
                    </a:p>
                  </a:txBody>
                  <a:tcPr anchor="ctr"/>
                </a:tc>
                <a:tc>
                  <a:txBody>
                    <a:bodyPr/>
                    <a:lstStyle/>
                    <a:p>
                      <a:pPr algn="ctr"/>
                      <a:r>
                        <a:rPr lang="en-US" sz="2000" dirty="0"/>
                        <a:t>http://bookshop.com/customers/1234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update an existing customer (1234); details in body of request</a:t>
                      </a:r>
                    </a:p>
                  </a:txBody>
                  <a:tcPr anchor="ctr"/>
                </a:tc>
                <a:extLst>
                  <a:ext uri="{0D108BD9-81ED-4DB2-BD59-A6C34878D82A}">
                    <a16:rowId xmlns:a16="http://schemas.microsoft.com/office/drawing/2014/main" val="328948280"/>
                  </a:ext>
                </a:extLst>
              </a:tr>
              <a:tr h="1198012">
                <a:tc>
                  <a:txBody>
                    <a:bodyPr/>
                    <a:lstStyle/>
                    <a:p>
                      <a:pPr algn="ctr"/>
                      <a:r>
                        <a:rPr lang="en-US" sz="2000" dirty="0"/>
                        <a:t>DELETE</a:t>
                      </a:r>
                      <a:endParaRPr lang="en-GB" sz="2000" dirty="0"/>
                    </a:p>
                  </a:txBody>
                  <a:tcPr anchor="ctr"/>
                </a:tc>
                <a:tc>
                  <a:txBody>
                    <a:bodyPr/>
                    <a:lstStyle/>
                    <a:p>
                      <a:pPr algn="ctr"/>
                      <a:r>
                        <a:rPr lang="en-US" sz="2000" dirty="0"/>
                        <a:t>http://</a:t>
                      </a:r>
                      <a:r>
                        <a:rPr lang="en-US" sz="2000" dirty="0" err="1"/>
                        <a:t>bookshop.com</a:t>
                      </a:r>
                      <a:r>
                        <a:rPr lang="en-US" sz="2000" dirty="0"/>
                        <a:t>/customers/1234</a:t>
                      </a:r>
                    </a:p>
                    <a:p>
                      <a:pPr algn="ctr"/>
                      <a:endParaRPr lang="en-GB"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delete customer 1234</a:t>
                      </a:r>
                    </a:p>
                  </a:txBody>
                  <a:tcPr anchor="ctr"/>
                </a:tc>
                <a:extLst>
                  <a:ext uri="{0D108BD9-81ED-4DB2-BD59-A6C34878D82A}">
                    <a16:rowId xmlns:a16="http://schemas.microsoft.com/office/drawing/2014/main" val="4264016998"/>
                  </a:ext>
                </a:extLst>
              </a:tr>
            </a:tbl>
          </a:graphicData>
        </a:graphic>
      </p:graphicFrame>
    </p:spTree>
    <p:extLst>
      <p:ext uri="{BB962C8B-B14F-4D97-AF65-F5344CB8AC3E}">
        <p14:creationId xmlns:p14="http://schemas.microsoft.com/office/powerpoint/2010/main" val="1252124321"/>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E4580-7518-0F3F-421B-452759284AA4}"/>
              </a:ext>
            </a:extLst>
          </p:cNvPr>
          <p:cNvSpPr>
            <a:spLocks noGrp="1"/>
          </p:cNvSpPr>
          <p:nvPr>
            <p:ph type="title"/>
          </p:nvPr>
        </p:nvSpPr>
        <p:spPr/>
        <p:txBody>
          <a:bodyPr>
            <a:normAutofit/>
          </a:bodyPr>
          <a:lstStyle/>
          <a:p>
            <a:r>
              <a:rPr lang="en-US" dirty="0"/>
              <a:t>A typical HTTP REST URL:</a:t>
            </a:r>
            <a:endParaRPr lang="en-GB" dirty="0"/>
          </a:p>
        </p:txBody>
      </p:sp>
      <p:sp>
        <p:nvSpPr>
          <p:cNvPr id="3" name="Text Placeholder 2">
            <a:extLst>
              <a:ext uri="{FF2B5EF4-FFF2-40B4-BE49-F238E27FC236}">
                <a16:creationId xmlns:a16="http://schemas.microsoft.com/office/drawing/2014/main" id="{803C0BFF-EAF2-377D-ED45-666B6E324EC6}"/>
              </a:ext>
            </a:extLst>
          </p:cNvPr>
          <p:cNvSpPr>
            <a:spLocks noGrp="1"/>
          </p:cNvSpPr>
          <p:nvPr>
            <p:ph type="body" sz="quarter" idx="11"/>
          </p:nvPr>
        </p:nvSpPr>
        <p:spPr>
          <a:xfrm>
            <a:off x="899590" y="1700808"/>
            <a:ext cx="7416825" cy="2160240"/>
          </a:xfrm>
        </p:spPr>
        <p:txBody>
          <a:bodyPr/>
          <a:lstStyle/>
          <a:p>
            <a:r>
              <a:rPr lang="en-GB" sz="2000" dirty="0"/>
              <a:t>A URL is a type of URI that also tells us where the resource is located.</a:t>
            </a:r>
          </a:p>
          <a:p>
            <a:r>
              <a:rPr lang="en-US" sz="2000" dirty="0"/>
              <a:t>The </a:t>
            </a:r>
            <a:r>
              <a:rPr lang="en-US" sz="2000" b="1" dirty="0"/>
              <a:t>protocol</a:t>
            </a:r>
            <a:r>
              <a:rPr lang="en-US" sz="2000" dirty="0"/>
              <a:t> identifies the transport scheme that will be used to process and respond to the request.</a:t>
            </a:r>
          </a:p>
          <a:p>
            <a:r>
              <a:rPr lang="en-US" sz="2000" dirty="0"/>
              <a:t>The </a:t>
            </a:r>
            <a:r>
              <a:rPr lang="en-US" sz="2000" b="1" dirty="0"/>
              <a:t>hostname </a:t>
            </a:r>
            <a:r>
              <a:rPr lang="en-US" sz="2000" dirty="0"/>
              <a:t>identifies the server address of the resource.</a:t>
            </a:r>
          </a:p>
          <a:p>
            <a:r>
              <a:rPr lang="en-US" sz="2000" dirty="0"/>
              <a:t>The </a:t>
            </a:r>
            <a:r>
              <a:rPr lang="en-US" sz="2000" b="1" dirty="0"/>
              <a:t>path</a:t>
            </a:r>
            <a:r>
              <a:rPr lang="en-US" sz="2000" dirty="0"/>
              <a:t> and </a:t>
            </a:r>
            <a:r>
              <a:rPr lang="en-US" sz="2000" b="1" dirty="0"/>
              <a:t>query string </a:t>
            </a:r>
            <a:r>
              <a:rPr lang="en-US" sz="2000" dirty="0"/>
              <a:t>can be used to identify and customize the accessed resource.</a:t>
            </a:r>
          </a:p>
          <a:p>
            <a:endParaRPr lang="en-GB" dirty="0"/>
          </a:p>
        </p:txBody>
      </p:sp>
      <p:sp>
        <p:nvSpPr>
          <p:cNvPr id="4" name="TextBox 3" descr="URL Pattern">
            <a:extLst>
              <a:ext uri="{FF2B5EF4-FFF2-40B4-BE49-F238E27FC236}">
                <a16:creationId xmlns:a16="http://schemas.microsoft.com/office/drawing/2014/main" id="{80DAC63C-5BCD-FA01-FF6A-E2736B2B78C8}"/>
              </a:ext>
            </a:extLst>
          </p:cNvPr>
          <p:cNvSpPr txBox="1"/>
          <p:nvPr/>
        </p:nvSpPr>
        <p:spPr>
          <a:xfrm>
            <a:off x="1371600" y="3913529"/>
            <a:ext cx="6400800" cy="1600438"/>
          </a:xfrm>
          <a:prstGeom prst="rect">
            <a:avLst/>
          </a:prstGeom>
          <a:solidFill>
            <a:schemeClr val="tx1">
              <a:lumMod val="20000"/>
              <a:lumOff val="80000"/>
            </a:schemeClr>
          </a:solidFill>
          <a:ln w="25400">
            <a:solidFill>
              <a:schemeClr val="accent6">
                <a:lumMod val="75000"/>
              </a:schemeClr>
            </a:solidFill>
          </a:ln>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sz="1400" dirty="0">
              <a:latin typeface="Courier New" pitchFamily="49" charset="0"/>
              <a:cs typeface="Courier New" pitchFamily="49" charset="0"/>
            </a:endParaRPr>
          </a:p>
          <a:p>
            <a:endParaRPr lang="en-US" sz="1400" dirty="0">
              <a:latin typeface="Courier New" pitchFamily="49" charset="0"/>
              <a:cs typeface="Courier New" pitchFamily="49" charset="0"/>
            </a:endParaRPr>
          </a:p>
          <a:p>
            <a:r>
              <a:rPr lang="en-US" sz="1400" dirty="0">
                <a:latin typeface="Courier New" pitchFamily="49" charset="0"/>
                <a:cs typeface="Courier New" pitchFamily="49" charset="0"/>
              </a:rPr>
              <a:t> http://</a:t>
            </a:r>
            <a:r>
              <a:rPr lang="en-US" sz="1400" dirty="0" err="1">
                <a:latin typeface="Courier New" pitchFamily="49" charset="0"/>
                <a:cs typeface="Courier New" pitchFamily="49" charset="0"/>
              </a:rPr>
              <a:t>my.store.com</a:t>
            </a:r>
            <a:r>
              <a:rPr lang="en-US" sz="1400" dirty="0">
                <a:latin typeface="Courier New" pitchFamily="49" charset="0"/>
                <a:cs typeface="Courier New" pitchFamily="49" charset="0"/>
              </a:rPr>
              <a:t>/fruits/</a:t>
            </a:r>
            <a:r>
              <a:rPr lang="en-US" sz="1400" dirty="0" err="1">
                <a:latin typeface="Courier New" pitchFamily="49" charset="0"/>
                <a:cs typeface="Courier New" pitchFamily="49" charset="0"/>
              </a:rPr>
              <a:t>list?category</a:t>
            </a:r>
            <a:r>
              <a:rPr lang="en-US" sz="1400" dirty="0">
                <a:latin typeface="Courier New" pitchFamily="49" charset="0"/>
                <a:cs typeface="Courier New" pitchFamily="49" charset="0"/>
              </a:rPr>
              <a:t>=</a:t>
            </a:r>
            <a:r>
              <a:rPr lang="en-US" sz="1400" dirty="0" err="1">
                <a:latin typeface="Courier New" pitchFamily="49" charset="0"/>
                <a:cs typeface="Courier New" pitchFamily="49" charset="0"/>
              </a:rPr>
              <a:t>fruit&amp;limit</a:t>
            </a:r>
            <a:r>
              <a:rPr lang="en-US" sz="1400" dirty="0">
                <a:latin typeface="Courier New" pitchFamily="49" charset="0"/>
                <a:cs typeface="Courier New" pitchFamily="49" charset="0"/>
              </a:rPr>
              <a:t>=20</a:t>
            </a:r>
          </a:p>
          <a:p>
            <a:endParaRPr lang="en-US" sz="1400" dirty="0">
              <a:latin typeface="Courier New" pitchFamily="49" charset="0"/>
              <a:cs typeface="Courier New" pitchFamily="49" charset="0"/>
            </a:endParaRPr>
          </a:p>
          <a:p>
            <a:endParaRPr lang="en-US" sz="1400" dirty="0">
              <a:latin typeface="Courier New" pitchFamily="49" charset="0"/>
              <a:cs typeface="Courier New" pitchFamily="49" charset="0"/>
            </a:endParaRPr>
          </a:p>
          <a:p>
            <a:endParaRPr lang="en-US" sz="1400" dirty="0">
              <a:latin typeface="Courier New" pitchFamily="49" charset="0"/>
              <a:cs typeface="Courier New" pitchFamily="49" charset="0"/>
            </a:endParaRPr>
          </a:p>
          <a:p>
            <a:endParaRPr lang="en-US" sz="1400" dirty="0">
              <a:latin typeface="Courier New" pitchFamily="49" charset="0"/>
              <a:cs typeface="Courier New" pitchFamily="49" charset="0"/>
            </a:endParaRPr>
          </a:p>
        </p:txBody>
      </p:sp>
      <p:sp>
        <p:nvSpPr>
          <p:cNvPr id="5" name="TextBox 4">
            <a:extLst>
              <a:ext uri="{FF2B5EF4-FFF2-40B4-BE49-F238E27FC236}">
                <a16:creationId xmlns:a16="http://schemas.microsoft.com/office/drawing/2014/main" id="{E03DC471-DE98-D5BE-AADC-1F181BE1ADE3}"/>
              </a:ext>
            </a:extLst>
          </p:cNvPr>
          <p:cNvSpPr txBox="1"/>
          <p:nvPr/>
        </p:nvSpPr>
        <p:spPr>
          <a:xfrm>
            <a:off x="1371600" y="4945793"/>
            <a:ext cx="1085849" cy="369332"/>
          </a:xfrm>
          <a:prstGeom prst="rect">
            <a:avLst/>
          </a:prstGeom>
          <a:noFill/>
        </p:spPr>
        <p:txBody>
          <a:bodyPr wrap="square" rtlCol="0">
            <a:spAutoFit/>
          </a:bodyPr>
          <a:lstStyle/>
          <a:p>
            <a:r>
              <a:rPr lang="en-US" dirty="0"/>
              <a:t>protocol</a:t>
            </a:r>
          </a:p>
        </p:txBody>
      </p:sp>
      <p:sp>
        <p:nvSpPr>
          <p:cNvPr id="6" name="TextBox 5">
            <a:extLst>
              <a:ext uri="{FF2B5EF4-FFF2-40B4-BE49-F238E27FC236}">
                <a16:creationId xmlns:a16="http://schemas.microsoft.com/office/drawing/2014/main" id="{AC061ACC-41FE-A574-DB3F-E9483A37FDDF}"/>
              </a:ext>
            </a:extLst>
          </p:cNvPr>
          <p:cNvSpPr txBox="1"/>
          <p:nvPr/>
        </p:nvSpPr>
        <p:spPr>
          <a:xfrm>
            <a:off x="2323090" y="4940455"/>
            <a:ext cx="1271044" cy="369332"/>
          </a:xfrm>
          <a:prstGeom prst="rect">
            <a:avLst/>
          </a:prstGeom>
          <a:noFill/>
        </p:spPr>
        <p:txBody>
          <a:bodyPr wrap="square" rtlCol="0">
            <a:spAutoFit/>
          </a:bodyPr>
          <a:lstStyle/>
          <a:p>
            <a:r>
              <a:rPr lang="en-US" dirty="0"/>
              <a:t>host name</a:t>
            </a:r>
          </a:p>
        </p:txBody>
      </p:sp>
      <p:sp>
        <p:nvSpPr>
          <p:cNvPr id="7" name="TextBox 6">
            <a:extLst>
              <a:ext uri="{FF2B5EF4-FFF2-40B4-BE49-F238E27FC236}">
                <a16:creationId xmlns:a16="http://schemas.microsoft.com/office/drawing/2014/main" id="{2D5B1F07-BE08-05DC-B2F0-AF84A8E5C122}"/>
              </a:ext>
            </a:extLst>
          </p:cNvPr>
          <p:cNvSpPr txBox="1"/>
          <p:nvPr/>
        </p:nvSpPr>
        <p:spPr>
          <a:xfrm>
            <a:off x="3594134" y="4972526"/>
            <a:ext cx="2202296" cy="369332"/>
          </a:xfrm>
          <a:prstGeom prst="rect">
            <a:avLst/>
          </a:prstGeom>
          <a:noFill/>
        </p:spPr>
        <p:txBody>
          <a:bodyPr wrap="square" rtlCol="0">
            <a:spAutoFit/>
          </a:bodyPr>
          <a:lstStyle/>
          <a:p>
            <a:r>
              <a:rPr lang="en-US" dirty="0"/>
              <a:t>path to a resource</a:t>
            </a:r>
          </a:p>
        </p:txBody>
      </p:sp>
      <p:sp>
        <p:nvSpPr>
          <p:cNvPr id="8" name="TextBox 7">
            <a:extLst>
              <a:ext uri="{FF2B5EF4-FFF2-40B4-BE49-F238E27FC236}">
                <a16:creationId xmlns:a16="http://schemas.microsoft.com/office/drawing/2014/main" id="{92F6C83E-EEE9-3A9E-80CA-D6C34DA48196}"/>
              </a:ext>
            </a:extLst>
          </p:cNvPr>
          <p:cNvSpPr txBox="1"/>
          <p:nvPr/>
        </p:nvSpPr>
        <p:spPr>
          <a:xfrm>
            <a:off x="5916653" y="4972526"/>
            <a:ext cx="1718772" cy="369332"/>
          </a:xfrm>
          <a:prstGeom prst="rect">
            <a:avLst/>
          </a:prstGeom>
          <a:noFill/>
        </p:spPr>
        <p:txBody>
          <a:bodyPr wrap="square" rtlCol="0">
            <a:spAutoFit/>
          </a:bodyPr>
          <a:lstStyle/>
          <a:p>
            <a:r>
              <a:rPr lang="en-US" dirty="0"/>
              <a:t>query string</a:t>
            </a:r>
          </a:p>
        </p:txBody>
      </p:sp>
      <p:sp>
        <p:nvSpPr>
          <p:cNvPr id="9" name="Left Brace 8">
            <a:extLst>
              <a:ext uri="{FF2B5EF4-FFF2-40B4-BE49-F238E27FC236}">
                <a16:creationId xmlns:a16="http://schemas.microsoft.com/office/drawing/2014/main" id="{B2276EED-6EB0-6FAD-AFCC-1661A493AD32}"/>
              </a:ext>
            </a:extLst>
          </p:cNvPr>
          <p:cNvSpPr/>
          <p:nvPr/>
        </p:nvSpPr>
        <p:spPr>
          <a:xfrm rot="16200000">
            <a:off x="1725841" y="4278899"/>
            <a:ext cx="220254" cy="93610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0" name="Left Brace 9">
            <a:extLst>
              <a:ext uri="{FF2B5EF4-FFF2-40B4-BE49-F238E27FC236}">
                <a16:creationId xmlns:a16="http://schemas.microsoft.com/office/drawing/2014/main" id="{8DA71699-54AC-75FF-DA90-3145B9A124E9}"/>
              </a:ext>
            </a:extLst>
          </p:cNvPr>
          <p:cNvSpPr/>
          <p:nvPr/>
        </p:nvSpPr>
        <p:spPr>
          <a:xfrm rot="16200000">
            <a:off x="2869526" y="4132470"/>
            <a:ext cx="220254" cy="122896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1" name="Left Brace 10">
            <a:extLst>
              <a:ext uri="{FF2B5EF4-FFF2-40B4-BE49-F238E27FC236}">
                <a16:creationId xmlns:a16="http://schemas.microsoft.com/office/drawing/2014/main" id="{3B635556-2C5F-34EC-6B1E-1709F8AF2831}"/>
              </a:ext>
            </a:extLst>
          </p:cNvPr>
          <p:cNvSpPr/>
          <p:nvPr/>
        </p:nvSpPr>
        <p:spPr>
          <a:xfrm rot="16200000">
            <a:off x="3931838" y="4360929"/>
            <a:ext cx="219598" cy="772699"/>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 name="Left Brace 11">
            <a:extLst>
              <a:ext uri="{FF2B5EF4-FFF2-40B4-BE49-F238E27FC236}">
                <a16:creationId xmlns:a16="http://schemas.microsoft.com/office/drawing/2014/main" id="{734DD4C7-2AC3-F426-65D8-95FD219031F2}"/>
              </a:ext>
            </a:extLst>
          </p:cNvPr>
          <p:cNvSpPr/>
          <p:nvPr/>
        </p:nvSpPr>
        <p:spPr>
          <a:xfrm rot="16200000">
            <a:off x="5860374" y="3265591"/>
            <a:ext cx="219597" cy="296206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72421209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5AF6D-577D-ADF1-61E0-FC698E70D890}"/>
              </a:ext>
            </a:extLst>
          </p:cNvPr>
          <p:cNvSpPr>
            <a:spLocks noGrp="1"/>
          </p:cNvSpPr>
          <p:nvPr>
            <p:ph type="title"/>
          </p:nvPr>
        </p:nvSpPr>
        <p:spPr/>
        <p:txBody>
          <a:bodyPr>
            <a:normAutofit fontScale="90000"/>
          </a:bodyPr>
          <a:lstStyle/>
          <a:p>
            <a:r>
              <a:rPr lang="en-US" altLang="x-none" dirty="0"/>
              <a:t>Approach 1 "Press 1 for Premier, Press 2 for…"</a:t>
            </a:r>
            <a:endParaRPr lang="en-GB" dirty="0"/>
          </a:p>
        </p:txBody>
      </p:sp>
      <p:sp>
        <p:nvSpPr>
          <p:cNvPr id="3" name="Text Placeholder 2" descr="The airline provides a single telephone number.  &#10;">
            <a:extLst>
              <a:ext uri="{FF2B5EF4-FFF2-40B4-BE49-F238E27FC236}">
                <a16:creationId xmlns:a16="http://schemas.microsoft.com/office/drawing/2014/main" id="{6C4AEA75-F777-50A4-BB9A-706118E0B19F}"/>
              </a:ext>
            </a:extLst>
          </p:cNvPr>
          <p:cNvSpPr>
            <a:spLocks noGrp="1"/>
          </p:cNvSpPr>
          <p:nvPr>
            <p:ph type="body" sz="quarter" idx="11"/>
          </p:nvPr>
        </p:nvSpPr>
        <p:spPr>
          <a:xfrm>
            <a:off x="899590" y="1700808"/>
            <a:ext cx="7886699" cy="1224136"/>
          </a:xfrm>
        </p:spPr>
        <p:txBody>
          <a:bodyPr/>
          <a:lstStyle/>
          <a:p>
            <a:pPr marL="0" indent="0">
              <a:buNone/>
            </a:pPr>
            <a:r>
              <a:rPr lang="en-US" altLang="x-none" dirty="0"/>
              <a:t>The airline provides a single telephone number.  </a:t>
            </a:r>
          </a:p>
          <a:p>
            <a:pPr marL="0" indent="0">
              <a:buNone/>
            </a:pPr>
            <a:r>
              <a:rPr lang="en-US" altLang="x-none" dirty="0"/>
              <a:t>Upon entry into the system a customer encounters an automated message, "Press 1 if you are a premier member, press 2 if you are a frequent flyer, press 3 for all others."</a:t>
            </a:r>
          </a:p>
          <a:p>
            <a:pPr marL="9525" indent="0">
              <a:buNone/>
            </a:pPr>
            <a:endParaRPr lang="en-GB" dirty="0"/>
          </a:p>
        </p:txBody>
      </p:sp>
      <p:grpSp>
        <p:nvGrpSpPr>
          <p:cNvPr id="4" name="Group 3" descr="The airline provides a single telephone number.  &#10;">
            <a:extLst>
              <a:ext uri="{FF2B5EF4-FFF2-40B4-BE49-F238E27FC236}">
                <a16:creationId xmlns:a16="http://schemas.microsoft.com/office/drawing/2014/main" id="{031E678C-8FC6-15CF-BD22-7CC276FB64B9}"/>
              </a:ext>
            </a:extLst>
          </p:cNvPr>
          <p:cNvGrpSpPr/>
          <p:nvPr/>
        </p:nvGrpSpPr>
        <p:grpSpPr>
          <a:xfrm>
            <a:off x="464621" y="3212976"/>
            <a:ext cx="8214757" cy="3185001"/>
            <a:chOff x="714930" y="2935926"/>
            <a:chExt cx="8214757" cy="3185001"/>
          </a:xfrm>
        </p:grpSpPr>
        <p:grpSp>
          <p:nvGrpSpPr>
            <p:cNvPr id="5" name="Group 4">
              <a:extLst>
                <a:ext uri="{FF2B5EF4-FFF2-40B4-BE49-F238E27FC236}">
                  <a16:creationId xmlns:a16="http://schemas.microsoft.com/office/drawing/2014/main" id="{FCB7AD6B-0759-791F-0410-9679122E33D0}"/>
                </a:ext>
              </a:extLst>
            </p:cNvPr>
            <p:cNvGrpSpPr>
              <a:grpSpLocks/>
            </p:cNvGrpSpPr>
            <p:nvPr/>
          </p:nvGrpSpPr>
          <p:grpSpPr bwMode="auto">
            <a:xfrm>
              <a:off x="1184830" y="2935926"/>
              <a:ext cx="469900" cy="619125"/>
              <a:chOff x="1099" y="1621"/>
              <a:chExt cx="296" cy="390"/>
            </a:xfrm>
          </p:grpSpPr>
          <p:sp>
            <p:nvSpPr>
              <p:cNvPr id="74" name="Oval 5">
                <a:extLst>
                  <a:ext uri="{FF2B5EF4-FFF2-40B4-BE49-F238E27FC236}">
                    <a16:creationId xmlns:a16="http://schemas.microsoft.com/office/drawing/2014/main" id="{D1F3C728-7F9D-6EF8-AACE-6559FA599CB1}"/>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5" name="Line 6">
                <a:extLst>
                  <a:ext uri="{FF2B5EF4-FFF2-40B4-BE49-F238E27FC236}">
                    <a16:creationId xmlns:a16="http://schemas.microsoft.com/office/drawing/2014/main" id="{583BC1A3-1EA4-B0DD-1034-AE4A98564E5A}"/>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6" name="Line 7">
                <a:extLst>
                  <a:ext uri="{FF2B5EF4-FFF2-40B4-BE49-F238E27FC236}">
                    <a16:creationId xmlns:a16="http://schemas.microsoft.com/office/drawing/2014/main" id="{D218B3A9-FE04-AD54-E001-1320B7B29FDE}"/>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7" name="Line 8">
                <a:extLst>
                  <a:ext uri="{FF2B5EF4-FFF2-40B4-BE49-F238E27FC236}">
                    <a16:creationId xmlns:a16="http://schemas.microsoft.com/office/drawing/2014/main" id="{A1A64832-5A41-E84C-7F45-50457A924BDC}"/>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8" name="Line 9">
                <a:extLst>
                  <a:ext uri="{FF2B5EF4-FFF2-40B4-BE49-F238E27FC236}">
                    <a16:creationId xmlns:a16="http://schemas.microsoft.com/office/drawing/2014/main" id="{70FA27FA-08BC-E562-5CB0-19305C0454C5}"/>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9" name="Line 10">
                <a:extLst>
                  <a:ext uri="{FF2B5EF4-FFF2-40B4-BE49-F238E27FC236}">
                    <a16:creationId xmlns:a16="http://schemas.microsoft.com/office/drawing/2014/main" id="{B6702DB5-0D9C-34FA-821F-E1DB72583EC8}"/>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6" name="Group 11">
              <a:extLst>
                <a:ext uri="{FF2B5EF4-FFF2-40B4-BE49-F238E27FC236}">
                  <a16:creationId xmlns:a16="http://schemas.microsoft.com/office/drawing/2014/main" id="{A3005E8E-5071-57C3-FD35-07F8FEB269E6}"/>
                </a:ext>
              </a:extLst>
            </p:cNvPr>
            <p:cNvGrpSpPr>
              <a:grpSpLocks/>
            </p:cNvGrpSpPr>
            <p:nvPr/>
          </p:nvGrpSpPr>
          <p:grpSpPr bwMode="auto">
            <a:xfrm>
              <a:off x="727630" y="3164525"/>
              <a:ext cx="304800" cy="381000"/>
              <a:chOff x="1099" y="1621"/>
              <a:chExt cx="296" cy="390"/>
            </a:xfrm>
          </p:grpSpPr>
          <p:sp>
            <p:nvSpPr>
              <p:cNvPr id="68" name="Oval 12">
                <a:extLst>
                  <a:ext uri="{FF2B5EF4-FFF2-40B4-BE49-F238E27FC236}">
                    <a16:creationId xmlns:a16="http://schemas.microsoft.com/office/drawing/2014/main" id="{90AE6D68-1158-8A92-7995-0922594B193A}"/>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9" name="Line 13">
                <a:extLst>
                  <a:ext uri="{FF2B5EF4-FFF2-40B4-BE49-F238E27FC236}">
                    <a16:creationId xmlns:a16="http://schemas.microsoft.com/office/drawing/2014/main" id="{5F6CDAAE-FBB7-2164-B501-E0422E7E430F}"/>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0" name="Line 14">
                <a:extLst>
                  <a:ext uri="{FF2B5EF4-FFF2-40B4-BE49-F238E27FC236}">
                    <a16:creationId xmlns:a16="http://schemas.microsoft.com/office/drawing/2014/main" id="{6F583331-56A1-6499-2CB3-2C92AB2B8747}"/>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1" name="Line 15">
                <a:extLst>
                  <a:ext uri="{FF2B5EF4-FFF2-40B4-BE49-F238E27FC236}">
                    <a16:creationId xmlns:a16="http://schemas.microsoft.com/office/drawing/2014/main" id="{C342A66B-BCED-4366-828C-C2DD2206806B}"/>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2" name="Line 16">
                <a:extLst>
                  <a:ext uri="{FF2B5EF4-FFF2-40B4-BE49-F238E27FC236}">
                    <a16:creationId xmlns:a16="http://schemas.microsoft.com/office/drawing/2014/main" id="{7A8B0F56-51B9-41F4-59EA-C46248629BB0}"/>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3" name="Line 17">
                <a:extLst>
                  <a:ext uri="{FF2B5EF4-FFF2-40B4-BE49-F238E27FC236}">
                    <a16:creationId xmlns:a16="http://schemas.microsoft.com/office/drawing/2014/main" id="{A8D4D386-65FB-A959-D382-466E46422440}"/>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7" name="Group 18">
              <a:extLst>
                <a:ext uri="{FF2B5EF4-FFF2-40B4-BE49-F238E27FC236}">
                  <a16:creationId xmlns:a16="http://schemas.microsoft.com/office/drawing/2014/main" id="{9931137C-A899-514D-86C3-35F882B04534}"/>
                </a:ext>
              </a:extLst>
            </p:cNvPr>
            <p:cNvGrpSpPr>
              <a:grpSpLocks/>
            </p:cNvGrpSpPr>
            <p:nvPr/>
          </p:nvGrpSpPr>
          <p:grpSpPr bwMode="auto">
            <a:xfrm>
              <a:off x="956230" y="3088325"/>
              <a:ext cx="304800" cy="533400"/>
              <a:chOff x="1099" y="1621"/>
              <a:chExt cx="296" cy="390"/>
            </a:xfrm>
          </p:grpSpPr>
          <p:sp>
            <p:nvSpPr>
              <p:cNvPr id="62" name="Oval 19">
                <a:extLst>
                  <a:ext uri="{FF2B5EF4-FFF2-40B4-BE49-F238E27FC236}">
                    <a16:creationId xmlns:a16="http://schemas.microsoft.com/office/drawing/2014/main" id="{A27248D8-5714-5793-4AE0-F42C0B74FA61}"/>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3" name="Line 20">
                <a:extLst>
                  <a:ext uri="{FF2B5EF4-FFF2-40B4-BE49-F238E27FC236}">
                    <a16:creationId xmlns:a16="http://schemas.microsoft.com/office/drawing/2014/main" id="{D43446A5-074C-8129-BE5F-75818FD2DDF9}"/>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4" name="Line 21">
                <a:extLst>
                  <a:ext uri="{FF2B5EF4-FFF2-40B4-BE49-F238E27FC236}">
                    <a16:creationId xmlns:a16="http://schemas.microsoft.com/office/drawing/2014/main" id="{EB46E919-5084-CAB0-F52F-4C936E0B7A14}"/>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5" name="Line 22">
                <a:extLst>
                  <a:ext uri="{FF2B5EF4-FFF2-40B4-BE49-F238E27FC236}">
                    <a16:creationId xmlns:a16="http://schemas.microsoft.com/office/drawing/2014/main" id="{C3229B3A-BB2D-1BB2-D33B-B81961147A58}"/>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6" name="Line 23">
                <a:extLst>
                  <a:ext uri="{FF2B5EF4-FFF2-40B4-BE49-F238E27FC236}">
                    <a16:creationId xmlns:a16="http://schemas.microsoft.com/office/drawing/2014/main" id="{F85E1D26-31FD-826F-5CD8-7E44DF3DDF51}"/>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7" name="Line 24">
                <a:extLst>
                  <a:ext uri="{FF2B5EF4-FFF2-40B4-BE49-F238E27FC236}">
                    <a16:creationId xmlns:a16="http://schemas.microsoft.com/office/drawing/2014/main" id="{E9EB22AD-2331-4E06-F33B-F77D89927FBF}"/>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8" name="Group 25">
              <a:extLst>
                <a:ext uri="{FF2B5EF4-FFF2-40B4-BE49-F238E27FC236}">
                  <a16:creationId xmlns:a16="http://schemas.microsoft.com/office/drawing/2014/main" id="{D5BC73B2-85E0-AEEC-5FFA-6B6165E98E2B}"/>
                </a:ext>
              </a:extLst>
            </p:cNvPr>
            <p:cNvGrpSpPr>
              <a:grpSpLocks/>
            </p:cNvGrpSpPr>
            <p:nvPr/>
          </p:nvGrpSpPr>
          <p:grpSpPr bwMode="auto">
            <a:xfrm>
              <a:off x="1172130" y="4078926"/>
              <a:ext cx="469900" cy="619125"/>
              <a:chOff x="1099" y="1621"/>
              <a:chExt cx="296" cy="390"/>
            </a:xfrm>
          </p:grpSpPr>
          <p:sp>
            <p:nvSpPr>
              <p:cNvPr id="56" name="Oval 26">
                <a:extLst>
                  <a:ext uri="{FF2B5EF4-FFF2-40B4-BE49-F238E27FC236}">
                    <a16:creationId xmlns:a16="http://schemas.microsoft.com/office/drawing/2014/main" id="{52E347A5-378C-0C26-B5E3-9A91157AA246}"/>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7" name="Line 27">
                <a:extLst>
                  <a:ext uri="{FF2B5EF4-FFF2-40B4-BE49-F238E27FC236}">
                    <a16:creationId xmlns:a16="http://schemas.microsoft.com/office/drawing/2014/main" id="{C0A03AE9-C6CB-CB26-8B88-777883BB989E}"/>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8" name="Line 28">
                <a:extLst>
                  <a:ext uri="{FF2B5EF4-FFF2-40B4-BE49-F238E27FC236}">
                    <a16:creationId xmlns:a16="http://schemas.microsoft.com/office/drawing/2014/main" id="{ED568086-E757-C7A1-EC06-626865CD5EDB}"/>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9" name="Line 29">
                <a:extLst>
                  <a:ext uri="{FF2B5EF4-FFF2-40B4-BE49-F238E27FC236}">
                    <a16:creationId xmlns:a16="http://schemas.microsoft.com/office/drawing/2014/main" id="{283F290A-85D0-9179-BE24-6CC896846406}"/>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0" name="Line 30">
                <a:extLst>
                  <a:ext uri="{FF2B5EF4-FFF2-40B4-BE49-F238E27FC236}">
                    <a16:creationId xmlns:a16="http://schemas.microsoft.com/office/drawing/2014/main" id="{DA3FAC72-016A-0835-4E2C-8161AA9B633D}"/>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1" name="Line 31">
                <a:extLst>
                  <a:ext uri="{FF2B5EF4-FFF2-40B4-BE49-F238E27FC236}">
                    <a16:creationId xmlns:a16="http://schemas.microsoft.com/office/drawing/2014/main" id="{0B4A65D6-7EFC-AB5E-7E96-6AC70083D26C}"/>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9" name="Group 32">
              <a:extLst>
                <a:ext uri="{FF2B5EF4-FFF2-40B4-BE49-F238E27FC236}">
                  <a16:creationId xmlns:a16="http://schemas.microsoft.com/office/drawing/2014/main" id="{C2301A51-530D-19F3-44DD-8BA146CFCBB1}"/>
                </a:ext>
              </a:extLst>
            </p:cNvPr>
            <p:cNvGrpSpPr>
              <a:grpSpLocks/>
            </p:cNvGrpSpPr>
            <p:nvPr/>
          </p:nvGrpSpPr>
          <p:grpSpPr bwMode="auto">
            <a:xfrm>
              <a:off x="714930" y="4307525"/>
              <a:ext cx="304800" cy="381000"/>
              <a:chOff x="1099" y="1621"/>
              <a:chExt cx="296" cy="390"/>
            </a:xfrm>
          </p:grpSpPr>
          <p:sp>
            <p:nvSpPr>
              <p:cNvPr id="50" name="Oval 33">
                <a:extLst>
                  <a:ext uri="{FF2B5EF4-FFF2-40B4-BE49-F238E27FC236}">
                    <a16:creationId xmlns:a16="http://schemas.microsoft.com/office/drawing/2014/main" id="{A5CB686C-C3CB-D0D5-07D0-356CB48F997B}"/>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1" name="Line 34">
                <a:extLst>
                  <a:ext uri="{FF2B5EF4-FFF2-40B4-BE49-F238E27FC236}">
                    <a16:creationId xmlns:a16="http://schemas.microsoft.com/office/drawing/2014/main" id="{14295A66-45E9-A067-727A-4D24410ADAC6}"/>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2" name="Line 35">
                <a:extLst>
                  <a:ext uri="{FF2B5EF4-FFF2-40B4-BE49-F238E27FC236}">
                    <a16:creationId xmlns:a16="http://schemas.microsoft.com/office/drawing/2014/main" id="{F162DFCE-D544-BD86-897E-D48EB618DD42}"/>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3" name="Line 36">
                <a:extLst>
                  <a:ext uri="{FF2B5EF4-FFF2-40B4-BE49-F238E27FC236}">
                    <a16:creationId xmlns:a16="http://schemas.microsoft.com/office/drawing/2014/main" id="{072249AC-09F8-896B-C5B5-39BFBC9FED1A}"/>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4" name="Line 37">
                <a:extLst>
                  <a:ext uri="{FF2B5EF4-FFF2-40B4-BE49-F238E27FC236}">
                    <a16:creationId xmlns:a16="http://schemas.microsoft.com/office/drawing/2014/main" id="{BD51A3EE-2795-A806-8C63-525FE39542F5}"/>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5" name="Line 38">
                <a:extLst>
                  <a:ext uri="{FF2B5EF4-FFF2-40B4-BE49-F238E27FC236}">
                    <a16:creationId xmlns:a16="http://schemas.microsoft.com/office/drawing/2014/main" id="{45704953-5F50-626E-9847-272FF4044305}"/>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10" name="Group 39">
              <a:extLst>
                <a:ext uri="{FF2B5EF4-FFF2-40B4-BE49-F238E27FC236}">
                  <a16:creationId xmlns:a16="http://schemas.microsoft.com/office/drawing/2014/main" id="{17BF1A3F-A7C4-1EED-D5FD-CE42068EE8CD}"/>
                </a:ext>
              </a:extLst>
            </p:cNvPr>
            <p:cNvGrpSpPr>
              <a:grpSpLocks/>
            </p:cNvGrpSpPr>
            <p:nvPr/>
          </p:nvGrpSpPr>
          <p:grpSpPr bwMode="auto">
            <a:xfrm>
              <a:off x="943530" y="4231325"/>
              <a:ext cx="304800" cy="533400"/>
              <a:chOff x="1099" y="1621"/>
              <a:chExt cx="296" cy="390"/>
            </a:xfrm>
          </p:grpSpPr>
          <p:sp>
            <p:nvSpPr>
              <p:cNvPr id="44" name="Oval 40">
                <a:extLst>
                  <a:ext uri="{FF2B5EF4-FFF2-40B4-BE49-F238E27FC236}">
                    <a16:creationId xmlns:a16="http://schemas.microsoft.com/office/drawing/2014/main" id="{0F94DE6E-E67A-348B-4D7D-B8341BB31B2C}"/>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5" name="Line 41">
                <a:extLst>
                  <a:ext uri="{FF2B5EF4-FFF2-40B4-BE49-F238E27FC236}">
                    <a16:creationId xmlns:a16="http://schemas.microsoft.com/office/drawing/2014/main" id="{A398D836-DD41-AAFA-870E-0460573A4B19}"/>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6" name="Line 42">
                <a:extLst>
                  <a:ext uri="{FF2B5EF4-FFF2-40B4-BE49-F238E27FC236}">
                    <a16:creationId xmlns:a16="http://schemas.microsoft.com/office/drawing/2014/main" id="{A7B3FE38-BD5B-C205-40B2-D0724194C4FD}"/>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7" name="Line 43">
                <a:extLst>
                  <a:ext uri="{FF2B5EF4-FFF2-40B4-BE49-F238E27FC236}">
                    <a16:creationId xmlns:a16="http://schemas.microsoft.com/office/drawing/2014/main" id="{593F1C3A-EAFD-5450-31B1-C84F45D4CDC2}"/>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8" name="Line 44">
                <a:extLst>
                  <a:ext uri="{FF2B5EF4-FFF2-40B4-BE49-F238E27FC236}">
                    <a16:creationId xmlns:a16="http://schemas.microsoft.com/office/drawing/2014/main" id="{9E980ED2-E1C2-9966-63DB-919D45C8DA91}"/>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9" name="Line 45">
                <a:extLst>
                  <a:ext uri="{FF2B5EF4-FFF2-40B4-BE49-F238E27FC236}">
                    <a16:creationId xmlns:a16="http://schemas.microsoft.com/office/drawing/2014/main" id="{F1F00615-DADF-E0D7-3C59-8CC7C39641C5}"/>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11" name="Group 46">
              <a:extLst>
                <a:ext uri="{FF2B5EF4-FFF2-40B4-BE49-F238E27FC236}">
                  <a16:creationId xmlns:a16="http://schemas.microsoft.com/office/drawing/2014/main" id="{CC4BF217-F0AE-88B1-84DB-28CFA1D6A72A}"/>
                </a:ext>
              </a:extLst>
            </p:cNvPr>
            <p:cNvGrpSpPr>
              <a:grpSpLocks/>
            </p:cNvGrpSpPr>
            <p:nvPr/>
          </p:nvGrpSpPr>
          <p:grpSpPr bwMode="auto">
            <a:xfrm>
              <a:off x="1184830" y="5221926"/>
              <a:ext cx="469900" cy="619125"/>
              <a:chOff x="1099" y="1621"/>
              <a:chExt cx="296" cy="390"/>
            </a:xfrm>
          </p:grpSpPr>
          <p:sp>
            <p:nvSpPr>
              <p:cNvPr id="38" name="Oval 47">
                <a:extLst>
                  <a:ext uri="{FF2B5EF4-FFF2-40B4-BE49-F238E27FC236}">
                    <a16:creationId xmlns:a16="http://schemas.microsoft.com/office/drawing/2014/main" id="{1AF5E48E-52E1-FB6B-B1C9-B14846DA6E57}"/>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9" name="Line 48">
                <a:extLst>
                  <a:ext uri="{FF2B5EF4-FFF2-40B4-BE49-F238E27FC236}">
                    <a16:creationId xmlns:a16="http://schemas.microsoft.com/office/drawing/2014/main" id="{46DD79F7-AD95-FCFC-0031-AC23538A3DA6}"/>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0" name="Line 49">
                <a:extLst>
                  <a:ext uri="{FF2B5EF4-FFF2-40B4-BE49-F238E27FC236}">
                    <a16:creationId xmlns:a16="http://schemas.microsoft.com/office/drawing/2014/main" id="{41B8040A-7607-B778-720B-870BD66F83FD}"/>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1" name="Line 50">
                <a:extLst>
                  <a:ext uri="{FF2B5EF4-FFF2-40B4-BE49-F238E27FC236}">
                    <a16:creationId xmlns:a16="http://schemas.microsoft.com/office/drawing/2014/main" id="{A85A7955-F471-C01F-4E1D-CF23A9BE3BAE}"/>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2" name="Line 51">
                <a:extLst>
                  <a:ext uri="{FF2B5EF4-FFF2-40B4-BE49-F238E27FC236}">
                    <a16:creationId xmlns:a16="http://schemas.microsoft.com/office/drawing/2014/main" id="{98F9FB13-82EA-F2DB-A596-1F1E1CCE4183}"/>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3" name="Line 52">
                <a:extLst>
                  <a:ext uri="{FF2B5EF4-FFF2-40B4-BE49-F238E27FC236}">
                    <a16:creationId xmlns:a16="http://schemas.microsoft.com/office/drawing/2014/main" id="{568082CF-223C-5896-8D6B-D8895C260CDF}"/>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12" name="Group 53">
              <a:extLst>
                <a:ext uri="{FF2B5EF4-FFF2-40B4-BE49-F238E27FC236}">
                  <a16:creationId xmlns:a16="http://schemas.microsoft.com/office/drawing/2014/main" id="{F9B6DD06-989A-BE2B-C84D-10044A30E2A7}"/>
                </a:ext>
              </a:extLst>
            </p:cNvPr>
            <p:cNvGrpSpPr>
              <a:grpSpLocks/>
            </p:cNvGrpSpPr>
            <p:nvPr/>
          </p:nvGrpSpPr>
          <p:grpSpPr bwMode="auto">
            <a:xfrm>
              <a:off x="727630" y="5450525"/>
              <a:ext cx="304800" cy="381000"/>
              <a:chOff x="1099" y="1621"/>
              <a:chExt cx="296" cy="390"/>
            </a:xfrm>
          </p:grpSpPr>
          <p:sp>
            <p:nvSpPr>
              <p:cNvPr id="32" name="Oval 54">
                <a:extLst>
                  <a:ext uri="{FF2B5EF4-FFF2-40B4-BE49-F238E27FC236}">
                    <a16:creationId xmlns:a16="http://schemas.microsoft.com/office/drawing/2014/main" id="{8AE61B09-150A-B800-D2EE-B04A4E02A221}"/>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3" name="Line 55">
                <a:extLst>
                  <a:ext uri="{FF2B5EF4-FFF2-40B4-BE49-F238E27FC236}">
                    <a16:creationId xmlns:a16="http://schemas.microsoft.com/office/drawing/2014/main" id="{0CD7CD56-96DF-BBFA-9BDA-6D0D5A635E80}"/>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4" name="Line 56">
                <a:extLst>
                  <a:ext uri="{FF2B5EF4-FFF2-40B4-BE49-F238E27FC236}">
                    <a16:creationId xmlns:a16="http://schemas.microsoft.com/office/drawing/2014/main" id="{726961CC-B067-034E-5060-A445C5342AC6}"/>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5" name="Line 57">
                <a:extLst>
                  <a:ext uri="{FF2B5EF4-FFF2-40B4-BE49-F238E27FC236}">
                    <a16:creationId xmlns:a16="http://schemas.microsoft.com/office/drawing/2014/main" id="{4B1BAA6B-E9AE-2F0E-C5A9-4F5802F00B6F}"/>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6" name="Line 58">
                <a:extLst>
                  <a:ext uri="{FF2B5EF4-FFF2-40B4-BE49-F238E27FC236}">
                    <a16:creationId xmlns:a16="http://schemas.microsoft.com/office/drawing/2014/main" id="{9F7C1019-51AB-AC3B-6CE2-8F72026F99BA}"/>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7" name="Line 59">
                <a:extLst>
                  <a:ext uri="{FF2B5EF4-FFF2-40B4-BE49-F238E27FC236}">
                    <a16:creationId xmlns:a16="http://schemas.microsoft.com/office/drawing/2014/main" id="{2544A2B5-EDB6-3B1A-CB8F-6D7DEE422A04}"/>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13" name="Group 60">
              <a:extLst>
                <a:ext uri="{FF2B5EF4-FFF2-40B4-BE49-F238E27FC236}">
                  <a16:creationId xmlns:a16="http://schemas.microsoft.com/office/drawing/2014/main" id="{BFA1B06C-1E50-D164-F88F-7BF7C513BDB7}"/>
                </a:ext>
              </a:extLst>
            </p:cNvPr>
            <p:cNvGrpSpPr>
              <a:grpSpLocks/>
            </p:cNvGrpSpPr>
            <p:nvPr/>
          </p:nvGrpSpPr>
          <p:grpSpPr bwMode="auto">
            <a:xfrm>
              <a:off x="956230" y="5374325"/>
              <a:ext cx="304800" cy="533400"/>
              <a:chOff x="1099" y="1621"/>
              <a:chExt cx="296" cy="390"/>
            </a:xfrm>
          </p:grpSpPr>
          <p:sp>
            <p:nvSpPr>
              <p:cNvPr id="26" name="Oval 61">
                <a:extLst>
                  <a:ext uri="{FF2B5EF4-FFF2-40B4-BE49-F238E27FC236}">
                    <a16:creationId xmlns:a16="http://schemas.microsoft.com/office/drawing/2014/main" id="{531420F7-AB3A-1F9B-87B5-18F079E82F31}"/>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27" name="Line 62">
                <a:extLst>
                  <a:ext uri="{FF2B5EF4-FFF2-40B4-BE49-F238E27FC236}">
                    <a16:creationId xmlns:a16="http://schemas.microsoft.com/office/drawing/2014/main" id="{146244BC-F2C0-81B3-84A1-9D6E71B55CED}"/>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28" name="Line 63">
                <a:extLst>
                  <a:ext uri="{FF2B5EF4-FFF2-40B4-BE49-F238E27FC236}">
                    <a16:creationId xmlns:a16="http://schemas.microsoft.com/office/drawing/2014/main" id="{82F1C142-DB3F-4C56-5224-D54D94129475}"/>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29" name="Line 64">
                <a:extLst>
                  <a:ext uri="{FF2B5EF4-FFF2-40B4-BE49-F238E27FC236}">
                    <a16:creationId xmlns:a16="http://schemas.microsoft.com/office/drawing/2014/main" id="{7E5B9CD8-0982-1CE8-0028-3A94BE37B61A}"/>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0" name="Line 65">
                <a:extLst>
                  <a:ext uri="{FF2B5EF4-FFF2-40B4-BE49-F238E27FC236}">
                    <a16:creationId xmlns:a16="http://schemas.microsoft.com/office/drawing/2014/main" id="{19C32205-2089-1F4A-2A95-78EF1757C4F7}"/>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1" name="Line 66">
                <a:extLst>
                  <a:ext uri="{FF2B5EF4-FFF2-40B4-BE49-F238E27FC236}">
                    <a16:creationId xmlns:a16="http://schemas.microsoft.com/office/drawing/2014/main" id="{8BA9FABE-70E9-4889-5337-DACBF3EB0D56}"/>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sp>
          <p:nvSpPr>
            <p:cNvPr id="14" name="Text Box 70">
              <a:extLst>
                <a:ext uri="{FF2B5EF4-FFF2-40B4-BE49-F238E27FC236}">
                  <a16:creationId xmlns:a16="http://schemas.microsoft.com/office/drawing/2014/main" id="{516F0374-FE65-FFBC-EF09-E910431FB94E}"/>
                </a:ext>
              </a:extLst>
            </p:cNvPr>
            <p:cNvSpPr txBox="1">
              <a:spLocks noChangeArrowheads="1"/>
            </p:cNvSpPr>
            <p:nvPr/>
          </p:nvSpPr>
          <p:spPr bwMode="auto">
            <a:xfrm>
              <a:off x="3721656" y="4294825"/>
              <a:ext cx="207962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dirty="0"/>
                <a:t>Airline Reservations</a:t>
              </a:r>
            </a:p>
          </p:txBody>
        </p:sp>
        <p:sp>
          <p:nvSpPr>
            <p:cNvPr id="15" name="Line 71">
              <a:extLst>
                <a:ext uri="{FF2B5EF4-FFF2-40B4-BE49-F238E27FC236}">
                  <a16:creationId xmlns:a16="http://schemas.microsoft.com/office/drawing/2014/main" id="{61515259-E70E-C1D1-B2A9-03A6174C1E4C}"/>
                </a:ext>
              </a:extLst>
            </p:cNvPr>
            <p:cNvSpPr>
              <a:spLocks noChangeShapeType="1"/>
            </p:cNvSpPr>
            <p:nvPr/>
          </p:nvSpPr>
          <p:spPr bwMode="auto">
            <a:xfrm>
              <a:off x="1718230" y="3393125"/>
              <a:ext cx="23622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6" name="Line 72">
              <a:extLst>
                <a:ext uri="{FF2B5EF4-FFF2-40B4-BE49-F238E27FC236}">
                  <a16:creationId xmlns:a16="http://schemas.microsoft.com/office/drawing/2014/main" id="{55B465E4-AE43-FF1E-31F4-8D331C44AFEC}"/>
                </a:ext>
              </a:extLst>
            </p:cNvPr>
            <p:cNvSpPr>
              <a:spLocks noChangeShapeType="1"/>
            </p:cNvSpPr>
            <p:nvPr/>
          </p:nvSpPr>
          <p:spPr bwMode="auto">
            <a:xfrm>
              <a:off x="1642030" y="4459925"/>
              <a:ext cx="2057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7" name="Line 73">
              <a:extLst>
                <a:ext uri="{FF2B5EF4-FFF2-40B4-BE49-F238E27FC236}">
                  <a16:creationId xmlns:a16="http://schemas.microsoft.com/office/drawing/2014/main" id="{E96FDA60-E757-569B-CF01-BF1D4BFBC9B0}"/>
                </a:ext>
              </a:extLst>
            </p:cNvPr>
            <p:cNvSpPr>
              <a:spLocks noChangeShapeType="1"/>
            </p:cNvSpPr>
            <p:nvPr/>
          </p:nvSpPr>
          <p:spPr bwMode="auto">
            <a:xfrm flipV="1">
              <a:off x="1794430" y="4688525"/>
              <a:ext cx="228600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8" name="Text Box 74">
              <a:extLst>
                <a:ext uri="{FF2B5EF4-FFF2-40B4-BE49-F238E27FC236}">
                  <a16:creationId xmlns:a16="http://schemas.microsoft.com/office/drawing/2014/main" id="{79C8312A-F736-0E61-9EF9-58BA9305CC92}"/>
                </a:ext>
              </a:extLst>
            </p:cNvPr>
            <p:cNvSpPr txBox="1">
              <a:spLocks noChangeArrowheads="1"/>
            </p:cNvSpPr>
            <p:nvPr/>
          </p:nvSpPr>
          <p:spPr bwMode="auto">
            <a:xfrm>
              <a:off x="6177518" y="4155125"/>
              <a:ext cx="1085850" cy="5905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1600"/>
                <a:t>Answering</a:t>
              </a:r>
            </a:p>
            <a:p>
              <a:pPr algn="ctr"/>
              <a:r>
                <a:rPr lang="en-US" altLang="x-none" sz="1600"/>
                <a:t>Machine</a:t>
              </a:r>
            </a:p>
          </p:txBody>
        </p:sp>
        <p:sp>
          <p:nvSpPr>
            <p:cNvPr id="19" name="Line 75">
              <a:extLst>
                <a:ext uri="{FF2B5EF4-FFF2-40B4-BE49-F238E27FC236}">
                  <a16:creationId xmlns:a16="http://schemas.microsoft.com/office/drawing/2014/main" id="{BD968911-C8DC-57ED-A35B-D88D135E544A}"/>
                </a:ext>
              </a:extLst>
            </p:cNvPr>
            <p:cNvSpPr>
              <a:spLocks noChangeShapeType="1"/>
            </p:cNvSpPr>
            <p:nvPr/>
          </p:nvSpPr>
          <p:spPr bwMode="auto">
            <a:xfrm>
              <a:off x="5817155" y="4459925"/>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20" name="Text Box 76">
              <a:extLst>
                <a:ext uri="{FF2B5EF4-FFF2-40B4-BE49-F238E27FC236}">
                  <a16:creationId xmlns:a16="http://schemas.microsoft.com/office/drawing/2014/main" id="{0DE12C1F-5884-23BF-3FAC-429391A822E3}"/>
                </a:ext>
              </a:extLst>
            </p:cNvPr>
            <p:cNvSpPr txBox="1">
              <a:spLocks noChangeArrowheads="1"/>
            </p:cNvSpPr>
            <p:nvPr/>
          </p:nvSpPr>
          <p:spPr bwMode="auto">
            <a:xfrm>
              <a:off x="7613176" y="2958150"/>
              <a:ext cx="1283173" cy="7386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1400"/>
                <a:t>Premier</a:t>
              </a:r>
            </a:p>
            <a:p>
              <a:pPr algn="ctr"/>
              <a:r>
                <a:rPr lang="en-US" altLang="x-none" sz="1400"/>
                <a:t>Customer</a:t>
              </a:r>
            </a:p>
            <a:p>
              <a:pPr algn="ctr"/>
              <a:r>
                <a:rPr lang="en-US" altLang="x-none" sz="1400"/>
                <a:t>Representative</a:t>
              </a:r>
              <a:endParaRPr lang="en-US" altLang="x-none"/>
            </a:p>
          </p:txBody>
        </p:sp>
        <p:sp>
          <p:nvSpPr>
            <p:cNvPr id="21" name="Text Box 77">
              <a:extLst>
                <a:ext uri="{FF2B5EF4-FFF2-40B4-BE49-F238E27FC236}">
                  <a16:creationId xmlns:a16="http://schemas.microsoft.com/office/drawing/2014/main" id="{047CA839-96A2-8A79-C074-D553568C1BAC}"/>
                </a:ext>
              </a:extLst>
            </p:cNvPr>
            <p:cNvSpPr txBox="1">
              <a:spLocks noChangeArrowheads="1"/>
            </p:cNvSpPr>
            <p:nvPr/>
          </p:nvSpPr>
          <p:spPr bwMode="auto">
            <a:xfrm>
              <a:off x="7646514" y="4078925"/>
              <a:ext cx="1283173" cy="7386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1400"/>
                <a:t>F.F.</a:t>
              </a:r>
            </a:p>
            <a:p>
              <a:pPr algn="ctr"/>
              <a:r>
                <a:rPr lang="en-US" altLang="x-none" sz="1400"/>
                <a:t>Customer</a:t>
              </a:r>
            </a:p>
            <a:p>
              <a:pPr algn="ctr"/>
              <a:r>
                <a:rPr lang="en-US" altLang="x-none" sz="1400"/>
                <a:t>Representative</a:t>
              </a:r>
            </a:p>
          </p:txBody>
        </p:sp>
        <p:sp>
          <p:nvSpPr>
            <p:cNvPr id="22" name="Text Box 78">
              <a:extLst>
                <a:ext uri="{FF2B5EF4-FFF2-40B4-BE49-F238E27FC236}">
                  <a16:creationId xmlns:a16="http://schemas.microsoft.com/office/drawing/2014/main" id="{FF3B9959-3E45-9DC1-0785-3672FA20C44B}"/>
                </a:ext>
              </a:extLst>
            </p:cNvPr>
            <p:cNvSpPr txBox="1">
              <a:spLocks noChangeArrowheads="1"/>
            </p:cNvSpPr>
            <p:nvPr/>
          </p:nvSpPr>
          <p:spPr bwMode="auto">
            <a:xfrm>
              <a:off x="7613176" y="5382263"/>
              <a:ext cx="1283173" cy="7386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1400"/>
                <a:t>Regular</a:t>
              </a:r>
            </a:p>
            <a:p>
              <a:pPr algn="ctr"/>
              <a:r>
                <a:rPr lang="en-US" altLang="x-none" sz="1400"/>
                <a:t>Customer</a:t>
              </a:r>
            </a:p>
            <a:p>
              <a:pPr algn="ctr"/>
              <a:r>
                <a:rPr lang="en-US" altLang="x-none" sz="1400"/>
                <a:t>Representative</a:t>
              </a:r>
            </a:p>
          </p:txBody>
        </p:sp>
        <p:sp>
          <p:nvSpPr>
            <p:cNvPr id="23" name="Line 79">
              <a:extLst>
                <a:ext uri="{FF2B5EF4-FFF2-40B4-BE49-F238E27FC236}">
                  <a16:creationId xmlns:a16="http://schemas.microsoft.com/office/drawing/2014/main" id="{325FC0EE-3F0E-F06C-BED9-184892709BCF}"/>
                </a:ext>
              </a:extLst>
            </p:cNvPr>
            <p:cNvSpPr>
              <a:spLocks noChangeShapeType="1"/>
            </p:cNvSpPr>
            <p:nvPr/>
          </p:nvSpPr>
          <p:spPr bwMode="auto">
            <a:xfrm flipV="1">
              <a:off x="7264955" y="3697925"/>
              <a:ext cx="38100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24" name="Line 80">
              <a:extLst>
                <a:ext uri="{FF2B5EF4-FFF2-40B4-BE49-F238E27FC236}">
                  <a16:creationId xmlns:a16="http://schemas.microsoft.com/office/drawing/2014/main" id="{D6723B2B-F991-C514-83BE-051FA8AE045A}"/>
                </a:ext>
              </a:extLst>
            </p:cNvPr>
            <p:cNvSpPr>
              <a:spLocks noChangeShapeType="1"/>
            </p:cNvSpPr>
            <p:nvPr/>
          </p:nvSpPr>
          <p:spPr bwMode="auto">
            <a:xfrm>
              <a:off x="7264955" y="4459925"/>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25" name="Line 81">
              <a:extLst>
                <a:ext uri="{FF2B5EF4-FFF2-40B4-BE49-F238E27FC236}">
                  <a16:creationId xmlns:a16="http://schemas.microsoft.com/office/drawing/2014/main" id="{EBBEF608-F7D0-682E-516E-C3C0A67DF67D}"/>
                </a:ext>
              </a:extLst>
            </p:cNvPr>
            <p:cNvSpPr>
              <a:spLocks noChangeShapeType="1"/>
            </p:cNvSpPr>
            <p:nvPr/>
          </p:nvSpPr>
          <p:spPr bwMode="auto">
            <a:xfrm>
              <a:off x="7264955" y="4459925"/>
              <a:ext cx="3810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spTree>
    <p:extLst>
      <p:ext uri="{BB962C8B-B14F-4D97-AF65-F5344CB8AC3E}">
        <p14:creationId xmlns:p14="http://schemas.microsoft.com/office/powerpoint/2010/main" val="4179695603"/>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63B02-22EE-E054-C483-442429AFB61D}"/>
              </a:ext>
            </a:extLst>
          </p:cNvPr>
          <p:cNvSpPr>
            <a:spLocks noGrp="1"/>
          </p:cNvSpPr>
          <p:nvPr>
            <p:ph type="title"/>
          </p:nvPr>
        </p:nvSpPr>
        <p:spPr/>
        <p:txBody>
          <a:bodyPr>
            <a:normAutofit fontScale="90000"/>
          </a:bodyPr>
          <a:lstStyle/>
          <a:p>
            <a:r>
              <a:rPr lang="en-US" altLang="x-none" dirty="0"/>
              <a:t>Approach 2 Telephone Numbers are Cheap!</a:t>
            </a:r>
            <a:endParaRPr lang="en-GB" dirty="0"/>
          </a:p>
        </p:txBody>
      </p:sp>
      <p:sp>
        <p:nvSpPr>
          <p:cNvPr id="3" name="Text Placeholder 2">
            <a:extLst>
              <a:ext uri="{FF2B5EF4-FFF2-40B4-BE49-F238E27FC236}">
                <a16:creationId xmlns:a16="http://schemas.microsoft.com/office/drawing/2014/main" id="{06079E7E-BC3B-A9E0-887D-ABD800FCAE8F}"/>
              </a:ext>
            </a:extLst>
          </p:cNvPr>
          <p:cNvSpPr>
            <a:spLocks noGrp="1"/>
          </p:cNvSpPr>
          <p:nvPr>
            <p:ph type="body" sz="quarter" idx="11"/>
          </p:nvPr>
        </p:nvSpPr>
        <p:spPr>
          <a:xfrm>
            <a:off x="899590" y="1700808"/>
            <a:ext cx="7886699" cy="1011108"/>
          </a:xfrm>
        </p:spPr>
        <p:txBody>
          <a:bodyPr/>
          <a:lstStyle/>
          <a:p>
            <a:pPr marL="9525" indent="0">
              <a:buNone/>
            </a:pPr>
            <a:r>
              <a:rPr lang="en-US" altLang="x-none" dirty="0"/>
              <a:t>The airline provides several telephone numbers:</a:t>
            </a:r>
          </a:p>
          <a:p>
            <a:pPr marL="9525" indent="0">
              <a:buNone/>
            </a:pPr>
            <a:r>
              <a:rPr lang="en-US" altLang="x-none" dirty="0"/>
              <a:t> e.g., One number for premier members, a different number for frequent flyers, and still another for regular customers.</a:t>
            </a:r>
          </a:p>
          <a:p>
            <a:endParaRPr lang="en-GB" dirty="0"/>
          </a:p>
        </p:txBody>
      </p:sp>
      <p:grpSp>
        <p:nvGrpSpPr>
          <p:cNvPr id="4" name="Group 3">
            <a:extLst>
              <a:ext uri="{FF2B5EF4-FFF2-40B4-BE49-F238E27FC236}">
                <a16:creationId xmlns:a16="http://schemas.microsoft.com/office/drawing/2014/main" id="{D92E4297-2A99-B9D8-CCE3-28EA2716707D}"/>
              </a:ext>
            </a:extLst>
          </p:cNvPr>
          <p:cNvGrpSpPr/>
          <p:nvPr/>
        </p:nvGrpSpPr>
        <p:grpSpPr>
          <a:xfrm>
            <a:off x="684491" y="2924944"/>
            <a:ext cx="7775018" cy="3422094"/>
            <a:chOff x="1976439" y="2718791"/>
            <a:chExt cx="7775018" cy="3422094"/>
          </a:xfrm>
        </p:grpSpPr>
        <p:grpSp>
          <p:nvGrpSpPr>
            <p:cNvPr id="5" name="Group 11">
              <a:extLst>
                <a:ext uri="{FF2B5EF4-FFF2-40B4-BE49-F238E27FC236}">
                  <a16:creationId xmlns:a16="http://schemas.microsoft.com/office/drawing/2014/main" id="{47E06DAD-BE95-F3AF-4410-A090D889F25D}"/>
                </a:ext>
              </a:extLst>
            </p:cNvPr>
            <p:cNvGrpSpPr>
              <a:grpSpLocks/>
            </p:cNvGrpSpPr>
            <p:nvPr/>
          </p:nvGrpSpPr>
          <p:grpSpPr bwMode="auto">
            <a:xfrm>
              <a:off x="2738437" y="3014066"/>
              <a:ext cx="304800" cy="381000"/>
              <a:chOff x="1099" y="1621"/>
              <a:chExt cx="296" cy="390"/>
            </a:xfrm>
          </p:grpSpPr>
          <p:sp>
            <p:nvSpPr>
              <p:cNvPr id="70" name="Oval 12">
                <a:extLst>
                  <a:ext uri="{FF2B5EF4-FFF2-40B4-BE49-F238E27FC236}">
                    <a16:creationId xmlns:a16="http://schemas.microsoft.com/office/drawing/2014/main" id="{3B6C1BA8-26EE-444E-E083-4262F01436DD}"/>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1" name="Line 13">
                <a:extLst>
                  <a:ext uri="{FF2B5EF4-FFF2-40B4-BE49-F238E27FC236}">
                    <a16:creationId xmlns:a16="http://schemas.microsoft.com/office/drawing/2014/main" id="{E8AA8C21-AA96-4DC5-8DA5-34AF4476BC33}"/>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2" name="Line 14">
                <a:extLst>
                  <a:ext uri="{FF2B5EF4-FFF2-40B4-BE49-F238E27FC236}">
                    <a16:creationId xmlns:a16="http://schemas.microsoft.com/office/drawing/2014/main" id="{0197183A-A000-A934-87D6-311F980640DE}"/>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3" name="Line 15">
                <a:extLst>
                  <a:ext uri="{FF2B5EF4-FFF2-40B4-BE49-F238E27FC236}">
                    <a16:creationId xmlns:a16="http://schemas.microsoft.com/office/drawing/2014/main" id="{46A623D6-1A05-99A5-CFBD-8EDA4C425ED7}"/>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4" name="Line 16">
                <a:extLst>
                  <a:ext uri="{FF2B5EF4-FFF2-40B4-BE49-F238E27FC236}">
                    <a16:creationId xmlns:a16="http://schemas.microsoft.com/office/drawing/2014/main" id="{A397B565-9879-6B27-F499-69ED37C2D2A2}"/>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5" name="Line 17">
                <a:extLst>
                  <a:ext uri="{FF2B5EF4-FFF2-40B4-BE49-F238E27FC236}">
                    <a16:creationId xmlns:a16="http://schemas.microsoft.com/office/drawing/2014/main" id="{10892D29-EB7B-E0BB-AFB0-02299D3CD1A4}"/>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6" name="Group 18">
              <a:extLst>
                <a:ext uri="{FF2B5EF4-FFF2-40B4-BE49-F238E27FC236}">
                  <a16:creationId xmlns:a16="http://schemas.microsoft.com/office/drawing/2014/main" id="{18812C2E-BDF5-49EB-1DDB-1402ED405067}"/>
                </a:ext>
              </a:extLst>
            </p:cNvPr>
            <p:cNvGrpSpPr>
              <a:grpSpLocks/>
            </p:cNvGrpSpPr>
            <p:nvPr/>
          </p:nvGrpSpPr>
          <p:grpSpPr bwMode="auto">
            <a:xfrm>
              <a:off x="2967037" y="2937866"/>
              <a:ext cx="304800" cy="533400"/>
              <a:chOff x="1099" y="1621"/>
              <a:chExt cx="296" cy="390"/>
            </a:xfrm>
          </p:grpSpPr>
          <p:sp>
            <p:nvSpPr>
              <p:cNvPr id="64" name="Oval 19">
                <a:extLst>
                  <a:ext uri="{FF2B5EF4-FFF2-40B4-BE49-F238E27FC236}">
                    <a16:creationId xmlns:a16="http://schemas.microsoft.com/office/drawing/2014/main" id="{464F1CD0-FB92-5552-13C5-8CE30F668E18}"/>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5" name="Line 20">
                <a:extLst>
                  <a:ext uri="{FF2B5EF4-FFF2-40B4-BE49-F238E27FC236}">
                    <a16:creationId xmlns:a16="http://schemas.microsoft.com/office/drawing/2014/main" id="{9E92E6AB-50FD-3002-3BDA-7F399BF65372}"/>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6" name="Line 21">
                <a:extLst>
                  <a:ext uri="{FF2B5EF4-FFF2-40B4-BE49-F238E27FC236}">
                    <a16:creationId xmlns:a16="http://schemas.microsoft.com/office/drawing/2014/main" id="{0258FB2E-11E7-81A5-C6F7-63F830D94AB9}"/>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7" name="Line 22">
                <a:extLst>
                  <a:ext uri="{FF2B5EF4-FFF2-40B4-BE49-F238E27FC236}">
                    <a16:creationId xmlns:a16="http://schemas.microsoft.com/office/drawing/2014/main" id="{C85835D9-080B-9D41-8454-96061A5E9D97}"/>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8" name="Line 23">
                <a:extLst>
                  <a:ext uri="{FF2B5EF4-FFF2-40B4-BE49-F238E27FC236}">
                    <a16:creationId xmlns:a16="http://schemas.microsoft.com/office/drawing/2014/main" id="{637BA8C3-B675-C3A4-F100-A34704E17BF7}"/>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9" name="Line 24">
                <a:extLst>
                  <a:ext uri="{FF2B5EF4-FFF2-40B4-BE49-F238E27FC236}">
                    <a16:creationId xmlns:a16="http://schemas.microsoft.com/office/drawing/2014/main" id="{970B318E-FDC8-9083-AA36-479A6844C84A}"/>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7" name="Group 25">
              <a:extLst>
                <a:ext uri="{FF2B5EF4-FFF2-40B4-BE49-F238E27FC236}">
                  <a16:creationId xmlns:a16="http://schemas.microsoft.com/office/drawing/2014/main" id="{7F623C7D-6D44-CD73-8CCF-3B026B16AF53}"/>
                </a:ext>
              </a:extLst>
            </p:cNvPr>
            <p:cNvGrpSpPr>
              <a:grpSpLocks/>
            </p:cNvGrpSpPr>
            <p:nvPr/>
          </p:nvGrpSpPr>
          <p:grpSpPr bwMode="auto">
            <a:xfrm>
              <a:off x="3182937" y="3928468"/>
              <a:ext cx="469900" cy="619125"/>
              <a:chOff x="1099" y="1621"/>
              <a:chExt cx="296" cy="390"/>
            </a:xfrm>
          </p:grpSpPr>
          <p:sp>
            <p:nvSpPr>
              <p:cNvPr id="58" name="Oval 26">
                <a:extLst>
                  <a:ext uri="{FF2B5EF4-FFF2-40B4-BE49-F238E27FC236}">
                    <a16:creationId xmlns:a16="http://schemas.microsoft.com/office/drawing/2014/main" id="{1128AC95-B0DE-8228-3999-861D09216CE7}"/>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9" name="Line 27">
                <a:extLst>
                  <a:ext uri="{FF2B5EF4-FFF2-40B4-BE49-F238E27FC236}">
                    <a16:creationId xmlns:a16="http://schemas.microsoft.com/office/drawing/2014/main" id="{6AA24C7C-E597-178B-0DA1-F1DF2D98E789}"/>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0" name="Line 28">
                <a:extLst>
                  <a:ext uri="{FF2B5EF4-FFF2-40B4-BE49-F238E27FC236}">
                    <a16:creationId xmlns:a16="http://schemas.microsoft.com/office/drawing/2014/main" id="{6A042A22-F2F9-BE16-EA93-41FF5FA91795}"/>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1" name="Line 29">
                <a:extLst>
                  <a:ext uri="{FF2B5EF4-FFF2-40B4-BE49-F238E27FC236}">
                    <a16:creationId xmlns:a16="http://schemas.microsoft.com/office/drawing/2014/main" id="{FD02355C-9F50-B04F-1AB2-BF2F265873D6}"/>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2" name="Line 30">
                <a:extLst>
                  <a:ext uri="{FF2B5EF4-FFF2-40B4-BE49-F238E27FC236}">
                    <a16:creationId xmlns:a16="http://schemas.microsoft.com/office/drawing/2014/main" id="{D8DE2307-73BE-015D-D1A2-13E5EBB45665}"/>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3" name="Line 31">
                <a:extLst>
                  <a:ext uri="{FF2B5EF4-FFF2-40B4-BE49-F238E27FC236}">
                    <a16:creationId xmlns:a16="http://schemas.microsoft.com/office/drawing/2014/main" id="{5C09CE6C-2302-EA5F-5778-899684156B9A}"/>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8" name="Group 32">
              <a:extLst>
                <a:ext uri="{FF2B5EF4-FFF2-40B4-BE49-F238E27FC236}">
                  <a16:creationId xmlns:a16="http://schemas.microsoft.com/office/drawing/2014/main" id="{3A5A8A79-EFF7-F37E-3057-24046E4D13D4}"/>
                </a:ext>
              </a:extLst>
            </p:cNvPr>
            <p:cNvGrpSpPr>
              <a:grpSpLocks/>
            </p:cNvGrpSpPr>
            <p:nvPr/>
          </p:nvGrpSpPr>
          <p:grpSpPr bwMode="auto">
            <a:xfrm>
              <a:off x="2725737" y="4157066"/>
              <a:ext cx="304800" cy="381000"/>
              <a:chOff x="1099" y="1621"/>
              <a:chExt cx="296" cy="390"/>
            </a:xfrm>
          </p:grpSpPr>
          <p:sp>
            <p:nvSpPr>
              <p:cNvPr id="52" name="Oval 33">
                <a:extLst>
                  <a:ext uri="{FF2B5EF4-FFF2-40B4-BE49-F238E27FC236}">
                    <a16:creationId xmlns:a16="http://schemas.microsoft.com/office/drawing/2014/main" id="{0CC865CB-58D1-139A-5974-D27AB5F7C153}"/>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3" name="Line 34">
                <a:extLst>
                  <a:ext uri="{FF2B5EF4-FFF2-40B4-BE49-F238E27FC236}">
                    <a16:creationId xmlns:a16="http://schemas.microsoft.com/office/drawing/2014/main" id="{0895C883-CE0B-B903-38AE-A3C99FAEA78B}"/>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4" name="Line 35">
                <a:extLst>
                  <a:ext uri="{FF2B5EF4-FFF2-40B4-BE49-F238E27FC236}">
                    <a16:creationId xmlns:a16="http://schemas.microsoft.com/office/drawing/2014/main" id="{E2D563EA-EB7F-B7BD-9B99-5520926F6010}"/>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5" name="Line 36">
                <a:extLst>
                  <a:ext uri="{FF2B5EF4-FFF2-40B4-BE49-F238E27FC236}">
                    <a16:creationId xmlns:a16="http://schemas.microsoft.com/office/drawing/2014/main" id="{11B0C26A-D325-BC27-4381-5225499FA797}"/>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6" name="Line 37">
                <a:extLst>
                  <a:ext uri="{FF2B5EF4-FFF2-40B4-BE49-F238E27FC236}">
                    <a16:creationId xmlns:a16="http://schemas.microsoft.com/office/drawing/2014/main" id="{38995972-5D1F-D07C-DF16-B4FCE680905F}"/>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7" name="Line 38">
                <a:extLst>
                  <a:ext uri="{FF2B5EF4-FFF2-40B4-BE49-F238E27FC236}">
                    <a16:creationId xmlns:a16="http://schemas.microsoft.com/office/drawing/2014/main" id="{36328187-B5BA-3EB6-CCC0-783F0E236442}"/>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9" name="Group 39">
              <a:extLst>
                <a:ext uri="{FF2B5EF4-FFF2-40B4-BE49-F238E27FC236}">
                  <a16:creationId xmlns:a16="http://schemas.microsoft.com/office/drawing/2014/main" id="{554E1599-2FB5-0AF3-43B9-D2F02E24E378}"/>
                </a:ext>
              </a:extLst>
            </p:cNvPr>
            <p:cNvGrpSpPr>
              <a:grpSpLocks/>
            </p:cNvGrpSpPr>
            <p:nvPr/>
          </p:nvGrpSpPr>
          <p:grpSpPr bwMode="auto">
            <a:xfrm>
              <a:off x="2954337" y="4080866"/>
              <a:ext cx="304800" cy="533400"/>
              <a:chOff x="1099" y="1621"/>
              <a:chExt cx="296" cy="390"/>
            </a:xfrm>
          </p:grpSpPr>
          <p:sp>
            <p:nvSpPr>
              <p:cNvPr id="46" name="Oval 40">
                <a:extLst>
                  <a:ext uri="{FF2B5EF4-FFF2-40B4-BE49-F238E27FC236}">
                    <a16:creationId xmlns:a16="http://schemas.microsoft.com/office/drawing/2014/main" id="{5BB15D62-D2CE-4C8F-74F6-A36C414761B8}"/>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7" name="Line 41">
                <a:extLst>
                  <a:ext uri="{FF2B5EF4-FFF2-40B4-BE49-F238E27FC236}">
                    <a16:creationId xmlns:a16="http://schemas.microsoft.com/office/drawing/2014/main" id="{58418341-AF43-B4B2-D79D-3DFB26FA17A6}"/>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8" name="Line 42">
                <a:extLst>
                  <a:ext uri="{FF2B5EF4-FFF2-40B4-BE49-F238E27FC236}">
                    <a16:creationId xmlns:a16="http://schemas.microsoft.com/office/drawing/2014/main" id="{6C96FAF7-8095-46B6-3BDC-D40C8F432857}"/>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9" name="Line 43">
                <a:extLst>
                  <a:ext uri="{FF2B5EF4-FFF2-40B4-BE49-F238E27FC236}">
                    <a16:creationId xmlns:a16="http://schemas.microsoft.com/office/drawing/2014/main" id="{CD59940E-FC6E-9ED7-C423-43B8C7CC0675}"/>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0" name="Line 44">
                <a:extLst>
                  <a:ext uri="{FF2B5EF4-FFF2-40B4-BE49-F238E27FC236}">
                    <a16:creationId xmlns:a16="http://schemas.microsoft.com/office/drawing/2014/main" id="{06CEDF0D-59A3-5347-EDA8-A13F08840504}"/>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1" name="Line 45">
                <a:extLst>
                  <a:ext uri="{FF2B5EF4-FFF2-40B4-BE49-F238E27FC236}">
                    <a16:creationId xmlns:a16="http://schemas.microsoft.com/office/drawing/2014/main" id="{B0FBC4ED-3014-3038-7545-03664FF210A2}"/>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10" name="Group 46">
              <a:extLst>
                <a:ext uri="{FF2B5EF4-FFF2-40B4-BE49-F238E27FC236}">
                  <a16:creationId xmlns:a16="http://schemas.microsoft.com/office/drawing/2014/main" id="{C4D8EEA6-58FA-3C6E-8E93-505092308AEA}"/>
                </a:ext>
              </a:extLst>
            </p:cNvPr>
            <p:cNvGrpSpPr>
              <a:grpSpLocks/>
            </p:cNvGrpSpPr>
            <p:nvPr/>
          </p:nvGrpSpPr>
          <p:grpSpPr bwMode="auto">
            <a:xfrm>
              <a:off x="3195637" y="5071468"/>
              <a:ext cx="469900" cy="619125"/>
              <a:chOff x="1099" y="1621"/>
              <a:chExt cx="296" cy="390"/>
            </a:xfrm>
          </p:grpSpPr>
          <p:sp>
            <p:nvSpPr>
              <p:cNvPr id="40" name="Oval 47">
                <a:extLst>
                  <a:ext uri="{FF2B5EF4-FFF2-40B4-BE49-F238E27FC236}">
                    <a16:creationId xmlns:a16="http://schemas.microsoft.com/office/drawing/2014/main" id="{F011B33B-3A55-488A-C496-AC67A4495DE8}"/>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1" name="Line 48">
                <a:extLst>
                  <a:ext uri="{FF2B5EF4-FFF2-40B4-BE49-F238E27FC236}">
                    <a16:creationId xmlns:a16="http://schemas.microsoft.com/office/drawing/2014/main" id="{670ADB28-9DD0-DEC3-BE9B-47DABB05DE37}"/>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2" name="Line 49">
                <a:extLst>
                  <a:ext uri="{FF2B5EF4-FFF2-40B4-BE49-F238E27FC236}">
                    <a16:creationId xmlns:a16="http://schemas.microsoft.com/office/drawing/2014/main" id="{8B3AB515-1131-883A-6CEA-9B7A1B8C287D}"/>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3" name="Line 50">
                <a:extLst>
                  <a:ext uri="{FF2B5EF4-FFF2-40B4-BE49-F238E27FC236}">
                    <a16:creationId xmlns:a16="http://schemas.microsoft.com/office/drawing/2014/main" id="{DB275257-B8FF-F917-66C6-C3772AD30B0D}"/>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4" name="Line 51">
                <a:extLst>
                  <a:ext uri="{FF2B5EF4-FFF2-40B4-BE49-F238E27FC236}">
                    <a16:creationId xmlns:a16="http://schemas.microsoft.com/office/drawing/2014/main" id="{D0FCC473-BF36-CBD5-AAF2-DFEAA57888EB}"/>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45" name="Line 52">
                <a:extLst>
                  <a:ext uri="{FF2B5EF4-FFF2-40B4-BE49-F238E27FC236}">
                    <a16:creationId xmlns:a16="http://schemas.microsoft.com/office/drawing/2014/main" id="{8B416BFD-0950-EEF9-BA59-A3D878FBE04E}"/>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11" name="Group 53">
              <a:extLst>
                <a:ext uri="{FF2B5EF4-FFF2-40B4-BE49-F238E27FC236}">
                  <a16:creationId xmlns:a16="http://schemas.microsoft.com/office/drawing/2014/main" id="{18816C4D-473C-E14D-C76C-0F022CA89CDA}"/>
                </a:ext>
              </a:extLst>
            </p:cNvPr>
            <p:cNvGrpSpPr>
              <a:grpSpLocks/>
            </p:cNvGrpSpPr>
            <p:nvPr/>
          </p:nvGrpSpPr>
          <p:grpSpPr bwMode="auto">
            <a:xfrm>
              <a:off x="2738437" y="5300066"/>
              <a:ext cx="304800" cy="381000"/>
              <a:chOff x="1099" y="1621"/>
              <a:chExt cx="296" cy="390"/>
            </a:xfrm>
          </p:grpSpPr>
          <p:sp>
            <p:nvSpPr>
              <p:cNvPr id="34" name="Oval 54">
                <a:extLst>
                  <a:ext uri="{FF2B5EF4-FFF2-40B4-BE49-F238E27FC236}">
                    <a16:creationId xmlns:a16="http://schemas.microsoft.com/office/drawing/2014/main" id="{A8D1957A-5E46-E9D3-ED97-ACB9A50EBE2A}"/>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5" name="Line 55">
                <a:extLst>
                  <a:ext uri="{FF2B5EF4-FFF2-40B4-BE49-F238E27FC236}">
                    <a16:creationId xmlns:a16="http://schemas.microsoft.com/office/drawing/2014/main" id="{A3C031D0-1158-A327-EF9F-77520D3B914A}"/>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6" name="Line 56">
                <a:extLst>
                  <a:ext uri="{FF2B5EF4-FFF2-40B4-BE49-F238E27FC236}">
                    <a16:creationId xmlns:a16="http://schemas.microsoft.com/office/drawing/2014/main" id="{071B1EC0-6B0A-9C6F-4861-27ACD86A04E6}"/>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7" name="Line 57">
                <a:extLst>
                  <a:ext uri="{FF2B5EF4-FFF2-40B4-BE49-F238E27FC236}">
                    <a16:creationId xmlns:a16="http://schemas.microsoft.com/office/drawing/2014/main" id="{2FDE6B8E-A42B-A646-A39B-7684954027D6}"/>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8" name="Line 58">
                <a:extLst>
                  <a:ext uri="{FF2B5EF4-FFF2-40B4-BE49-F238E27FC236}">
                    <a16:creationId xmlns:a16="http://schemas.microsoft.com/office/drawing/2014/main" id="{1BECBF9F-0CAE-0400-2DD3-6DA961957B7E}"/>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9" name="Line 59">
                <a:extLst>
                  <a:ext uri="{FF2B5EF4-FFF2-40B4-BE49-F238E27FC236}">
                    <a16:creationId xmlns:a16="http://schemas.microsoft.com/office/drawing/2014/main" id="{24B83131-8463-A91E-C5AE-3BDFDCF93091}"/>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12" name="Group 60">
              <a:extLst>
                <a:ext uri="{FF2B5EF4-FFF2-40B4-BE49-F238E27FC236}">
                  <a16:creationId xmlns:a16="http://schemas.microsoft.com/office/drawing/2014/main" id="{E248DDEF-20A7-08BD-1FA1-6AA6647B80E6}"/>
                </a:ext>
              </a:extLst>
            </p:cNvPr>
            <p:cNvGrpSpPr>
              <a:grpSpLocks/>
            </p:cNvGrpSpPr>
            <p:nvPr/>
          </p:nvGrpSpPr>
          <p:grpSpPr bwMode="auto">
            <a:xfrm>
              <a:off x="2967037" y="5223866"/>
              <a:ext cx="304800" cy="533400"/>
              <a:chOff x="1099" y="1621"/>
              <a:chExt cx="296" cy="390"/>
            </a:xfrm>
          </p:grpSpPr>
          <p:sp>
            <p:nvSpPr>
              <p:cNvPr id="28" name="Oval 61">
                <a:extLst>
                  <a:ext uri="{FF2B5EF4-FFF2-40B4-BE49-F238E27FC236}">
                    <a16:creationId xmlns:a16="http://schemas.microsoft.com/office/drawing/2014/main" id="{E15634AA-3261-BA37-DF25-A1EEFF14771F}"/>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29" name="Line 62">
                <a:extLst>
                  <a:ext uri="{FF2B5EF4-FFF2-40B4-BE49-F238E27FC236}">
                    <a16:creationId xmlns:a16="http://schemas.microsoft.com/office/drawing/2014/main" id="{7EDCE858-990A-9D02-D802-DD0E48A42535}"/>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0" name="Line 63">
                <a:extLst>
                  <a:ext uri="{FF2B5EF4-FFF2-40B4-BE49-F238E27FC236}">
                    <a16:creationId xmlns:a16="http://schemas.microsoft.com/office/drawing/2014/main" id="{A18FC6E2-9F31-99B8-DDF2-D90AC1BBB99D}"/>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1" name="Line 64">
                <a:extLst>
                  <a:ext uri="{FF2B5EF4-FFF2-40B4-BE49-F238E27FC236}">
                    <a16:creationId xmlns:a16="http://schemas.microsoft.com/office/drawing/2014/main" id="{F7FDC2BE-BAB0-510B-48C1-65227739FF54}"/>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2" name="Line 65">
                <a:extLst>
                  <a:ext uri="{FF2B5EF4-FFF2-40B4-BE49-F238E27FC236}">
                    <a16:creationId xmlns:a16="http://schemas.microsoft.com/office/drawing/2014/main" id="{4CB49ACA-7C5F-D1A8-557A-D3640E307F34}"/>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33" name="Line 66">
                <a:extLst>
                  <a:ext uri="{FF2B5EF4-FFF2-40B4-BE49-F238E27FC236}">
                    <a16:creationId xmlns:a16="http://schemas.microsoft.com/office/drawing/2014/main" id="{33DCCF23-9FDD-A7D1-A956-D0AFD31F1497}"/>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sp>
          <p:nvSpPr>
            <p:cNvPr id="13" name="Text Box 67">
              <a:extLst>
                <a:ext uri="{FF2B5EF4-FFF2-40B4-BE49-F238E27FC236}">
                  <a16:creationId xmlns:a16="http://schemas.microsoft.com/office/drawing/2014/main" id="{A7EE9585-85C0-0C88-821D-6AAA4D55BA25}"/>
                </a:ext>
              </a:extLst>
            </p:cNvPr>
            <p:cNvSpPr txBox="1">
              <a:spLocks noChangeArrowheads="1"/>
            </p:cNvSpPr>
            <p:nvPr/>
          </p:nvSpPr>
          <p:spPr bwMode="auto">
            <a:xfrm>
              <a:off x="2281237" y="3433166"/>
              <a:ext cx="18817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a:t>Premier Members</a:t>
              </a:r>
            </a:p>
          </p:txBody>
        </p:sp>
        <p:sp>
          <p:nvSpPr>
            <p:cNvPr id="14" name="Text Box 68">
              <a:extLst>
                <a:ext uri="{FF2B5EF4-FFF2-40B4-BE49-F238E27FC236}">
                  <a16:creationId xmlns:a16="http://schemas.microsoft.com/office/drawing/2014/main" id="{A3EC1D8D-F060-E5E0-952F-5080ADEED15F}"/>
                </a:ext>
              </a:extLst>
            </p:cNvPr>
            <p:cNvSpPr txBox="1">
              <a:spLocks noChangeArrowheads="1"/>
            </p:cNvSpPr>
            <p:nvPr/>
          </p:nvSpPr>
          <p:spPr bwMode="auto">
            <a:xfrm>
              <a:off x="1976439" y="4614266"/>
              <a:ext cx="25004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a:t>Frequent Flyer Members</a:t>
              </a:r>
            </a:p>
          </p:txBody>
        </p:sp>
        <p:sp>
          <p:nvSpPr>
            <p:cNvPr id="15" name="Text Box 69">
              <a:extLst>
                <a:ext uri="{FF2B5EF4-FFF2-40B4-BE49-F238E27FC236}">
                  <a16:creationId xmlns:a16="http://schemas.microsoft.com/office/drawing/2014/main" id="{424CE9E3-9A48-2ED1-6FBB-DBDFB7C393AB}"/>
                </a:ext>
              </a:extLst>
            </p:cNvPr>
            <p:cNvSpPr txBox="1">
              <a:spLocks noChangeArrowheads="1"/>
            </p:cNvSpPr>
            <p:nvPr/>
          </p:nvSpPr>
          <p:spPr bwMode="auto">
            <a:xfrm>
              <a:off x="2205037" y="5771553"/>
              <a:ext cx="18487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a:t>Regular Members</a:t>
              </a:r>
            </a:p>
          </p:txBody>
        </p:sp>
        <p:sp>
          <p:nvSpPr>
            <p:cNvPr id="16" name="Text Box 70">
              <a:extLst>
                <a:ext uri="{FF2B5EF4-FFF2-40B4-BE49-F238E27FC236}">
                  <a16:creationId xmlns:a16="http://schemas.microsoft.com/office/drawing/2014/main" id="{6FD4B085-040F-B958-77D2-8A1514906C48}"/>
                </a:ext>
              </a:extLst>
            </p:cNvPr>
            <p:cNvSpPr txBox="1">
              <a:spLocks noChangeArrowheads="1"/>
            </p:cNvSpPr>
            <p:nvPr/>
          </p:nvSpPr>
          <p:spPr bwMode="auto">
            <a:xfrm>
              <a:off x="6189664" y="2896593"/>
              <a:ext cx="15271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a:t>1-800-Premier</a:t>
              </a:r>
            </a:p>
          </p:txBody>
        </p:sp>
        <p:sp>
          <p:nvSpPr>
            <p:cNvPr id="17" name="Line 71">
              <a:extLst>
                <a:ext uri="{FF2B5EF4-FFF2-40B4-BE49-F238E27FC236}">
                  <a16:creationId xmlns:a16="http://schemas.microsoft.com/office/drawing/2014/main" id="{CD22A0FC-E47C-E7F5-7101-F79A0824550C}"/>
                </a:ext>
              </a:extLst>
            </p:cNvPr>
            <p:cNvSpPr>
              <a:spLocks noChangeShapeType="1"/>
            </p:cNvSpPr>
            <p:nvPr/>
          </p:nvSpPr>
          <p:spPr bwMode="auto">
            <a:xfrm>
              <a:off x="3729037" y="3095030"/>
              <a:ext cx="2438400" cy="47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8" name="Line 72">
              <a:extLst>
                <a:ext uri="{FF2B5EF4-FFF2-40B4-BE49-F238E27FC236}">
                  <a16:creationId xmlns:a16="http://schemas.microsoft.com/office/drawing/2014/main" id="{E12F5FBE-68C6-D92E-6907-0D112345B875}"/>
                </a:ext>
              </a:extLst>
            </p:cNvPr>
            <p:cNvSpPr>
              <a:spLocks noChangeShapeType="1"/>
            </p:cNvSpPr>
            <p:nvPr/>
          </p:nvSpPr>
          <p:spPr bwMode="auto">
            <a:xfrm>
              <a:off x="3652837" y="4309466"/>
              <a:ext cx="2438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9" name="Line 73">
              <a:extLst>
                <a:ext uri="{FF2B5EF4-FFF2-40B4-BE49-F238E27FC236}">
                  <a16:creationId xmlns:a16="http://schemas.microsoft.com/office/drawing/2014/main" id="{8F3FA3CB-5985-5661-B83D-B132C78F0A5B}"/>
                </a:ext>
              </a:extLst>
            </p:cNvPr>
            <p:cNvSpPr>
              <a:spLocks noChangeShapeType="1"/>
            </p:cNvSpPr>
            <p:nvPr/>
          </p:nvSpPr>
          <p:spPr bwMode="auto">
            <a:xfrm flipV="1">
              <a:off x="3805237" y="5419128"/>
              <a:ext cx="2185988" cy="79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20" name="Text Box 76">
              <a:extLst>
                <a:ext uri="{FF2B5EF4-FFF2-40B4-BE49-F238E27FC236}">
                  <a16:creationId xmlns:a16="http://schemas.microsoft.com/office/drawing/2014/main" id="{743F0DD2-424B-F70B-EADD-9FAF2CB05A0D}"/>
                </a:ext>
              </a:extLst>
            </p:cNvPr>
            <p:cNvSpPr txBox="1">
              <a:spLocks noChangeArrowheads="1"/>
            </p:cNvSpPr>
            <p:nvPr/>
          </p:nvSpPr>
          <p:spPr bwMode="auto">
            <a:xfrm>
              <a:off x="8468284" y="2718791"/>
              <a:ext cx="1283173" cy="7386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1400"/>
                <a:t>Premier</a:t>
              </a:r>
            </a:p>
            <a:p>
              <a:pPr algn="ctr"/>
              <a:r>
                <a:rPr lang="en-US" altLang="x-none" sz="1400"/>
                <a:t>Customer</a:t>
              </a:r>
            </a:p>
            <a:p>
              <a:pPr algn="ctr"/>
              <a:r>
                <a:rPr lang="en-US" altLang="x-none" sz="1400"/>
                <a:t>Representative</a:t>
              </a:r>
              <a:endParaRPr lang="en-US" altLang="x-none"/>
            </a:p>
          </p:txBody>
        </p:sp>
        <p:sp>
          <p:nvSpPr>
            <p:cNvPr id="21" name="Text Box 77">
              <a:extLst>
                <a:ext uri="{FF2B5EF4-FFF2-40B4-BE49-F238E27FC236}">
                  <a16:creationId xmlns:a16="http://schemas.microsoft.com/office/drawing/2014/main" id="{A8F14B08-526B-CD9F-C29B-49F8D396FD0F}"/>
                </a:ext>
              </a:extLst>
            </p:cNvPr>
            <p:cNvSpPr txBox="1">
              <a:spLocks noChangeArrowheads="1"/>
            </p:cNvSpPr>
            <p:nvPr/>
          </p:nvSpPr>
          <p:spPr bwMode="auto">
            <a:xfrm>
              <a:off x="8361922" y="3941166"/>
              <a:ext cx="1283173" cy="7386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1400"/>
                <a:t>F.F.</a:t>
              </a:r>
            </a:p>
            <a:p>
              <a:pPr algn="ctr"/>
              <a:r>
                <a:rPr lang="en-US" altLang="x-none" sz="1400"/>
                <a:t>Customer</a:t>
              </a:r>
            </a:p>
            <a:p>
              <a:pPr algn="ctr"/>
              <a:r>
                <a:rPr lang="en-US" altLang="x-none" sz="1400"/>
                <a:t>Representative</a:t>
              </a:r>
            </a:p>
          </p:txBody>
        </p:sp>
        <p:sp>
          <p:nvSpPr>
            <p:cNvPr id="22" name="Text Box 78">
              <a:extLst>
                <a:ext uri="{FF2B5EF4-FFF2-40B4-BE49-F238E27FC236}">
                  <a16:creationId xmlns:a16="http://schemas.microsoft.com/office/drawing/2014/main" id="{F2FA1864-5730-A257-AC33-CF39D842660C}"/>
                </a:ext>
              </a:extLst>
            </p:cNvPr>
            <p:cNvSpPr txBox="1">
              <a:spLocks noChangeArrowheads="1"/>
            </p:cNvSpPr>
            <p:nvPr/>
          </p:nvSpPr>
          <p:spPr bwMode="auto">
            <a:xfrm>
              <a:off x="8303184" y="5054003"/>
              <a:ext cx="1283173" cy="7386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1400"/>
                <a:t>Regular</a:t>
              </a:r>
            </a:p>
            <a:p>
              <a:pPr algn="ctr"/>
              <a:r>
                <a:rPr lang="en-US" altLang="x-none" sz="1400"/>
                <a:t>Customer</a:t>
              </a:r>
            </a:p>
            <a:p>
              <a:pPr algn="ctr"/>
              <a:r>
                <a:rPr lang="en-US" altLang="x-none" sz="1400"/>
                <a:t>Representative</a:t>
              </a:r>
            </a:p>
          </p:txBody>
        </p:sp>
        <p:sp>
          <p:nvSpPr>
            <p:cNvPr id="23" name="Line 82">
              <a:extLst>
                <a:ext uri="{FF2B5EF4-FFF2-40B4-BE49-F238E27FC236}">
                  <a16:creationId xmlns:a16="http://schemas.microsoft.com/office/drawing/2014/main" id="{AA50055F-C895-03A3-6EFF-538ED3705217}"/>
                </a:ext>
              </a:extLst>
            </p:cNvPr>
            <p:cNvSpPr>
              <a:spLocks noChangeShapeType="1"/>
            </p:cNvSpPr>
            <p:nvPr/>
          </p:nvSpPr>
          <p:spPr bwMode="auto">
            <a:xfrm>
              <a:off x="7721600" y="3082328"/>
              <a:ext cx="7493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24" name="Text Box 83">
              <a:extLst>
                <a:ext uri="{FF2B5EF4-FFF2-40B4-BE49-F238E27FC236}">
                  <a16:creationId xmlns:a16="http://schemas.microsoft.com/office/drawing/2014/main" id="{597D495C-BE64-ED44-37BB-C22248D68F62}"/>
                </a:ext>
              </a:extLst>
            </p:cNvPr>
            <p:cNvSpPr txBox="1">
              <a:spLocks noChangeArrowheads="1"/>
            </p:cNvSpPr>
            <p:nvPr/>
          </p:nvSpPr>
          <p:spPr bwMode="auto">
            <a:xfrm>
              <a:off x="6110287" y="4125316"/>
              <a:ext cx="1647952" cy="3693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a:t>1-800-Frequent</a:t>
              </a:r>
            </a:p>
          </p:txBody>
        </p:sp>
        <p:sp>
          <p:nvSpPr>
            <p:cNvPr id="25" name="Line 84">
              <a:extLst>
                <a:ext uri="{FF2B5EF4-FFF2-40B4-BE49-F238E27FC236}">
                  <a16:creationId xmlns:a16="http://schemas.microsoft.com/office/drawing/2014/main" id="{483AFE8B-6AAA-3461-11DE-740DB919EEF0}"/>
                </a:ext>
              </a:extLst>
            </p:cNvPr>
            <p:cNvSpPr>
              <a:spLocks noChangeShapeType="1"/>
            </p:cNvSpPr>
            <p:nvPr/>
          </p:nvSpPr>
          <p:spPr bwMode="auto">
            <a:xfrm>
              <a:off x="7720012" y="4323753"/>
              <a:ext cx="6683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26" name="Text Box 85">
              <a:extLst>
                <a:ext uri="{FF2B5EF4-FFF2-40B4-BE49-F238E27FC236}">
                  <a16:creationId xmlns:a16="http://schemas.microsoft.com/office/drawing/2014/main" id="{ADB447FB-0A4F-6A52-4436-2047C0F1AC0A}"/>
                </a:ext>
              </a:extLst>
            </p:cNvPr>
            <p:cNvSpPr txBox="1">
              <a:spLocks noChangeArrowheads="1"/>
            </p:cNvSpPr>
            <p:nvPr/>
          </p:nvSpPr>
          <p:spPr bwMode="auto">
            <a:xfrm>
              <a:off x="6002339" y="5233393"/>
              <a:ext cx="18954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a:t>1-800-Reservation</a:t>
              </a:r>
            </a:p>
          </p:txBody>
        </p:sp>
        <p:sp>
          <p:nvSpPr>
            <p:cNvPr id="27" name="Line 86">
              <a:extLst>
                <a:ext uri="{FF2B5EF4-FFF2-40B4-BE49-F238E27FC236}">
                  <a16:creationId xmlns:a16="http://schemas.microsoft.com/office/drawing/2014/main" id="{A8FED70E-445C-4073-4669-C8C12D25E6F8}"/>
                </a:ext>
              </a:extLst>
            </p:cNvPr>
            <p:cNvSpPr>
              <a:spLocks noChangeShapeType="1"/>
            </p:cNvSpPr>
            <p:nvPr/>
          </p:nvSpPr>
          <p:spPr bwMode="auto">
            <a:xfrm>
              <a:off x="7899400" y="5420716"/>
              <a:ext cx="393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spTree>
    <p:extLst>
      <p:ext uri="{BB962C8B-B14F-4D97-AF65-F5344CB8AC3E}">
        <p14:creationId xmlns:p14="http://schemas.microsoft.com/office/powerpoint/2010/main" val="3718406886"/>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200FC-68A1-46EB-09C8-40014FA7DB8D}"/>
              </a:ext>
            </a:extLst>
          </p:cNvPr>
          <p:cNvSpPr>
            <a:spLocks noGrp="1"/>
          </p:cNvSpPr>
          <p:nvPr>
            <p:ph type="title"/>
          </p:nvPr>
        </p:nvSpPr>
        <p:spPr>
          <a:xfrm>
            <a:off x="861875" y="495206"/>
            <a:ext cx="7886700" cy="936104"/>
          </a:xfrm>
        </p:spPr>
        <p:txBody>
          <a:bodyPr>
            <a:normAutofit/>
          </a:bodyPr>
          <a:lstStyle/>
          <a:p>
            <a:r>
              <a:rPr lang="en-US" altLang="x-none" dirty="0"/>
              <a:t>Discussion</a:t>
            </a:r>
            <a:endParaRPr lang="en-GB" dirty="0"/>
          </a:p>
        </p:txBody>
      </p:sp>
      <p:sp>
        <p:nvSpPr>
          <p:cNvPr id="3" name="Text Placeholder 2">
            <a:extLst>
              <a:ext uri="{FF2B5EF4-FFF2-40B4-BE49-F238E27FC236}">
                <a16:creationId xmlns:a16="http://schemas.microsoft.com/office/drawing/2014/main" id="{FFE31E15-78C5-A8FF-9F29-1BB05E61D117}"/>
              </a:ext>
            </a:extLst>
          </p:cNvPr>
          <p:cNvSpPr>
            <a:spLocks noGrp="1"/>
          </p:cNvSpPr>
          <p:nvPr>
            <p:ph type="body" sz="quarter" idx="11"/>
          </p:nvPr>
        </p:nvSpPr>
        <p:spPr>
          <a:xfrm>
            <a:off x="899591" y="3539573"/>
            <a:ext cx="3167583" cy="2652566"/>
          </a:xfrm>
        </p:spPr>
        <p:txBody>
          <a:bodyPr/>
          <a:lstStyle/>
          <a:p>
            <a:pPr marL="0" indent="0">
              <a:buNone/>
            </a:pPr>
            <a:r>
              <a:rPr lang="en-US" altLang="x-none" dirty="0"/>
              <a:t>In Approach 1 the answering machine introduces an extra delay, which is particularly annoying to premier members.</a:t>
            </a:r>
          </a:p>
          <a:p>
            <a:endParaRPr lang="en-GB" dirty="0"/>
          </a:p>
        </p:txBody>
      </p:sp>
      <p:sp>
        <p:nvSpPr>
          <p:cNvPr id="4" name="Text Placeholder 3">
            <a:extLst>
              <a:ext uri="{FF2B5EF4-FFF2-40B4-BE49-F238E27FC236}">
                <a16:creationId xmlns:a16="http://schemas.microsoft.com/office/drawing/2014/main" id="{ED2638A7-6305-4122-29E7-10AF5A6886DB}"/>
              </a:ext>
            </a:extLst>
          </p:cNvPr>
          <p:cNvSpPr>
            <a:spLocks noGrp="1"/>
          </p:cNvSpPr>
          <p:nvPr>
            <p:ph type="body" sz="quarter" idx="12"/>
          </p:nvPr>
        </p:nvSpPr>
        <p:spPr>
          <a:xfrm>
            <a:off x="5269267" y="3512737"/>
            <a:ext cx="3167583" cy="2652568"/>
          </a:xfrm>
        </p:spPr>
        <p:txBody>
          <a:bodyPr/>
          <a:lstStyle/>
          <a:p>
            <a:pPr marL="0" indent="0">
              <a:buNone/>
            </a:pPr>
            <a:r>
              <a:rPr lang="en-US" altLang="x-none" dirty="0"/>
              <a:t>With Approach 2 there is no intermediate step.  Premier members get an instant pickup from a customer service representative.  Others may have to wait for an operator.</a:t>
            </a:r>
          </a:p>
          <a:p>
            <a:endParaRPr lang="en-GB" dirty="0"/>
          </a:p>
        </p:txBody>
      </p:sp>
      <p:grpSp>
        <p:nvGrpSpPr>
          <p:cNvPr id="81" name="Group 80">
            <a:extLst>
              <a:ext uri="{FF2B5EF4-FFF2-40B4-BE49-F238E27FC236}">
                <a16:creationId xmlns:a16="http://schemas.microsoft.com/office/drawing/2014/main" id="{6CE4303B-58D8-E6F0-E27F-8AA4E9C282D3}"/>
              </a:ext>
            </a:extLst>
          </p:cNvPr>
          <p:cNvGrpSpPr/>
          <p:nvPr/>
        </p:nvGrpSpPr>
        <p:grpSpPr>
          <a:xfrm>
            <a:off x="641480" y="1249194"/>
            <a:ext cx="3666356" cy="2107790"/>
            <a:chOff x="714930" y="2935926"/>
            <a:chExt cx="8664610" cy="3143142"/>
          </a:xfrm>
        </p:grpSpPr>
        <p:grpSp>
          <p:nvGrpSpPr>
            <p:cNvPr id="82" name="Group 4">
              <a:extLst>
                <a:ext uri="{FF2B5EF4-FFF2-40B4-BE49-F238E27FC236}">
                  <a16:creationId xmlns:a16="http://schemas.microsoft.com/office/drawing/2014/main" id="{07E5BAC5-B1BE-2D87-1560-35B0ED5D68AB}"/>
                </a:ext>
              </a:extLst>
            </p:cNvPr>
            <p:cNvGrpSpPr>
              <a:grpSpLocks/>
            </p:cNvGrpSpPr>
            <p:nvPr/>
          </p:nvGrpSpPr>
          <p:grpSpPr bwMode="auto">
            <a:xfrm>
              <a:off x="1184830" y="2935926"/>
              <a:ext cx="469900" cy="619125"/>
              <a:chOff x="1099" y="1621"/>
              <a:chExt cx="296" cy="390"/>
            </a:xfrm>
          </p:grpSpPr>
          <p:sp>
            <p:nvSpPr>
              <p:cNvPr id="151" name="Oval 5">
                <a:extLst>
                  <a:ext uri="{FF2B5EF4-FFF2-40B4-BE49-F238E27FC236}">
                    <a16:creationId xmlns:a16="http://schemas.microsoft.com/office/drawing/2014/main" id="{753EB5E1-8C1C-9C8E-5FA6-974E52099787}"/>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52" name="Line 6">
                <a:extLst>
                  <a:ext uri="{FF2B5EF4-FFF2-40B4-BE49-F238E27FC236}">
                    <a16:creationId xmlns:a16="http://schemas.microsoft.com/office/drawing/2014/main" id="{C2CE67E2-DAD2-CA49-DE2B-62830637AE52}"/>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53" name="Line 7">
                <a:extLst>
                  <a:ext uri="{FF2B5EF4-FFF2-40B4-BE49-F238E27FC236}">
                    <a16:creationId xmlns:a16="http://schemas.microsoft.com/office/drawing/2014/main" id="{1EA828C0-1FBE-4D31-7419-923B1A4B7216}"/>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54" name="Line 8">
                <a:extLst>
                  <a:ext uri="{FF2B5EF4-FFF2-40B4-BE49-F238E27FC236}">
                    <a16:creationId xmlns:a16="http://schemas.microsoft.com/office/drawing/2014/main" id="{A292BEDE-69B3-FB65-3AB6-DC6D73F669E6}"/>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55" name="Line 9">
                <a:extLst>
                  <a:ext uri="{FF2B5EF4-FFF2-40B4-BE49-F238E27FC236}">
                    <a16:creationId xmlns:a16="http://schemas.microsoft.com/office/drawing/2014/main" id="{715CE938-87C9-D985-AA1A-B3F0C951AA9B}"/>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56" name="Line 10">
                <a:extLst>
                  <a:ext uri="{FF2B5EF4-FFF2-40B4-BE49-F238E27FC236}">
                    <a16:creationId xmlns:a16="http://schemas.microsoft.com/office/drawing/2014/main" id="{549DF51F-833E-13CA-FDA7-A608BAF7F5E9}"/>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83" name="Group 11">
              <a:extLst>
                <a:ext uri="{FF2B5EF4-FFF2-40B4-BE49-F238E27FC236}">
                  <a16:creationId xmlns:a16="http://schemas.microsoft.com/office/drawing/2014/main" id="{7D1A9414-FC61-79F3-785A-4DA6BA54AB72}"/>
                </a:ext>
              </a:extLst>
            </p:cNvPr>
            <p:cNvGrpSpPr>
              <a:grpSpLocks/>
            </p:cNvGrpSpPr>
            <p:nvPr/>
          </p:nvGrpSpPr>
          <p:grpSpPr bwMode="auto">
            <a:xfrm>
              <a:off x="727630" y="3164525"/>
              <a:ext cx="304800" cy="381000"/>
              <a:chOff x="1099" y="1621"/>
              <a:chExt cx="296" cy="390"/>
            </a:xfrm>
          </p:grpSpPr>
          <p:sp>
            <p:nvSpPr>
              <p:cNvPr id="145" name="Oval 12">
                <a:extLst>
                  <a:ext uri="{FF2B5EF4-FFF2-40B4-BE49-F238E27FC236}">
                    <a16:creationId xmlns:a16="http://schemas.microsoft.com/office/drawing/2014/main" id="{FA4362F8-2942-85FB-E671-154D5D13F7E2}"/>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46" name="Line 13">
                <a:extLst>
                  <a:ext uri="{FF2B5EF4-FFF2-40B4-BE49-F238E27FC236}">
                    <a16:creationId xmlns:a16="http://schemas.microsoft.com/office/drawing/2014/main" id="{7C25762A-D94C-F28C-5486-D04593B035C1}"/>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47" name="Line 14">
                <a:extLst>
                  <a:ext uri="{FF2B5EF4-FFF2-40B4-BE49-F238E27FC236}">
                    <a16:creationId xmlns:a16="http://schemas.microsoft.com/office/drawing/2014/main" id="{CAAB0266-AF33-8217-327F-965647771BBF}"/>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48" name="Line 15">
                <a:extLst>
                  <a:ext uri="{FF2B5EF4-FFF2-40B4-BE49-F238E27FC236}">
                    <a16:creationId xmlns:a16="http://schemas.microsoft.com/office/drawing/2014/main" id="{DE762096-1939-CA1A-300E-C786EBFCB7F6}"/>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49" name="Line 16">
                <a:extLst>
                  <a:ext uri="{FF2B5EF4-FFF2-40B4-BE49-F238E27FC236}">
                    <a16:creationId xmlns:a16="http://schemas.microsoft.com/office/drawing/2014/main" id="{86EBB39A-7D03-D558-5A25-9B11BA359218}"/>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50" name="Line 17">
                <a:extLst>
                  <a:ext uri="{FF2B5EF4-FFF2-40B4-BE49-F238E27FC236}">
                    <a16:creationId xmlns:a16="http://schemas.microsoft.com/office/drawing/2014/main" id="{188B03CA-F7FD-B4EC-14E1-EFB78EE2F47C}"/>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84" name="Group 18">
              <a:extLst>
                <a:ext uri="{FF2B5EF4-FFF2-40B4-BE49-F238E27FC236}">
                  <a16:creationId xmlns:a16="http://schemas.microsoft.com/office/drawing/2014/main" id="{D843CB43-B037-E11D-802E-75F7EF5AA96E}"/>
                </a:ext>
              </a:extLst>
            </p:cNvPr>
            <p:cNvGrpSpPr>
              <a:grpSpLocks/>
            </p:cNvGrpSpPr>
            <p:nvPr/>
          </p:nvGrpSpPr>
          <p:grpSpPr bwMode="auto">
            <a:xfrm>
              <a:off x="956230" y="3088325"/>
              <a:ext cx="304800" cy="533400"/>
              <a:chOff x="1099" y="1621"/>
              <a:chExt cx="296" cy="390"/>
            </a:xfrm>
          </p:grpSpPr>
          <p:sp>
            <p:nvSpPr>
              <p:cNvPr id="139" name="Oval 19">
                <a:extLst>
                  <a:ext uri="{FF2B5EF4-FFF2-40B4-BE49-F238E27FC236}">
                    <a16:creationId xmlns:a16="http://schemas.microsoft.com/office/drawing/2014/main" id="{578C29B4-C20E-A9F3-B8FC-EEE5293A90D9}"/>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40" name="Line 20">
                <a:extLst>
                  <a:ext uri="{FF2B5EF4-FFF2-40B4-BE49-F238E27FC236}">
                    <a16:creationId xmlns:a16="http://schemas.microsoft.com/office/drawing/2014/main" id="{D029FD9D-EDAA-84A4-A8E8-F5949AEA21F6}"/>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41" name="Line 21">
                <a:extLst>
                  <a:ext uri="{FF2B5EF4-FFF2-40B4-BE49-F238E27FC236}">
                    <a16:creationId xmlns:a16="http://schemas.microsoft.com/office/drawing/2014/main" id="{BCDA1AC1-BC58-37DC-D52A-6D74A71D425E}"/>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42" name="Line 22">
                <a:extLst>
                  <a:ext uri="{FF2B5EF4-FFF2-40B4-BE49-F238E27FC236}">
                    <a16:creationId xmlns:a16="http://schemas.microsoft.com/office/drawing/2014/main" id="{6FE2676E-AC4B-1990-49BF-1F66C139FE06}"/>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43" name="Line 23">
                <a:extLst>
                  <a:ext uri="{FF2B5EF4-FFF2-40B4-BE49-F238E27FC236}">
                    <a16:creationId xmlns:a16="http://schemas.microsoft.com/office/drawing/2014/main" id="{FD44E000-E770-3C54-974A-E4E2D897B0E1}"/>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44" name="Line 24">
                <a:extLst>
                  <a:ext uri="{FF2B5EF4-FFF2-40B4-BE49-F238E27FC236}">
                    <a16:creationId xmlns:a16="http://schemas.microsoft.com/office/drawing/2014/main" id="{BBF66736-7E68-20B0-C15F-2282B088EEA2}"/>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85" name="Group 25">
              <a:extLst>
                <a:ext uri="{FF2B5EF4-FFF2-40B4-BE49-F238E27FC236}">
                  <a16:creationId xmlns:a16="http://schemas.microsoft.com/office/drawing/2014/main" id="{4C10B474-A469-D074-E91C-86CF36A3DBCC}"/>
                </a:ext>
              </a:extLst>
            </p:cNvPr>
            <p:cNvGrpSpPr>
              <a:grpSpLocks/>
            </p:cNvGrpSpPr>
            <p:nvPr/>
          </p:nvGrpSpPr>
          <p:grpSpPr bwMode="auto">
            <a:xfrm>
              <a:off x="1172130" y="4078926"/>
              <a:ext cx="469900" cy="619125"/>
              <a:chOff x="1099" y="1621"/>
              <a:chExt cx="296" cy="390"/>
            </a:xfrm>
          </p:grpSpPr>
          <p:sp>
            <p:nvSpPr>
              <p:cNvPr id="133" name="Oval 26">
                <a:extLst>
                  <a:ext uri="{FF2B5EF4-FFF2-40B4-BE49-F238E27FC236}">
                    <a16:creationId xmlns:a16="http://schemas.microsoft.com/office/drawing/2014/main" id="{782B793C-2A69-BCA3-1F0F-B805F1F93D61}"/>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4" name="Line 27">
                <a:extLst>
                  <a:ext uri="{FF2B5EF4-FFF2-40B4-BE49-F238E27FC236}">
                    <a16:creationId xmlns:a16="http://schemas.microsoft.com/office/drawing/2014/main" id="{8876385A-28B0-3866-5A81-FBD2F74F500C}"/>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5" name="Line 28">
                <a:extLst>
                  <a:ext uri="{FF2B5EF4-FFF2-40B4-BE49-F238E27FC236}">
                    <a16:creationId xmlns:a16="http://schemas.microsoft.com/office/drawing/2014/main" id="{1F70EDE7-F2D4-D0E8-F036-0D6531F57EEF}"/>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6" name="Line 29">
                <a:extLst>
                  <a:ext uri="{FF2B5EF4-FFF2-40B4-BE49-F238E27FC236}">
                    <a16:creationId xmlns:a16="http://schemas.microsoft.com/office/drawing/2014/main" id="{6FAF091F-E9A7-A4A6-F292-125CF35E3AB6}"/>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7" name="Line 30">
                <a:extLst>
                  <a:ext uri="{FF2B5EF4-FFF2-40B4-BE49-F238E27FC236}">
                    <a16:creationId xmlns:a16="http://schemas.microsoft.com/office/drawing/2014/main" id="{7A6B7F9E-B13A-F815-4A61-164E94ACFDAB}"/>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8" name="Line 31">
                <a:extLst>
                  <a:ext uri="{FF2B5EF4-FFF2-40B4-BE49-F238E27FC236}">
                    <a16:creationId xmlns:a16="http://schemas.microsoft.com/office/drawing/2014/main" id="{A1808096-6E6E-544E-AB52-02FB666CBC80}"/>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86" name="Group 32">
              <a:extLst>
                <a:ext uri="{FF2B5EF4-FFF2-40B4-BE49-F238E27FC236}">
                  <a16:creationId xmlns:a16="http://schemas.microsoft.com/office/drawing/2014/main" id="{1796BF87-AFC7-3124-70CC-A4A1BB808B22}"/>
                </a:ext>
              </a:extLst>
            </p:cNvPr>
            <p:cNvGrpSpPr>
              <a:grpSpLocks/>
            </p:cNvGrpSpPr>
            <p:nvPr/>
          </p:nvGrpSpPr>
          <p:grpSpPr bwMode="auto">
            <a:xfrm>
              <a:off x="714930" y="4307525"/>
              <a:ext cx="304800" cy="381000"/>
              <a:chOff x="1099" y="1621"/>
              <a:chExt cx="296" cy="390"/>
            </a:xfrm>
          </p:grpSpPr>
          <p:sp>
            <p:nvSpPr>
              <p:cNvPr id="127" name="Oval 33">
                <a:extLst>
                  <a:ext uri="{FF2B5EF4-FFF2-40B4-BE49-F238E27FC236}">
                    <a16:creationId xmlns:a16="http://schemas.microsoft.com/office/drawing/2014/main" id="{8CD62DE4-123A-4488-5B2C-72C1330E5383}"/>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28" name="Line 34">
                <a:extLst>
                  <a:ext uri="{FF2B5EF4-FFF2-40B4-BE49-F238E27FC236}">
                    <a16:creationId xmlns:a16="http://schemas.microsoft.com/office/drawing/2014/main" id="{60FE4797-E350-410D-5354-F7AE75B3DB77}"/>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29" name="Line 35">
                <a:extLst>
                  <a:ext uri="{FF2B5EF4-FFF2-40B4-BE49-F238E27FC236}">
                    <a16:creationId xmlns:a16="http://schemas.microsoft.com/office/drawing/2014/main" id="{4E92D2B2-A4A4-8FF0-6088-9984FFCFA120}"/>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0" name="Line 36">
                <a:extLst>
                  <a:ext uri="{FF2B5EF4-FFF2-40B4-BE49-F238E27FC236}">
                    <a16:creationId xmlns:a16="http://schemas.microsoft.com/office/drawing/2014/main" id="{4C080DC2-80DE-B3F8-2ADA-20B5E41CDBCD}"/>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1" name="Line 37">
                <a:extLst>
                  <a:ext uri="{FF2B5EF4-FFF2-40B4-BE49-F238E27FC236}">
                    <a16:creationId xmlns:a16="http://schemas.microsoft.com/office/drawing/2014/main" id="{AF280B28-DA79-B52D-A98A-9343F757FBE7}"/>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2" name="Line 38">
                <a:extLst>
                  <a:ext uri="{FF2B5EF4-FFF2-40B4-BE49-F238E27FC236}">
                    <a16:creationId xmlns:a16="http://schemas.microsoft.com/office/drawing/2014/main" id="{3A5278E9-1E4C-2EDA-0C03-11AFCCC4777F}"/>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87" name="Group 39">
              <a:extLst>
                <a:ext uri="{FF2B5EF4-FFF2-40B4-BE49-F238E27FC236}">
                  <a16:creationId xmlns:a16="http://schemas.microsoft.com/office/drawing/2014/main" id="{E491A3F7-4123-0058-E5A0-9583D76F27DF}"/>
                </a:ext>
              </a:extLst>
            </p:cNvPr>
            <p:cNvGrpSpPr>
              <a:grpSpLocks/>
            </p:cNvGrpSpPr>
            <p:nvPr/>
          </p:nvGrpSpPr>
          <p:grpSpPr bwMode="auto">
            <a:xfrm>
              <a:off x="943530" y="4231325"/>
              <a:ext cx="304800" cy="533400"/>
              <a:chOff x="1099" y="1621"/>
              <a:chExt cx="296" cy="390"/>
            </a:xfrm>
          </p:grpSpPr>
          <p:sp>
            <p:nvSpPr>
              <p:cNvPr id="121" name="Oval 40">
                <a:extLst>
                  <a:ext uri="{FF2B5EF4-FFF2-40B4-BE49-F238E27FC236}">
                    <a16:creationId xmlns:a16="http://schemas.microsoft.com/office/drawing/2014/main" id="{4E4B80B7-6CF2-1F0A-3964-0E294B498A0F}"/>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22" name="Line 41">
                <a:extLst>
                  <a:ext uri="{FF2B5EF4-FFF2-40B4-BE49-F238E27FC236}">
                    <a16:creationId xmlns:a16="http://schemas.microsoft.com/office/drawing/2014/main" id="{4FF88DF7-BACB-3174-4951-4042D233C6C7}"/>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23" name="Line 42">
                <a:extLst>
                  <a:ext uri="{FF2B5EF4-FFF2-40B4-BE49-F238E27FC236}">
                    <a16:creationId xmlns:a16="http://schemas.microsoft.com/office/drawing/2014/main" id="{72E1E9B4-0751-6344-6FD1-CCB1CCCF216B}"/>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24" name="Line 43">
                <a:extLst>
                  <a:ext uri="{FF2B5EF4-FFF2-40B4-BE49-F238E27FC236}">
                    <a16:creationId xmlns:a16="http://schemas.microsoft.com/office/drawing/2014/main" id="{0E28E3EB-F051-728E-EFF3-7F7F3763CA35}"/>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25" name="Line 44">
                <a:extLst>
                  <a:ext uri="{FF2B5EF4-FFF2-40B4-BE49-F238E27FC236}">
                    <a16:creationId xmlns:a16="http://schemas.microsoft.com/office/drawing/2014/main" id="{CE3D768A-E39F-BA9D-3713-53DC8C64708A}"/>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26" name="Line 45">
                <a:extLst>
                  <a:ext uri="{FF2B5EF4-FFF2-40B4-BE49-F238E27FC236}">
                    <a16:creationId xmlns:a16="http://schemas.microsoft.com/office/drawing/2014/main" id="{DBB31F6E-7370-667D-E8C3-89E6F8DE937C}"/>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88" name="Group 46">
              <a:extLst>
                <a:ext uri="{FF2B5EF4-FFF2-40B4-BE49-F238E27FC236}">
                  <a16:creationId xmlns:a16="http://schemas.microsoft.com/office/drawing/2014/main" id="{FC750BFE-142F-E25E-8A27-48396B129601}"/>
                </a:ext>
              </a:extLst>
            </p:cNvPr>
            <p:cNvGrpSpPr>
              <a:grpSpLocks/>
            </p:cNvGrpSpPr>
            <p:nvPr/>
          </p:nvGrpSpPr>
          <p:grpSpPr bwMode="auto">
            <a:xfrm>
              <a:off x="1184830" y="5221926"/>
              <a:ext cx="469900" cy="619125"/>
              <a:chOff x="1099" y="1621"/>
              <a:chExt cx="296" cy="390"/>
            </a:xfrm>
          </p:grpSpPr>
          <p:sp>
            <p:nvSpPr>
              <p:cNvPr id="115" name="Oval 47">
                <a:extLst>
                  <a:ext uri="{FF2B5EF4-FFF2-40B4-BE49-F238E27FC236}">
                    <a16:creationId xmlns:a16="http://schemas.microsoft.com/office/drawing/2014/main" id="{F04FCC45-0B52-6AB3-85AD-D836DDBAD0D5}"/>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16" name="Line 48">
                <a:extLst>
                  <a:ext uri="{FF2B5EF4-FFF2-40B4-BE49-F238E27FC236}">
                    <a16:creationId xmlns:a16="http://schemas.microsoft.com/office/drawing/2014/main" id="{C965477F-239C-5E75-DE73-A5C874714EB8}"/>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17" name="Line 49">
                <a:extLst>
                  <a:ext uri="{FF2B5EF4-FFF2-40B4-BE49-F238E27FC236}">
                    <a16:creationId xmlns:a16="http://schemas.microsoft.com/office/drawing/2014/main" id="{FD56F6AF-1AC9-0527-A0D3-91237E56447F}"/>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18" name="Line 50">
                <a:extLst>
                  <a:ext uri="{FF2B5EF4-FFF2-40B4-BE49-F238E27FC236}">
                    <a16:creationId xmlns:a16="http://schemas.microsoft.com/office/drawing/2014/main" id="{BFC51B20-2E56-8EAE-DE0F-69FE8D3418C8}"/>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19" name="Line 51">
                <a:extLst>
                  <a:ext uri="{FF2B5EF4-FFF2-40B4-BE49-F238E27FC236}">
                    <a16:creationId xmlns:a16="http://schemas.microsoft.com/office/drawing/2014/main" id="{37B20CEB-09BC-7CCA-B5FA-C2300956311B}"/>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20" name="Line 52">
                <a:extLst>
                  <a:ext uri="{FF2B5EF4-FFF2-40B4-BE49-F238E27FC236}">
                    <a16:creationId xmlns:a16="http://schemas.microsoft.com/office/drawing/2014/main" id="{9354E87B-8A2F-2C0C-FF30-976F8EFFCDD5}"/>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89" name="Group 53">
              <a:extLst>
                <a:ext uri="{FF2B5EF4-FFF2-40B4-BE49-F238E27FC236}">
                  <a16:creationId xmlns:a16="http://schemas.microsoft.com/office/drawing/2014/main" id="{086534A1-E1A8-2050-5F57-6725557C8B6A}"/>
                </a:ext>
              </a:extLst>
            </p:cNvPr>
            <p:cNvGrpSpPr>
              <a:grpSpLocks/>
            </p:cNvGrpSpPr>
            <p:nvPr/>
          </p:nvGrpSpPr>
          <p:grpSpPr bwMode="auto">
            <a:xfrm>
              <a:off x="727630" y="5450525"/>
              <a:ext cx="304800" cy="381000"/>
              <a:chOff x="1099" y="1621"/>
              <a:chExt cx="296" cy="390"/>
            </a:xfrm>
          </p:grpSpPr>
          <p:sp>
            <p:nvSpPr>
              <p:cNvPr id="109" name="Oval 54">
                <a:extLst>
                  <a:ext uri="{FF2B5EF4-FFF2-40B4-BE49-F238E27FC236}">
                    <a16:creationId xmlns:a16="http://schemas.microsoft.com/office/drawing/2014/main" id="{FE050662-3FD7-571C-202A-8420F650CF55}"/>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10" name="Line 55">
                <a:extLst>
                  <a:ext uri="{FF2B5EF4-FFF2-40B4-BE49-F238E27FC236}">
                    <a16:creationId xmlns:a16="http://schemas.microsoft.com/office/drawing/2014/main" id="{4C41CF14-EC6D-7E14-8D15-E928C7B8CD0D}"/>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11" name="Line 56">
                <a:extLst>
                  <a:ext uri="{FF2B5EF4-FFF2-40B4-BE49-F238E27FC236}">
                    <a16:creationId xmlns:a16="http://schemas.microsoft.com/office/drawing/2014/main" id="{81B07A78-7D5E-A409-2431-4FA7DF423B9B}"/>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12" name="Line 57">
                <a:extLst>
                  <a:ext uri="{FF2B5EF4-FFF2-40B4-BE49-F238E27FC236}">
                    <a16:creationId xmlns:a16="http://schemas.microsoft.com/office/drawing/2014/main" id="{2BD071EF-EAB3-1204-A34D-3548291B3FAC}"/>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13" name="Line 58">
                <a:extLst>
                  <a:ext uri="{FF2B5EF4-FFF2-40B4-BE49-F238E27FC236}">
                    <a16:creationId xmlns:a16="http://schemas.microsoft.com/office/drawing/2014/main" id="{FBD7D0AF-B0CD-AAE2-4870-3E110918F4FB}"/>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14" name="Line 59">
                <a:extLst>
                  <a:ext uri="{FF2B5EF4-FFF2-40B4-BE49-F238E27FC236}">
                    <a16:creationId xmlns:a16="http://schemas.microsoft.com/office/drawing/2014/main" id="{5C334017-8137-524A-3439-93D5EF80327B}"/>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90" name="Group 60">
              <a:extLst>
                <a:ext uri="{FF2B5EF4-FFF2-40B4-BE49-F238E27FC236}">
                  <a16:creationId xmlns:a16="http://schemas.microsoft.com/office/drawing/2014/main" id="{E353079A-69DA-4111-68D4-24E09E7AD309}"/>
                </a:ext>
              </a:extLst>
            </p:cNvPr>
            <p:cNvGrpSpPr>
              <a:grpSpLocks/>
            </p:cNvGrpSpPr>
            <p:nvPr/>
          </p:nvGrpSpPr>
          <p:grpSpPr bwMode="auto">
            <a:xfrm>
              <a:off x="956230" y="5374325"/>
              <a:ext cx="304800" cy="533400"/>
              <a:chOff x="1099" y="1621"/>
              <a:chExt cx="296" cy="390"/>
            </a:xfrm>
          </p:grpSpPr>
          <p:sp>
            <p:nvSpPr>
              <p:cNvPr id="103" name="Oval 61">
                <a:extLst>
                  <a:ext uri="{FF2B5EF4-FFF2-40B4-BE49-F238E27FC236}">
                    <a16:creationId xmlns:a16="http://schemas.microsoft.com/office/drawing/2014/main" id="{AD5C549F-6784-89C1-9CCC-F69C9F00A9F6}"/>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04" name="Line 62">
                <a:extLst>
                  <a:ext uri="{FF2B5EF4-FFF2-40B4-BE49-F238E27FC236}">
                    <a16:creationId xmlns:a16="http://schemas.microsoft.com/office/drawing/2014/main" id="{DA48C2FB-A9EC-2BEC-3237-0F49E75A2C0A}"/>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05" name="Line 63">
                <a:extLst>
                  <a:ext uri="{FF2B5EF4-FFF2-40B4-BE49-F238E27FC236}">
                    <a16:creationId xmlns:a16="http://schemas.microsoft.com/office/drawing/2014/main" id="{77DC11FE-BD13-5947-5868-4A17ADD28A4A}"/>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06" name="Line 64">
                <a:extLst>
                  <a:ext uri="{FF2B5EF4-FFF2-40B4-BE49-F238E27FC236}">
                    <a16:creationId xmlns:a16="http://schemas.microsoft.com/office/drawing/2014/main" id="{27374B92-9BDC-9161-8EB7-CDB34EBD418E}"/>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07" name="Line 65">
                <a:extLst>
                  <a:ext uri="{FF2B5EF4-FFF2-40B4-BE49-F238E27FC236}">
                    <a16:creationId xmlns:a16="http://schemas.microsoft.com/office/drawing/2014/main" id="{465AB9E5-B35C-8129-3B9E-DFC9C0B08B92}"/>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08" name="Line 66">
                <a:extLst>
                  <a:ext uri="{FF2B5EF4-FFF2-40B4-BE49-F238E27FC236}">
                    <a16:creationId xmlns:a16="http://schemas.microsoft.com/office/drawing/2014/main" id="{4DDC9B6D-95AB-2D7B-C3B8-3EC2BAEBCE51}"/>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sp>
          <p:nvSpPr>
            <p:cNvPr id="91" name="Text Box 70">
              <a:extLst>
                <a:ext uri="{FF2B5EF4-FFF2-40B4-BE49-F238E27FC236}">
                  <a16:creationId xmlns:a16="http://schemas.microsoft.com/office/drawing/2014/main" id="{DF0813C1-0FA9-2437-F56D-90B5D486AA7C}"/>
                </a:ext>
              </a:extLst>
            </p:cNvPr>
            <p:cNvSpPr txBox="1">
              <a:spLocks noChangeArrowheads="1"/>
            </p:cNvSpPr>
            <p:nvPr/>
          </p:nvSpPr>
          <p:spPr bwMode="auto">
            <a:xfrm>
              <a:off x="3796931" y="4109472"/>
              <a:ext cx="2024232" cy="7742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altLang="x-none" sz="800" dirty="0"/>
                <a:t>Airline Reservations</a:t>
              </a:r>
            </a:p>
          </p:txBody>
        </p:sp>
        <p:sp>
          <p:nvSpPr>
            <p:cNvPr id="92" name="Line 71">
              <a:extLst>
                <a:ext uri="{FF2B5EF4-FFF2-40B4-BE49-F238E27FC236}">
                  <a16:creationId xmlns:a16="http://schemas.microsoft.com/office/drawing/2014/main" id="{35510C19-E0F6-007D-8041-DAF3CDDACF70}"/>
                </a:ext>
              </a:extLst>
            </p:cNvPr>
            <p:cNvSpPr>
              <a:spLocks noChangeShapeType="1"/>
            </p:cNvSpPr>
            <p:nvPr/>
          </p:nvSpPr>
          <p:spPr bwMode="auto">
            <a:xfrm>
              <a:off x="1718230" y="3393127"/>
              <a:ext cx="2019321" cy="8715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93" name="Line 72">
              <a:extLst>
                <a:ext uri="{FF2B5EF4-FFF2-40B4-BE49-F238E27FC236}">
                  <a16:creationId xmlns:a16="http://schemas.microsoft.com/office/drawing/2014/main" id="{E81D4440-4B89-B912-9682-EE1C8FEEE2FB}"/>
                </a:ext>
              </a:extLst>
            </p:cNvPr>
            <p:cNvSpPr>
              <a:spLocks noChangeShapeType="1"/>
            </p:cNvSpPr>
            <p:nvPr/>
          </p:nvSpPr>
          <p:spPr bwMode="auto">
            <a:xfrm>
              <a:off x="1642030" y="4459925"/>
              <a:ext cx="2057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94" name="Line 73">
              <a:extLst>
                <a:ext uri="{FF2B5EF4-FFF2-40B4-BE49-F238E27FC236}">
                  <a16:creationId xmlns:a16="http://schemas.microsoft.com/office/drawing/2014/main" id="{8552AF64-6237-D8E5-67C8-077C0D4F4DFE}"/>
                </a:ext>
              </a:extLst>
            </p:cNvPr>
            <p:cNvSpPr>
              <a:spLocks noChangeShapeType="1"/>
            </p:cNvSpPr>
            <p:nvPr/>
          </p:nvSpPr>
          <p:spPr bwMode="auto">
            <a:xfrm flipV="1">
              <a:off x="1794430" y="4711861"/>
              <a:ext cx="1994261" cy="73866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95" name="Text Box 74">
              <a:extLst>
                <a:ext uri="{FF2B5EF4-FFF2-40B4-BE49-F238E27FC236}">
                  <a16:creationId xmlns:a16="http://schemas.microsoft.com/office/drawing/2014/main" id="{1C220A18-1C95-DA71-75AC-E22504AFB523}"/>
                </a:ext>
              </a:extLst>
            </p:cNvPr>
            <p:cNvSpPr txBox="1">
              <a:spLocks noChangeArrowheads="1"/>
            </p:cNvSpPr>
            <p:nvPr/>
          </p:nvSpPr>
          <p:spPr bwMode="auto">
            <a:xfrm>
              <a:off x="6133242" y="4155125"/>
              <a:ext cx="1174397" cy="50957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800" dirty="0"/>
                <a:t>Answering</a:t>
              </a:r>
            </a:p>
            <a:p>
              <a:pPr algn="ctr"/>
              <a:r>
                <a:rPr lang="en-US" altLang="x-none" sz="800" dirty="0"/>
                <a:t>Machine</a:t>
              </a:r>
            </a:p>
          </p:txBody>
        </p:sp>
        <p:sp>
          <p:nvSpPr>
            <p:cNvPr id="96" name="Line 75">
              <a:extLst>
                <a:ext uri="{FF2B5EF4-FFF2-40B4-BE49-F238E27FC236}">
                  <a16:creationId xmlns:a16="http://schemas.microsoft.com/office/drawing/2014/main" id="{7935EF2F-3CE5-EB48-A4C6-2A8871375B97}"/>
                </a:ext>
              </a:extLst>
            </p:cNvPr>
            <p:cNvSpPr>
              <a:spLocks noChangeShapeType="1"/>
            </p:cNvSpPr>
            <p:nvPr/>
          </p:nvSpPr>
          <p:spPr bwMode="auto">
            <a:xfrm>
              <a:off x="5817155" y="4459925"/>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97" name="Text Box 76">
              <a:extLst>
                <a:ext uri="{FF2B5EF4-FFF2-40B4-BE49-F238E27FC236}">
                  <a16:creationId xmlns:a16="http://schemas.microsoft.com/office/drawing/2014/main" id="{BDD3A0B4-ACD8-C1FB-1EF3-3DB0C48CCB29}"/>
                </a:ext>
              </a:extLst>
            </p:cNvPr>
            <p:cNvSpPr txBox="1">
              <a:spLocks noChangeArrowheads="1"/>
            </p:cNvSpPr>
            <p:nvPr/>
          </p:nvSpPr>
          <p:spPr bwMode="auto">
            <a:xfrm>
              <a:off x="7163323" y="2958150"/>
              <a:ext cx="2182881" cy="69680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700" dirty="0"/>
                <a:t>Premier</a:t>
              </a:r>
            </a:p>
            <a:p>
              <a:pPr algn="ctr"/>
              <a:r>
                <a:rPr lang="en-US" altLang="x-none" sz="700" dirty="0"/>
                <a:t>Customer</a:t>
              </a:r>
            </a:p>
            <a:p>
              <a:pPr algn="ctr"/>
              <a:r>
                <a:rPr lang="en-US" altLang="x-none" sz="700" dirty="0"/>
                <a:t>Representative</a:t>
              </a:r>
              <a:endParaRPr lang="en-US" altLang="x-none" sz="900" dirty="0"/>
            </a:p>
          </p:txBody>
        </p:sp>
        <p:sp>
          <p:nvSpPr>
            <p:cNvPr id="98" name="Text Box 77">
              <a:extLst>
                <a:ext uri="{FF2B5EF4-FFF2-40B4-BE49-F238E27FC236}">
                  <a16:creationId xmlns:a16="http://schemas.microsoft.com/office/drawing/2014/main" id="{FCD19AEC-58C6-AB65-3F32-276E43DADDCD}"/>
                </a:ext>
              </a:extLst>
            </p:cNvPr>
            <p:cNvSpPr txBox="1">
              <a:spLocks noChangeArrowheads="1"/>
            </p:cNvSpPr>
            <p:nvPr/>
          </p:nvSpPr>
          <p:spPr bwMode="auto">
            <a:xfrm>
              <a:off x="7196659" y="4078924"/>
              <a:ext cx="2182881" cy="69680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700"/>
                <a:t>F.F.</a:t>
              </a:r>
            </a:p>
            <a:p>
              <a:pPr algn="ctr"/>
              <a:r>
                <a:rPr lang="en-US" altLang="x-none" sz="700"/>
                <a:t>Customer</a:t>
              </a:r>
            </a:p>
            <a:p>
              <a:pPr algn="ctr"/>
              <a:r>
                <a:rPr lang="en-US" altLang="x-none" sz="700"/>
                <a:t>Representative</a:t>
              </a:r>
            </a:p>
          </p:txBody>
        </p:sp>
        <p:sp>
          <p:nvSpPr>
            <p:cNvPr id="99" name="Text Box 78">
              <a:extLst>
                <a:ext uri="{FF2B5EF4-FFF2-40B4-BE49-F238E27FC236}">
                  <a16:creationId xmlns:a16="http://schemas.microsoft.com/office/drawing/2014/main" id="{F5996333-8056-9E6D-F67E-E47AA9BC896C}"/>
                </a:ext>
              </a:extLst>
            </p:cNvPr>
            <p:cNvSpPr txBox="1">
              <a:spLocks noChangeArrowheads="1"/>
            </p:cNvSpPr>
            <p:nvPr/>
          </p:nvSpPr>
          <p:spPr bwMode="auto">
            <a:xfrm>
              <a:off x="7163322" y="5382262"/>
              <a:ext cx="2182881" cy="69680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700" dirty="0"/>
                <a:t>Regular</a:t>
              </a:r>
            </a:p>
            <a:p>
              <a:pPr algn="ctr"/>
              <a:r>
                <a:rPr lang="en-US" altLang="x-none" sz="700" dirty="0"/>
                <a:t>Customer</a:t>
              </a:r>
            </a:p>
            <a:p>
              <a:pPr algn="ctr"/>
              <a:r>
                <a:rPr lang="en-US" altLang="x-none" sz="700" dirty="0"/>
                <a:t>Representative</a:t>
              </a:r>
            </a:p>
          </p:txBody>
        </p:sp>
        <p:sp>
          <p:nvSpPr>
            <p:cNvPr id="100" name="Line 79">
              <a:extLst>
                <a:ext uri="{FF2B5EF4-FFF2-40B4-BE49-F238E27FC236}">
                  <a16:creationId xmlns:a16="http://schemas.microsoft.com/office/drawing/2014/main" id="{B668C3E9-427A-A629-E614-971927286B9B}"/>
                </a:ext>
              </a:extLst>
            </p:cNvPr>
            <p:cNvSpPr>
              <a:spLocks noChangeShapeType="1"/>
            </p:cNvSpPr>
            <p:nvPr/>
          </p:nvSpPr>
          <p:spPr bwMode="auto">
            <a:xfrm flipV="1">
              <a:off x="7264955" y="3697925"/>
              <a:ext cx="38100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01" name="Line 80">
              <a:extLst>
                <a:ext uri="{FF2B5EF4-FFF2-40B4-BE49-F238E27FC236}">
                  <a16:creationId xmlns:a16="http://schemas.microsoft.com/office/drawing/2014/main" id="{103B75E3-7D6A-4BF7-A6CD-2D73A70F1A98}"/>
                </a:ext>
              </a:extLst>
            </p:cNvPr>
            <p:cNvSpPr>
              <a:spLocks noChangeShapeType="1"/>
            </p:cNvSpPr>
            <p:nvPr/>
          </p:nvSpPr>
          <p:spPr bwMode="auto">
            <a:xfrm>
              <a:off x="7264955" y="4459925"/>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02" name="Line 81">
              <a:extLst>
                <a:ext uri="{FF2B5EF4-FFF2-40B4-BE49-F238E27FC236}">
                  <a16:creationId xmlns:a16="http://schemas.microsoft.com/office/drawing/2014/main" id="{AE63BBAD-B1B4-003F-224B-349C5EE90B45}"/>
                </a:ext>
              </a:extLst>
            </p:cNvPr>
            <p:cNvSpPr>
              <a:spLocks noChangeShapeType="1"/>
            </p:cNvSpPr>
            <p:nvPr/>
          </p:nvSpPr>
          <p:spPr bwMode="auto">
            <a:xfrm>
              <a:off x="7264955" y="4459925"/>
              <a:ext cx="3810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grpSp>
        <p:nvGrpSpPr>
          <p:cNvPr id="157" name="Group 156">
            <a:extLst>
              <a:ext uri="{FF2B5EF4-FFF2-40B4-BE49-F238E27FC236}">
                <a16:creationId xmlns:a16="http://schemas.microsoft.com/office/drawing/2014/main" id="{22F24E26-7F02-C3E2-BB12-0E2AEFB091CD}"/>
              </a:ext>
            </a:extLst>
          </p:cNvPr>
          <p:cNvGrpSpPr/>
          <p:nvPr/>
        </p:nvGrpSpPr>
        <p:grpSpPr>
          <a:xfrm>
            <a:off x="4805225" y="1289435"/>
            <a:ext cx="3796999" cy="2055829"/>
            <a:chOff x="681037" y="2718791"/>
            <a:chExt cx="8240936" cy="3473772"/>
          </a:xfrm>
        </p:grpSpPr>
        <p:grpSp>
          <p:nvGrpSpPr>
            <p:cNvPr id="158" name="Group 4">
              <a:extLst>
                <a:ext uri="{FF2B5EF4-FFF2-40B4-BE49-F238E27FC236}">
                  <a16:creationId xmlns:a16="http://schemas.microsoft.com/office/drawing/2014/main" id="{BB40DBFC-607F-2090-BB78-3832E608C2F2}"/>
                </a:ext>
              </a:extLst>
            </p:cNvPr>
            <p:cNvGrpSpPr>
              <a:grpSpLocks/>
            </p:cNvGrpSpPr>
            <p:nvPr/>
          </p:nvGrpSpPr>
          <p:grpSpPr bwMode="auto">
            <a:xfrm>
              <a:off x="1671637" y="2785467"/>
              <a:ext cx="469900" cy="619125"/>
              <a:chOff x="1099" y="1621"/>
              <a:chExt cx="296" cy="390"/>
            </a:xfrm>
          </p:grpSpPr>
          <p:sp>
            <p:nvSpPr>
              <p:cNvPr id="229" name="Oval 5">
                <a:extLst>
                  <a:ext uri="{FF2B5EF4-FFF2-40B4-BE49-F238E27FC236}">
                    <a16:creationId xmlns:a16="http://schemas.microsoft.com/office/drawing/2014/main" id="{3A1B8B47-723B-8ED1-465E-9958855E87AD}"/>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30" name="Line 6">
                <a:extLst>
                  <a:ext uri="{FF2B5EF4-FFF2-40B4-BE49-F238E27FC236}">
                    <a16:creationId xmlns:a16="http://schemas.microsoft.com/office/drawing/2014/main" id="{B70FD878-6545-161C-8C1E-59D90646A469}"/>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31" name="Line 7">
                <a:extLst>
                  <a:ext uri="{FF2B5EF4-FFF2-40B4-BE49-F238E27FC236}">
                    <a16:creationId xmlns:a16="http://schemas.microsoft.com/office/drawing/2014/main" id="{BEAB3B97-6D0B-B05F-344B-FD05C35B9092}"/>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32" name="Line 8">
                <a:extLst>
                  <a:ext uri="{FF2B5EF4-FFF2-40B4-BE49-F238E27FC236}">
                    <a16:creationId xmlns:a16="http://schemas.microsoft.com/office/drawing/2014/main" id="{CE28B3F0-3EBF-7559-1B46-340986F18F55}"/>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33" name="Line 9">
                <a:extLst>
                  <a:ext uri="{FF2B5EF4-FFF2-40B4-BE49-F238E27FC236}">
                    <a16:creationId xmlns:a16="http://schemas.microsoft.com/office/drawing/2014/main" id="{DAD2A56C-ABAC-BD84-74D8-F12BC9F80425}"/>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34" name="Line 10">
                <a:extLst>
                  <a:ext uri="{FF2B5EF4-FFF2-40B4-BE49-F238E27FC236}">
                    <a16:creationId xmlns:a16="http://schemas.microsoft.com/office/drawing/2014/main" id="{35C31C79-B089-FA1A-BE80-403344EEC2E9}"/>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grpSp>
        <p:grpSp>
          <p:nvGrpSpPr>
            <p:cNvPr id="159" name="Group 11">
              <a:extLst>
                <a:ext uri="{FF2B5EF4-FFF2-40B4-BE49-F238E27FC236}">
                  <a16:creationId xmlns:a16="http://schemas.microsoft.com/office/drawing/2014/main" id="{E5AFF01E-EC71-201B-1051-DE147237AD12}"/>
                </a:ext>
              </a:extLst>
            </p:cNvPr>
            <p:cNvGrpSpPr>
              <a:grpSpLocks/>
            </p:cNvGrpSpPr>
            <p:nvPr/>
          </p:nvGrpSpPr>
          <p:grpSpPr bwMode="auto">
            <a:xfrm>
              <a:off x="1214437" y="3014066"/>
              <a:ext cx="304800" cy="381000"/>
              <a:chOff x="1099" y="1621"/>
              <a:chExt cx="296" cy="390"/>
            </a:xfrm>
          </p:grpSpPr>
          <p:sp>
            <p:nvSpPr>
              <p:cNvPr id="223" name="Oval 12">
                <a:extLst>
                  <a:ext uri="{FF2B5EF4-FFF2-40B4-BE49-F238E27FC236}">
                    <a16:creationId xmlns:a16="http://schemas.microsoft.com/office/drawing/2014/main" id="{1AE48EC4-2AAD-DBC0-BC15-9F1E2B0CBBB0}"/>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24" name="Line 13">
                <a:extLst>
                  <a:ext uri="{FF2B5EF4-FFF2-40B4-BE49-F238E27FC236}">
                    <a16:creationId xmlns:a16="http://schemas.microsoft.com/office/drawing/2014/main" id="{2D2FC401-4CEB-4E64-5D27-38E80507CBB3}"/>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25" name="Line 14">
                <a:extLst>
                  <a:ext uri="{FF2B5EF4-FFF2-40B4-BE49-F238E27FC236}">
                    <a16:creationId xmlns:a16="http://schemas.microsoft.com/office/drawing/2014/main" id="{B1BCBA7A-FEB6-BB21-77AF-3E8CCCF29FE8}"/>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26" name="Line 15">
                <a:extLst>
                  <a:ext uri="{FF2B5EF4-FFF2-40B4-BE49-F238E27FC236}">
                    <a16:creationId xmlns:a16="http://schemas.microsoft.com/office/drawing/2014/main" id="{46515A36-BAE7-C992-14B6-F5AA215D9DEC}"/>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27" name="Line 16">
                <a:extLst>
                  <a:ext uri="{FF2B5EF4-FFF2-40B4-BE49-F238E27FC236}">
                    <a16:creationId xmlns:a16="http://schemas.microsoft.com/office/drawing/2014/main" id="{D6C7596A-700F-6466-F523-01621744D091}"/>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28" name="Line 17">
                <a:extLst>
                  <a:ext uri="{FF2B5EF4-FFF2-40B4-BE49-F238E27FC236}">
                    <a16:creationId xmlns:a16="http://schemas.microsoft.com/office/drawing/2014/main" id="{4A35BE09-3261-61F8-071E-E832C38E663A}"/>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grpSp>
        <p:grpSp>
          <p:nvGrpSpPr>
            <p:cNvPr id="160" name="Group 18">
              <a:extLst>
                <a:ext uri="{FF2B5EF4-FFF2-40B4-BE49-F238E27FC236}">
                  <a16:creationId xmlns:a16="http://schemas.microsoft.com/office/drawing/2014/main" id="{9A198D9F-238A-5845-AFB8-B49A556426D5}"/>
                </a:ext>
              </a:extLst>
            </p:cNvPr>
            <p:cNvGrpSpPr>
              <a:grpSpLocks/>
            </p:cNvGrpSpPr>
            <p:nvPr/>
          </p:nvGrpSpPr>
          <p:grpSpPr bwMode="auto">
            <a:xfrm>
              <a:off x="1443037" y="2937866"/>
              <a:ext cx="304800" cy="533400"/>
              <a:chOff x="1099" y="1621"/>
              <a:chExt cx="296" cy="390"/>
            </a:xfrm>
          </p:grpSpPr>
          <p:sp>
            <p:nvSpPr>
              <p:cNvPr id="217" name="Oval 19">
                <a:extLst>
                  <a:ext uri="{FF2B5EF4-FFF2-40B4-BE49-F238E27FC236}">
                    <a16:creationId xmlns:a16="http://schemas.microsoft.com/office/drawing/2014/main" id="{F549511A-FD02-52E9-FEE1-70B5AF6EA1C9}"/>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18" name="Line 20">
                <a:extLst>
                  <a:ext uri="{FF2B5EF4-FFF2-40B4-BE49-F238E27FC236}">
                    <a16:creationId xmlns:a16="http://schemas.microsoft.com/office/drawing/2014/main" id="{F62E2035-C740-0E9F-C843-1C49AA812AA3}"/>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19" name="Line 21">
                <a:extLst>
                  <a:ext uri="{FF2B5EF4-FFF2-40B4-BE49-F238E27FC236}">
                    <a16:creationId xmlns:a16="http://schemas.microsoft.com/office/drawing/2014/main" id="{D6224943-88FA-CEC1-CFBF-DD4B64776BD0}"/>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20" name="Line 22">
                <a:extLst>
                  <a:ext uri="{FF2B5EF4-FFF2-40B4-BE49-F238E27FC236}">
                    <a16:creationId xmlns:a16="http://schemas.microsoft.com/office/drawing/2014/main" id="{B63420A5-6279-8448-7750-3FBCEBDC4324}"/>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21" name="Line 23">
                <a:extLst>
                  <a:ext uri="{FF2B5EF4-FFF2-40B4-BE49-F238E27FC236}">
                    <a16:creationId xmlns:a16="http://schemas.microsoft.com/office/drawing/2014/main" id="{2F891FC8-839A-BF45-5FEB-42E597190421}"/>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22" name="Line 24">
                <a:extLst>
                  <a:ext uri="{FF2B5EF4-FFF2-40B4-BE49-F238E27FC236}">
                    <a16:creationId xmlns:a16="http://schemas.microsoft.com/office/drawing/2014/main" id="{C7CA9DFE-0263-9540-AA8E-8353F2F85239}"/>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grpSp>
        <p:grpSp>
          <p:nvGrpSpPr>
            <p:cNvPr id="161" name="Group 25">
              <a:extLst>
                <a:ext uri="{FF2B5EF4-FFF2-40B4-BE49-F238E27FC236}">
                  <a16:creationId xmlns:a16="http://schemas.microsoft.com/office/drawing/2014/main" id="{49172B9A-1439-3BB5-782F-D6B06FB7ACC4}"/>
                </a:ext>
              </a:extLst>
            </p:cNvPr>
            <p:cNvGrpSpPr>
              <a:grpSpLocks/>
            </p:cNvGrpSpPr>
            <p:nvPr/>
          </p:nvGrpSpPr>
          <p:grpSpPr bwMode="auto">
            <a:xfrm>
              <a:off x="1658937" y="3928467"/>
              <a:ext cx="469900" cy="619125"/>
              <a:chOff x="1099" y="1621"/>
              <a:chExt cx="296" cy="390"/>
            </a:xfrm>
          </p:grpSpPr>
          <p:sp>
            <p:nvSpPr>
              <p:cNvPr id="211" name="Oval 26">
                <a:extLst>
                  <a:ext uri="{FF2B5EF4-FFF2-40B4-BE49-F238E27FC236}">
                    <a16:creationId xmlns:a16="http://schemas.microsoft.com/office/drawing/2014/main" id="{F3BA4A53-3604-2DB7-750C-F5F615F3D119}"/>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12" name="Line 27">
                <a:extLst>
                  <a:ext uri="{FF2B5EF4-FFF2-40B4-BE49-F238E27FC236}">
                    <a16:creationId xmlns:a16="http://schemas.microsoft.com/office/drawing/2014/main" id="{8D50EBF6-90F3-1DBB-D9CA-3CBAD6A35143}"/>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13" name="Line 28">
                <a:extLst>
                  <a:ext uri="{FF2B5EF4-FFF2-40B4-BE49-F238E27FC236}">
                    <a16:creationId xmlns:a16="http://schemas.microsoft.com/office/drawing/2014/main" id="{BEE69283-C9BF-0666-4F4C-F25899A2EDB7}"/>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14" name="Line 29">
                <a:extLst>
                  <a:ext uri="{FF2B5EF4-FFF2-40B4-BE49-F238E27FC236}">
                    <a16:creationId xmlns:a16="http://schemas.microsoft.com/office/drawing/2014/main" id="{5AC5BE90-331C-0477-CB2F-21E2E731FE04}"/>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15" name="Line 30">
                <a:extLst>
                  <a:ext uri="{FF2B5EF4-FFF2-40B4-BE49-F238E27FC236}">
                    <a16:creationId xmlns:a16="http://schemas.microsoft.com/office/drawing/2014/main" id="{4FD2EF4C-12E2-BE4C-6548-CA706987991D}"/>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16" name="Line 31">
                <a:extLst>
                  <a:ext uri="{FF2B5EF4-FFF2-40B4-BE49-F238E27FC236}">
                    <a16:creationId xmlns:a16="http://schemas.microsoft.com/office/drawing/2014/main" id="{FFD0716F-1B24-3787-6C8C-9B6BA90A1AC2}"/>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grpSp>
        <p:grpSp>
          <p:nvGrpSpPr>
            <p:cNvPr id="162" name="Group 32">
              <a:extLst>
                <a:ext uri="{FF2B5EF4-FFF2-40B4-BE49-F238E27FC236}">
                  <a16:creationId xmlns:a16="http://schemas.microsoft.com/office/drawing/2014/main" id="{DDEE6DB1-0353-464F-CA0E-87CBC0F6C942}"/>
                </a:ext>
              </a:extLst>
            </p:cNvPr>
            <p:cNvGrpSpPr>
              <a:grpSpLocks/>
            </p:cNvGrpSpPr>
            <p:nvPr/>
          </p:nvGrpSpPr>
          <p:grpSpPr bwMode="auto">
            <a:xfrm>
              <a:off x="1201737" y="4157066"/>
              <a:ext cx="304800" cy="381000"/>
              <a:chOff x="1099" y="1621"/>
              <a:chExt cx="296" cy="390"/>
            </a:xfrm>
          </p:grpSpPr>
          <p:sp>
            <p:nvSpPr>
              <p:cNvPr id="205" name="Oval 33">
                <a:extLst>
                  <a:ext uri="{FF2B5EF4-FFF2-40B4-BE49-F238E27FC236}">
                    <a16:creationId xmlns:a16="http://schemas.microsoft.com/office/drawing/2014/main" id="{E0567730-10BD-2CD2-17CF-7A8770D621B7}"/>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06" name="Line 34">
                <a:extLst>
                  <a:ext uri="{FF2B5EF4-FFF2-40B4-BE49-F238E27FC236}">
                    <a16:creationId xmlns:a16="http://schemas.microsoft.com/office/drawing/2014/main" id="{24B1E5F7-673E-5B38-B0F9-601E67125555}"/>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07" name="Line 35">
                <a:extLst>
                  <a:ext uri="{FF2B5EF4-FFF2-40B4-BE49-F238E27FC236}">
                    <a16:creationId xmlns:a16="http://schemas.microsoft.com/office/drawing/2014/main" id="{4A4453BF-375F-5A27-6390-4B2935A27162}"/>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08" name="Line 36">
                <a:extLst>
                  <a:ext uri="{FF2B5EF4-FFF2-40B4-BE49-F238E27FC236}">
                    <a16:creationId xmlns:a16="http://schemas.microsoft.com/office/drawing/2014/main" id="{6F7C957E-E56B-F7E6-DE0A-76709958DD52}"/>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09" name="Line 37">
                <a:extLst>
                  <a:ext uri="{FF2B5EF4-FFF2-40B4-BE49-F238E27FC236}">
                    <a16:creationId xmlns:a16="http://schemas.microsoft.com/office/drawing/2014/main" id="{C13E4308-6077-48BD-6645-1838EB115DD9}"/>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10" name="Line 38">
                <a:extLst>
                  <a:ext uri="{FF2B5EF4-FFF2-40B4-BE49-F238E27FC236}">
                    <a16:creationId xmlns:a16="http://schemas.microsoft.com/office/drawing/2014/main" id="{BB4D6D4E-3F0F-14F5-B2AE-8B56491D3F21}"/>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grpSp>
        <p:grpSp>
          <p:nvGrpSpPr>
            <p:cNvPr id="163" name="Group 39">
              <a:extLst>
                <a:ext uri="{FF2B5EF4-FFF2-40B4-BE49-F238E27FC236}">
                  <a16:creationId xmlns:a16="http://schemas.microsoft.com/office/drawing/2014/main" id="{11C303B4-6A1E-9697-517D-E7723B1C93B0}"/>
                </a:ext>
              </a:extLst>
            </p:cNvPr>
            <p:cNvGrpSpPr>
              <a:grpSpLocks/>
            </p:cNvGrpSpPr>
            <p:nvPr/>
          </p:nvGrpSpPr>
          <p:grpSpPr bwMode="auto">
            <a:xfrm>
              <a:off x="1430337" y="4080866"/>
              <a:ext cx="304800" cy="533400"/>
              <a:chOff x="1099" y="1621"/>
              <a:chExt cx="296" cy="390"/>
            </a:xfrm>
          </p:grpSpPr>
          <p:sp>
            <p:nvSpPr>
              <p:cNvPr id="199" name="Oval 40">
                <a:extLst>
                  <a:ext uri="{FF2B5EF4-FFF2-40B4-BE49-F238E27FC236}">
                    <a16:creationId xmlns:a16="http://schemas.microsoft.com/office/drawing/2014/main" id="{A9F5103C-A2C4-471B-5601-B57E49F02406}"/>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00" name="Line 41">
                <a:extLst>
                  <a:ext uri="{FF2B5EF4-FFF2-40B4-BE49-F238E27FC236}">
                    <a16:creationId xmlns:a16="http://schemas.microsoft.com/office/drawing/2014/main" id="{287B8B69-EEE0-E3BA-6B47-E551BCDEBF25}"/>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01" name="Line 42">
                <a:extLst>
                  <a:ext uri="{FF2B5EF4-FFF2-40B4-BE49-F238E27FC236}">
                    <a16:creationId xmlns:a16="http://schemas.microsoft.com/office/drawing/2014/main" id="{00E40265-6F1D-8549-B623-515A5EE464EB}"/>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02" name="Line 43">
                <a:extLst>
                  <a:ext uri="{FF2B5EF4-FFF2-40B4-BE49-F238E27FC236}">
                    <a16:creationId xmlns:a16="http://schemas.microsoft.com/office/drawing/2014/main" id="{737588B2-7C78-CF47-F580-2FA8DADBA962}"/>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03" name="Line 44">
                <a:extLst>
                  <a:ext uri="{FF2B5EF4-FFF2-40B4-BE49-F238E27FC236}">
                    <a16:creationId xmlns:a16="http://schemas.microsoft.com/office/drawing/2014/main" id="{0D66C43A-CB86-D9CB-614C-3562D30B2436}"/>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204" name="Line 45">
                <a:extLst>
                  <a:ext uri="{FF2B5EF4-FFF2-40B4-BE49-F238E27FC236}">
                    <a16:creationId xmlns:a16="http://schemas.microsoft.com/office/drawing/2014/main" id="{78A6F16F-598C-ADF2-E19A-3473A69AB439}"/>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grpSp>
        <p:grpSp>
          <p:nvGrpSpPr>
            <p:cNvPr id="164" name="Group 46">
              <a:extLst>
                <a:ext uri="{FF2B5EF4-FFF2-40B4-BE49-F238E27FC236}">
                  <a16:creationId xmlns:a16="http://schemas.microsoft.com/office/drawing/2014/main" id="{F0D7C519-47D8-0BE1-22C2-8F1DD40DBBA1}"/>
                </a:ext>
              </a:extLst>
            </p:cNvPr>
            <p:cNvGrpSpPr>
              <a:grpSpLocks/>
            </p:cNvGrpSpPr>
            <p:nvPr/>
          </p:nvGrpSpPr>
          <p:grpSpPr bwMode="auto">
            <a:xfrm>
              <a:off x="1671637" y="5071467"/>
              <a:ext cx="469900" cy="619125"/>
              <a:chOff x="1099" y="1621"/>
              <a:chExt cx="296" cy="390"/>
            </a:xfrm>
          </p:grpSpPr>
          <p:sp>
            <p:nvSpPr>
              <p:cNvPr id="193" name="Oval 47">
                <a:extLst>
                  <a:ext uri="{FF2B5EF4-FFF2-40B4-BE49-F238E27FC236}">
                    <a16:creationId xmlns:a16="http://schemas.microsoft.com/office/drawing/2014/main" id="{12652915-8367-9D54-4680-EC896BCCF437}"/>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94" name="Line 48">
                <a:extLst>
                  <a:ext uri="{FF2B5EF4-FFF2-40B4-BE49-F238E27FC236}">
                    <a16:creationId xmlns:a16="http://schemas.microsoft.com/office/drawing/2014/main" id="{D61B0CD4-FBAC-CFA5-9D42-2AC1C2593BBD}"/>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95" name="Line 49">
                <a:extLst>
                  <a:ext uri="{FF2B5EF4-FFF2-40B4-BE49-F238E27FC236}">
                    <a16:creationId xmlns:a16="http://schemas.microsoft.com/office/drawing/2014/main" id="{E4F59ACE-B192-766D-993A-5E5327A90019}"/>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96" name="Line 50">
                <a:extLst>
                  <a:ext uri="{FF2B5EF4-FFF2-40B4-BE49-F238E27FC236}">
                    <a16:creationId xmlns:a16="http://schemas.microsoft.com/office/drawing/2014/main" id="{2347FF49-60FA-20D4-85EA-467C28A3D2AA}"/>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97" name="Line 51">
                <a:extLst>
                  <a:ext uri="{FF2B5EF4-FFF2-40B4-BE49-F238E27FC236}">
                    <a16:creationId xmlns:a16="http://schemas.microsoft.com/office/drawing/2014/main" id="{B85E5642-F5EB-3096-4565-E5257CDCA5DE}"/>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98" name="Line 52">
                <a:extLst>
                  <a:ext uri="{FF2B5EF4-FFF2-40B4-BE49-F238E27FC236}">
                    <a16:creationId xmlns:a16="http://schemas.microsoft.com/office/drawing/2014/main" id="{6B2BBF4E-8E25-EF2E-32BF-070F217302F0}"/>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grpSp>
        <p:grpSp>
          <p:nvGrpSpPr>
            <p:cNvPr id="165" name="Group 53">
              <a:extLst>
                <a:ext uri="{FF2B5EF4-FFF2-40B4-BE49-F238E27FC236}">
                  <a16:creationId xmlns:a16="http://schemas.microsoft.com/office/drawing/2014/main" id="{DA914E84-41D2-E959-47C6-5C3D3C19143F}"/>
                </a:ext>
              </a:extLst>
            </p:cNvPr>
            <p:cNvGrpSpPr>
              <a:grpSpLocks/>
            </p:cNvGrpSpPr>
            <p:nvPr/>
          </p:nvGrpSpPr>
          <p:grpSpPr bwMode="auto">
            <a:xfrm>
              <a:off x="1214437" y="5300066"/>
              <a:ext cx="304800" cy="381000"/>
              <a:chOff x="1099" y="1621"/>
              <a:chExt cx="296" cy="390"/>
            </a:xfrm>
          </p:grpSpPr>
          <p:sp>
            <p:nvSpPr>
              <p:cNvPr id="187" name="Oval 54">
                <a:extLst>
                  <a:ext uri="{FF2B5EF4-FFF2-40B4-BE49-F238E27FC236}">
                    <a16:creationId xmlns:a16="http://schemas.microsoft.com/office/drawing/2014/main" id="{33A2DA36-1350-DC33-A47E-B734856A40A5}"/>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88" name="Line 55">
                <a:extLst>
                  <a:ext uri="{FF2B5EF4-FFF2-40B4-BE49-F238E27FC236}">
                    <a16:creationId xmlns:a16="http://schemas.microsoft.com/office/drawing/2014/main" id="{2C7B0307-FFCA-BE24-E3DD-2E1B9D28DAFD}"/>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89" name="Line 56">
                <a:extLst>
                  <a:ext uri="{FF2B5EF4-FFF2-40B4-BE49-F238E27FC236}">
                    <a16:creationId xmlns:a16="http://schemas.microsoft.com/office/drawing/2014/main" id="{5EBF0747-B7B2-FB02-5410-B133AC98D25C}"/>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90" name="Line 57">
                <a:extLst>
                  <a:ext uri="{FF2B5EF4-FFF2-40B4-BE49-F238E27FC236}">
                    <a16:creationId xmlns:a16="http://schemas.microsoft.com/office/drawing/2014/main" id="{0BCCA12A-9755-8AF1-F4A2-7D44247CB31F}"/>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91" name="Line 58">
                <a:extLst>
                  <a:ext uri="{FF2B5EF4-FFF2-40B4-BE49-F238E27FC236}">
                    <a16:creationId xmlns:a16="http://schemas.microsoft.com/office/drawing/2014/main" id="{3919596F-7116-6052-89ED-B900E2480B60}"/>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92" name="Line 59">
                <a:extLst>
                  <a:ext uri="{FF2B5EF4-FFF2-40B4-BE49-F238E27FC236}">
                    <a16:creationId xmlns:a16="http://schemas.microsoft.com/office/drawing/2014/main" id="{0C1A23A6-509B-B865-54CE-4A19ED5B8919}"/>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grpSp>
        <p:grpSp>
          <p:nvGrpSpPr>
            <p:cNvPr id="166" name="Group 60">
              <a:extLst>
                <a:ext uri="{FF2B5EF4-FFF2-40B4-BE49-F238E27FC236}">
                  <a16:creationId xmlns:a16="http://schemas.microsoft.com/office/drawing/2014/main" id="{274FC08E-EF07-72CA-634D-6110AA61FEE4}"/>
                </a:ext>
              </a:extLst>
            </p:cNvPr>
            <p:cNvGrpSpPr>
              <a:grpSpLocks/>
            </p:cNvGrpSpPr>
            <p:nvPr/>
          </p:nvGrpSpPr>
          <p:grpSpPr bwMode="auto">
            <a:xfrm>
              <a:off x="1443037" y="5223866"/>
              <a:ext cx="304800" cy="533400"/>
              <a:chOff x="1099" y="1621"/>
              <a:chExt cx="296" cy="390"/>
            </a:xfrm>
          </p:grpSpPr>
          <p:sp>
            <p:nvSpPr>
              <p:cNvPr id="181" name="Oval 61">
                <a:extLst>
                  <a:ext uri="{FF2B5EF4-FFF2-40B4-BE49-F238E27FC236}">
                    <a16:creationId xmlns:a16="http://schemas.microsoft.com/office/drawing/2014/main" id="{9F4C4709-86D7-B924-F928-F2DA7FB64C36}"/>
                  </a:ext>
                </a:extLst>
              </p:cNvPr>
              <p:cNvSpPr>
                <a:spLocks noChangeArrowheads="1"/>
              </p:cNvSpPr>
              <p:nvPr/>
            </p:nvSpPr>
            <p:spPr bwMode="auto">
              <a:xfrm>
                <a:off x="1192" y="1621"/>
                <a:ext cx="117" cy="11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82" name="Line 62">
                <a:extLst>
                  <a:ext uri="{FF2B5EF4-FFF2-40B4-BE49-F238E27FC236}">
                    <a16:creationId xmlns:a16="http://schemas.microsoft.com/office/drawing/2014/main" id="{641BC11B-4E41-8680-9AFC-8A992FF78FF4}"/>
                  </a:ext>
                </a:extLst>
              </p:cNvPr>
              <p:cNvSpPr>
                <a:spLocks noChangeShapeType="1"/>
              </p:cNvSpPr>
              <p:nvPr/>
            </p:nvSpPr>
            <p:spPr bwMode="auto">
              <a:xfrm>
                <a:off x="1255" y="1738"/>
                <a:ext cx="0" cy="1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83" name="Line 63">
                <a:extLst>
                  <a:ext uri="{FF2B5EF4-FFF2-40B4-BE49-F238E27FC236}">
                    <a16:creationId xmlns:a16="http://schemas.microsoft.com/office/drawing/2014/main" id="{F04A3D27-8DD0-9E11-FB8E-47343ACBC8F3}"/>
                  </a:ext>
                </a:extLst>
              </p:cNvPr>
              <p:cNvSpPr>
                <a:spLocks noChangeShapeType="1"/>
              </p:cNvSpPr>
              <p:nvPr/>
            </p:nvSpPr>
            <p:spPr bwMode="auto">
              <a:xfrm flipH="1">
                <a:off x="1177" y="1909"/>
                <a:ext cx="7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84" name="Line 64">
                <a:extLst>
                  <a:ext uri="{FF2B5EF4-FFF2-40B4-BE49-F238E27FC236}">
                    <a16:creationId xmlns:a16="http://schemas.microsoft.com/office/drawing/2014/main" id="{88772B40-308E-80A0-D538-2436FBA3FD2C}"/>
                  </a:ext>
                </a:extLst>
              </p:cNvPr>
              <p:cNvSpPr>
                <a:spLocks noChangeShapeType="1"/>
              </p:cNvSpPr>
              <p:nvPr/>
            </p:nvSpPr>
            <p:spPr bwMode="auto">
              <a:xfrm>
                <a:off x="1247" y="1909"/>
                <a:ext cx="70" cy="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85" name="Line 65">
                <a:extLst>
                  <a:ext uri="{FF2B5EF4-FFF2-40B4-BE49-F238E27FC236}">
                    <a16:creationId xmlns:a16="http://schemas.microsoft.com/office/drawing/2014/main" id="{0C00B7FD-4997-402C-C335-317CC1554287}"/>
                  </a:ext>
                </a:extLst>
              </p:cNvPr>
              <p:cNvSpPr>
                <a:spLocks noChangeShapeType="1"/>
              </p:cNvSpPr>
              <p:nvPr/>
            </p:nvSpPr>
            <p:spPr bwMode="auto">
              <a:xfrm flipH="1" flipV="1">
                <a:off x="1099" y="1777"/>
                <a:ext cx="156" cy="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86" name="Line 66">
                <a:extLst>
                  <a:ext uri="{FF2B5EF4-FFF2-40B4-BE49-F238E27FC236}">
                    <a16:creationId xmlns:a16="http://schemas.microsoft.com/office/drawing/2014/main" id="{F484819C-6D33-22F1-283F-09CC2A94C8C8}"/>
                  </a:ext>
                </a:extLst>
              </p:cNvPr>
              <p:cNvSpPr>
                <a:spLocks noChangeShapeType="1"/>
              </p:cNvSpPr>
              <p:nvPr/>
            </p:nvSpPr>
            <p:spPr bwMode="auto">
              <a:xfrm flipV="1">
                <a:off x="1262" y="1753"/>
                <a:ext cx="133" cy="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grpSp>
        <p:sp>
          <p:nvSpPr>
            <p:cNvPr id="167" name="Text Box 67">
              <a:extLst>
                <a:ext uri="{FF2B5EF4-FFF2-40B4-BE49-F238E27FC236}">
                  <a16:creationId xmlns:a16="http://schemas.microsoft.com/office/drawing/2014/main" id="{FB7A0533-3DD6-E25F-156B-4CD43B5FA39E}"/>
                </a:ext>
              </a:extLst>
            </p:cNvPr>
            <p:cNvSpPr txBox="1">
              <a:spLocks noChangeArrowheads="1"/>
            </p:cNvSpPr>
            <p:nvPr/>
          </p:nvSpPr>
          <p:spPr bwMode="auto">
            <a:xfrm>
              <a:off x="757237" y="3433165"/>
              <a:ext cx="2259024" cy="421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sz="700" dirty="0"/>
                <a:t>Premier Members</a:t>
              </a:r>
            </a:p>
          </p:txBody>
        </p:sp>
        <p:sp>
          <p:nvSpPr>
            <p:cNvPr id="168" name="Text Box 69">
              <a:extLst>
                <a:ext uri="{FF2B5EF4-FFF2-40B4-BE49-F238E27FC236}">
                  <a16:creationId xmlns:a16="http://schemas.microsoft.com/office/drawing/2014/main" id="{ABE6A118-F82A-10DA-BBCC-736CDF08D882}"/>
                </a:ext>
              </a:extLst>
            </p:cNvPr>
            <p:cNvSpPr txBox="1">
              <a:spLocks noChangeArrowheads="1"/>
            </p:cNvSpPr>
            <p:nvPr/>
          </p:nvSpPr>
          <p:spPr bwMode="auto">
            <a:xfrm>
              <a:off x="681037" y="5771554"/>
              <a:ext cx="2255002" cy="421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sz="700"/>
                <a:t>Regular Members</a:t>
              </a:r>
            </a:p>
          </p:txBody>
        </p:sp>
        <p:sp>
          <p:nvSpPr>
            <p:cNvPr id="169" name="Text Box 70">
              <a:extLst>
                <a:ext uri="{FF2B5EF4-FFF2-40B4-BE49-F238E27FC236}">
                  <a16:creationId xmlns:a16="http://schemas.microsoft.com/office/drawing/2014/main" id="{25EB8554-E1FE-CB38-7CB5-F5EE26A71699}"/>
                </a:ext>
              </a:extLst>
            </p:cNvPr>
            <p:cNvSpPr txBox="1">
              <a:spLocks noChangeArrowheads="1"/>
            </p:cNvSpPr>
            <p:nvPr/>
          </p:nvSpPr>
          <p:spPr bwMode="auto">
            <a:xfrm>
              <a:off x="4665662" y="2896592"/>
              <a:ext cx="1646323" cy="3380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sz="700" dirty="0"/>
                <a:t>1-800-Premier</a:t>
              </a:r>
              <a:endParaRPr lang="en-US" altLang="x-none" sz="500" dirty="0"/>
            </a:p>
          </p:txBody>
        </p:sp>
        <p:sp>
          <p:nvSpPr>
            <p:cNvPr id="170" name="Line 71">
              <a:extLst>
                <a:ext uri="{FF2B5EF4-FFF2-40B4-BE49-F238E27FC236}">
                  <a16:creationId xmlns:a16="http://schemas.microsoft.com/office/drawing/2014/main" id="{DC777919-0F6D-0A88-BCF8-94A4FADE74A6}"/>
                </a:ext>
              </a:extLst>
            </p:cNvPr>
            <p:cNvSpPr>
              <a:spLocks noChangeShapeType="1"/>
            </p:cNvSpPr>
            <p:nvPr/>
          </p:nvSpPr>
          <p:spPr bwMode="auto">
            <a:xfrm>
              <a:off x="2205037" y="3095029"/>
              <a:ext cx="2438400" cy="47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71" name="Line 72">
              <a:extLst>
                <a:ext uri="{FF2B5EF4-FFF2-40B4-BE49-F238E27FC236}">
                  <a16:creationId xmlns:a16="http://schemas.microsoft.com/office/drawing/2014/main" id="{3FFB4CC9-F067-EDA7-2A4C-544828C8D36A}"/>
                </a:ext>
              </a:extLst>
            </p:cNvPr>
            <p:cNvSpPr>
              <a:spLocks noChangeShapeType="1"/>
            </p:cNvSpPr>
            <p:nvPr/>
          </p:nvSpPr>
          <p:spPr bwMode="auto">
            <a:xfrm>
              <a:off x="2128837" y="4309466"/>
              <a:ext cx="2438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72" name="Line 73">
              <a:extLst>
                <a:ext uri="{FF2B5EF4-FFF2-40B4-BE49-F238E27FC236}">
                  <a16:creationId xmlns:a16="http://schemas.microsoft.com/office/drawing/2014/main" id="{474536C6-A904-F731-638E-235FD882DB51}"/>
                </a:ext>
              </a:extLst>
            </p:cNvPr>
            <p:cNvSpPr>
              <a:spLocks noChangeShapeType="1"/>
            </p:cNvSpPr>
            <p:nvPr/>
          </p:nvSpPr>
          <p:spPr bwMode="auto">
            <a:xfrm flipV="1">
              <a:off x="2281237" y="5419128"/>
              <a:ext cx="2185988" cy="79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73" name="Text Box 76">
              <a:extLst>
                <a:ext uri="{FF2B5EF4-FFF2-40B4-BE49-F238E27FC236}">
                  <a16:creationId xmlns:a16="http://schemas.microsoft.com/office/drawing/2014/main" id="{D2C83215-5A0E-73F9-CE77-D5328D149A5C}"/>
                </a:ext>
              </a:extLst>
            </p:cNvPr>
            <p:cNvSpPr txBox="1">
              <a:spLocks noChangeArrowheads="1"/>
            </p:cNvSpPr>
            <p:nvPr/>
          </p:nvSpPr>
          <p:spPr bwMode="auto">
            <a:xfrm>
              <a:off x="6894455" y="2718791"/>
              <a:ext cx="1708950" cy="7020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700" dirty="0"/>
                <a:t>Premier</a:t>
              </a:r>
            </a:p>
            <a:p>
              <a:pPr algn="ctr"/>
              <a:r>
                <a:rPr lang="en-US" altLang="x-none" sz="700" dirty="0"/>
                <a:t>Customer</a:t>
              </a:r>
            </a:p>
            <a:p>
              <a:pPr algn="ctr"/>
              <a:r>
                <a:rPr lang="en-US" altLang="x-none" sz="700" dirty="0"/>
                <a:t>Representative</a:t>
              </a:r>
              <a:endParaRPr lang="en-US" altLang="x-none" sz="900" dirty="0"/>
            </a:p>
          </p:txBody>
        </p:sp>
        <p:sp>
          <p:nvSpPr>
            <p:cNvPr id="174" name="Text Box 77">
              <a:extLst>
                <a:ext uri="{FF2B5EF4-FFF2-40B4-BE49-F238E27FC236}">
                  <a16:creationId xmlns:a16="http://schemas.microsoft.com/office/drawing/2014/main" id="{936DD6AF-02B1-CC21-B04E-22A2207758E7}"/>
                </a:ext>
              </a:extLst>
            </p:cNvPr>
            <p:cNvSpPr txBox="1">
              <a:spLocks noChangeArrowheads="1"/>
            </p:cNvSpPr>
            <p:nvPr/>
          </p:nvSpPr>
          <p:spPr bwMode="auto">
            <a:xfrm>
              <a:off x="6961242" y="3941165"/>
              <a:ext cx="1960731" cy="62406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r>
                <a:rPr lang="en-US" altLang="x-none" sz="600" dirty="0"/>
                <a:t>F.F.</a:t>
              </a:r>
            </a:p>
            <a:p>
              <a:pPr algn="ctr"/>
              <a:r>
                <a:rPr lang="en-US" altLang="x-none" sz="600" dirty="0"/>
                <a:t>Customer</a:t>
              </a:r>
            </a:p>
            <a:p>
              <a:pPr algn="ctr"/>
              <a:r>
                <a:rPr lang="en-US" altLang="x-none" sz="600" dirty="0"/>
                <a:t>Representative</a:t>
              </a:r>
            </a:p>
          </p:txBody>
        </p:sp>
        <p:sp>
          <p:nvSpPr>
            <p:cNvPr id="175" name="Text Box 78">
              <a:extLst>
                <a:ext uri="{FF2B5EF4-FFF2-40B4-BE49-F238E27FC236}">
                  <a16:creationId xmlns:a16="http://schemas.microsoft.com/office/drawing/2014/main" id="{0BE2F59E-6A27-947B-CC2B-39BBF4BCD21F}"/>
                </a:ext>
              </a:extLst>
            </p:cNvPr>
            <p:cNvSpPr txBox="1">
              <a:spLocks noChangeArrowheads="1"/>
            </p:cNvSpPr>
            <p:nvPr/>
          </p:nvSpPr>
          <p:spPr bwMode="auto">
            <a:xfrm>
              <a:off x="7037494" y="5022933"/>
              <a:ext cx="1708947" cy="7020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700" dirty="0"/>
                <a:t>Regular</a:t>
              </a:r>
            </a:p>
            <a:p>
              <a:pPr algn="ctr"/>
              <a:r>
                <a:rPr lang="en-US" altLang="x-none" sz="700" dirty="0"/>
                <a:t>Customer</a:t>
              </a:r>
            </a:p>
            <a:p>
              <a:pPr algn="ctr"/>
              <a:r>
                <a:rPr lang="en-US" altLang="x-none" sz="700" dirty="0"/>
                <a:t>Representative</a:t>
              </a:r>
            </a:p>
          </p:txBody>
        </p:sp>
        <p:sp>
          <p:nvSpPr>
            <p:cNvPr id="176" name="Line 82">
              <a:extLst>
                <a:ext uri="{FF2B5EF4-FFF2-40B4-BE49-F238E27FC236}">
                  <a16:creationId xmlns:a16="http://schemas.microsoft.com/office/drawing/2014/main" id="{2A17B508-10CD-6979-D5D3-965A6CF1C71F}"/>
                </a:ext>
              </a:extLst>
            </p:cNvPr>
            <p:cNvSpPr>
              <a:spLocks noChangeShapeType="1"/>
            </p:cNvSpPr>
            <p:nvPr/>
          </p:nvSpPr>
          <p:spPr bwMode="auto">
            <a:xfrm>
              <a:off x="6197600" y="3082328"/>
              <a:ext cx="7493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77" name="Text Box 83">
              <a:extLst>
                <a:ext uri="{FF2B5EF4-FFF2-40B4-BE49-F238E27FC236}">
                  <a16:creationId xmlns:a16="http://schemas.microsoft.com/office/drawing/2014/main" id="{21769BAE-CB2E-40DA-3FDA-BA6B98A0AD78}"/>
                </a:ext>
              </a:extLst>
            </p:cNvPr>
            <p:cNvSpPr txBox="1">
              <a:spLocks noChangeArrowheads="1"/>
            </p:cNvSpPr>
            <p:nvPr/>
          </p:nvSpPr>
          <p:spPr bwMode="auto">
            <a:xfrm>
              <a:off x="4586287" y="4125314"/>
              <a:ext cx="1743739" cy="3380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sz="700" dirty="0"/>
                <a:t>1-800-Frequent</a:t>
              </a:r>
              <a:endParaRPr lang="en-US" altLang="x-none" sz="500" dirty="0"/>
            </a:p>
          </p:txBody>
        </p:sp>
        <p:sp>
          <p:nvSpPr>
            <p:cNvPr id="178" name="Line 84">
              <a:extLst>
                <a:ext uri="{FF2B5EF4-FFF2-40B4-BE49-F238E27FC236}">
                  <a16:creationId xmlns:a16="http://schemas.microsoft.com/office/drawing/2014/main" id="{C66E3C74-721C-96BA-60FC-976445A23AC8}"/>
                </a:ext>
              </a:extLst>
            </p:cNvPr>
            <p:cNvSpPr>
              <a:spLocks noChangeShapeType="1"/>
            </p:cNvSpPr>
            <p:nvPr/>
          </p:nvSpPr>
          <p:spPr bwMode="auto">
            <a:xfrm>
              <a:off x="6196012" y="4323753"/>
              <a:ext cx="6683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sp>
          <p:nvSpPr>
            <p:cNvPr id="179" name="Text Box 85">
              <a:extLst>
                <a:ext uri="{FF2B5EF4-FFF2-40B4-BE49-F238E27FC236}">
                  <a16:creationId xmlns:a16="http://schemas.microsoft.com/office/drawing/2014/main" id="{D9BB3BF3-2E72-B068-A3A3-38C745A44F95}"/>
                </a:ext>
              </a:extLst>
            </p:cNvPr>
            <p:cNvSpPr txBox="1">
              <a:spLocks noChangeArrowheads="1"/>
            </p:cNvSpPr>
            <p:nvPr/>
          </p:nvSpPr>
          <p:spPr bwMode="auto">
            <a:xfrm>
              <a:off x="4478338" y="5233391"/>
              <a:ext cx="2001194" cy="3380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sz="700" dirty="0"/>
                <a:t>1-800-Reservation</a:t>
              </a:r>
              <a:endParaRPr lang="en-US" altLang="x-none" sz="500" dirty="0"/>
            </a:p>
          </p:txBody>
        </p:sp>
        <p:sp>
          <p:nvSpPr>
            <p:cNvPr id="180" name="Line 86">
              <a:extLst>
                <a:ext uri="{FF2B5EF4-FFF2-40B4-BE49-F238E27FC236}">
                  <a16:creationId xmlns:a16="http://schemas.microsoft.com/office/drawing/2014/main" id="{1C85BBFB-B155-3DDD-FE68-52E4DC882160}"/>
                </a:ext>
              </a:extLst>
            </p:cNvPr>
            <p:cNvSpPr>
              <a:spLocks noChangeShapeType="1"/>
            </p:cNvSpPr>
            <p:nvPr/>
          </p:nvSpPr>
          <p:spPr bwMode="auto">
            <a:xfrm>
              <a:off x="6375400" y="5420716"/>
              <a:ext cx="393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700"/>
            </a:p>
          </p:txBody>
        </p:sp>
      </p:grpSp>
    </p:spTree>
    <p:extLst>
      <p:ext uri="{BB962C8B-B14F-4D97-AF65-F5344CB8AC3E}">
        <p14:creationId xmlns:p14="http://schemas.microsoft.com/office/powerpoint/2010/main" val="3043652096"/>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ADDC4-2FC1-7494-2CC4-93E045E55E1F}"/>
              </a:ext>
            </a:extLst>
          </p:cNvPr>
          <p:cNvSpPr>
            <a:spLocks noGrp="1"/>
          </p:cNvSpPr>
          <p:nvPr>
            <p:ph type="title"/>
          </p:nvPr>
        </p:nvSpPr>
        <p:spPr/>
        <p:txBody>
          <a:bodyPr>
            <a:normAutofit/>
          </a:bodyPr>
          <a:lstStyle/>
          <a:p>
            <a:r>
              <a:rPr lang="en-US" altLang="x-none" dirty="0"/>
              <a:t>Web-Based Reservation Service</a:t>
            </a:r>
            <a:endParaRPr lang="en-GB" dirty="0"/>
          </a:p>
        </p:txBody>
      </p:sp>
      <p:sp>
        <p:nvSpPr>
          <p:cNvPr id="3" name="Text Placeholder 2">
            <a:extLst>
              <a:ext uri="{FF2B5EF4-FFF2-40B4-BE49-F238E27FC236}">
                <a16:creationId xmlns:a16="http://schemas.microsoft.com/office/drawing/2014/main" id="{09D8296A-C912-AB45-DD2E-AF2873E5DC03}"/>
              </a:ext>
            </a:extLst>
          </p:cNvPr>
          <p:cNvSpPr>
            <a:spLocks noGrp="1"/>
          </p:cNvSpPr>
          <p:nvPr>
            <p:ph type="body" sz="quarter" idx="11"/>
          </p:nvPr>
        </p:nvSpPr>
        <p:spPr/>
        <p:txBody>
          <a:bodyPr/>
          <a:lstStyle/>
          <a:p>
            <a:r>
              <a:rPr lang="en-US" altLang="x-none" sz="2000" dirty="0"/>
              <a:t>Suppose now the airline wants to provide a </a:t>
            </a:r>
            <a:r>
              <a:rPr lang="en-US" altLang="x-none" sz="2000" dirty="0">
                <a:solidFill>
                  <a:srgbClr val="FF0000"/>
                </a:solidFill>
              </a:rPr>
              <a:t>Web reservation service </a:t>
            </a:r>
            <a:r>
              <a:rPr lang="en-US" altLang="x-none" sz="2000" dirty="0"/>
              <a:t>for customers to make flight reservations through the Web.</a:t>
            </a:r>
          </a:p>
          <a:p>
            <a:endParaRPr lang="en-US" altLang="x-none" sz="2000" dirty="0"/>
          </a:p>
          <a:p>
            <a:r>
              <a:rPr lang="en-US" altLang="x-none" sz="2000" dirty="0"/>
              <a:t>Just as with the telephone service, the airline wants to ensure that its premier members get immediate service, its frequent flyer members get expedited service, and all others get regular service.</a:t>
            </a:r>
          </a:p>
          <a:p>
            <a:endParaRPr lang="en-US" altLang="x-none" sz="2000" dirty="0"/>
          </a:p>
          <a:p>
            <a:r>
              <a:rPr lang="en-US" altLang="x-none" sz="2000" dirty="0"/>
              <a:t>There are two main approaches to implementing the Web reservation service.  The approaches are analogous to the telephone service...</a:t>
            </a:r>
          </a:p>
          <a:p>
            <a:endParaRPr lang="en-GB" sz="2000" dirty="0"/>
          </a:p>
          <a:p>
            <a:endParaRPr lang="en-GB" sz="2000" dirty="0"/>
          </a:p>
        </p:txBody>
      </p:sp>
    </p:spTree>
    <p:extLst>
      <p:ext uri="{BB962C8B-B14F-4D97-AF65-F5344CB8AC3E}">
        <p14:creationId xmlns:p14="http://schemas.microsoft.com/office/powerpoint/2010/main" val="3751359031"/>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4132D-2D6E-34E5-1B45-C5B0DD771D09}"/>
              </a:ext>
            </a:extLst>
          </p:cNvPr>
          <p:cNvSpPr>
            <a:spLocks noGrp="1"/>
          </p:cNvSpPr>
          <p:nvPr>
            <p:ph type="title"/>
          </p:nvPr>
        </p:nvSpPr>
        <p:spPr/>
        <p:txBody>
          <a:bodyPr>
            <a:normAutofit/>
          </a:bodyPr>
          <a:lstStyle/>
          <a:p>
            <a:r>
              <a:rPr lang="en-US" altLang="x-none" dirty="0"/>
              <a:t>Approach 1 One-Stop Shopping</a:t>
            </a:r>
            <a:endParaRPr lang="en-GB" dirty="0"/>
          </a:p>
        </p:txBody>
      </p:sp>
      <p:sp>
        <p:nvSpPr>
          <p:cNvPr id="3" name="Text Placeholder 2">
            <a:extLst>
              <a:ext uri="{FF2B5EF4-FFF2-40B4-BE49-F238E27FC236}">
                <a16:creationId xmlns:a16="http://schemas.microsoft.com/office/drawing/2014/main" id="{6F4349ED-D130-B5A2-B473-4737B7269AF6}"/>
              </a:ext>
            </a:extLst>
          </p:cNvPr>
          <p:cNvSpPr>
            <a:spLocks noGrp="1"/>
          </p:cNvSpPr>
          <p:nvPr>
            <p:ph type="body" sz="quarter" idx="11"/>
          </p:nvPr>
        </p:nvSpPr>
        <p:spPr>
          <a:xfrm>
            <a:off x="899591" y="1700808"/>
            <a:ext cx="7886700" cy="1070811"/>
          </a:xfrm>
        </p:spPr>
        <p:txBody>
          <a:bodyPr/>
          <a:lstStyle/>
          <a:p>
            <a:r>
              <a:rPr lang="en-US" altLang="x-none" dirty="0"/>
              <a:t>The airline provides </a:t>
            </a:r>
            <a:r>
              <a:rPr lang="en-US" altLang="x-none" dirty="0">
                <a:solidFill>
                  <a:srgbClr val="FF0000"/>
                </a:solidFill>
              </a:rPr>
              <a:t>a single URL</a:t>
            </a:r>
            <a:r>
              <a:rPr lang="en-US" altLang="x-none" dirty="0"/>
              <a:t>.  The Web service is responsible for examining incoming client requests to determine their priority and process them accordingly.</a:t>
            </a:r>
          </a:p>
          <a:p>
            <a:endParaRPr lang="en-GB" dirty="0"/>
          </a:p>
        </p:txBody>
      </p:sp>
      <p:grpSp>
        <p:nvGrpSpPr>
          <p:cNvPr id="4" name="Group 3">
            <a:extLst>
              <a:ext uri="{FF2B5EF4-FFF2-40B4-BE49-F238E27FC236}">
                <a16:creationId xmlns:a16="http://schemas.microsoft.com/office/drawing/2014/main" id="{846D4B6C-45BC-29FF-FE29-790679FB617C}"/>
              </a:ext>
            </a:extLst>
          </p:cNvPr>
          <p:cNvGrpSpPr/>
          <p:nvPr/>
        </p:nvGrpSpPr>
        <p:grpSpPr>
          <a:xfrm>
            <a:off x="716123" y="2784014"/>
            <a:ext cx="8070168" cy="3669322"/>
            <a:chOff x="1792863" y="2941039"/>
            <a:chExt cx="8407176" cy="3113087"/>
          </a:xfrm>
        </p:grpSpPr>
        <p:sp>
          <p:nvSpPr>
            <p:cNvPr id="5" name="Rectangle 84">
              <a:extLst>
                <a:ext uri="{FF2B5EF4-FFF2-40B4-BE49-F238E27FC236}">
                  <a16:creationId xmlns:a16="http://schemas.microsoft.com/office/drawing/2014/main" id="{E523C163-D01D-8783-C0A5-C32DB60375BF}"/>
                </a:ext>
              </a:extLst>
            </p:cNvPr>
            <p:cNvSpPr>
              <a:spLocks noChangeArrowheads="1"/>
            </p:cNvSpPr>
            <p:nvPr/>
          </p:nvSpPr>
          <p:spPr bwMode="auto">
            <a:xfrm>
              <a:off x="2389761" y="2941039"/>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1000"/>
            </a:p>
          </p:txBody>
        </p:sp>
        <p:sp>
          <p:nvSpPr>
            <p:cNvPr id="6" name="Text Box 67">
              <a:extLst>
                <a:ext uri="{FF2B5EF4-FFF2-40B4-BE49-F238E27FC236}">
                  <a16:creationId xmlns:a16="http://schemas.microsoft.com/office/drawing/2014/main" id="{686AAF98-23AB-2721-672F-691C1EF3B68E}"/>
                </a:ext>
              </a:extLst>
            </p:cNvPr>
            <p:cNvSpPr txBox="1">
              <a:spLocks noChangeArrowheads="1"/>
            </p:cNvSpPr>
            <p:nvPr/>
          </p:nvSpPr>
          <p:spPr bwMode="auto">
            <a:xfrm>
              <a:off x="2097660" y="3655412"/>
              <a:ext cx="2070877" cy="302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sz="1000"/>
                <a:t>Premier Members</a:t>
              </a:r>
            </a:p>
          </p:txBody>
        </p:sp>
        <p:sp>
          <p:nvSpPr>
            <p:cNvPr id="7" name="Text Box 68">
              <a:extLst>
                <a:ext uri="{FF2B5EF4-FFF2-40B4-BE49-F238E27FC236}">
                  <a16:creationId xmlns:a16="http://schemas.microsoft.com/office/drawing/2014/main" id="{AEE8534C-BB9F-4C7F-61E4-0F2771C598DA}"/>
                </a:ext>
              </a:extLst>
            </p:cNvPr>
            <p:cNvSpPr txBox="1">
              <a:spLocks noChangeArrowheads="1"/>
            </p:cNvSpPr>
            <p:nvPr/>
          </p:nvSpPr>
          <p:spPr bwMode="auto">
            <a:xfrm>
              <a:off x="1792863" y="4849211"/>
              <a:ext cx="2727860" cy="302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sz="1000"/>
                <a:t>Frequent Flyer Members</a:t>
              </a:r>
            </a:p>
          </p:txBody>
        </p:sp>
        <p:sp>
          <p:nvSpPr>
            <p:cNvPr id="8" name="Text Box 70">
              <a:extLst>
                <a:ext uri="{FF2B5EF4-FFF2-40B4-BE49-F238E27FC236}">
                  <a16:creationId xmlns:a16="http://schemas.microsoft.com/office/drawing/2014/main" id="{7288947C-E178-587A-C9F3-D779565B9A2E}"/>
                </a:ext>
              </a:extLst>
            </p:cNvPr>
            <p:cNvSpPr txBox="1">
              <a:spLocks noChangeArrowheads="1"/>
            </p:cNvSpPr>
            <p:nvPr/>
          </p:nvSpPr>
          <p:spPr bwMode="auto">
            <a:xfrm>
              <a:off x="5863541" y="4214212"/>
              <a:ext cx="1551915" cy="680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1000" dirty="0"/>
                <a:t>Web </a:t>
              </a:r>
            </a:p>
            <a:p>
              <a:pPr algn="ctr"/>
              <a:r>
                <a:rPr lang="en-US" altLang="x-none" sz="1000" dirty="0"/>
                <a:t>Reservation </a:t>
              </a:r>
            </a:p>
            <a:p>
              <a:pPr algn="ctr"/>
              <a:r>
                <a:rPr lang="en-US" altLang="x-none" sz="1000" dirty="0"/>
                <a:t>Service</a:t>
              </a:r>
            </a:p>
          </p:txBody>
        </p:sp>
        <p:sp>
          <p:nvSpPr>
            <p:cNvPr id="9" name="Line 71">
              <a:extLst>
                <a:ext uri="{FF2B5EF4-FFF2-40B4-BE49-F238E27FC236}">
                  <a16:creationId xmlns:a16="http://schemas.microsoft.com/office/drawing/2014/main" id="{037E1D2A-2454-A3CD-D59A-55AF6F035303}"/>
                </a:ext>
              </a:extLst>
            </p:cNvPr>
            <p:cNvSpPr>
              <a:spLocks noChangeShapeType="1"/>
            </p:cNvSpPr>
            <p:nvPr/>
          </p:nvSpPr>
          <p:spPr bwMode="auto">
            <a:xfrm>
              <a:off x="3545462" y="3553812"/>
              <a:ext cx="2318080" cy="74612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1000"/>
            </a:p>
          </p:txBody>
        </p:sp>
        <p:sp>
          <p:nvSpPr>
            <p:cNvPr id="10" name="Line 72">
              <a:extLst>
                <a:ext uri="{FF2B5EF4-FFF2-40B4-BE49-F238E27FC236}">
                  <a16:creationId xmlns:a16="http://schemas.microsoft.com/office/drawing/2014/main" id="{C42DB6B6-3272-8448-DF0F-3E43D4731397}"/>
                </a:ext>
              </a:extLst>
            </p:cNvPr>
            <p:cNvSpPr>
              <a:spLocks noChangeShapeType="1"/>
            </p:cNvSpPr>
            <p:nvPr/>
          </p:nvSpPr>
          <p:spPr bwMode="auto">
            <a:xfrm flipV="1">
              <a:off x="3567688" y="4555526"/>
              <a:ext cx="2295852" cy="650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1000"/>
            </a:p>
          </p:txBody>
        </p:sp>
        <p:sp>
          <p:nvSpPr>
            <p:cNvPr id="11" name="Line 73">
              <a:extLst>
                <a:ext uri="{FF2B5EF4-FFF2-40B4-BE49-F238E27FC236}">
                  <a16:creationId xmlns:a16="http://schemas.microsoft.com/office/drawing/2014/main" id="{6248C8CC-50D1-5EB2-4917-F6A654FE75AE}"/>
                </a:ext>
              </a:extLst>
            </p:cNvPr>
            <p:cNvSpPr>
              <a:spLocks noChangeShapeType="1"/>
            </p:cNvSpPr>
            <p:nvPr/>
          </p:nvSpPr>
          <p:spPr bwMode="auto">
            <a:xfrm flipV="1">
              <a:off x="3621661" y="4849211"/>
              <a:ext cx="2241879" cy="76200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1000"/>
            </a:p>
          </p:txBody>
        </p:sp>
        <p:sp>
          <p:nvSpPr>
            <p:cNvPr id="12" name="Text Box 74">
              <a:extLst>
                <a:ext uri="{FF2B5EF4-FFF2-40B4-BE49-F238E27FC236}">
                  <a16:creationId xmlns:a16="http://schemas.microsoft.com/office/drawing/2014/main" id="{EB991A22-DC21-03CA-ED00-982637A66614}"/>
                </a:ext>
              </a:extLst>
            </p:cNvPr>
            <p:cNvSpPr txBox="1">
              <a:spLocks noChangeArrowheads="1"/>
            </p:cNvSpPr>
            <p:nvPr/>
          </p:nvSpPr>
          <p:spPr bwMode="auto">
            <a:xfrm>
              <a:off x="7628818" y="4315814"/>
              <a:ext cx="1234466" cy="45355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900"/>
                <a:t>Determine</a:t>
              </a:r>
            </a:p>
            <a:p>
              <a:pPr algn="ctr"/>
              <a:r>
                <a:rPr lang="en-US" altLang="x-none" sz="900"/>
                <a:t>Priority</a:t>
              </a:r>
            </a:p>
          </p:txBody>
        </p:sp>
        <p:sp>
          <p:nvSpPr>
            <p:cNvPr id="13" name="Line 75">
              <a:extLst>
                <a:ext uri="{FF2B5EF4-FFF2-40B4-BE49-F238E27FC236}">
                  <a16:creationId xmlns:a16="http://schemas.microsoft.com/office/drawing/2014/main" id="{89347DA4-B224-EFF3-F1BE-AE24B8EE2B09}"/>
                </a:ext>
              </a:extLst>
            </p:cNvPr>
            <p:cNvSpPr>
              <a:spLocks noChangeShapeType="1"/>
            </p:cNvSpPr>
            <p:nvPr/>
          </p:nvSpPr>
          <p:spPr bwMode="auto">
            <a:xfrm flipV="1">
              <a:off x="7339587" y="4555526"/>
              <a:ext cx="289232" cy="650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1000"/>
            </a:p>
          </p:txBody>
        </p:sp>
        <p:sp>
          <p:nvSpPr>
            <p:cNvPr id="14" name="Text Box 76">
              <a:extLst>
                <a:ext uri="{FF2B5EF4-FFF2-40B4-BE49-F238E27FC236}">
                  <a16:creationId xmlns:a16="http://schemas.microsoft.com/office/drawing/2014/main" id="{8078F7C1-D6A0-506E-4127-2373841ACD49}"/>
                </a:ext>
              </a:extLst>
            </p:cNvPr>
            <p:cNvSpPr txBox="1">
              <a:spLocks noChangeArrowheads="1"/>
            </p:cNvSpPr>
            <p:nvPr/>
          </p:nvSpPr>
          <p:spPr bwMode="auto">
            <a:xfrm>
              <a:off x="9081298" y="3576037"/>
              <a:ext cx="1085403" cy="41576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800"/>
                <a:t>Premier</a:t>
              </a:r>
            </a:p>
            <a:p>
              <a:pPr algn="ctr"/>
              <a:r>
                <a:rPr lang="en-US" altLang="x-none" sz="800"/>
                <a:t>Customer</a:t>
              </a:r>
              <a:endParaRPr lang="en-US" altLang="x-none" sz="1000"/>
            </a:p>
          </p:txBody>
        </p:sp>
        <p:sp>
          <p:nvSpPr>
            <p:cNvPr id="15" name="Text Box 77">
              <a:extLst>
                <a:ext uri="{FF2B5EF4-FFF2-40B4-BE49-F238E27FC236}">
                  <a16:creationId xmlns:a16="http://schemas.microsoft.com/office/drawing/2014/main" id="{03A984EF-F320-E757-8CA5-71D06E6039CC}"/>
                </a:ext>
              </a:extLst>
            </p:cNvPr>
            <p:cNvSpPr txBox="1">
              <a:spLocks noChangeArrowheads="1"/>
            </p:cNvSpPr>
            <p:nvPr/>
          </p:nvSpPr>
          <p:spPr bwMode="auto">
            <a:xfrm>
              <a:off x="9114636" y="4341212"/>
              <a:ext cx="1085403" cy="41576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800"/>
                <a:t>F.F.</a:t>
              </a:r>
            </a:p>
            <a:p>
              <a:pPr algn="ctr"/>
              <a:r>
                <a:rPr lang="en-US" altLang="x-none" sz="800"/>
                <a:t>Customer</a:t>
              </a:r>
            </a:p>
          </p:txBody>
        </p:sp>
        <p:sp>
          <p:nvSpPr>
            <p:cNvPr id="16" name="Text Box 78">
              <a:extLst>
                <a:ext uri="{FF2B5EF4-FFF2-40B4-BE49-F238E27FC236}">
                  <a16:creationId xmlns:a16="http://schemas.microsoft.com/office/drawing/2014/main" id="{1A7A0DB1-2C88-491C-66BD-190C7D51609E}"/>
                </a:ext>
              </a:extLst>
            </p:cNvPr>
            <p:cNvSpPr txBox="1">
              <a:spLocks noChangeArrowheads="1"/>
            </p:cNvSpPr>
            <p:nvPr/>
          </p:nvSpPr>
          <p:spPr bwMode="auto">
            <a:xfrm>
              <a:off x="9081298" y="5111149"/>
              <a:ext cx="1085403" cy="41576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800"/>
                <a:t>Regular</a:t>
              </a:r>
            </a:p>
            <a:p>
              <a:pPr algn="ctr"/>
              <a:r>
                <a:rPr lang="en-US" altLang="x-none" sz="800"/>
                <a:t>Customer</a:t>
              </a:r>
            </a:p>
          </p:txBody>
        </p:sp>
        <p:sp>
          <p:nvSpPr>
            <p:cNvPr id="17" name="Line 79">
              <a:extLst>
                <a:ext uri="{FF2B5EF4-FFF2-40B4-BE49-F238E27FC236}">
                  <a16:creationId xmlns:a16="http://schemas.microsoft.com/office/drawing/2014/main" id="{A1706231-B7C2-4571-AD11-47E899243713}"/>
                </a:ext>
              </a:extLst>
            </p:cNvPr>
            <p:cNvSpPr>
              <a:spLocks noChangeShapeType="1"/>
            </p:cNvSpPr>
            <p:nvPr/>
          </p:nvSpPr>
          <p:spPr bwMode="auto">
            <a:xfrm flipV="1">
              <a:off x="8787386" y="3858612"/>
              <a:ext cx="38100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1000"/>
            </a:p>
          </p:txBody>
        </p:sp>
        <p:sp>
          <p:nvSpPr>
            <p:cNvPr id="18" name="Line 80">
              <a:extLst>
                <a:ext uri="{FF2B5EF4-FFF2-40B4-BE49-F238E27FC236}">
                  <a16:creationId xmlns:a16="http://schemas.microsoft.com/office/drawing/2014/main" id="{27D258D3-65D3-7A3C-41C4-8ECDE48CD10C}"/>
                </a:ext>
              </a:extLst>
            </p:cNvPr>
            <p:cNvSpPr>
              <a:spLocks noChangeShapeType="1"/>
            </p:cNvSpPr>
            <p:nvPr/>
          </p:nvSpPr>
          <p:spPr bwMode="auto">
            <a:xfrm>
              <a:off x="8787386" y="4620612"/>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1000"/>
            </a:p>
          </p:txBody>
        </p:sp>
        <p:sp>
          <p:nvSpPr>
            <p:cNvPr id="19" name="Line 81">
              <a:extLst>
                <a:ext uri="{FF2B5EF4-FFF2-40B4-BE49-F238E27FC236}">
                  <a16:creationId xmlns:a16="http://schemas.microsoft.com/office/drawing/2014/main" id="{B961AED5-9414-301B-AD8C-0A4888EC51F1}"/>
                </a:ext>
              </a:extLst>
            </p:cNvPr>
            <p:cNvSpPr>
              <a:spLocks noChangeShapeType="1"/>
            </p:cNvSpPr>
            <p:nvPr/>
          </p:nvSpPr>
          <p:spPr bwMode="auto">
            <a:xfrm>
              <a:off x="8787386" y="4620612"/>
              <a:ext cx="3810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1000"/>
            </a:p>
          </p:txBody>
        </p:sp>
        <p:sp>
          <p:nvSpPr>
            <p:cNvPr id="20" name="Rectangle 83">
              <a:extLst>
                <a:ext uri="{FF2B5EF4-FFF2-40B4-BE49-F238E27FC236}">
                  <a16:creationId xmlns:a16="http://schemas.microsoft.com/office/drawing/2014/main" id="{8ABE8F05-0BAD-4D41-7E10-7F1DF2FC8435}"/>
                </a:ext>
              </a:extLst>
            </p:cNvPr>
            <p:cNvSpPr>
              <a:spLocks noChangeArrowheads="1"/>
            </p:cNvSpPr>
            <p:nvPr/>
          </p:nvSpPr>
          <p:spPr bwMode="auto">
            <a:xfrm>
              <a:off x="2592961" y="3106139"/>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1000"/>
            </a:p>
          </p:txBody>
        </p:sp>
        <p:sp>
          <p:nvSpPr>
            <p:cNvPr id="21" name="Rectangle 82">
              <a:extLst>
                <a:ext uri="{FF2B5EF4-FFF2-40B4-BE49-F238E27FC236}">
                  <a16:creationId xmlns:a16="http://schemas.microsoft.com/office/drawing/2014/main" id="{3B1A956F-1342-3020-0F9A-F766F61621E9}"/>
                </a:ext>
              </a:extLst>
            </p:cNvPr>
            <p:cNvSpPr>
              <a:spLocks noChangeArrowheads="1"/>
            </p:cNvSpPr>
            <p:nvPr/>
          </p:nvSpPr>
          <p:spPr bwMode="auto">
            <a:xfrm>
              <a:off x="2758061" y="3271239"/>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x-none" sz="1000"/>
                <a:t>client</a:t>
              </a:r>
            </a:p>
          </p:txBody>
        </p:sp>
        <p:sp>
          <p:nvSpPr>
            <p:cNvPr id="22" name="Rectangle 86">
              <a:extLst>
                <a:ext uri="{FF2B5EF4-FFF2-40B4-BE49-F238E27FC236}">
                  <a16:creationId xmlns:a16="http://schemas.microsoft.com/office/drawing/2014/main" id="{703B91F1-8A69-9606-8D44-F42327678493}"/>
                </a:ext>
              </a:extLst>
            </p:cNvPr>
            <p:cNvSpPr>
              <a:spLocks noChangeArrowheads="1"/>
            </p:cNvSpPr>
            <p:nvPr/>
          </p:nvSpPr>
          <p:spPr bwMode="auto">
            <a:xfrm>
              <a:off x="2377061" y="4134839"/>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1000"/>
            </a:p>
          </p:txBody>
        </p:sp>
        <p:sp>
          <p:nvSpPr>
            <p:cNvPr id="23" name="Rectangle 87">
              <a:extLst>
                <a:ext uri="{FF2B5EF4-FFF2-40B4-BE49-F238E27FC236}">
                  <a16:creationId xmlns:a16="http://schemas.microsoft.com/office/drawing/2014/main" id="{7B118A69-1326-3D66-B956-D6AF75E52801}"/>
                </a:ext>
              </a:extLst>
            </p:cNvPr>
            <p:cNvSpPr>
              <a:spLocks noChangeArrowheads="1"/>
            </p:cNvSpPr>
            <p:nvPr/>
          </p:nvSpPr>
          <p:spPr bwMode="auto">
            <a:xfrm>
              <a:off x="2580261" y="4299939"/>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1000"/>
            </a:p>
          </p:txBody>
        </p:sp>
        <p:sp>
          <p:nvSpPr>
            <p:cNvPr id="24" name="Rectangle 88">
              <a:extLst>
                <a:ext uri="{FF2B5EF4-FFF2-40B4-BE49-F238E27FC236}">
                  <a16:creationId xmlns:a16="http://schemas.microsoft.com/office/drawing/2014/main" id="{09A0B42C-18F1-6838-6238-CCEF38E7A2B8}"/>
                </a:ext>
              </a:extLst>
            </p:cNvPr>
            <p:cNvSpPr>
              <a:spLocks noChangeArrowheads="1"/>
            </p:cNvSpPr>
            <p:nvPr/>
          </p:nvSpPr>
          <p:spPr bwMode="auto">
            <a:xfrm>
              <a:off x="2745361" y="4465039"/>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x-none" sz="1000"/>
                <a:t>client</a:t>
              </a:r>
            </a:p>
          </p:txBody>
        </p:sp>
        <p:sp>
          <p:nvSpPr>
            <p:cNvPr id="25" name="Rectangle 89">
              <a:extLst>
                <a:ext uri="{FF2B5EF4-FFF2-40B4-BE49-F238E27FC236}">
                  <a16:creationId xmlns:a16="http://schemas.microsoft.com/office/drawing/2014/main" id="{173288DE-C2DD-DE28-A84F-D23E8DF667AC}"/>
                </a:ext>
              </a:extLst>
            </p:cNvPr>
            <p:cNvSpPr>
              <a:spLocks noChangeArrowheads="1"/>
            </p:cNvSpPr>
            <p:nvPr/>
          </p:nvSpPr>
          <p:spPr bwMode="auto">
            <a:xfrm>
              <a:off x="2377061" y="5303239"/>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1000"/>
            </a:p>
          </p:txBody>
        </p:sp>
        <p:sp>
          <p:nvSpPr>
            <p:cNvPr id="26" name="Rectangle 90">
              <a:extLst>
                <a:ext uri="{FF2B5EF4-FFF2-40B4-BE49-F238E27FC236}">
                  <a16:creationId xmlns:a16="http://schemas.microsoft.com/office/drawing/2014/main" id="{6717D9D6-4450-9782-1B62-35CFED45FF6E}"/>
                </a:ext>
              </a:extLst>
            </p:cNvPr>
            <p:cNvSpPr>
              <a:spLocks noChangeArrowheads="1"/>
            </p:cNvSpPr>
            <p:nvPr/>
          </p:nvSpPr>
          <p:spPr bwMode="auto">
            <a:xfrm>
              <a:off x="2580261" y="5468339"/>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sz="1000"/>
            </a:p>
          </p:txBody>
        </p:sp>
        <p:sp>
          <p:nvSpPr>
            <p:cNvPr id="27" name="Rectangle 91">
              <a:extLst>
                <a:ext uri="{FF2B5EF4-FFF2-40B4-BE49-F238E27FC236}">
                  <a16:creationId xmlns:a16="http://schemas.microsoft.com/office/drawing/2014/main" id="{9B848A60-B53E-CFDB-46FE-B90121769E67}"/>
                </a:ext>
              </a:extLst>
            </p:cNvPr>
            <p:cNvSpPr>
              <a:spLocks noChangeArrowheads="1"/>
            </p:cNvSpPr>
            <p:nvPr/>
          </p:nvSpPr>
          <p:spPr bwMode="auto">
            <a:xfrm>
              <a:off x="2745361" y="5633439"/>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x-none" sz="1000"/>
                <a:t>client</a:t>
              </a:r>
            </a:p>
          </p:txBody>
        </p:sp>
      </p:grpSp>
    </p:spTree>
    <p:extLst>
      <p:ext uri="{BB962C8B-B14F-4D97-AF65-F5344CB8AC3E}">
        <p14:creationId xmlns:p14="http://schemas.microsoft.com/office/powerpoint/2010/main" val="2858365757"/>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B7F91-455A-2914-B787-4B17C9855A92}"/>
              </a:ext>
            </a:extLst>
          </p:cNvPr>
          <p:cNvSpPr>
            <a:spLocks noGrp="1"/>
          </p:cNvSpPr>
          <p:nvPr>
            <p:ph type="title"/>
          </p:nvPr>
        </p:nvSpPr>
        <p:spPr/>
        <p:txBody>
          <a:bodyPr>
            <a:normAutofit/>
          </a:bodyPr>
          <a:lstStyle/>
          <a:p>
            <a:r>
              <a:rPr lang="en-US" altLang="x-none" dirty="0"/>
              <a:t>Approach 1 Disadvantages</a:t>
            </a:r>
            <a:endParaRPr lang="en-GB" dirty="0"/>
          </a:p>
        </p:txBody>
      </p:sp>
      <p:sp>
        <p:nvSpPr>
          <p:cNvPr id="3" name="Text Placeholder 2">
            <a:extLst>
              <a:ext uri="{FF2B5EF4-FFF2-40B4-BE49-F238E27FC236}">
                <a16:creationId xmlns:a16="http://schemas.microsoft.com/office/drawing/2014/main" id="{5AA54346-5A89-E5A5-B4E1-4B70ED1B13D4}"/>
              </a:ext>
            </a:extLst>
          </p:cNvPr>
          <p:cNvSpPr>
            <a:spLocks noGrp="1"/>
          </p:cNvSpPr>
          <p:nvPr>
            <p:ph type="body" sz="quarter" idx="11"/>
          </p:nvPr>
        </p:nvSpPr>
        <p:spPr/>
        <p:txBody>
          <a:bodyPr/>
          <a:lstStyle/>
          <a:p>
            <a:pPr>
              <a:spcBef>
                <a:spcPts val="500"/>
              </a:spcBef>
              <a:spcAft>
                <a:spcPts val="500"/>
              </a:spcAft>
            </a:pPr>
            <a:r>
              <a:rPr lang="en-US" altLang="x-none" sz="2000" dirty="0"/>
              <a:t>There is </a:t>
            </a:r>
            <a:r>
              <a:rPr lang="en-US" altLang="x-none" sz="2000" b="1" dirty="0"/>
              <a:t>currently no industry-accepted practice</a:t>
            </a:r>
            <a:r>
              <a:rPr lang="en-US" altLang="x-none" sz="2000" dirty="0"/>
              <a:t> (rules) for expressing priorities, so rules would need to be made. The clients must learn the rule, and the Web service application must be written to understand the rule.</a:t>
            </a:r>
          </a:p>
          <a:p>
            <a:pPr marL="9525" indent="0">
              <a:spcBef>
                <a:spcPts val="500"/>
              </a:spcBef>
              <a:spcAft>
                <a:spcPts val="500"/>
              </a:spcAft>
              <a:buNone/>
            </a:pPr>
            <a:r>
              <a:rPr lang="en-US" altLang="x-none" sz="2000" dirty="0"/>
              <a:t> </a:t>
            </a:r>
          </a:p>
          <a:p>
            <a:pPr>
              <a:spcBef>
                <a:spcPts val="500"/>
              </a:spcBef>
              <a:spcAft>
                <a:spcPts val="500"/>
              </a:spcAft>
            </a:pPr>
            <a:r>
              <a:rPr lang="en-US" altLang="x-none" sz="2000" dirty="0"/>
              <a:t>This approach is based upon the incorrect assumption that a URL is "expensive" and that their use must be rationed. </a:t>
            </a:r>
          </a:p>
          <a:p>
            <a:pPr>
              <a:spcBef>
                <a:spcPts val="500"/>
              </a:spcBef>
              <a:spcAft>
                <a:spcPts val="500"/>
              </a:spcAft>
            </a:pPr>
            <a:endParaRPr lang="en-US" altLang="x-none" sz="2000" dirty="0"/>
          </a:p>
          <a:p>
            <a:pPr>
              <a:spcBef>
                <a:spcPts val="500"/>
              </a:spcBef>
              <a:spcAft>
                <a:spcPts val="500"/>
              </a:spcAft>
            </a:pPr>
            <a:r>
              <a:rPr lang="en-US" altLang="x-none" sz="2000" dirty="0"/>
              <a:t>The </a:t>
            </a:r>
            <a:r>
              <a:rPr lang="en-US" altLang="x-none" sz="2000" b="1" dirty="0"/>
              <a:t>Web service is a central point of failure</a:t>
            </a:r>
            <a:r>
              <a:rPr lang="en-US" altLang="x-none" sz="2000" dirty="0"/>
              <a:t>. It is a bottleneck. Load balancing is a challenge. </a:t>
            </a:r>
          </a:p>
          <a:p>
            <a:pPr>
              <a:spcBef>
                <a:spcPts val="500"/>
              </a:spcBef>
              <a:spcAft>
                <a:spcPts val="500"/>
              </a:spcAft>
            </a:pPr>
            <a:endParaRPr lang="en-US" altLang="x-none" sz="2000" dirty="0"/>
          </a:p>
          <a:p>
            <a:pPr>
              <a:spcBef>
                <a:spcPts val="500"/>
              </a:spcBef>
              <a:spcAft>
                <a:spcPts val="500"/>
              </a:spcAft>
            </a:pPr>
            <a:r>
              <a:rPr lang="en-US" altLang="x-none" sz="2000" dirty="0"/>
              <a:t>It violates Tim Berners-Lee Web Design, </a:t>
            </a:r>
            <a:r>
              <a:rPr lang="en-US" altLang="x-none" sz="2000" b="1" dirty="0"/>
              <a:t>Axiom 0</a:t>
            </a:r>
            <a:endParaRPr lang="en-US" altLang="x-none" sz="2000" dirty="0"/>
          </a:p>
          <a:p>
            <a:endParaRPr lang="en-GB" sz="2000" dirty="0"/>
          </a:p>
        </p:txBody>
      </p:sp>
    </p:spTree>
    <p:extLst>
      <p:ext uri="{BB962C8B-B14F-4D97-AF65-F5344CB8AC3E}">
        <p14:creationId xmlns:p14="http://schemas.microsoft.com/office/powerpoint/2010/main" val="2874271331"/>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77AE-1697-6C8A-66A0-23D70B0BEB0F}"/>
              </a:ext>
            </a:extLst>
          </p:cNvPr>
          <p:cNvSpPr>
            <a:spLocks noGrp="1"/>
          </p:cNvSpPr>
          <p:nvPr>
            <p:ph type="title"/>
          </p:nvPr>
        </p:nvSpPr>
        <p:spPr/>
        <p:txBody>
          <a:bodyPr>
            <a:normAutofit fontScale="90000"/>
          </a:bodyPr>
          <a:lstStyle/>
          <a:p>
            <a:r>
              <a:rPr lang="en-US" altLang="x-none" dirty="0"/>
              <a:t>Web Design, Axiom 0 (Tim Berners-Lee, director of W3C)</a:t>
            </a:r>
            <a:endParaRPr lang="en-GB" dirty="0"/>
          </a:p>
        </p:txBody>
      </p:sp>
      <p:sp>
        <p:nvSpPr>
          <p:cNvPr id="3" name="Text Placeholder 2">
            <a:extLst>
              <a:ext uri="{FF2B5EF4-FFF2-40B4-BE49-F238E27FC236}">
                <a16:creationId xmlns:a16="http://schemas.microsoft.com/office/drawing/2014/main" id="{722D8487-DE61-0DF6-7DBC-DF13F6EFC933}"/>
              </a:ext>
            </a:extLst>
          </p:cNvPr>
          <p:cNvSpPr>
            <a:spLocks noGrp="1"/>
          </p:cNvSpPr>
          <p:nvPr>
            <p:ph type="body" sz="quarter" idx="11"/>
          </p:nvPr>
        </p:nvSpPr>
        <p:spPr/>
        <p:txBody>
          <a:bodyPr/>
          <a:lstStyle/>
          <a:p>
            <a:endParaRPr lang="en-US" altLang="x-none" dirty="0"/>
          </a:p>
          <a:p>
            <a:r>
              <a:rPr lang="en-US" altLang="x-none" dirty="0"/>
              <a:t>Axiom 0: all resources on the Web must be uniquely identified with a URI.</a:t>
            </a:r>
          </a:p>
          <a:p>
            <a:pPr marL="9525" indent="0">
              <a:buNone/>
            </a:pPr>
            <a:endParaRPr lang="en-GB" dirty="0"/>
          </a:p>
        </p:txBody>
      </p:sp>
      <p:grpSp>
        <p:nvGrpSpPr>
          <p:cNvPr id="4" name="Group 3">
            <a:extLst>
              <a:ext uri="{FF2B5EF4-FFF2-40B4-BE49-F238E27FC236}">
                <a16:creationId xmlns:a16="http://schemas.microsoft.com/office/drawing/2014/main" id="{202EB91C-0A3B-3A49-461C-F8BFF67EB804}"/>
              </a:ext>
            </a:extLst>
          </p:cNvPr>
          <p:cNvGrpSpPr/>
          <p:nvPr/>
        </p:nvGrpSpPr>
        <p:grpSpPr>
          <a:xfrm>
            <a:off x="2771775" y="2690087"/>
            <a:ext cx="3600450" cy="3478212"/>
            <a:chOff x="4598989" y="2925958"/>
            <a:chExt cx="3600450" cy="3478212"/>
          </a:xfrm>
        </p:grpSpPr>
        <p:sp>
          <p:nvSpPr>
            <p:cNvPr id="5" name="Oval 4">
              <a:extLst>
                <a:ext uri="{FF2B5EF4-FFF2-40B4-BE49-F238E27FC236}">
                  <a16:creationId xmlns:a16="http://schemas.microsoft.com/office/drawing/2014/main" id="{3802A34A-A45B-7E98-8F3D-E9F33EA8E1DD}"/>
                </a:ext>
              </a:extLst>
            </p:cNvPr>
            <p:cNvSpPr>
              <a:spLocks noChangeArrowheads="1"/>
            </p:cNvSpPr>
            <p:nvPr/>
          </p:nvSpPr>
          <p:spPr bwMode="auto">
            <a:xfrm>
              <a:off x="7135814" y="2925958"/>
              <a:ext cx="1063625" cy="101441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x-none" dirty="0"/>
                <a:t>resource1</a:t>
              </a:r>
            </a:p>
          </p:txBody>
        </p:sp>
        <p:sp>
          <p:nvSpPr>
            <p:cNvPr id="6" name="Line 6">
              <a:extLst>
                <a:ext uri="{FF2B5EF4-FFF2-40B4-BE49-F238E27FC236}">
                  <a16:creationId xmlns:a16="http://schemas.microsoft.com/office/drawing/2014/main" id="{EEE3042F-8DEA-FCA9-B5FE-90A82940E9D0}"/>
                </a:ext>
              </a:extLst>
            </p:cNvPr>
            <p:cNvSpPr>
              <a:spLocks noChangeShapeType="1"/>
            </p:cNvSpPr>
            <p:nvPr/>
          </p:nvSpPr>
          <p:spPr bwMode="auto">
            <a:xfrm>
              <a:off x="4598989" y="3494283"/>
              <a:ext cx="25114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 name="Text Box 7">
              <a:extLst>
                <a:ext uri="{FF2B5EF4-FFF2-40B4-BE49-F238E27FC236}">
                  <a16:creationId xmlns:a16="http://schemas.microsoft.com/office/drawing/2014/main" id="{A236BA60-900F-770F-D466-9B988B48DE37}"/>
                </a:ext>
              </a:extLst>
            </p:cNvPr>
            <p:cNvSpPr txBox="1">
              <a:spLocks noChangeArrowheads="1"/>
            </p:cNvSpPr>
            <p:nvPr/>
          </p:nvSpPr>
          <p:spPr bwMode="auto">
            <a:xfrm>
              <a:off x="5397502" y="3056133"/>
              <a:ext cx="6719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a:t>URL1</a:t>
              </a:r>
            </a:p>
          </p:txBody>
        </p:sp>
        <p:sp>
          <p:nvSpPr>
            <p:cNvPr id="8" name="Oval 8">
              <a:extLst>
                <a:ext uri="{FF2B5EF4-FFF2-40B4-BE49-F238E27FC236}">
                  <a16:creationId xmlns:a16="http://schemas.microsoft.com/office/drawing/2014/main" id="{A276A269-59C8-B825-11CE-8A4498B63139}"/>
                </a:ext>
              </a:extLst>
            </p:cNvPr>
            <p:cNvSpPr>
              <a:spLocks noChangeArrowheads="1"/>
            </p:cNvSpPr>
            <p:nvPr/>
          </p:nvSpPr>
          <p:spPr bwMode="auto">
            <a:xfrm>
              <a:off x="7135814" y="4132458"/>
              <a:ext cx="1063625" cy="101441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x-none"/>
                <a:t>resource2</a:t>
              </a:r>
            </a:p>
          </p:txBody>
        </p:sp>
        <p:sp>
          <p:nvSpPr>
            <p:cNvPr id="9" name="Line 9">
              <a:extLst>
                <a:ext uri="{FF2B5EF4-FFF2-40B4-BE49-F238E27FC236}">
                  <a16:creationId xmlns:a16="http://schemas.microsoft.com/office/drawing/2014/main" id="{4510C464-4B8D-11FD-1440-9D8287F556EA}"/>
                </a:ext>
              </a:extLst>
            </p:cNvPr>
            <p:cNvSpPr>
              <a:spLocks noChangeShapeType="1"/>
            </p:cNvSpPr>
            <p:nvPr/>
          </p:nvSpPr>
          <p:spPr bwMode="auto">
            <a:xfrm>
              <a:off x="4598989" y="4700783"/>
              <a:ext cx="25114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0" name="Text Box 10">
              <a:extLst>
                <a:ext uri="{FF2B5EF4-FFF2-40B4-BE49-F238E27FC236}">
                  <a16:creationId xmlns:a16="http://schemas.microsoft.com/office/drawing/2014/main" id="{A8BB563D-D578-B19F-892E-413A719BFEC1}"/>
                </a:ext>
              </a:extLst>
            </p:cNvPr>
            <p:cNvSpPr txBox="1">
              <a:spLocks noChangeArrowheads="1"/>
            </p:cNvSpPr>
            <p:nvPr/>
          </p:nvSpPr>
          <p:spPr bwMode="auto">
            <a:xfrm>
              <a:off x="5397502" y="4262633"/>
              <a:ext cx="6719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a:t>URL2</a:t>
              </a:r>
            </a:p>
          </p:txBody>
        </p:sp>
        <p:sp>
          <p:nvSpPr>
            <p:cNvPr id="11" name="Oval 11">
              <a:extLst>
                <a:ext uri="{FF2B5EF4-FFF2-40B4-BE49-F238E27FC236}">
                  <a16:creationId xmlns:a16="http://schemas.microsoft.com/office/drawing/2014/main" id="{519CCFE2-648D-D30D-3785-CA2FD4ED443C}"/>
                </a:ext>
              </a:extLst>
            </p:cNvPr>
            <p:cNvSpPr>
              <a:spLocks noChangeArrowheads="1"/>
            </p:cNvSpPr>
            <p:nvPr/>
          </p:nvSpPr>
          <p:spPr bwMode="auto">
            <a:xfrm>
              <a:off x="7135814" y="5389758"/>
              <a:ext cx="1063625" cy="101441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x-none"/>
                <a:t>resource3</a:t>
              </a:r>
            </a:p>
          </p:txBody>
        </p:sp>
        <p:sp>
          <p:nvSpPr>
            <p:cNvPr id="12" name="Line 12">
              <a:extLst>
                <a:ext uri="{FF2B5EF4-FFF2-40B4-BE49-F238E27FC236}">
                  <a16:creationId xmlns:a16="http://schemas.microsoft.com/office/drawing/2014/main" id="{F41D4305-BC54-FFCB-46B7-20EB3F497D27}"/>
                </a:ext>
              </a:extLst>
            </p:cNvPr>
            <p:cNvSpPr>
              <a:spLocks noChangeShapeType="1"/>
            </p:cNvSpPr>
            <p:nvPr/>
          </p:nvSpPr>
          <p:spPr bwMode="auto">
            <a:xfrm>
              <a:off x="4598989" y="5958083"/>
              <a:ext cx="25114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 name="Text Box 13">
              <a:extLst>
                <a:ext uri="{FF2B5EF4-FFF2-40B4-BE49-F238E27FC236}">
                  <a16:creationId xmlns:a16="http://schemas.microsoft.com/office/drawing/2014/main" id="{9F375309-84CC-7FE8-3CCF-F6AC4D894E54}"/>
                </a:ext>
              </a:extLst>
            </p:cNvPr>
            <p:cNvSpPr txBox="1">
              <a:spLocks noChangeArrowheads="1"/>
            </p:cNvSpPr>
            <p:nvPr/>
          </p:nvSpPr>
          <p:spPr bwMode="auto">
            <a:xfrm>
              <a:off x="5397502" y="5519933"/>
              <a:ext cx="6719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a:t>URL3</a:t>
              </a:r>
            </a:p>
          </p:txBody>
        </p:sp>
      </p:grpSp>
    </p:spTree>
    <p:extLst>
      <p:ext uri="{BB962C8B-B14F-4D97-AF65-F5344CB8AC3E}">
        <p14:creationId xmlns:p14="http://schemas.microsoft.com/office/powerpoint/2010/main" val="2239511947"/>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EC1D2-9898-00F4-735E-7CAFB14D53FD}"/>
              </a:ext>
            </a:extLst>
          </p:cNvPr>
          <p:cNvSpPr>
            <a:spLocks noGrp="1"/>
          </p:cNvSpPr>
          <p:nvPr>
            <p:ph type="title"/>
          </p:nvPr>
        </p:nvSpPr>
        <p:spPr/>
        <p:txBody>
          <a:bodyPr>
            <a:normAutofit/>
          </a:bodyPr>
          <a:lstStyle/>
          <a:p>
            <a:r>
              <a:rPr lang="en-US" altLang="x-none" dirty="0"/>
              <a:t>Approach 2:  URLs are Cheap!  Use Them!</a:t>
            </a:r>
            <a:endParaRPr lang="en-GB" dirty="0"/>
          </a:p>
        </p:txBody>
      </p:sp>
      <p:sp>
        <p:nvSpPr>
          <p:cNvPr id="3" name="Text Placeholder 2">
            <a:extLst>
              <a:ext uri="{FF2B5EF4-FFF2-40B4-BE49-F238E27FC236}">
                <a16:creationId xmlns:a16="http://schemas.microsoft.com/office/drawing/2014/main" id="{351395D1-C8B8-47EC-AF79-A87337C7DF7F}"/>
              </a:ext>
            </a:extLst>
          </p:cNvPr>
          <p:cNvSpPr>
            <a:spLocks noGrp="1"/>
          </p:cNvSpPr>
          <p:nvPr>
            <p:ph type="body" sz="quarter" idx="11"/>
          </p:nvPr>
        </p:nvSpPr>
        <p:spPr>
          <a:xfrm>
            <a:off x="899590" y="1700808"/>
            <a:ext cx="7886699" cy="1080120"/>
          </a:xfrm>
        </p:spPr>
        <p:txBody>
          <a:bodyPr/>
          <a:lstStyle/>
          <a:p>
            <a:r>
              <a:rPr lang="en-US" altLang="x-none" dirty="0"/>
              <a:t>The airline provides several URLs - one URL for premier members, a different URL for frequent flyers, and still another for regular customers.</a:t>
            </a:r>
          </a:p>
          <a:p>
            <a:endParaRPr lang="en-GB" dirty="0"/>
          </a:p>
          <a:p>
            <a:endParaRPr lang="en-GB" dirty="0"/>
          </a:p>
        </p:txBody>
      </p:sp>
      <p:grpSp>
        <p:nvGrpSpPr>
          <p:cNvPr id="49" name="Group 48">
            <a:extLst>
              <a:ext uri="{FF2B5EF4-FFF2-40B4-BE49-F238E27FC236}">
                <a16:creationId xmlns:a16="http://schemas.microsoft.com/office/drawing/2014/main" id="{498FEE3D-FB5A-BF8B-31E5-D2683E810D8A}"/>
              </a:ext>
            </a:extLst>
          </p:cNvPr>
          <p:cNvGrpSpPr/>
          <p:nvPr/>
        </p:nvGrpSpPr>
        <p:grpSpPr>
          <a:xfrm>
            <a:off x="1722543" y="2636912"/>
            <a:ext cx="6240791" cy="4026696"/>
            <a:chOff x="5153662" y="1828798"/>
            <a:chExt cx="6240791" cy="4026696"/>
          </a:xfrm>
        </p:grpSpPr>
        <p:grpSp>
          <p:nvGrpSpPr>
            <p:cNvPr id="50" name="Group 49">
              <a:extLst>
                <a:ext uri="{FF2B5EF4-FFF2-40B4-BE49-F238E27FC236}">
                  <a16:creationId xmlns:a16="http://schemas.microsoft.com/office/drawing/2014/main" id="{29BAD94D-1DE1-0EB1-5791-5DB7AF4446FD}"/>
                </a:ext>
              </a:extLst>
            </p:cNvPr>
            <p:cNvGrpSpPr/>
            <p:nvPr/>
          </p:nvGrpSpPr>
          <p:grpSpPr>
            <a:xfrm>
              <a:off x="5153662" y="1828798"/>
              <a:ext cx="6159498" cy="3762377"/>
              <a:chOff x="3492502" y="2733675"/>
              <a:chExt cx="6159498" cy="3762377"/>
            </a:xfrm>
          </p:grpSpPr>
          <p:sp>
            <p:nvSpPr>
              <p:cNvPr id="53" name="Text Box 67">
                <a:extLst>
                  <a:ext uri="{FF2B5EF4-FFF2-40B4-BE49-F238E27FC236}">
                    <a16:creationId xmlns:a16="http://schemas.microsoft.com/office/drawing/2014/main" id="{AE1E6F5C-591E-5809-98B1-F312340A3AEA}"/>
                  </a:ext>
                </a:extLst>
              </p:cNvPr>
              <p:cNvSpPr txBox="1">
                <a:spLocks noChangeArrowheads="1"/>
              </p:cNvSpPr>
              <p:nvPr/>
            </p:nvSpPr>
            <p:spPr bwMode="auto">
              <a:xfrm>
                <a:off x="3797300" y="3627438"/>
                <a:ext cx="18817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a:t>Premier Members</a:t>
                </a:r>
              </a:p>
            </p:txBody>
          </p:sp>
          <p:sp>
            <p:nvSpPr>
              <p:cNvPr id="54" name="Text Box 68">
                <a:extLst>
                  <a:ext uri="{FF2B5EF4-FFF2-40B4-BE49-F238E27FC236}">
                    <a16:creationId xmlns:a16="http://schemas.microsoft.com/office/drawing/2014/main" id="{F3138E88-615A-37CF-AB95-5D97A67ACAA2}"/>
                  </a:ext>
                </a:extLst>
              </p:cNvPr>
              <p:cNvSpPr txBox="1">
                <a:spLocks noChangeArrowheads="1"/>
              </p:cNvSpPr>
              <p:nvPr/>
            </p:nvSpPr>
            <p:spPr bwMode="auto">
              <a:xfrm>
                <a:off x="3492502" y="5024438"/>
                <a:ext cx="25004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a:t>Frequent Flyer Members</a:t>
                </a:r>
              </a:p>
            </p:txBody>
          </p:sp>
          <p:sp>
            <p:nvSpPr>
              <p:cNvPr id="55" name="Line 71">
                <a:extLst>
                  <a:ext uri="{FF2B5EF4-FFF2-40B4-BE49-F238E27FC236}">
                    <a16:creationId xmlns:a16="http://schemas.microsoft.com/office/drawing/2014/main" id="{55BDD461-EEFC-D5E8-80C4-4B1907C9FD46}"/>
                  </a:ext>
                </a:extLst>
              </p:cNvPr>
              <p:cNvSpPr>
                <a:spLocks noChangeShapeType="1"/>
              </p:cNvSpPr>
              <p:nvPr/>
            </p:nvSpPr>
            <p:spPr bwMode="auto">
              <a:xfrm>
                <a:off x="5121277" y="3327402"/>
                <a:ext cx="3292475" cy="47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6" name="Line 72">
                <a:extLst>
                  <a:ext uri="{FF2B5EF4-FFF2-40B4-BE49-F238E27FC236}">
                    <a16:creationId xmlns:a16="http://schemas.microsoft.com/office/drawing/2014/main" id="{2875F63A-A80C-7574-0B21-9177673EC373}"/>
                  </a:ext>
                </a:extLst>
              </p:cNvPr>
              <p:cNvSpPr>
                <a:spLocks noChangeShapeType="1"/>
              </p:cNvSpPr>
              <p:nvPr/>
            </p:nvSpPr>
            <p:spPr bwMode="auto">
              <a:xfrm flipV="1">
                <a:off x="5094290" y="4757740"/>
                <a:ext cx="3330575" cy="15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7" name="Line 73">
                <a:extLst>
                  <a:ext uri="{FF2B5EF4-FFF2-40B4-BE49-F238E27FC236}">
                    <a16:creationId xmlns:a16="http://schemas.microsoft.com/office/drawing/2014/main" id="{990E32E6-492A-26AD-A356-757F46DB6402}"/>
                  </a:ext>
                </a:extLst>
              </p:cNvPr>
              <p:cNvSpPr>
                <a:spLocks noChangeShapeType="1"/>
              </p:cNvSpPr>
              <p:nvPr/>
            </p:nvSpPr>
            <p:spPr bwMode="auto">
              <a:xfrm flipV="1">
                <a:off x="5160965" y="6096000"/>
                <a:ext cx="3286125" cy="79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8" name="Rectangle 82">
                <a:extLst>
                  <a:ext uri="{FF2B5EF4-FFF2-40B4-BE49-F238E27FC236}">
                    <a16:creationId xmlns:a16="http://schemas.microsoft.com/office/drawing/2014/main" id="{A688FEB8-FB7C-24A7-00EB-BF00C9C4C7D5}"/>
                  </a:ext>
                </a:extLst>
              </p:cNvPr>
              <p:cNvSpPr>
                <a:spLocks noChangeArrowheads="1"/>
              </p:cNvSpPr>
              <p:nvPr/>
            </p:nvSpPr>
            <p:spPr bwMode="auto">
              <a:xfrm>
                <a:off x="3962400" y="2925765"/>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9" name="Rectangle 83">
                <a:extLst>
                  <a:ext uri="{FF2B5EF4-FFF2-40B4-BE49-F238E27FC236}">
                    <a16:creationId xmlns:a16="http://schemas.microsoft.com/office/drawing/2014/main" id="{AB26B89C-0C2F-C030-7D17-B771A661E8CD}"/>
                  </a:ext>
                </a:extLst>
              </p:cNvPr>
              <p:cNvSpPr>
                <a:spLocks noChangeArrowheads="1"/>
              </p:cNvSpPr>
              <p:nvPr/>
            </p:nvSpPr>
            <p:spPr bwMode="auto">
              <a:xfrm>
                <a:off x="4165600" y="3090865"/>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0" name="Rectangle 84">
                <a:extLst>
                  <a:ext uri="{FF2B5EF4-FFF2-40B4-BE49-F238E27FC236}">
                    <a16:creationId xmlns:a16="http://schemas.microsoft.com/office/drawing/2014/main" id="{35BF7269-6B94-EC9E-B894-85FD0B23908F}"/>
                  </a:ext>
                </a:extLst>
              </p:cNvPr>
              <p:cNvSpPr>
                <a:spLocks noChangeArrowheads="1"/>
              </p:cNvSpPr>
              <p:nvPr/>
            </p:nvSpPr>
            <p:spPr bwMode="auto">
              <a:xfrm>
                <a:off x="4330700" y="3255965"/>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x-none"/>
                  <a:t>client</a:t>
                </a:r>
              </a:p>
            </p:txBody>
          </p:sp>
          <p:sp>
            <p:nvSpPr>
              <p:cNvPr id="61" name="Rectangle 85">
                <a:extLst>
                  <a:ext uri="{FF2B5EF4-FFF2-40B4-BE49-F238E27FC236}">
                    <a16:creationId xmlns:a16="http://schemas.microsoft.com/office/drawing/2014/main" id="{71E90007-CCCC-E3A0-564F-8228F7B7909B}"/>
                  </a:ext>
                </a:extLst>
              </p:cNvPr>
              <p:cNvSpPr>
                <a:spLocks noChangeArrowheads="1"/>
              </p:cNvSpPr>
              <p:nvPr/>
            </p:nvSpPr>
            <p:spPr bwMode="auto">
              <a:xfrm>
                <a:off x="3962400" y="4335465"/>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2" name="Rectangle 86">
                <a:extLst>
                  <a:ext uri="{FF2B5EF4-FFF2-40B4-BE49-F238E27FC236}">
                    <a16:creationId xmlns:a16="http://schemas.microsoft.com/office/drawing/2014/main" id="{B88EE434-15C9-38D7-37E1-3CDC4A3D1571}"/>
                  </a:ext>
                </a:extLst>
              </p:cNvPr>
              <p:cNvSpPr>
                <a:spLocks noChangeArrowheads="1"/>
              </p:cNvSpPr>
              <p:nvPr/>
            </p:nvSpPr>
            <p:spPr bwMode="auto">
              <a:xfrm>
                <a:off x="4165600" y="4500565"/>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3" name="Rectangle 87">
                <a:extLst>
                  <a:ext uri="{FF2B5EF4-FFF2-40B4-BE49-F238E27FC236}">
                    <a16:creationId xmlns:a16="http://schemas.microsoft.com/office/drawing/2014/main" id="{665A11C8-065A-DFC8-82A3-CDC1B01D73A7}"/>
                  </a:ext>
                </a:extLst>
              </p:cNvPr>
              <p:cNvSpPr>
                <a:spLocks noChangeArrowheads="1"/>
              </p:cNvSpPr>
              <p:nvPr/>
            </p:nvSpPr>
            <p:spPr bwMode="auto">
              <a:xfrm>
                <a:off x="4330700" y="4665665"/>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x-none"/>
                  <a:t>client</a:t>
                </a:r>
              </a:p>
            </p:txBody>
          </p:sp>
          <p:sp>
            <p:nvSpPr>
              <p:cNvPr id="64" name="Rectangle 88">
                <a:extLst>
                  <a:ext uri="{FF2B5EF4-FFF2-40B4-BE49-F238E27FC236}">
                    <a16:creationId xmlns:a16="http://schemas.microsoft.com/office/drawing/2014/main" id="{E1C95F4F-12EE-2B3A-C933-788813D9787E}"/>
                  </a:ext>
                </a:extLst>
              </p:cNvPr>
              <p:cNvSpPr>
                <a:spLocks noChangeArrowheads="1"/>
              </p:cNvSpPr>
              <p:nvPr/>
            </p:nvSpPr>
            <p:spPr bwMode="auto">
              <a:xfrm>
                <a:off x="3949700" y="5745165"/>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5" name="Rectangle 89">
                <a:extLst>
                  <a:ext uri="{FF2B5EF4-FFF2-40B4-BE49-F238E27FC236}">
                    <a16:creationId xmlns:a16="http://schemas.microsoft.com/office/drawing/2014/main" id="{EF68CCF4-1917-7A1C-442A-6B0336733B55}"/>
                  </a:ext>
                </a:extLst>
              </p:cNvPr>
              <p:cNvSpPr>
                <a:spLocks noChangeArrowheads="1"/>
              </p:cNvSpPr>
              <p:nvPr/>
            </p:nvSpPr>
            <p:spPr bwMode="auto">
              <a:xfrm>
                <a:off x="4152900" y="5910265"/>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66" name="Rectangle 90">
                <a:extLst>
                  <a:ext uri="{FF2B5EF4-FFF2-40B4-BE49-F238E27FC236}">
                    <a16:creationId xmlns:a16="http://schemas.microsoft.com/office/drawing/2014/main" id="{282F4390-8DB9-A451-F9F9-0C476D45F23E}"/>
                  </a:ext>
                </a:extLst>
              </p:cNvPr>
              <p:cNvSpPr>
                <a:spLocks noChangeArrowheads="1"/>
              </p:cNvSpPr>
              <p:nvPr/>
            </p:nvSpPr>
            <p:spPr bwMode="auto">
              <a:xfrm>
                <a:off x="4318000" y="6075365"/>
                <a:ext cx="717550" cy="4206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x-none"/>
                  <a:t>client</a:t>
                </a:r>
              </a:p>
            </p:txBody>
          </p:sp>
          <p:sp>
            <p:nvSpPr>
              <p:cNvPr id="67" name="Text Box 91">
                <a:extLst>
                  <a:ext uri="{FF2B5EF4-FFF2-40B4-BE49-F238E27FC236}">
                    <a16:creationId xmlns:a16="http://schemas.microsoft.com/office/drawing/2014/main" id="{C7D71AB1-CAB6-C352-C8E4-DB014A95BB88}"/>
                  </a:ext>
                </a:extLst>
              </p:cNvPr>
              <p:cNvSpPr txBox="1">
                <a:spLocks noChangeArrowheads="1"/>
              </p:cNvSpPr>
              <p:nvPr/>
            </p:nvSpPr>
            <p:spPr bwMode="auto">
              <a:xfrm>
                <a:off x="5357815" y="3076577"/>
                <a:ext cx="287681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sz="1200" dirty="0"/>
                  <a:t>http://</a:t>
                </a:r>
                <a:r>
                  <a:rPr lang="en-US" altLang="x-none" sz="1200" dirty="0" err="1"/>
                  <a:t>www.kings</a:t>
                </a:r>
                <a:r>
                  <a:rPr lang="en-US" altLang="x-none" sz="1200" dirty="0"/>
                  <a:t>-air/reservations/premier</a:t>
                </a:r>
                <a:endParaRPr lang="en-US" altLang="x-none" dirty="0"/>
              </a:p>
            </p:txBody>
          </p:sp>
          <p:sp>
            <p:nvSpPr>
              <p:cNvPr id="68" name="Text Box 92">
                <a:extLst>
                  <a:ext uri="{FF2B5EF4-FFF2-40B4-BE49-F238E27FC236}">
                    <a16:creationId xmlns:a16="http://schemas.microsoft.com/office/drawing/2014/main" id="{835D6C4D-384B-CAF4-CEA6-119C439F71CF}"/>
                  </a:ext>
                </a:extLst>
              </p:cNvPr>
              <p:cNvSpPr txBox="1">
                <a:spLocks noChangeArrowheads="1"/>
              </p:cNvSpPr>
              <p:nvPr/>
            </p:nvSpPr>
            <p:spPr bwMode="auto">
              <a:xfrm>
                <a:off x="5173663" y="4510090"/>
                <a:ext cx="324120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sz="1200" dirty="0"/>
                  <a:t>http://</a:t>
                </a:r>
                <a:r>
                  <a:rPr lang="en-US" altLang="x-none" sz="1200" dirty="0" err="1"/>
                  <a:t>www.kings</a:t>
                </a:r>
                <a:r>
                  <a:rPr lang="en-US" altLang="x-none" sz="1200" dirty="0"/>
                  <a:t>-air/reservations/frequent-flyer</a:t>
                </a:r>
                <a:endParaRPr lang="en-US" altLang="x-none" dirty="0"/>
              </a:p>
            </p:txBody>
          </p:sp>
          <p:sp>
            <p:nvSpPr>
              <p:cNvPr id="69" name="Text Box 93">
                <a:extLst>
                  <a:ext uri="{FF2B5EF4-FFF2-40B4-BE49-F238E27FC236}">
                    <a16:creationId xmlns:a16="http://schemas.microsoft.com/office/drawing/2014/main" id="{99565660-5C9B-CEAA-DA61-4D35A1D71AA2}"/>
                  </a:ext>
                </a:extLst>
              </p:cNvPr>
              <p:cNvSpPr txBox="1">
                <a:spLocks noChangeArrowheads="1"/>
              </p:cNvSpPr>
              <p:nvPr/>
            </p:nvSpPr>
            <p:spPr bwMode="auto">
              <a:xfrm>
                <a:off x="5387977" y="5851527"/>
                <a:ext cx="282231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x-none" sz="1200"/>
                  <a:t>http://www.kings-air/reservations/regular</a:t>
                </a:r>
                <a:endParaRPr lang="en-US" altLang="x-none"/>
              </a:p>
            </p:txBody>
          </p:sp>
          <p:sp>
            <p:nvSpPr>
              <p:cNvPr id="70" name="Oval 95">
                <a:extLst>
                  <a:ext uri="{FF2B5EF4-FFF2-40B4-BE49-F238E27FC236}">
                    <a16:creationId xmlns:a16="http://schemas.microsoft.com/office/drawing/2014/main" id="{4A964D8D-EB09-507E-7BC3-84AEE8CA5572}"/>
                  </a:ext>
                </a:extLst>
              </p:cNvPr>
              <p:cNvSpPr>
                <a:spLocks noChangeArrowheads="1"/>
              </p:cNvSpPr>
              <p:nvPr/>
            </p:nvSpPr>
            <p:spPr bwMode="auto">
              <a:xfrm>
                <a:off x="8440738" y="2733675"/>
                <a:ext cx="1211262" cy="11890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1" name="Text Box 96">
                <a:extLst>
                  <a:ext uri="{FF2B5EF4-FFF2-40B4-BE49-F238E27FC236}">
                    <a16:creationId xmlns:a16="http://schemas.microsoft.com/office/drawing/2014/main" id="{579F910A-BDDE-1CAE-F38D-964D4C433F69}"/>
                  </a:ext>
                </a:extLst>
              </p:cNvPr>
              <p:cNvSpPr txBox="1">
                <a:spLocks noChangeArrowheads="1"/>
              </p:cNvSpPr>
              <p:nvPr/>
            </p:nvSpPr>
            <p:spPr bwMode="auto">
              <a:xfrm>
                <a:off x="8478543" y="2835275"/>
                <a:ext cx="117057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1600"/>
                  <a:t>Premier</a:t>
                </a:r>
              </a:p>
              <a:p>
                <a:pPr algn="ctr"/>
                <a:r>
                  <a:rPr lang="en-US" altLang="x-none" sz="1600"/>
                  <a:t>Member</a:t>
                </a:r>
              </a:p>
              <a:p>
                <a:pPr algn="ctr"/>
                <a:r>
                  <a:rPr lang="en-US" altLang="x-none" sz="1600"/>
                  <a:t>Reservation</a:t>
                </a:r>
              </a:p>
              <a:p>
                <a:pPr algn="ctr"/>
                <a:r>
                  <a:rPr lang="en-US" altLang="x-none" sz="1600"/>
                  <a:t>Service</a:t>
                </a:r>
              </a:p>
            </p:txBody>
          </p:sp>
          <p:sp>
            <p:nvSpPr>
              <p:cNvPr id="72" name="Oval 97">
                <a:extLst>
                  <a:ext uri="{FF2B5EF4-FFF2-40B4-BE49-F238E27FC236}">
                    <a16:creationId xmlns:a16="http://schemas.microsoft.com/office/drawing/2014/main" id="{E82CBC24-4817-73FC-0514-57308BF2C396}"/>
                  </a:ext>
                </a:extLst>
              </p:cNvPr>
              <p:cNvSpPr>
                <a:spLocks noChangeArrowheads="1"/>
              </p:cNvSpPr>
              <p:nvPr/>
            </p:nvSpPr>
            <p:spPr bwMode="auto">
              <a:xfrm>
                <a:off x="8440738" y="4130675"/>
                <a:ext cx="1211262" cy="11890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73" name="Text Box 98">
                <a:extLst>
                  <a:ext uri="{FF2B5EF4-FFF2-40B4-BE49-F238E27FC236}">
                    <a16:creationId xmlns:a16="http://schemas.microsoft.com/office/drawing/2014/main" id="{64DFBF53-48E6-4ECE-0A99-D989C0A29599}"/>
                  </a:ext>
                </a:extLst>
              </p:cNvPr>
              <p:cNvSpPr txBox="1">
                <a:spLocks noChangeArrowheads="1"/>
              </p:cNvSpPr>
              <p:nvPr/>
            </p:nvSpPr>
            <p:spPr bwMode="auto">
              <a:xfrm>
                <a:off x="8478543" y="4232275"/>
                <a:ext cx="117057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1600"/>
                  <a:t>Frequent</a:t>
                </a:r>
              </a:p>
              <a:p>
                <a:pPr algn="ctr"/>
                <a:r>
                  <a:rPr lang="en-US" altLang="x-none" sz="1600"/>
                  <a:t>Flyer</a:t>
                </a:r>
              </a:p>
              <a:p>
                <a:pPr algn="ctr"/>
                <a:r>
                  <a:rPr lang="en-US" altLang="x-none" sz="1600"/>
                  <a:t>Reservation</a:t>
                </a:r>
              </a:p>
              <a:p>
                <a:pPr algn="ctr"/>
                <a:r>
                  <a:rPr lang="en-US" altLang="x-none" sz="1600"/>
                  <a:t>Service</a:t>
                </a:r>
              </a:p>
            </p:txBody>
          </p:sp>
        </p:grpSp>
        <p:sp>
          <p:nvSpPr>
            <p:cNvPr id="51" name="Oval 99">
              <a:extLst>
                <a:ext uri="{FF2B5EF4-FFF2-40B4-BE49-F238E27FC236}">
                  <a16:creationId xmlns:a16="http://schemas.microsoft.com/office/drawing/2014/main" id="{94A2F202-8C67-C918-06D3-7DF558444FD9}"/>
                </a:ext>
              </a:extLst>
            </p:cNvPr>
            <p:cNvSpPr>
              <a:spLocks noChangeArrowheads="1"/>
            </p:cNvSpPr>
            <p:nvPr/>
          </p:nvSpPr>
          <p:spPr bwMode="auto">
            <a:xfrm>
              <a:off x="10157663" y="4666456"/>
              <a:ext cx="1211262" cy="11890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52" name="Text Box 100">
              <a:extLst>
                <a:ext uri="{FF2B5EF4-FFF2-40B4-BE49-F238E27FC236}">
                  <a16:creationId xmlns:a16="http://schemas.microsoft.com/office/drawing/2014/main" id="{9AD39E94-8A37-FE4A-F1B0-8F0373C78619}"/>
                </a:ext>
              </a:extLst>
            </p:cNvPr>
            <p:cNvSpPr txBox="1">
              <a:spLocks noChangeArrowheads="1"/>
            </p:cNvSpPr>
            <p:nvPr/>
          </p:nvSpPr>
          <p:spPr bwMode="auto">
            <a:xfrm>
              <a:off x="10223875" y="4677122"/>
              <a:ext cx="117057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x-none" sz="1600" dirty="0"/>
                <a:t>Regular</a:t>
              </a:r>
            </a:p>
            <a:p>
              <a:pPr algn="ctr"/>
              <a:r>
                <a:rPr lang="en-US" altLang="x-none" sz="1600" dirty="0"/>
                <a:t>Member</a:t>
              </a:r>
            </a:p>
            <a:p>
              <a:pPr algn="ctr"/>
              <a:r>
                <a:rPr lang="en-US" altLang="x-none" sz="1600" dirty="0"/>
                <a:t>Reservation</a:t>
              </a:r>
            </a:p>
            <a:p>
              <a:pPr algn="ctr"/>
              <a:r>
                <a:rPr lang="en-US" altLang="x-none" sz="1600" dirty="0"/>
                <a:t>Service</a:t>
              </a:r>
            </a:p>
          </p:txBody>
        </p:sp>
      </p:grpSp>
    </p:spTree>
    <p:extLst>
      <p:ext uri="{BB962C8B-B14F-4D97-AF65-F5344CB8AC3E}">
        <p14:creationId xmlns:p14="http://schemas.microsoft.com/office/powerpoint/2010/main" val="2500177940"/>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AA398-04F0-F29B-9674-124E0E6E9051}"/>
              </a:ext>
            </a:extLst>
          </p:cNvPr>
          <p:cNvSpPr>
            <a:spLocks noGrp="1"/>
          </p:cNvSpPr>
          <p:nvPr>
            <p:ph type="title"/>
          </p:nvPr>
        </p:nvSpPr>
        <p:spPr/>
        <p:txBody>
          <a:bodyPr>
            <a:normAutofit/>
          </a:bodyPr>
          <a:lstStyle/>
          <a:p>
            <a:r>
              <a:rPr lang="en-US" altLang="x-none" dirty="0"/>
              <a:t>Approach 2 Advantages</a:t>
            </a:r>
            <a:endParaRPr lang="en-GB" dirty="0"/>
          </a:p>
        </p:txBody>
      </p:sp>
      <p:sp>
        <p:nvSpPr>
          <p:cNvPr id="3" name="Text Placeholder 2">
            <a:extLst>
              <a:ext uri="{FF2B5EF4-FFF2-40B4-BE49-F238E27FC236}">
                <a16:creationId xmlns:a16="http://schemas.microsoft.com/office/drawing/2014/main" id="{D602BED3-AC18-E91A-335F-5CB927E92151}"/>
              </a:ext>
            </a:extLst>
          </p:cNvPr>
          <p:cNvSpPr>
            <a:spLocks noGrp="1"/>
          </p:cNvSpPr>
          <p:nvPr>
            <p:ph type="body" sz="quarter" idx="11"/>
          </p:nvPr>
        </p:nvSpPr>
        <p:spPr>
          <a:xfrm>
            <a:off x="899590" y="1700808"/>
            <a:ext cx="7416825" cy="4608512"/>
          </a:xfrm>
        </p:spPr>
        <p:txBody>
          <a:bodyPr/>
          <a:lstStyle/>
          <a:p>
            <a:r>
              <a:rPr lang="en-US" altLang="x-none" sz="2000" dirty="0"/>
              <a:t>The different URLs are </a:t>
            </a:r>
            <a:r>
              <a:rPr lang="en-US" altLang="x-none" sz="2000" b="1" dirty="0"/>
              <a:t>discoverable</a:t>
            </a:r>
            <a:r>
              <a:rPr lang="en-US" altLang="x-none" sz="2000" dirty="0"/>
              <a:t> by search engines and UDDI registries.</a:t>
            </a:r>
          </a:p>
          <a:p>
            <a:endParaRPr lang="en-US" altLang="x-none" sz="1200" dirty="0"/>
          </a:p>
          <a:p>
            <a:r>
              <a:rPr lang="en-US" altLang="x-none" sz="2000" dirty="0"/>
              <a:t>It's </a:t>
            </a:r>
            <a:r>
              <a:rPr lang="en-US" altLang="x-none" sz="2000" b="1" dirty="0"/>
              <a:t>easy to understand </a:t>
            </a:r>
            <a:r>
              <a:rPr lang="en-US" altLang="x-none" sz="2000" dirty="0"/>
              <a:t>what each service does simply by examining the URL, </a:t>
            </a:r>
            <a:r>
              <a:rPr lang="en-US" altLang="x-none" sz="2000" i="1" dirty="0"/>
              <a:t>i.e.,</a:t>
            </a:r>
            <a:r>
              <a:rPr lang="en-US" altLang="x-none" sz="2000" dirty="0"/>
              <a:t> it exploits the Principle of Least Surprise.</a:t>
            </a:r>
          </a:p>
          <a:p>
            <a:endParaRPr lang="en-US" altLang="x-none" sz="1200" dirty="0"/>
          </a:p>
          <a:p>
            <a:r>
              <a:rPr lang="en-US" altLang="x-none" sz="2000" dirty="0"/>
              <a:t>There is </a:t>
            </a:r>
            <a:r>
              <a:rPr lang="en-US" altLang="x-none" sz="2000" b="1" dirty="0"/>
              <a:t>no need to introduce rules</a:t>
            </a:r>
            <a:r>
              <a:rPr lang="en-US" altLang="x-none" sz="2000" dirty="0"/>
              <a:t>. Priorities are elevated to the level of a URL.  "What you see is what you get."</a:t>
            </a:r>
          </a:p>
          <a:p>
            <a:endParaRPr lang="en-US" altLang="x-none" sz="1200" dirty="0"/>
          </a:p>
          <a:p>
            <a:r>
              <a:rPr lang="en-US" altLang="x-none" sz="2000" dirty="0"/>
              <a:t>It's easy to implement high priority - simply assign a fast machine at the premier member URL.</a:t>
            </a:r>
          </a:p>
          <a:p>
            <a:endParaRPr lang="en-US" altLang="x-none" sz="1200" dirty="0"/>
          </a:p>
          <a:p>
            <a:r>
              <a:rPr lang="en-US" altLang="x-none" sz="2000" dirty="0"/>
              <a:t>There is </a:t>
            </a:r>
            <a:r>
              <a:rPr lang="en-US" altLang="x-none" sz="2000" b="1" dirty="0"/>
              <a:t>no bottleneck</a:t>
            </a:r>
            <a:r>
              <a:rPr lang="en-US" altLang="x-none" sz="2000" dirty="0"/>
              <a:t>.  There is no central point of failure. </a:t>
            </a:r>
          </a:p>
          <a:p>
            <a:endParaRPr lang="en-US" altLang="x-none" sz="1200" dirty="0"/>
          </a:p>
          <a:p>
            <a:r>
              <a:rPr lang="en-US" altLang="x-none" sz="2000" dirty="0"/>
              <a:t>Consistent with Axiom 0.</a:t>
            </a:r>
          </a:p>
          <a:p>
            <a:endParaRPr lang="en-GB" sz="2000" dirty="0"/>
          </a:p>
        </p:txBody>
      </p:sp>
    </p:spTree>
    <p:extLst>
      <p:ext uri="{BB962C8B-B14F-4D97-AF65-F5344CB8AC3E}">
        <p14:creationId xmlns:p14="http://schemas.microsoft.com/office/powerpoint/2010/main" val="893172889"/>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CB83-BAB5-A277-157A-587AFE5FE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62B9B-D2B5-8ED6-7F40-DE663FD21D70}"/>
              </a:ext>
            </a:extLst>
          </p:cNvPr>
          <p:cNvSpPr>
            <a:spLocks noGrp="1"/>
          </p:cNvSpPr>
          <p:nvPr>
            <p:ph type="title"/>
          </p:nvPr>
        </p:nvSpPr>
        <p:spPr/>
        <p:txBody>
          <a:bodyPr>
            <a:normAutofit fontScale="90000"/>
          </a:bodyPr>
          <a:lstStyle/>
          <a:p>
            <a:r>
              <a:rPr lang="en-US" altLang="x-none" dirty="0"/>
              <a:t>REST and SOAP</a:t>
            </a:r>
            <a:br>
              <a:rPr lang="en-GB" dirty="0"/>
            </a:br>
            <a:endParaRPr lang="en-GB" dirty="0"/>
          </a:p>
        </p:txBody>
      </p:sp>
      <p:graphicFrame>
        <p:nvGraphicFramePr>
          <p:cNvPr id="9" name="Table 8">
            <a:extLst>
              <a:ext uri="{FF2B5EF4-FFF2-40B4-BE49-F238E27FC236}">
                <a16:creationId xmlns:a16="http://schemas.microsoft.com/office/drawing/2014/main" id="{AFB27BDA-E5C0-F415-4334-CEA57238A6E0}"/>
              </a:ext>
            </a:extLst>
          </p:cNvPr>
          <p:cNvGraphicFramePr>
            <a:graphicFrameLocks noGrp="1"/>
          </p:cNvGraphicFramePr>
          <p:nvPr>
            <p:extLst>
              <p:ext uri="{D42A27DB-BD31-4B8C-83A1-F6EECF244321}">
                <p14:modId xmlns:p14="http://schemas.microsoft.com/office/powerpoint/2010/main" val="2474344426"/>
              </p:ext>
            </p:extLst>
          </p:nvPr>
        </p:nvGraphicFramePr>
        <p:xfrm>
          <a:off x="611560" y="1397000"/>
          <a:ext cx="7632848" cy="5045902"/>
        </p:xfrm>
        <a:graphic>
          <a:graphicData uri="http://schemas.openxmlformats.org/drawingml/2006/table">
            <a:tbl>
              <a:tblPr firstRow="1" bandRow="1">
                <a:tableStyleId>{5C22544A-7EE6-4342-B048-85BDC9FD1C3A}</a:tableStyleId>
              </a:tblPr>
              <a:tblGrid>
                <a:gridCol w="3816424">
                  <a:extLst>
                    <a:ext uri="{9D8B030D-6E8A-4147-A177-3AD203B41FA5}">
                      <a16:colId xmlns:a16="http://schemas.microsoft.com/office/drawing/2014/main" val="1688301884"/>
                    </a:ext>
                  </a:extLst>
                </a:gridCol>
                <a:gridCol w="3816424">
                  <a:extLst>
                    <a:ext uri="{9D8B030D-6E8A-4147-A177-3AD203B41FA5}">
                      <a16:colId xmlns:a16="http://schemas.microsoft.com/office/drawing/2014/main" val="4272816173"/>
                    </a:ext>
                  </a:extLst>
                </a:gridCol>
              </a:tblGrid>
              <a:tr h="519832">
                <a:tc>
                  <a:txBody>
                    <a:bodyPr/>
                    <a:lstStyle/>
                    <a:p>
                      <a:pPr algn="ctr"/>
                      <a:r>
                        <a:rPr lang="en-GB" dirty="0"/>
                        <a:t>REST</a:t>
                      </a:r>
                    </a:p>
                  </a:txBody>
                  <a:tcPr/>
                </a:tc>
                <a:tc>
                  <a:txBody>
                    <a:bodyPr/>
                    <a:lstStyle/>
                    <a:p>
                      <a:pPr algn="ctr"/>
                      <a:r>
                        <a:rPr lang="en-GB" dirty="0"/>
                        <a:t>SOAP</a:t>
                      </a:r>
                    </a:p>
                  </a:txBody>
                  <a:tcPr/>
                </a:tc>
                <a:extLst>
                  <a:ext uri="{0D108BD9-81ED-4DB2-BD59-A6C34878D82A}">
                    <a16:rowId xmlns:a16="http://schemas.microsoft.com/office/drawing/2014/main" val="3932915041"/>
                  </a:ext>
                </a:extLst>
              </a:tr>
              <a:tr h="722334">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altLang="x-none" sz="1800" dirty="0"/>
                        <a:t>Messages are represented in plain XML or more typically JSON</a:t>
                      </a:r>
                    </a:p>
                  </a:txBody>
                  <a:tcPr anchor="ct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altLang="x-none" sz="1800" dirty="0"/>
                        <a:t>Messages are represented in a standardized XML SOAP "envelope" </a:t>
                      </a:r>
                    </a:p>
                  </a:txBody>
                  <a:tcPr anchor="ctr"/>
                </a:tc>
                <a:extLst>
                  <a:ext uri="{0D108BD9-81ED-4DB2-BD59-A6C34878D82A}">
                    <a16:rowId xmlns:a16="http://schemas.microsoft.com/office/drawing/2014/main" val="2532507651"/>
                  </a:ext>
                </a:extLst>
              </a:tr>
              <a:tr h="722334">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altLang="x-none" sz="1800" dirty="0"/>
                        <a:t>HTTP is used for the transfer protocol </a:t>
                      </a:r>
                    </a:p>
                  </a:txBody>
                  <a:tcPr anchor="ct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altLang="x-none" sz="1800" dirty="0"/>
                        <a:t>Can be bound to various protocols including HTTP and SMTP </a:t>
                      </a:r>
                    </a:p>
                  </a:txBody>
                  <a:tcPr anchor="ctr"/>
                </a:tc>
                <a:extLst>
                  <a:ext uri="{0D108BD9-81ED-4DB2-BD59-A6C34878D82A}">
                    <a16:rowId xmlns:a16="http://schemas.microsoft.com/office/drawing/2014/main" val="1730267116"/>
                  </a:ext>
                </a:extLst>
              </a:tr>
              <a:tr h="722334">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altLang="x-none" sz="1800" dirty="0"/>
                        <a:t>HTTP verbs are used for access/manipulation commands </a:t>
                      </a:r>
                    </a:p>
                  </a:txBody>
                  <a:tcPr anchor="ct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altLang="x-none" sz="1800" dirty="0"/>
                        <a:t>Access to and manipulation of data are application specific </a:t>
                      </a:r>
                    </a:p>
                  </a:txBody>
                  <a:tcPr anchor="ctr"/>
                </a:tc>
                <a:extLst>
                  <a:ext uri="{0D108BD9-81ED-4DB2-BD59-A6C34878D82A}">
                    <a16:rowId xmlns:a16="http://schemas.microsoft.com/office/drawing/2014/main" val="626571142"/>
                  </a:ext>
                </a:extLst>
              </a:tr>
              <a:tr h="722334">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altLang="x-none" sz="1800" dirty="0"/>
                        <a:t>URIs are used to uniquely identify resources in message </a:t>
                      </a:r>
                    </a:p>
                  </a:txBody>
                  <a:tcPr anchor="ctr"/>
                </a:tc>
                <a:tc>
                  <a:txBody>
                    <a:bodyPr/>
                    <a:lstStyle/>
                    <a:p>
                      <a:pPr algn="ctr"/>
                      <a:r>
                        <a:rPr lang="en-GB" sz="1800" dirty="0"/>
                        <a:t>n/a</a:t>
                      </a:r>
                    </a:p>
                  </a:txBody>
                  <a:tcPr anchor="ctr"/>
                </a:tc>
                <a:extLst>
                  <a:ext uri="{0D108BD9-81ED-4DB2-BD59-A6C34878D82A}">
                    <a16:rowId xmlns:a16="http://schemas.microsoft.com/office/drawing/2014/main" val="3981596956"/>
                  </a:ext>
                </a:extLst>
              </a:tr>
              <a:tr h="722334">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altLang="x-none" sz="1800" dirty="0"/>
                        <a:t>HTTP authentication provides security </a:t>
                      </a:r>
                    </a:p>
                  </a:txBody>
                  <a:tcPr anchor="ct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altLang="x-none" sz="1800" dirty="0"/>
                        <a:t>Security is not described by SOAP and is to be provided by the developer </a:t>
                      </a:r>
                    </a:p>
                  </a:txBody>
                  <a:tcPr anchor="ctr"/>
                </a:tc>
                <a:extLst>
                  <a:ext uri="{0D108BD9-81ED-4DB2-BD59-A6C34878D82A}">
                    <a16:rowId xmlns:a16="http://schemas.microsoft.com/office/drawing/2014/main" val="3480753493"/>
                  </a:ext>
                </a:extLst>
              </a:tr>
              <a:tr h="722334">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altLang="x-none" sz="1800" dirty="0"/>
                        <a:t>There is no formal method for expressing the interface contract </a:t>
                      </a:r>
                    </a:p>
                  </a:txBody>
                  <a:tcPr anchor="ct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altLang="x-none" sz="1800" dirty="0"/>
                        <a:t>XML schemas or DTD are used to define the contract between client and service </a:t>
                      </a:r>
                    </a:p>
                  </a:txBody>
                  <a:tcPr anchor="ctr"/>
                </a:tc>
                <a:extLst>
                  <a:ext uri="{0D108BD9-81ED-4DB2-BD59-A6C34878D82A}">
                    <a16:rowId xmlns:a16="http://schemas.microsoft.com/office/drawing/2014/main" val="3628467260"/>
                  </a:ext>
                </a:extLst>
              </a:tr>
            </a:tbl>
          </a:graphicData>
        </a:graphic>
      </p:graphicFrame>
    </p:spTree>
    <p:extLst>
      <p:ext uri="{BB962C8B-B14F-4D97-AF65-F5344CB8AC3E}">
        <p14:creationId xmlns:p14="http://schemas.microsoft.com/office/powerpoint/2010/main" val="3778109750"/>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0EE76-8E2B-368B-6863-023122CB7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17F16-DDFB-DB08-4C2A-BE5E93C865A4}"/>
              </a:ext>
            </a:extLst>
          </p:cNvPr>
          <p:cNvSpPr>
            <a:spLocks noGrp="1"/>
          </p:cNvSpPr>
          <p:nvPr>
            <p:ph type="title"/>
          </p:nvPr>
        </p:nvSpPr>
        <p:spPr>
          <a:xfrm>
            <a:off x="2203226" y="5546130"/>
            <a:ext cx="6083524" cy="643275"/>
          </a:xfrm>
        </p:spPr>
        <p:txBody>
          <a:bodyPr>
            <a:normAutofit/>
          </a:bodyPr>
          <a:lstStyle/>
          <a:p>
            <a:pPr algn="ctr"/>
            <a:r>
              <a:rPr lang="en-GB" altLang="en-US" sz="3600" dirty="0"/>
              <a:t>Any questions?</a:t>
            </a:r>
            <a:endParaRPr lang="en-GB" dirty="0"/>
          </a:p>
        </p:txBody>
      </p:sp>
      <p:sp>
        <p:nvSpPr>
          <p:cNvPr id="3" name="Text Placeholder 2">
            <a:extLst>
              <a:ext uri="{FF2B5EF4-FFF2-40B4-BE49-F238E27FC236}">
                <a16:creationId xmlns:a16="http://schemas.microsoft.com/office/drawing/2014/main" id="{39E792B8-AB07-ECE2-A5B7-EB87FFA0DB89}"/>
              </a:ext>
            </a:extLst>
          </p:cNvPr>
          <p:cNvSpPr>
            <a:spLocks noGrp="1"/>
          </p:cNvSpPr>
          <p:nvPr>
            <p:ph type="body" sz="quarter" idx="15"/>
          </p:nvPr>
        </p:nvSpPr>
        <p:spPr/>
        <p:txBody>
          <a:bodyPr/>
          <a:lstStyle/>
          <a:p>
            <a:endParaRPr lang="en-GB"/>
          </a:p>
        </p:txBody>
      </p:sp>
      <p:sp>
        <p:nvSpPr>
          <p:cNvPr id="4" name="Text Placeholder 3">
            <a:extLst>
              <a:ext uri="{FF2B5EF4-FFF2-40B4-BE49-F238E27FC236}">
                <a16:creationId xmlns:a16="http://schemas.microsoft.com/office/drawing/2014/main" id="{57DEE58D-15F6-7CF8-51D5-F3A7AABE1E61}"/>
              </a:ext>
            </a:extLst>
          </p:cNvPr>
          <p:cNvSpPr>
            <a:spLocks noGrp="1"/>
          </p:cNvSpPr>
          <p:nvPr>
            <p:ph type="body" sz="quarter" idx="16"/>
          </p:nvPr>
        </p:nvSpPr>
        <p:spPr/>
        <p:txBody>
          <a:bodyPr/>
          <a:lstStyle/>
          <a:p>
            <a:r>
              <a:rPr lang="en-GB" dirty="0"/>
              <a:t>Dr David Wyatt</a:t>
            </a:r>
          </a:p>
        </p:txBody>
      </p:sp>
      <p:sp>
        <p:nvSpPr>
          <p:cNvPr id="6" name="Text Placeholder 5">
            <a:extLst>
              <a:ext uri="{FF2B5EF4-FFF2-40B4-BE49-F238E27FC236}">
                <a16:creationId xmlns:a16="http://schemas.microsoft.com/office/drawing/2014/main" id="{26C41372-FB65-EDB9-31A3-E19677E14963}"/>
              </a:ext>
            </a:extLst>
          </p:cNvPr>
          <p:cNvSpPr>
            <a:spLocks noGrp="1"/>
          </p:cNvSpPr>
          <p:nvPr>
            <p:ph type="body" sz="quarter" idx="18"/>
          </p:nvPr>
        </p:nvSpPr>
        <p:spPr/>
        <p:txBody>
          <a:bodyPr/>
          <a:lstStyle/>
          <a:p>
            <a:endParaRPr lang="en-GB" dirty="0"/>
          </a:p>
        </p:txBody>
      </p:sp>
      <p:pic>
        <p:nvPicPr>
          <p:cNvPr id="10" name="Picture 9">
            <a:extLst>
              <a:ext uri="{FF2B5EF4-FFF2-40B4-BE49-F238E27FC236}">
                <a16:creationId xmlns:a16="http://schemas.microsoft.com/office/drawing/2014/main" id="{C3FDB7ED-33F3-DFE3-6071-74049D0023D8}"/>
              </a:ext>
              <a:ext uri="{C183D7F6-B498-43B3-948B-1728B52AA6E4}">
                <adec:decorative xmlns:adec="http://schemas.microsoft.com/office/drawing/2017/decorative" val="1"/>
              </a:ext>
            </a:extLst>
          </p:cNvPr>
          <p:cNvPicPr>
            <a:picLocks noChangeAspect="1"/>
          </p:cNvPicPr>
          <p:nvPr/>
        </p:nvPicPr>
        <p:blipFill>
          <a:blip r:embed="rId2" cstate="print">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3462522" y="2498124"/>
            <a:ext cx="3048006" cy="3048006"/>
          </a:xfrm>
          <a:prstGeom prst="rect">
            <a:avLst/>
          </a:prstGeom>
        </p:spPr>
      </p:pic>
      <p:sp>
        <p:nvSpPr>
          <p:cNvPr id="11" name="Title 1">
            <a:extLst>
              <a:ext uri="{FF2B5EF4-FFF2-40B4-BE49-F238E27FC236}">
                <a16:creationId xmlns:a16="http://schemas.microsoft.com/office/drawing/2014/main" id="{FFE768E2-D838-F52C-2663-333B8F28EB4E}"/>
              </a:ext>
            </a:extLst>
          </p:cNvPr>
          <p:cNvSpPr txBox="1">
            <a:spLocks/>
          </p:cNvSpPr>
          <p:nvPr/>
        </p:nvSpPr>
        <p:spPr>
          <a:xfrm>
            <a:off x="2203226" y="1698978"/>
            <a:ext cx="6083524" cy="951546"/>
          </a:xfrm>
          <a:prstGeom prst="rect">
            <a:avLst/>
          </a:prstGeom>
        </p:spPr>
        <p:txBody>
          <a:bodyPr vert="horz" lIns="0" tIns="0" rIns="0" bIns="0" rtlCol="0" anchor="t" anchorCtr="0">
            <a:normAutofit/>
          </a:bodyPr>
          <a:lstStyle>
            <a:lvl1pPr algn="l" defTabSz="606425" rtl="0" eaLnBrk="1" fontAlgn="base" hangingPunct="1">
              <a:spcBef>
                <a:spcPct val="0"/>
              </a:spcBef>
              <a:spcAft>
                <a:spcPct val="0"/>
              </a:spcAft>
              <a:defRPr sz="3600" kern="1200">
                <a:solidFill>
                  <a:schemeClr val="bg1"/>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a:lstStyle>
          <a:p>
            <a:pPr algn="ctr"/>
            <a:r>
              <a:rPr lang="en-GB" altLang="en-US" dirty="0"/>
              <a:t>Thank you for your attention</a:t>
            </a:r>
            <a:endParaRPr lang="en-GB" dirty="0"/>
          </a:p>
        </p:txBody>
      </p:sp>
    </p:spTree>
    <p:extLst>
      <p:ext uri="{BB962C8B-B14F-4D97-AF65-F5344CB8AC3E}">
        <p14:creationId xmlns:p14="http://schemas.microsoft.com/office/powerpoint/2010/main" val="1653041656"/>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73&quot;&gt;&lt;object type=&quot;3&quot; unique_id=&quot;10074&quot;&gt;&lt;property id=&quot;20148&quot; value=&quot;5&quot;/&gt;&lt;property id=&quot;20300&quot; value=&quot;Slide 1&quot;/&gt;&lt;property id=&quot;20307&quot; value=&quot;256&quot;/&gt;&lt;/object&gt;&lt;object type=&quot;3&quot; unique_id=&quot;10075&quot;&gt;&lt;property id=&quot;20148&quot; value=&quot;5&quot;/&gt;&lt;property id=&quot;20300&quot; value=&quot;Slide 2&quot;/&gt;&lt;property id=&quot;20307&quot; value=&quot;260&quot;/&gt;&lt;/object&gt;&lt;object type=&quot;3&quot; unique_id=&quot;10076&quot;&gt;&lt;property id=&quot;20148&quot; value=&quot;5&quot;/&gt;&lt;property id=&quot;20300&quot; value=&quot;Slide 3&quot;/&gt;&lt;property id=&quot;20307&quot; value=&quot;267&quot;/&gt;&lt;/object&gt;&lt;object type=&quot;3&quot; unique_id=&quot;10077&quot;&gt;&lt;property id=&quot;20148&quot; value=&quot;5&quot;/&gt;&lt;property id=&quot;20300&quot; value=&quot;Slide 4&quot;/&gt;&lt;property id=&quot;20307&quot; value=&quot;264&quot;/&gt;&lt;/object&gt;&lt;object type=&quot;3&quot; unique_id=&quot;10078&quot;&gt;&lt;property id=&quot;20148&quot; value=&quot;5&quot;/&gt;&lt;property id=&quot;20300&quot; value=&quot;Slide 5&quot;/&gt;&lt;property id=&quot;20307&quot; value=&quot;268&quot;/&gt;&lt;/object&gt;&lt;object type=&quot;3&quot; unique_id=&quot;10079&quot;&gt;&lt;property id=&quot;20148&quot; value=&quot;5&quot;/&gt;&lt;property id=&quot;20300&quot; value=&quot;Slide 6&quot;/&gt;&lt;property id=&quot;20307&quot; value=&quot;265&quot;/&gt;&lt;/object&gt;&lt;object type=&quot;3&quot; unique_id=&quot;10080&quot;&gt;&lt;property id=&quot;20148&quot; value=&quot;5&quot;/&gt;&lt;property id=&quot;20300&quot; value=&quot;Slide 7&quot;/&gt;&lt;property id=&quot;20307&quot; value=&quot;266&quot;/&gt;&lt;/object&gt;&lt;object type=&quot;3&quot; unique_id=&quot;10081&quot;&gt;&lt;property id=&quot;20148&quot; value=&quot;5&quot;/&gt;&lt;property id=&quot;20300&quot; value=&quot;Slide 8&quot;/&gt;&lt;property id=&quot;20307&quot; value=&quot;262&quot;/&gt;&lt;/object&gt;&lt;object type=&quot;3&quot; unique_id=&quot;10082&quot;&gt;&lt;property id=&quot;20148&quot; value=&quot;5&quot;/&gt;&lt;property id=&quot;20300&quot; value=&quot;Slide 9&quot;/&gt;&lt;property id=&quot;20307&quot; value=&quot;269&quot;/&gt;&lt;/object&gt;&lt;object type=&quot;3&quot; unique_id=&quot;10083&quot;&gt;&lt;property id=&quot;20148&quot; value=&quot;5&quot;/&gt;&lt;property id=&quot;20300&quot; value=&quot;Slide 10&quot;/&gt;&lt;property id=&quot;20307&quot; value=&quot;259&quot;/&gt;&lt;/object&gt;&lt;/object&gt;&lt;object type=&quot;8&quot; unique_id=&quot;10095&quot;&gt;&lt;/object&gt;&lt;/object&gt;&lt;/database&gt;"/>
  <p:tag name="MMPROD_NEXTUNIQUEID" val="10009"/>
  <p:tag name="SECTOMILLISECCONVERTED"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3A79954B-D75F-D248-AE4C-5A8C1D0A2E08}" vid="{596BFCDD-A71F-0546-B65D-21184743809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2FC3F4283AECA48BCBDDFCF4103160C" ma:contentTypeVersion="2" ma:contentTypeDescription="Create a new document." ma:contentTypeScope="" ma:versionID="71a29f68b18f52e7e0b329625759c092">
  <xsd:schema xmlns:xsd="http://www.w3.org/2001/XMLSchema" xmlns:xs="http://www.w3.org/2001/XMLSchema" xmlns:p="http://schemas.microsoft.com/office/2006/metadata/properties" xmlns:ns2="037ba92a-5764-4297-b5f7-6ea117412624" xmlns:ns3="3a4ab234-afbc-41ab-b2db-358d80304e46" targetNamespace="http://schemas.microsoft.com/office/2006/metadata/properties" ma:root="true" ma:fieldsID="a458c3587d291faf4ca1653387720a89" ns2:_="" ns3:_="">
    <xsd:import namespace="037ba92a-5764-4297-b5f7-6ea117412624"/>
    <xsd:import namespace="3a4ab234-afbc-41ab-b2db-358d80304e46"/>
    <xsd:element name="properties">
      <xsd:complexType>
        <xsd:sequence>
          <xsd:element name="documentManagement">
            <xsd:complexType>
              <xsd:all>
                <xsd:element ref="ns2:_dlc_DocId" minOccurs="0"/>
                <xsd:element ref="ns2:_dlc_DocIdUrl" minOccurs="0"/>
                <xsd:element ref="ns2:_dlc_DocIdPersistId" minOccurs="0"/>
                <xsd:element ref="ns3:Document_x0020_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7ba92a-5764-4297-b5f7-6ea11741262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3a4ab234-afbc-41ab-b2db-358d80304e46" elementFormDefault="qualified">
    <xsd:import namespace="http://schemas.microsoft.com/office/2006/documentManagement/types"/>
    <xsd:import namespace="http://schemas.microsoft.com/office/infopath/2007/PartnerControls"/>
    <xsd:element name="Document_x0020_Type" ma:index="11" nillable="true" ma:displayName="Document Type" ma:default="Main Issue" ma:description="Specify type of document to help with filtered views" ma:format="Dropdown" ma:internalName="Document_x0020_Type">
      <xsd:simpleType>
        <xsd:restriction base="dms:Choice">
          <xsd:enumeration value="Main Issue"/>
          <xsd:enumeration value="Supporting"/>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ocument_x0020_Type xmlns="3a4ab234-afbc-41ab-b2db-358d80304e46">Main Issue</Document_x0020_Type>
    <_dlc_DocId xmlns="037ba92a-5764-4297-b5f7-6ea117412624">NAYYJSKVSPAS-2-1608</_dlc_DocId>
    <_dlc_DocIdUrl xmlns="037ba92a-5764-4297-b5f7-6ea117412624">
      <Url>https://docs.uwe.ac.uk/ou/Communications/_layouts/15/DocIdRedir.aspx?ID=NAYYJSKVSPAS-2-1608</Url>
      <Description>NAYYJSKVSPAS-2-1608</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8277BB-DC5E-47BA-8CA9-13DFAB3B24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37ba92a-5764-4297-b5f7-6ea117412624"/>
    <ds:schemaRef ds:uri="3a4ab234-afbc-41ab-b2db-358d80304e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D2D201-97C8-4E70-BF77-76D11DC8600F}">
  <ds:schemaRefs>
    <ds:schemaRef ds:uri="http://schemas.microsoft.com/office/infopath/2007/PartnerControls"/>
    <ds:schemaRef ds:uri="http://purl.org/dc/elements/1.1/"/>
    <ds:schemaRef ds:uri="http://schemas.openxmlformats.org/package/2006/metadata/core-properties"/>
    <ds:schemaRef ds:uri="http://purl.org/dc/dcmitype/"/>
    <ds:schemaRef ds:uri="http://schemas.microsoft.com/office/2006/documentManagement/types"/>
    <ds:schemaRef ds:uri="http://www.w3.org/XML/1998/namespace"/>
    <ds:schemaRef ds:uri="3a4ab234-afbc-41ab-b2db-358d80304e46"/>
    <ds:schemaRef ds:uri="037ba92a-5764-4297-b5f7-6ea117412624"/>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1F364826-19C1-4551-92C2-A6C074B09DC4}">
  <ds:schemaRefs>
    <ds:schemaRef ds:uri="http://schemas.microsoft.com/sharepoint/events"/>
  </ds:schemaRefs>
</ds:datastoreItem>
</file>

<file path=customXml/itemProps4.xml><?xml version="1.0" encoding="utf-8"?>
<ds:datastoreItem xmlns:ds="http://schemas.openxmlformats.org/officeDocument/2006/customXml" ds:itemID="{AC5552B4-89B5-4F8D-B1E4-E0A34EA58D51}">
  <ds:schemaRefs>
    <ds:schemaRef ds:uri="http://schemas.microsoft.com/sharepoint/v3/contenttype/forms"/>
  </ds:schemaRefs>
</ds:datastoreItem>
</file>

<file path=docMetadata/LabelInfo.xml><?xml version="1.0" encoding="utf-8"?>
<clbl:labelList xmlns:clbl="http://schemas.microsoft.com/office/2020/mipLabelMetadata">
  <clbl:label id="{0c7fd77c-bf1b-4511-8a0d-ca095442aa9f}" enabled="1" method="Privileged" siteId="{07ef1208-413c-4b5e-9cdd-64ef305754f0}" contentBits="0" removed="0"/>
</clbl:labelList>
</file>

<file path=docProps/app.xml><?xml version="1.0" encoding="utf-8"?>
<Properties xmlns="http://schemas.openxmlformats.org/officeDocument/2006/extended-properties" xmlns:vt="http://schemas.openxmlformats.org/officeDocument/2006/docPropsVTypes">
  <Template>Custom Design</Template>
  <TotalTime>224</TotalTime>
  <Words>2095</Words>
  <Application>Microsoft Office PowerPoint</Application>
  <PresentationFormat>On-screen Show (4:3)</PresentationFormat>
  <Paragraphs>423</Paragraphs>
  <Slides>29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ＭＳ Ｐゴシック</vt:lpstr>
      <vt:lpstr>Arial</vt:lpstr>
      <vt:lpstr>Calibri</vt:lpstr>
      <vt:lpstr>Consolas</vt:lpstr>
      <vt:lpstr>Courier New</vt:lpstr>
      <vt:lpstr>Tahoma</vt:lpstr>
      <vt:lpstr>Wingdings</vt:lpstr>
      <vt:lpstr>Custom Design</vt:lpstr>
      <vt:lpstr>RESTful Web Services </vt:lpstr>
      <vt:lpstr>Session Plan</vt:lpstr>
      <vt:lpstr>Hypertext Transfer Protocol (HTTP/S)</vt:lpstr>
      <vt:lpstr>Four Layers of Transmission Control Protocol/ Internet Protocol (TCP/IP)</vt:lpstr>
      <vt:lpstr>HTTP Request Methods</vt:lpstr>
      <vt:lpstr>Common REST HTTP Response Codes</vt:lpstr>
      <vt:lpstr>Sample Request &amp; Respond</vt:lpstr>
      <vt:lpstr>RESTful Services</vt:lpstr>
      <vt:lpstr>Motivation for REST</vt:lpstr>
      <vt:lpstr>REST Principles</vt:lpstr>
      <vt:lpstr>REST Design Pattern</vt:lpstr>
      <vt:lpstr>CRUD/HTTP Mapping</vt:lpstr>
      <vt:lpstr>The Three Fundamental Aspects of the REST Design Pattern</vt:lpstr>
      <vt:lpstr>The six characteristics of REST:</vt:lpstr>
      <vt:lpstr>Using URIs to Name Resources</vt:lpstr>
      <vt:lpstr>Resource vs Representation</vt:lpstr>
      <vt:lpstr>Using HTTP Request methods</vt:lpstr>
      <vt:lpstr>A typical HTTP REST URL:</vt:lpstr>
      <vt:lpstr>Approach 1 "Press 1 for Premier, Press 2 for…"</vt:lpstr>
      <vt:lpstr>Approach 2 Telephone Numbers are Cheap!</vt:lpstr>
      <vt:lpstr>Discussion</vt:lpstr>
      <vt:lpstr>Web-Based Reservation Service</vt:lpstr>
      <vt:lpstr>Approach 1 One-Stop Shopping</vt:lpstr>
      <vt:lpstr>Approach 1 Disadvantages</vt:lpstr>
      <vt:lpstr>Web Design, Axiom 0 (Tim Berners-Lee, director of W3C)</vt:lpstr>
      <vt:lpstr>Approach 2:  URLs are Cheap!  Use Them!</vt:lpstr>
      <vt:lpstr>Approach 2 Advantages</vt:lpstr>
      <vt:lpstr>REST and SOAP </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UFCFAF-30-3  Development of Information Systems Projects (DISP)  RESTful Web Services </dc:title>
  <dc:creator>Dilshan Jayatilake</dc:creator>
  <cp:lastModifiedBy>David Wyatt</cp:lastModifiedBy>
  <cp:revision>43</cp:revision>
  <cp:lastPrinted>2016-09-22T10:08:48Z</cp:lastPrinted>
  <dcterms:created xsi:type="dcterms:W3CDTF">2023-02-20T08:12:00Z</dcterms:created>
  <dcterms:modified xsi:type="dcterms:W3CDTF">2026-10-11T08:09:48Z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0x01010072FC3F4283AECA48BCBDDFCF4103160C</vt:lpwstr>
  </property>
  <property fmtid="{D5CDD505-2E9C-101B-9397-08002B2CF9AE}" pid="3" name="xd_Signature">
    <vt:bool>false</vt:bool>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dlc_DocIdItemGuid">
    <vt:lpwstr>0beaf668-18bc-407e-89e0-ef66d74dcf56</vt:lpwstr>
  </property>
</Properties>
</file>