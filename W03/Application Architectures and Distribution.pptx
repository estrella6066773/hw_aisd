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5"/>
  </p:sldMasterIdLst>
  <p:notesMasterIdLst>
    <p:notesMasterId r:id="rId34"/>
  </p:notesMasterIdLst>
  <p:handoutMasterIdLst>
    <p:handoutMasterId r:id="rId35"/>
  </p:handoutMasterIdLst>
  <p:sldIdLst>
    <p:sldId id="256" r:id="rId6"/>
    <p:sldId id="258" r:id="rId7"/>
    <p:sldId id="288" r:id="rId8"/>
    <p:sldId id="262" r:id="rId9"/>
    <p:sldId id="289" r:id="rId10"/>
    <p:sldId id="263" r:id="rId11"/>
    <p:sldId id="264" r:id="rId12"/>
    <p:sldId id="265" r:id="rId13"/>
    <p:sldId id="266" r:id="rId14"/>
    <p:sldId id="290" r:id="rId15"/>
    <p:sldId id="267" r:id="rId16"/>
    <p:sldId id="291" r:id="rId17"/>
    <p:sldId id="268" r:id="rId18"/>
    <p:sldId id="269" r:id="rId19"/>
    <p:sldId id="295" r:id="rId20"/>
    <p:sldId id="292" r:id="rId21"/>
    <p:sldId id="270" r:id="rId22"/>
    <p:sldId id="271" r:id="rId23"/>
    <p:sldId id="294" r:id="rId24"/>
    <p:sldId id="272" r:id="rId25"/>
    <p:sldId id="293" r:id="rId26"/>
    <p:sldId id="273" r:id="rId27"/>
    <p:sldId id="274" r:id="rId28"/>
    <p:sldId id="275" r:id="rId29"/>
    <p:sldId id="276" r:id="rId30"/>
    <p:sldId id="296" r:id="rId31"/>
    <p:sldId id="297" r:id="rId32"/>
    <p:sldId id="298" r:id="rId33"/>
  </p:sldIdLst>
  <p:sldSz cx="9144000" cy="6858000" type="screen4x3"/>
  <p:notesSz cx="9144000" cy="6858000"/>
  <p:custDataLst>
    <p:tags r:id="rId3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lication Architectures and Distribution" id="{4284EADD-FE41-494D-A42C-2B60CCFC2DE6}">
          <p14:sldIdLst>
            <p14:sldId id="256"/>
            <p14:sldId id="258"/>
            <p14:sldId id="288"/>
            <p14:sldId id="262"/>
            <p14:sldId id="289"/>
            <p14:sldId id="263"/>
            <p14:sldId id="264"/>
            <p14:sldId id="265"/>
            <p14:sldId id="266"/>
            <p14:sldId id="290"/>
            <p14:sldId id="267"/>
            <p14:sldId id="291"/>
            <p14:sldId id="268"/>
            <p14:sldId id="269"/>
            <p14:sldId id="295"/>
            <p14:sldId id="292"/>
            <p14:sldId id="270"/>
            <p14:sldId id="271"/>
            <p14:sldId id="294"/>
            <p14:sldId id="272"/>
            <p14:sldId id="293"/>
            <p14:sldId id="273"/>
            <p14:sldId id="274"/>
            <p14:sldId id="275"/>
            <p14:sldId id="276"/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9DAC"/>
    <a:srgbClr val="1A9DAC"/>
    <a:srgbClr val="16818D"/>
    <a:srgbClr val="1C9DAC"/>
    <a:srgbClr val="7A7392"/>
    <a:srgbClr val="598752"/>
    <a:srgbClr val="6DA463"/>
    <a:srgbClr val="A65C45"/>
    <a:srgbClr val="CC705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1A89D0-6DC7-B54A-8406-F6D76642D570}" v="15" dt="2024-11-04T06:35:11.4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49" autoAdjust="0"/>
    <p:restoredTop sz="75238"/>
  </p:normalViewPr>
  <p:slideViewPr>
    <p:cSldViewPr showGuides="1">
      <p:cViewPr varScale="1">
        <p:scale>
          <a:sx n="111" d="100"/>
          <a:sy n="111" d="100"/>
        </p:scale>
        <p:origin x="3132" y="318"/>
      </p:cViewPr>
      <p:guideLst>
        <p:guide orient="horz" pos="3838"/>
        <p:guide pos="2880"/>
        <p:guide pos="5103"/>
        <p:guide pos="6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83" d="100"/>
          <a:sy n="183" d="100"/>
        </p:scale>
        <p:origin x="208" y="3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lshan Jayatilake" userId="S::dilshan.jayatilake@uwe.ac.uk::99872c75-69be-4616-b6f0-c2c108370a54" providerId="AD" clId="Web-{3077FDB9-4514-4664-7E54-A21E0FD15D98}"/>
    <pc:docChg chg="modSld">
      <pc:chgData name="Dilshan Jayatilake" userId="S::dilshan.jayatilake@uwe.ac.uk::99872c75-69be-4616-b6f0-c2c108370a54" providerId="AD" clId="Web-{3077FDB9-4514-4664-7E54-A21E0FD15D98}" dt="2024-01-26T08:04:08.091" v="1" actId="20577"/>
      <pc:docMkLst>
        <pc:docMk/>
      </pc:docMkLst>
      <pc:sldChg chg="modSp">
        <pc:chgData name="Dilshan Jayatilake" userId="S::dilshan.jayatilake@uwe.ac.uk::99872c75-69be-4616-b6f0-c2c108370a54" providerId="AD" clId="Web-{3077FDB9-4514-4664-7E54-A21E0FD15D98}" dt="2024-01-26T08:04:02.451" v="0" actId="20577"/>
        <pc:sldMkLst>
          <pc:docMk/>
          <pc:sldMk cId="3764760811" sldId="256"/>
        </pc:sldMkLst>
        <pc:spChg chg="mod">
          <ac:chgData name="Dilshan Jayatilake" userId="S::dilshan.jayatilake@uwe.ac.uk::99872c75-69be-4616-b6f0-c2c108370a54" providerId="AD" clId="Web-{3077FDB9-4514-4664-7E54-A21E0FD15D98}" dt="2024-01-26T08:04:02.451" v="0" actId="20577"/>
          <ac:spMkLst>
            <pc:docMk/>
            <pc:sldMk cId="3764760811" sldId="256"/>
            <ac:spMk id="6" creationId="{8AF42F57-4342-4892-B2AD-019DCDCB61B2}"/>
          </ac:spMkLst>
        </pc:spChg>
      </pc:sldChg>
      <pc:sldChg chg="modSp">
        <pc:chgData name="Dilshan Jayatilake" userId="S::dilshan.jayatilake@uwe.ac.uk::99872c75-69be-4616-b6f0-c2c108370a54" providerId="AD" clId="Web-{3077FDB9-4514-4664-7E54-A21E0FD15D98}" dt="2024-01-26T08:04:08.091" v="1" actId="20577"/>
        <pc:sldMkLst>
          <pc:docMk/>
          <pc:sldMk cId="2017716016" sldId="295"/>
        </pc:sldMkLst>
        <pc:spChg chg="mod">
          <ac:chgData name="Dilshan Jayatilake" userId="S::dilshan.jayatilake@uwe.ac.uk::99872c75-69be-4616-b6f0-c2c108370a54" providerId="AD" clId="Web-{3077FDB9-4514-4664-7E54-A21E0FD15D98}" dt="2024-01-26T08:04:08.091" v="1" actId="20577"/>
          <ac:spMkLst>
            <pc:docMk/>
            <pc:sldMk cId="2017716016" sldId="295"/>
            <ac:spMk id="6" creationId="{8AF42F57-4342-4892-B2AD-019DCDCB61B2}"/>
          </ac:spMkLst>
        </pc:spChg>
      </pc:sldChg>
    </pc:docChg>
  </pc:docChgLst>
  <pc:docChgLst>
    <pc:chgData name="Cameron Steer" userId="d15fbe88-eed5-4d8a-b046-3083f62b55bb" providerId="ADAL" clId="{711A89D0-6DC7-B54A-8406-F6D76642D570}"/>
    <pc:docChg chg="undo custSel addSld delSld modSld modSection">
      <pc:chgData name="Cameron Steer" userId="d15fbe88-eed5-4d8a-b046-3083f62b55bb" providerId="ADAL" clId="{711A89D0-6DC7-B54A-8406-F6D76642D570}" dt="2024-11-04T12:14:42.939" v="216" actId="20577"/>
      <pc:docMkLst>
        <pc:docMk/>
      </pc:docMkLst>
      <pc:sldChg chg="modSp mod">
        <pc:chgData name="Cameron Steer" userId="d15fbe88-eed5-4d8a-b046-3083f62b55bb" providerId="ADAL" clId="{711A89D0-6DC7-B54A-8406-F6D76642D570}" dt="2024-11-04T12:14:42.939" v="216" actId="20577"/>
        <pc:sldMkLst>
          <pc:docMk/>
          <pc:sldMk cId="3764760811" sldId="256"/>
        </pc:sldMkLst>
        <pc:spChg chg="mod">
          <ac:chgData name="Cameron Steer" userId="d15fbe88-eed5-4d8a-b046-3083f62b55bb" providerId="ADAL" clId="{711A89D0-6DC7-B54A-8406-F6D76642D570}" dt="2024-11-04T03:03:49.072" v="96" actId="14100"/>
          <ac:spMkLst>
            <pc:docMk/>
            <pc:sldMk cId="3764760811" sldId="256"/>
            <ac:spMk id="2" creationId="{60EF4C6A-CA2E-4C35-8BA5-916C10203F2E}"/>
          </ac:spMkLst>
        </pc:spChg>
        <pc:spChg chg="mod">
          <ac:chgData name="Cameron Steer" userId="d15fbe88-eed5-4d8a-b046-3083f62b55bb" providerId="ADAL" clId="{711A89D0-6DC7-B54A-8406-F6D76642D570}" dt="2024-11-04T02:44:45.989" v="81" actId="20577"/>
          <ac:spMkLst>
            <pc:docMk/>
            <pc:sldMk cId="3764760811" sldId="256"/>
            <ac:spMk id="4" creationId="{FA5FC82F-1F0B-4D11-BC78-0C43FDE0F394}"/>
          </ac:spMkLst>
        </pc:spChg>
        <pc:spChg chg="mod">
          <ac:chgData name="Cameron Steer" userId="d15fbe88-eed5-4d8a-b046-3083f62b55bb" providerId="ADAL" clId="{711A89D0-6DC7-B54A-8406-F6D76642D570}" dt="2024-11-04T12:14:42.939" v="216" actId="20577"/>
          <ac:spMkLst>
            <pc:docMk/>
            <pc:sldMk cId="3764760811" sldId="256"/>
            <ac:spMk id="6" creationId="{8AF42F57-4342-4892-B2AD-019DCDCB61B2}"/>
          </ac:spMkLst>
        </pc:spChg>
      </pc:sldChg>
      <pc:sldChg chg="modSp mod">
        <pc:chgData name="Cameron Steer" userId="d15fbe88-eed5-4d8a-b046-3083f62b55bb" providerId="ADAL" clId="{711A89D0-6DC7-B54A-8406-F6D76642D570}" dt="2024-11-04T06:56:43.765" v="214" actId="113"/>
        <pc:sldMkLst>
          <pc:docMk/>
          <pc:sldMk cId="1719998758" sldId="258"/>
        </pc:sldMkLst>
        <pc:spChg chg="mod">
          <ac:chgData name="Cameron Steer" userId="d15fbe88-eed5-4d8a-b046-3083f62b55bb" providerId="ADAL" clId="{711A89D0-6DC7-B54A-8406-F6D76642D570}" dt="2024-11-04T06:56:43.765" v="214" actId="113"/>
          <ac:spMkLst>
            <pc:docMk/>
            <pc:sldMk cId="1719998758" sldId="258"/>
            <ac:spMk id="3" creationId="{D1474684-16B6-4667-AD9F-523AB5D333B5}"/>
          </ac:spMkLst>
        </pc:spChg>
      </pc:sldChg>
      <pc:sldChg chg="addSp modSp mod">
        <pc:chgData name="Cameron Steer" userId="d15fbe88-eed5-4d8a-b046-3083f62b55bb" providerId="ADAL" clId="{711A89D0-6DC7-B54A-8406-F6D76642D570}" dt="2024-11-04T06:35:11.495" v="159" actId="1076"/>
        <pc:sldMkLst>
          <pc:docMk/>
          <pc:sldMk cId="3222906509" sldId="267"/>
        </pc:sldMkLst>
        <pc:spChg chg="add mod">
          <ac:chgData name="Cameron Steer" userId="d15fbe88-eed5-4d8a-b046-3083f62b55bb" providerId="ADAL" clId="{711A89D0-6DC7-B54A-8406-F6D76642D570}" dt="2024-11-04T06:34:33.393" v="154"/>
          <ac:spMkLst>
            <pc:docMk/>
            <pc:sldMk cId="3222906509" sldId="267"/>
            <ac:spMk id="5" creationId="{9180D556-6626-3172-DEEB-90DCFDDF7E4E}"/>
          </ac:spMkLst>
        </pc:spChg>
        <pc:picChg chg="mod">
          <ac:chgData name="Cameron Steer" userId="d15fbe88-eed5-4d8a-b046-3083f62b55bb" providerId="ADAL" clId="{711A89D0-6DC7-B54A-8406-F6D76642D570}" dt="2024-11-04T06:35:11.495" v="159" actId="1076"/>
          <ac:picMkLst>
            <pc:docMk/>
            <pc:sldMk cId="3222906509" sldId="267"/>
            <ac:picMk id="4" creationId="{DAF7AFFC-5B7B-6893-5623-88A06FEF3E49}"/>
          </ac:picMkLst>
        </pc:picChg>
      </pc:sldChg>
      <pc:sldChg chg="delSp modSp mod">
        <pc:chgData name="Cameron Steer" userId="d15fbe88-eed5-4d8a-b046-3083f62b55bb" providerId="ADAL" clId="{711A89D0-6DC7-B54A-8406-F6D76642D570}" dt="2024-11-04T03:45:54.050" v="109" actId="20577"/>
        <pc:sldMkLst>
          <pc:docMk/>
          <pc:sldMk cId="120987617" sldId="271"/>
        </pc:sldMkLst>
        <pc:spChg chg="mod">
          <ac:chgData name="Cameron Steer" userId="d15fbe88-eed5-4d8a-b046-3083f62b55bb" providerId="ADAL" clId="{711A89D0-6DC7-B54A-8406-F6D76642D570}" dt="2024-11-04T03:45:54.050" v="109" actId="20577"/>
          <ac:spMkLst>
            <pc:docMk/>
            <pc:sldMk cId="120987617" sldId="271"/>
            <ac:spMk id="3" creationId="{22F68C97-1065-F720-C952-1C66C190A4B6}"/>
          </ac:spMkLst>
        </pc:spChg>
        <pc:picChg chg="del">
          <ac:chgData name="Cameron Steer" userId="d15fbe88-eed5-4d8a-b046-3083f62b55bb" providerId="ADAL" clId="{711A89D0-6DC7-B54A-8406-F6D76642D570}" dt="2024-11-04T03:44:34.036" v="97" actId="478"/>
          <ac:picMkLst>
            <pc:docMk/>
            <pc:sldMk cId="120987617" sldId="271"/>
            <ac:picMk id="3074" creationId="{FFCC245A-315B-BD77-61BC-8BC573266A49}"/>
          </ac:picMkLst>
        </pc:picChg>
      </pc:sldChg>
      <pc:sldChg chg="addSp delSp modSp add mod modAnim">
        <pc:chgData name="Cameron Steer" userId="d15fbe88-eed5-4d8a-b046-3083f62b55bb" providerId="ADAL" clId="{711A89D0-6DC7-B54A-8406-F6D76642D570}" dt="2024-11-04T06:28:00.517" v="135" actId="15"/>
        <pc:sldMkLst>
          <pc:docMk/>
          <pc:sldMk cId="1578006006" sldId="295"/>
        </pc:sldMkLst>
        <pc:spChg chg="mod">
          <ac:chgData name="Cameron Steer" userId="d15fbe88-eed5-4d8a-b046-3083f62b55bb" providerId="ADAL" clId="{711A89D0-6DC7-B54A-8406-F6D76642D570}" dt="2024-11-04T06:27:47.767" v="132" actId="20577"/>
          <ac:spMkLst>
            <pc:docMk/>
            <pc:sldMk cId="1578006006" sldId="295"/>
            <ac:spMk id="2" creationId="{7E779B65-BD6F-C9D0-363D-A50965097D39}"/>
          </ac:spMkLst>
        </pc:spChg>
        <pc:spChg chg="del">
          <ac:chgData name="Cameron Steer" userId="d15fbe88-eed5-4d8a-b046-3083f62b55bb" providerId="ADAL" clId="{711A89D0-6DC7-B54A-8406-F6D76642D570}" dt="2024-11-04T06:27:31.822" v="114" actId="478"/>
          <ac:spMkLst>
            <pc:docMk/>
            <pc:sldMk cId="1578006006" sldId="295"/>
            <ac:spMk id="3" creationId="{34B1AFC6-E798-B1E8-0F6E-F6C55BDE4CC7}"/>
          </ac:spMkLst>
        </pc:spChg>
        <pc:spChg chg="add mod">
          <ac:chgData name="Cameron Steer" userId="d15fbe88-eed5-4d8a-b046-3083f62b55bb" providerId="ADAL" clId="{711A89D0-6DC7-B54A-8406-F6D76642D570}" dt="2024-11-04T06:28:00.517" v="135" actId="15"/>
          <ac:spMkLst>
            <pc:docMk/>
            <pc:sldMk cId="1578006006" sldId="295"/>
            <ac:spMk id="7" creationId="{07C45B5C-9637-12F4-84DC-2C693C564EFF}"/>
          </ac:spMkLst>
        </pc:spChg>
        <pc:picChg chg="del">
          <ac:chgData name="Cameron Steer" userId="d15fbe88-eed5-4d8a-b046-3083f62b55bb" providerId="ADAL" clId="{711A89D0-6DC7-B54A-8406-F6D76642D570}" dt="2024-11-04T06:27:28.118" v="112" actId="478"/>
          <ac:picMkLst>
            <pc:docMk/>
            <pc:sldMk cId="1578006006" sldId="295"/>
            <ac:picMk id="4" creationId="{A339322B-202D-A046-7167-A318DAFCBAEA}"/>
          </ac:picMkLst>
        </pc:picChg>
        <pc:picChg chg="del">
          <ac:chgData name="Cameron Steer" userId="d15fbe88-eed5-4d8a-b046-3083f62b55bb" providerId="ADAL" clId="{711A89D0-6DC7-B54A-8406-F6D76642D570}" dt="2024-11-04T06:27:29.163" v="113" actId="478"/>
          <ac:picMkLst>
            <pc:docMk/>
            <pc:sldMk cId="1578006006" sldId="295"/>
            <ac:picMk id="5" creationId="{CF69C129-CD70-2484-9F5C-AD919E1BB8F2}"/>
          </ac:picMkLst>
        </pc:picChg>
      </pc:sldChg>
      <pc:sldChg chg="del">
        <pc:chgData name="Cameron Steer" userId="d15fbe88-eed5-4d8a-b046-3083f62b55bb" providerId="ADAL" clId="{711A89D0-6DC7-B54A-8406-F6D76642D570}" dt="2024-11-04T04:02:47.116" v="110" actId="2696"/>
        <pc:sldMkLst>
          <pc:docMk/>
          <pc:sldMk cId="2017716016" sldId="295"/>
        </pc:sldMkLst>
      </pc:sldChg>
      <pc:sldChg chg="modSp add del mod modAnim">
        <pc:chgData name="Cameron Steer" userId="d15fbe88-eed5-4d8a-b046-3083f62b55bb" providerId="ADAL" clId="{711A89D0-6DC7-B54A-8406-F6D76642D570}" dt="2024-11-04T02:44:37.717" v="64" actId="2696"/>
        <pc:sldMkLst>
          <pc:docMk/>
          <pc:sldMk cId="546040840" sldId="296"/>
        </pc:sldMkLst>
        <pc:spChg chg="mod">
          <ac:chgData name="Cameron Steer" userId="d15fbe88-eed5-4d8a-b046-3083f62b55bb" providerId="ADAL" clId="{711A89D0-6DC7-B54A-8406-F6D76642D570}" dt="2024-11-01T02:32:25.691" v="63" actId="20577"/>
          <ac:spMkLst>
            <pc:docMk/>
            <pc:sldMk cId="546040840" sldId="296"/>
            <ac:spMk id="11" creationId="{6822F4E4-30F5-F269-A954-BB1EB3601B56}"/>
          </ac:spMkLst>
        </pc:spChg>
      </pc:sldChg>
    </pc:docChg>
  </pc:docChgLst>
  <pc:docChgLst>
    <pc:chgData name="Dilshan Jayatilake" userId="S::dilshan.jayatilake@uwe.ac.uk::99872c75-69be-4616-b6f0-c2c108370a54" providerId="AD" clId="Web-{8DEAA9F1-9DB7-3F70-9B1A-BAE4DD62A109}"/>
    <pc:docChg chg="modSld">
      <pc:chgData name="Dilshan Jayatilake" userId="S::dilshan.jayatilake@uwe.ac.uk::99872c75-69be-4616-b6f0-c2c108370a54" providerId="AD" clId="Web-{8DEAA9F1-9DB7-3F70-9B1A-BAE4DD62A109}" dt="2023-02-03T08:15:39.632" v="1" actId="20577"/>
      <pc:docMkLst>
        <pc:docMk/>
      </pc:docMkLst>
      <pc:sldChg chg="modSp">
        <pc:chgData name="Dilshan Jayatilake" userId="S::dilshan.jayatilake@uwe.ac.uk::99872c75-69be-4616-b6f0-c2c108370a54" providerId="AD" clId="Web-{8DEAA9F1-9DB7-3F70-9B1A-BAE4DD62A109}" dt="2023-02-03T08:15:39.632" v="1" actId="20577"/>
        <pc:sldMkLst>
          <pc:docMk/>
          <pc:sldMk cId="1933454857" sldId="288"/>
        </pc:sldMkLst>
        <pc:spChg chg="mod">
          <ac:chgData name="Dilshan Jayatilake" userId="S::dilshan.jayatilake@uwe.ac.uk::99872c75-69be-4616-b6f0-c2c108370a54" providerId="AD" clId="Web-{8DEAA9F1-9DB7-3F70-9B1A-BAE4DD62A109}" dt="2023-02-03T08:15:39.632" v="1" actId="20577"/>
          <ac:spMkLst>
            <pc:docMk/>
            <pc:sldMk cId="1933454857" sldId="288"/>
            <ac:spMk id="3" creationId="{3364011A-A6C1-188B-E8E7-DD0FDED1D54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3295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1641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2150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6107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8030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data in a system is managed in a central repository</a:t>
            </a:r>
          </a:p>
          <a:p>
            <a:pPr lvl="1"/>
            <a:r>
              <a:rPr lang="en-US" dirty="0"/>
              <a:t>Accessible to all system components</a:t>
            </a:r>
          </a:p>
          <a:p>
            <a:pPr lvl="1"/>
            <a:r>
              <a:rPr lang="en-US" dirty="0"/>
              <a:t>Components do not interact directly</a:t>
            </a:r>
          </a:p>
          <a:p>
            <a:pPr lvl="1"/>
            <a:r>
              <a:rPr lang="en-US" dirty="0"/>
              <a:t>Only through the repository</a:t>
            </a:r>
          </a:p>
          <a:p>
            <a:r>
              <a:rPr lang="en-US" dirty="0"/>
              <a:t>Used When</a:t>
            </a:r>
          </a:p>
          <a:p>
            <a:pPr lvl="1"/>
            <a:r>
              <a:rPr lang="en-US" dirty="0"/>
              <a:t>large volumes of information are generated and stored for a long time</a:t>
            </a:r>
          </a:p>
          <a:p>
            <a:pPr lvl="1"/>
            <a:r>
              <a:rPr lang="en-US" dirty="0"/>
              <a:t>data-driven systems (data triggering actions)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0316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5142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Functionality of the system is organized into services</a:t>
            </a:r>
          </a:p>
          <a:p>
            <a:pPr lvl="1"/>
            <a:r>
              <a:rPr lang="en-US" dirty="0"/>
              <a:t>Each service delivered from a separate server</a:t>
            </a:r>
          </a:p>
          <a:p>
            <a:pPr lvl="1"/>
            <a:r>
              <a:rPr lang="en-US" dirty="0"/>
              <a:t>Clients are users of these services</a:t>
            </a:r>
          </a:p>
          <a:p>
            <a:r>
              <a:rPr lang="en-US" dirty="0"/>
              <a:t>Used When</a:t>
            </a:r>
          </a:p>
          <a:p>
            <a:pPr lvl="1"/>
            <a:r>
              <a:rPr lang="en-US" dirty="0"/>
              <a:t>data in a shared database</a:t>
            </a:r>
          </a:p>
          <a:p>
            <a:pPr lvl="1"/>
            <a:r>
              <a:rPr lang="en-US" dirty="0"/>
              <a:t>servers can be replicated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40229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9147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5011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flows (as in a pipe) from one component to another for processing</a:t>
            </a:r>
          </a:p>
          <a:p>
            <a:pPr lvl="1"/>
            <a:r>
              <a:rPr lang="en-US" dirty="0"/>
              <a:t>processing component (filter) is discrete and carries out one type of data transformation</a:t>
            </a:r>
          </a:p>
          <a:p>
            <a:r>
              <a:rPr lang="en-US" dirty="0"/>
              <a:t>Used When</a:t>
            </a:r>
          </a:p>
          <a:p>
            <a:pPr lvl="1"/>
            <a:r>
              <a:rPr lang="en-US" dirty="0"/>
              <a:t>in data processing applications</a:t>
            </a:r>
          </a:p>
          <a:p>
            <a:pPr lvl="1"/>
            <a:r>
              <a:rPr lang="en-US" dirty="0"/>
              <a:t>Inputs are processed in separate stages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8999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88817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1192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60023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13538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5884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54235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9C026-54CD-71FE-FB6D-5968F28AF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D3C42-D29B-D9A1-C136-04595C041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5E3472-C5D0-C91D-20F5-E46C0D542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48918-50B0-0799-3B38-070B38939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360570-2B09-DB43-BBE0-DA076DA911F1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1311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1A9DA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7"/>
            <a:ext cx="1219139" cy="402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8505" y="2913639"/>
            <a:ext cx="1219139" cy="3713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3458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1A9DAC"/>
              </a:buClr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1A9DAC"/>
              </a:buClr>
              <a:buFont typeface="+mj-lt"/>
              <a:buAutoNum type="arabi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09600" indent="-342900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915988" marR="0" indent="-28575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+mj-lt"/>
              <a:buAutoNum type="arabicPeriod"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1A9DAC"/>
              </a:buClr>
              <a:buFont typeface="+mj-lt"/>
              <a:buAutoNum type="romanLcPeriod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966788" indent="0">
              <a:buFont typeface="Arial" panose="020B0604020202020204" pitchFamily="34" charset="0"/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312368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>
            <a:lvl1pPr>
              <a:defRPr>
                <a:solidFill>
                  <a:srgbClr val="1A9DAC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6"/>
            <a:ext cx="7886700" cy="7683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1A9DAC"/>
              </a:buClr>
              <a:buSzTx/>
              <a:buFont typeface="Arial" panose="020B0604020202020204" pitchFamily="34" charset="0"/>
              <a:buChar char="•"/>
              <a:tabLst/>
              <a:defRPr sz="18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1A9DAC"/>
              </a:buClr>
              <a:buFont typeface="Courier New" panose="02070309020205020404" pitchFamily="49" charset="0"/>
              <a:buChar char="o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1A9DAC"/>
              </a:buClr>
              <a:buFont typeface="Arial" panose="020B0604020202020204" pitchFamily="34" charset="0"/>
              <a:buChar char="̶"/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22413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1A9DAC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024-4559-4C02-9AB3-98D956AC7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056E6-17B0-445E-93EC-A3A4B42B21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2349500"/>
            <a:ext cx="4104456" cy="28797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3000">
                <a:solidFill>
                  <a:srgbClr val="199DAC"/>
                </a:solidFill>
              </a:defRPr>
            </a:lvl1pPr>
            <a:lvl2pPr marL="609600" indent="0">
              <a:buNone/>
              <a:defRPr>
                <a:solidFill>
                  <a:srgbClr val="16818D"/>
                </a:solidFill>
              </a:defRPr>
            </a:lvl2pPr>
            <a:lvl3pPr marL="1219200" indent="0">
              <a:buNone/>
              <a:defRPr>
                <a:solidFill>
                  <a:srgbClr val="16818D"/>
                </a:solidFill>
              </a:defRPr>
            </a:lvl3pPr>
            <a:lvl4pPr marL="1828800" indent="0">
              <a:buNone/>
              <a:defRPr>
                <a:solidFill>
                  <a:srgbClr val="16818D"/>
                </a:solidFill>
              </a:defRPr>
            </a:lvl4pPr>
            <a:lvl5pPr marL="2438400" indent="0">
              <a:buNone/>
              <a:defRPr>
                <a:solidFill>
                  <a:srgbClr val="16818D"/>
                </a:solidFill>
              </a:defRPr>
            </a:lvl5pPr>
          </a:lstStyle>
          <a:p>
            <a:pPr lvl="0"/>
            <a:r>
              <a:rPr lang="en-US" dirty="0"/>
              <a:t>100%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12DBA2-E4CA-4633-9C0C-58EB9F03F1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016" y="2349500"/>
            <a:ext cx="3672334" cy="2879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199DAC"/>
                </a:solidFill>
              </a:defRPr>
            </a:lvl1pPr>
            <a:lvl2pPr marL="609600" indent="0">
              <a:buNone/>
              <a:defRPr sz="1800">
                <a:solidFill>
                  <a:srgbClr val="199DAC"/>
                </a:solidFill>
              </a:defRPr>
            </a:lvl2pPr>
            <a:lvl3pPr marL="1219200" indent="0">
              <a:buNone/>
              <a:defRPr sz="1800">
                <a:solidFill>
                  <a:srgbClr val="199DAC"/>
                </a:solidFill>
              </a:defRPr>
            </a:lvl3pPr>
            <a:lvl4pPr marL="1828800" indent="0">
              <a:buNone/>
              <a:defRPr sz="1800">
                <a:solidFill>
                  <a:srgbClr val="199DAC"/>
                </a:solidFill>
              </a:defRPr>
            </a:lvl4pPr>
            <a:lvl5pPr marL="2438400" indent="0">
              <a:buNone/>
              <a:defRPr sz="1800">
                <a:solidFill>
                  <a:srgbClr val="199DAC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6D44D0B-0878-42C4-9A43-6D580C188C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650" y="5157192"/>
            <a:ext cx="7472363" cy="7921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/>
            </a:lvl1pPr>
            <a:lvl2pPr marL="609600" indent="0" algn="r">
              <a:buNone/>
              <a:defRPr sz="1800"/>
            </a:lvl2pPr>
            <a:lvl3pPr marL="1219200" indent="0" algn="r">
              <a:buNone/>
              <a:defRPr sz="1800"/>
            </a:lvl3pPr>
            <a:lvl4pPr marL="1828800" indent="0" algn="r">
              <a:buNone/>
              <a:defRPr sz="1800"/>
            </a:lvl4pPr>
            <a:lvl5pPr marL="2438400" indent="0" algn="r"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793842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6" r:id="rId14"/>
  </p:sldLayoutIdLst>
  <p:transition spd="slow">
    <p:fade/>
  </p:transition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1A9DAC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4C6A-CA2E-4C35-8BA5-916C1020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3313721"/>
          </a:xfrm>
        </p:spPr>
        <p:txBody>
          <a:bodyPr>
            <a:normAutofit/>
          </a:bodyPr>
          <a:lstStyle/>
          <a:p>
            <a:pPr algn="ctr" eaLnBrk="1" hangingPunct="1">
              <a:spcBef>
                <a:spcPct val="0"/>
              </a:spcBef>
            </a:pPr>
            <a:r>
              <a:rPr lang="en-GB" dirty="0">
                <a:ea typeface="ＭＳ Ｐゴシック" charset="-128"/>
              </a:rPr>
              <a:t>Application Architectures and Distribution</a:t>
            </a:r>
            <a:br>
              <a:rPr lang="en-GB" altLang="en-US" dirty="0">
                <a:ea typeface="ＭＳ Ｐゴシック" charset="-128"/>
              </a:rPr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BE806-4523-4FEC-B19F-B5D4FF00D6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FC82F-1F0B-4D11-BC78-0C43FDE0F39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Dr David Wyatt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F42F57-4342-4892-B2AD-019DCDCB61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lIns="0" tIns="0" rIns="0" bIns="0" anchor="t"/>
          <a:lstStyle/>
          <a:p>
            <a:r>
              <a:rPr lang="en-GB" dirty="0"/>
              <a:t>October 26</a:t>
            </a:r>
          </a:p>
        </p:txBody>
      </p:sp>
    </p:spTree>
    <p:extLst>
      <p:ext uri="{BB962C8B-B14F-4D97-AF65-F5344CB8AC3E}">
        <p14:creationId xmlns:p14="http://schemas.microsoft.com/office/powerpoint/2010/main" val="3764760811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93DA-9975-43A2-9678-60BDA25B6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Session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74684-16B6-4667-AD9F-523AB5D333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Enterprise Applications (EA)</a:t>
            </a:r>
          </a:p>
          <a:p>
            <a:r>
              <a:rPr lang="en-GB" dirty="0"/>
              <a:t>Characteristics of EA</a:t>
            </a:r>
          </a:p>
          <a:p>
            <a:r>
              <a:rPr lang="en-GB" dirty="0"/>
              <a:t>Types of EA</a:t>
            </a:r>
          </a:p>
          <a:p>
            <a:r>
              <a:rPr lang="en-GB" dirty="0"/>
              <a:t>Software Architecture</a:t>
            </a:r>
          </a:p>
          <a:p>
            <a:r>
              <a:rPr lang="en-GB" dirty="0"/>
              <a:t>Reuse</a:t>
            </a:r>
          </a:p>
          <a:p>
            <a:r>
              <a:rPr lang="en-GB" dirty="0"/>
              <a:t>Repository Architecture</a:t>
            </a:r>
          </a:p>
          <a:p>
            <a:r>
              <a:rPr lang="en-GB" dirty="0"/>
              <a:t>Client Server Architecture</a:t>
            </a:r>
          </a:p>
          <a:p>
            <a:r>
              <a:rPr lang="en-GB" dirty="0"/>
              <a:t>Pipe and Filter Architecture</a:t>
            </a:r>
          </a:p>
          <a:p>
            <a:r>
              <a:rPr lang="en-GB" dirty="0"/>
              <a:t>Layered Architecture</a:t>
            </a:r>
          </a:p>
          <a:p>
            <a:r>
              <a:rPr lang="en-GB" dirty="0"/>
              <a:t>Distributed Architecture </a:t>
            </a:r>
          </a:p>
          <a:p>
            <a:endParaRPr lang="en-GB" dirty="0"/>
          </a:p>
          <a:p>
            <a:r>
              <a:rPr lang="en-GB" b="1" dirty="0"/>
              <a:t>The remaining time can be spent on assignment</a:t>
            </a:r>
          </a:p>
        </p:txBody>
      </p:sp>
    </p:spTree>
    <p:extLst>
      <p:ext uri="{BB962C8B-B14F-4D97-AF65-F5344CB8AC3E}">
        <p14:creationId xmlns:p14="http://schemas.microsoft.com/office/powerpoint/2010/main" val="1719998758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13BFE-9B1B-2982-D4E7-A9AD53A81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Enterprise Applications (EA)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4011A-A6C1-188B-E8E7-DD0FDED1D5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7344818" cy="4608512"/>
          </a:xfrm>
        </p:spPr>
        <p:txBody>
          <a:bodyPr lIns="0" tIns="0" rIns="0" bIns="0" anchor="t"/>
          <a:lstStyle/>
          <a:p>
            <a:r>
              <a:rPr lang="en-GB" sz="2000" dirty="0"/>
              <a:t>Enterprise Application </a:t>
            </a:r>
          </a:p>
          <a:p>
            <a:pPr marL="541020" lvl="1" indent="-274320"/>
            <a:r>
              <a:rPr lang="en-GB" sz="2000" dirty="0">
                <a:ea typeface="Tahoma"/>
                <a:cs typeface="Tahoma"/>
              </a:rPr>
              <a:t>Information Systems or Data Processing Systems</a:t>
            </a:r>
          </a:p>
          <a:p>
            <a:pPr marL="541020" lvl="1" indent="-274320"/>
            <a:r>
              <a:rPr lang="en-GB" sz="2000" dirty="0"/>
              <a:t>Have complex data</a:t>
            </a:r>
          </a:p>
          <a:p>
            <a:pPr marL="541020" lvl="1" indent="-274320"/>
            <a:r>
              <a:rPr lang="en-GB" sz="2000" dirty="0"/>
              <a:t>Work on / together with business rules</a:t>
            </a:r>
          </a:p>
          <a:p>
            <a:r>
              <a:rPr lang="en-GB" sz="2000" dirty="0"/>
              <a:t>Include</a:t>
            </a:r>
          </a:p>
          <a:p>
            <a:pPr marL="541020" lvl="1" indent="-274320"/>
            <a:r>
              <a:rPr lang="en-GB" sz="2000" dirty="0"/>
              <a:t>payroll, patient records, shipping tracking, cost analysis, credit scoring, insurance, supply chain, accounting, customer service, and foreign exchange trading</a:t>
            </a:r>
          </a:p>
          <a:p>
            <a:r>
              <a:rPr lang="en-GB" sz="2000" dirty="0"/>
              <a:t>Don’t Include</a:t>
            </a:r>
          </a:p>
          <a:p>
            <a:pPr marL="541020" lvl="1" indent="-274320"/>
            <a:r>
              <a:rPr lang="en-GB" sz="2000" dirty="0"/>
              <a:t>Word processors, elevator controllers, chemical plant controllers, telephone switches, operating systems, compilers, and games</a:t>
            </a:r>
          </a:p>
          <a:p>
            <a:endParaRPr lang="en-GB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933454857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28DA-38A5-C4BD-A936-1C59449E2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Characteristics of EA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4FCBB-00AD-24C1-ED88-922D449B26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9525" indent="0">
              <a:buNone/>
            </a:pPr>
            <a:r>
              <a:rPr lang="en-GB" b="1" dirty="0"/>
              <a:t>Persistent data</a:t>
            </a:r>
          </a:p>
          <a:p>
            <a:pPr lvl="1"/>
            <a:r>
              <a:rPr lang="en-GB" dirty="0"/>
              <a:t>On multiple runs of the program / persist for several years</a:t>
            </a:r>
          </a:p>
          <a:p>
            <a:pPr lvl="1"/>
            <a:r>
              <a:rPr lang="en-GB" dirty="0"/>
              <a:t>Changes to structure may happen</a:t>
            </a:r>
          </a:p>
          <a:p>
            <a:pPr lvl="1"/>
            <a:r>
              <a:rPr lang="en-GB" dirty="0"/>
              <a:t>New pieces of information do not disturb old information</a:t>
            </a:r>
          </a:p>
          <a:p>
            <a:endParaRPr lang="en-GB" b="1" dirty="0"/>
          </a:p>
          <a:p>
            <a:pPr marL="9525" indent="0">
              <a:buNone/>
            </a:pPr>
            <a:r>
              <a:rPr lang="en-GB" b="1" dirty="0"/>
              <a:t>Concurrent access to data</a:t>
            </a:r>
          </a:p>
          <a:p>
            <a:pPr lvl="1"/>
            <a:r>
              <a:rPr lang="en-GB" dirty="0"/>
              <a:t>From hundred to web-based magnitude</a:t>
            </a:r>
          </a:p>
          <a:p>
            <a:endParaRPr lang="en-GB" b="1" dirty="0"/>
          </a:p>
          <a:p>
            <a:pPr marL="9525" indent="0">
              <a:buNone/>
            </a:pPr>
            <a:r>
              <a:rPr lang="en-GB" b="1" dirty="0"/>
              <a:t>Different user interface screens</a:t>
            </a:r>
          </a:p>
          <a:p>
            <a:pPr lvl="1"/>
            <a:r>
              <a:rPr lang="en-GB" dirty="0"/>
              <a:t>Hundreds of distinct screens</a:t>
            </a:r>
          </a:p>
          <a:p>
            <a:pPr lvl="1"/>
            <a:endParaRPr lang="en-GB" dirty="0"/>
          </a:p>
          <a:p>
            <a:pPr marL="9525" indent="0">
              <a:buNone/>
            </a:pPr>
            <a:r>
              <a:rPr lang="en-GB" b="1" dirty="0"/>
              <a:t>Integration requirements</a:t>
            </a:r>
          </a:p>
          <a:p>
            <a:pPr lvl="1"/>
            <a:r>
              <a:rPr lang="en-GB" dirty="0"/>
              <a:t>Integrate with other enterprise applications scattered around the enterprise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3698968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D26B0-E7C6-5B9A-B738-36E52594E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EA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192DE-A026-8DB7-88EA-9EAB3BA693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672408" cy="4536504"/>
          </a:xfrm>
        </p:spPr>
        <p:txBody>
          <a:bodyPr/>
          <a:lstStyle/>
          <a:p>
            <a:r>
              <a:rPr lang="en-GB" b="1" dirty="0"/>
              <a:t>Business to Customer (B2C) </a:t>
            </a:r>
            <a:r>
              <a:rPr lang="mr-IN" dirty="0"/>
              <a:t>–</a:t>
            </a:r>
            <a:r>
              <a:rPr lang="en-GB" dirty="0"/>
              <a:t> E.g. Shopping Cart</a:t>
            </a:r>
          </a:p>
          <a:p>
            <a:pPr lvl="1"/>
            <a:r>
              <a:rPr lang="en-GB" dirty="0"/>
              <a:t>Handle a very high volume of users</a:t>
            </a:r>
          </a:p>
          <a:p>
            <a:pPr lvl="1"/>
            <a:r>
              <a:rPr lang="en-GB" dirty="0"/>
              <a:t>Scalable increase the load by adding more hardware</a:t>
            </a:r>
          </a:p>
          <a:p>
            <a:pPr lvl="1"/>
            <a:r>
              <a:rPr lang="en-GB" dirty="0"/>
              <a:t>Straightforward domain logic</a:t>
            </a:r>
          </a:p>
          <a:p>
            <a:pPr lvl="1"/>
            <a:r>
              <a:rPr lang="en-GB" dirty="0"/>
              <a:t>Generic Web presentation</a:t>
            </a:r>
          </a:p>
          <a:p>
            <a:pPr lvl="1"/>
            <a:r>
              <a:rPr lang="en-GB" dirty="0"/>
              <a:t>Simple Data sources , databases, inventory systems</a:t>
            </a:r>
          </a:p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BB117-C18B-44DB-EF4F-B2CCA192A8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0" y="1628799"/>
            <a:ext cx="3527697" cy="4536504"/>
          </a:xfrm>
        </p:spPr>
        <p:txBody>
          <a:bodyPr/>
          <a:lstStyle/>
          <a:p>
            <a:r>
              <a:rPr lang="en-GB" b="1" dirty="0"/>
              <a:t>Business to Business (B2B) </a:t>
            </a:r>
            <a:r>
              <a:rPr lang="mr-IN" dirty="0"/>
              <a:t>–</a:t>
            </a:r>
            <a:r>
              <a:rPr lang="en-GB" dirty="0"/>
              <a:t> E.g. Leasing agreement</a:t>
            </a:r>
          </a:p>
          <a:p>
            <a:pPr lvl="1"/>
            <a:r>
              <a:rPr lang="en-GB" dirty="0"/>
              <a:t>fewer users </a:t>
            </a:r>
          </a:p>
          <a:p>
            <a:pPr lvl="1"/>
            <a:r>
              <a:rPr lang="en-GB" dirty="0"/>
              <a:t>complication is in the business logic</a:t>
            </a:r>
          </a:p>
          <a:p>
            <a:pPr lvl="2"/>
            <a:r>
              <a:rPr lang="en-GB" dirty="0"/>
              <a:t>e.g. early returns and late payments, and validating data as a lease is booked </a:t>
            </a:r>
          </a:p>
          <a:p>
            <a:pPr lvl="1"/>
            <a:r>
              <a:rPr lang="en-GB" dirty="0"/>
              <a:t>Complex user interface (UI)</a:t>
            </a:r>
          </a:p>
          <a:p>
            <a:pPr lvl="2"/>
            <a:r>
              <a:rPr lang="en-GB" dirty="0"/>
              <a:t>sophisticated presentation</a:t>
            </a:r>
          </a:p>
          <a:p>
            <a:pPr lvl="2"/>
            <a:r>
              <a:rPr lang="en-GB" dirty="0">
                <a:solidFill>
                  <a:srgbClr val="FF0000"/>
                </a:solidFill>
              </a:rPr>
              <a:t>rich-client interface </a:t>
            </a:r>
          </a:p>
          <a:p>
            <a:pPr lvl="2"/>
            <a:r>
              <a:rPr lang="en-GB" dirty="0"/>
              <a:t>complicated transaction behaviour</a:t>
            </a:r>
          </a:p>
          <a:p>
            <a:pPr lvl="1"/>
            <a:r>
              <a:rPr lang="en-GB" dirty="0"/>
              <a:t>Complex database schema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2894331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AD6DA-68DD-19E5-DEE0-C87247B7D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Software Architecture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5CD83-1C86-CDF5-AA01-F78134D5C8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3672410" cy="4608512"/>
          </a:xfrm>
        </p:spPr>
        <p:txBody>
          <a:bodyPr/>
          <a:lstStyle/>
          <a:p>
            <a:r>
              <a:rPr lang="en-GB" sz="2000" dirty="0"/>
              <a:t>Choose an architecture </a:t>
            </a:r>
          </a:p>
          <a:p>
            <a:pPr lvl="1"/>
            <a:r>
              <a:rPr lang="en-GB" sz="2000" dirty="0"/>
              <a:t>Understand the contextual problems of the system</a:t>
            </a:r>
          </a:p>
          <a:p>
            <a:pPr lvl="1"/>
            <a:r>
              <a:rPr lang="en-GB" sz="2000" dirty="0"/>
              <a:t>Choose an appropriate design</a:t>
            </a:r>
          </a:p>
          <a:p>
            <a:r>
              <a:rPr lang="en-GB" sz="2000" dirty="0"/>
              <a:t>Identifying the </a:t>
            </a:r>
            <a:r>
              <a:rPr lang="en-GB" sz="2000" b="1" dirty="0"/>
              <a:t>sub-systems</a:t>
            </a:r>
            <a:r>
              <a:rPr lang="en-GB" sz="2000" dirty="0"/>
              <a:t> making up a system </a:t>
            </a:r>
          </a:p>
          <a:p>
            <a:r>
              <a:rPr lang="en-GB" sz="2000" dirty="0"/>
              <a:t>Define the framework for sub-system control and communication </a:t>
            </a:r>
            <a:endParaRPr lang="en-GB" sz="2000" b="1" dirty="0"/>
          </a:p>
          <a:p>
            <a:r>
              <a:rPr lang="en-GB" sz="2000" dirty="0"/>
              <a:t>The output of this design process is a description of the </a:t>
            </a:r>
            <a:r>
              <a:rPr lang="en-GB" sz="2000" b="1" dirty="0"/>
              <a:t>software architecture</a:t>
            </a:r>
            <a:r>
              <a:rPr lang="en-GB" sz="2000" dirty="0"/>
              <a:t>.</a:t>
            </a:r>
          </a:p>
          <a:p>
            <a:pPr marL="9525" indent="0">
              <a:buNone/>
            </a:pPr>
            <a:endParaRPr lang="en-GB" sz="2000" dirty="0"/>
          </a:p>
        </p:txBody>
      </p:sp>
      <p:pic>
        <p:nvPicPr>
          <p:cNvPr id="1026" name="Picture 2" descr=" A decision-making support system for Enterprise Architecture Modelling  (2020) | Ricardo Pérez-Castillo ">
            <a:extLst>
              <a:ext uri="{FF2B5EF4-FFF2-40B4-BE49-F238E27FC236}">
                <a16:creationId xmlns:a16="http://schemas.microsoft.com/office/drawing/2014/main" id="{3FE71FD4-9E25-AAAE-2557-5A9F5D4CE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7789" y="2060848"/>
            <a:ext cx="4379334" cy="3109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097266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2649D-5260-FA4C-7D29-F95E9BA66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Architecture Reuse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98E49-1DD6-E86F-38FF-DAAAB26300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3672409" cy="4608512"/>
          </a:xfrm>
        </p:spPr>
        <p:txBody>
          <a:bodyPr/>
          <a:lstStyle/>
          <a:p>
            <a:r>
              <a:rPr lang="en-GB" sz="2000" dirty="0"/>
              <a:t>Systems in the </a:t>
            </a:r>
            <a:r>
              <a:rPr lang="en-GB" sz="2000" b="1" dirty="0"/>
              <a:t>same domain </a:t>
            </a:r>
            <a:r>
              <a:rPr lang="en-GB" sz="2000" dirty="0"/>
              <a:t>often have similar architectures that reflect domain concepts</a:t>
            </a:r>
          </a:p>
          <a:p>
            <a:r>
              <a:rPr lang="en-GB" sz="2000" dirty="0"/>
              <a:t>Variants to satisfy particular requirements</a:t>
            </a:r>
          </a:p>
          <a:p>
            <a:r>
              <a:rPr lang="en-GB" sz="2000" dirty="0"/>
              <a:t>Design around one or more architectural patterns or ‘styles</a:t>
            </a:r>
          </a:p>
          <a:p>
            <a:pPr lvl="1"/>
            <a:r>
              <a:rPr lang="en-US" altLang="x-none" sz="2000" dirty="0"/>
              <a:t>capture the essence</a:t>
            </a:r>
          </a:p>
          <a:p>
            <a:pPr lvl="1"/>
            <a:r>
              <a:rPr lang="en-US" altLang="x-none" sz="2000" dirty="0"/>
              <a:t>instantiated in different ways</a:t>
            </a:r>
            <a:endParaRPr lang="en-GB" sz="2000" dirty="0"/>
          </a:p>
          <a:p>
            <a:endParaRPr lang="en-GB" sz="2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BCEA7BD-D08E-2BEF-3A31-05FD7A87F3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42492"/>
            <a:ext cx="4467097" cy="3573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5B664A5E-702F-930A-CC9B-8389F8622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63" y="1374899"/>
            <a:ext cx="8246322" cy="5494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>
            <a:extLst>
              <a:ext uri="{FF2B5EF4-FFF2-40B4-BE49-F238E27FC236}">
                <a16:creationId xmlns:a16="http://schemas.microsoft.com/office/drawing/2014/main" id="{3EACC9BB-356F-B19C-28D4-5DB66D7B8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23" y="1374899"/>
            <a:ext cx="3183987" cy="5345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5">
            <a:extLst>
              <a:ext uri="{FF2B5EF4-FFF2-40B4-BE49-F238E27FC236}">
                <a16:creationId xmlns:a16="http://schemas.microsoft.com/office/drawing/2014/main" id="{60BC9FA4-DDCA-5024-4F7D-7058A3A9C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941" y="1300472"/>
            <a:ext cx="3825930" cy="549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89269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AC831-FEC1-9786-4D1D-27552CB2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Recurring Architectural Patterns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5CA7A-3E9E-1360-AFC8-F7A70BBEA3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2800" dirty="0"/>
              <a:t>Pattern Oriented Software Architecture</a:t>
            </a:r>
          </a:p>
          <a:p>
            <a:r>
              <a:rPr lang="en-GB" sz="2800" dirty="0"/>
              <a:t>Remember Software and Architectural Design Patterns in Year 3</a:t>
            </a:r>
          </a:p>
          <a:p>
            <a:r>
              <a:rPr lang="en-GB" sz="2800" dirty="0"/>
              <a:t>Sample patterns include:</a:t>
            </a:r>
          </a:p>
          <a:p>
            <a:pPr lvl="1"/>
            <a:r>
              <a:rPr lang="en-GB" sz="2400" dirty="0"/>
              <a:t>Repository</a:t>
            </a:r>
          </a:p>
          <a:p>
            <a:pPr lvl="1"/>
            <a:r>
              <a:rPr lang="en-GB" sz="2400" dirty="0"/>
              <a:t>Client Server</a:t>
            </a:r>
          </a:p>
          <a:p>
            <a:pPr lvl="1"/>
            <a:r>
              <a:rPr lang="en-GB" sz="2400" dirty="0"/>
              <a:t>Pipe &amp; Filter</a:t>
            </a:r>
          </a:p>
          <a:p>
            <a:pPr lvl="1"/>
            <a:r>
              <a:rPr lang="en-GB" sz="2400" dirty="0"/>
              <a:t>Layered</a:t>
            </a:r>
            <a:endParaRPr lang="en-GB" sz="2000" dirty="0"/>
          </a:p>
          <a:p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F66EB8-C9AD-1519-E856-F5AFBF89D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2708920"/>
            <a:ext cx="2817834" cy="36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429728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E387-EAE3-178D-55E8-A59DB9BF8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Repository Architecture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37A88-7186-A5C8-0A33-5D74AAE332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4248473" cy="4608512"/>
          </a:xfrm>
        </p:spPr>
        <p:txBody>
          <a:bodyPr/>
          <a:lstStyle/>
          <a:p>
            <a:r>
              <a:rPr lang="en-US" sz="2000" dirty="0"/>
              <a:t>Sub-systems must exchange data. This may be done in two ways:</a:t>
            </a:r>
          </a:p>
          <a:p>
            <a:pPr lvl="1"/>
            <a:r>
              <a:rPr lang="en-US" sz="2000" dirty="0"/>
              <a:t>Shared data is held in a central database or repository and may be accessed by all sub-systems;</a:t>
            </a:r>
          </a:p>
          <a:p>
            <a:pPr lvl="1"/>
            <a:r>
              <a:rPr lang="en-US" sz="2000" dirty="0"/>
              <a:t>Each sub-system maintains its own database and passes data explicitly to other sub-systems.</a:t>
            </a:r>
          </a:p>
          <a:p>
            <a:r>
              <a:rPr lang="en-US" sz="2000" dirty="0"/>
              <a:t>When large amounts of data are to be shared, the repository model of sharing is </a:t>
            </a:r>
            <a:r>
              <a:rPr lang="en-US" sz="2000" i="1" dirty="0"/>
              <a:t>most commonly used </a:t>
            </a:r>
            <a:r>
              <a:rPr lang="en-US" sz="2000" dirty="0"/>
              <a:t>as this is an efficient data sharing mechanism.</a:t>
            </a:r>
          </a:p>
          <a:p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endParaRPr lang="en-GB" sz="2000" dirty="0"/>
          </a:p>
        </p:txBody>
      </p:sp>
      <p:pic>
        <p:nvPicPr>
          <p:cNvPr id="4" name="Picture 2" descr="Repository Architecture">
            <a:extLst>
              <a:ext uri="{FF2B5EF4-FFF2-40B4-BE49-F238E27FC236}">
                <a16:creationId xmlns:a16="http://schemas.microsoft.com/office/drawing/2014/main" id="{C4A798DC-074C-0A64-87D3-33219AB43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312876"/>
            <a:ext cx="3877138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467299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76052-9998-AC58-CFD3-8AAED7E2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Repository Architecture..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FCE3A-369D-9FB2-7475-B4CB9B29A9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672408" cy="4536504"/>
          </a:xfrm>
        </p:spPr>
        <p:txBody>
          <a:bodyPr/>
          <a:lstStyle/>
          <a:p>
            <a:pPr marL="0" indent="0" algn="ctr">
              <a:buNone/>
            </a:pPr>
            <a:r>
              <a:rPr lang="en-GB" sz="2400" b="1" dirty="0"/>
              <a:t>Advantages</a:t>
            </a:r>
            <a:r>
              <a:rPr lang="en-GB" b="1" dirty="0"/>
              <a:t> </a:t>
            </a:r>
          </a:p>
          <a:p>
            <a:pPr lvl="1"/>
            <a:r>
              <a:rPr lang="en-GB" sz="2000" dirty="0"/>
              <a:t>Scalability - new components can be added</a:t>
            </a:r>
          </a:p>
          <a:p>
            <a:pPr lvl="1"/>
            <a:r>
              <a:rPr lang="en-GB" sz="2000" dirty="0"/>
              <a:t>Concurrency - all components can work in parallel</a:t>
            </a:r>
          </a:p>
          <a:p>
            <a:pPr lvl="1"/>
            <a:r>
              <a:rPr lang="en-GB" sz="2000" dirty="0"/>
              <a:t>Reuse - components are not direct communication with each other</a:t>
            </a:r>
          </a:p>
          <a:p>
            <a:pPr lvl="1"/>
            <a:r>
              <a:rPr lang="en-GB" sz="2000" dirty="0"/>
              <a:t>Centralized data management</a:t>
            </a:r>
          </a:p>
          <a:p>
            <a:pPr lvl="1"/>
            <a:r>
              <a:rPr lang="en-GB" sz="2000" dirty="0"/>
              <a:t>Better conditions for security, archiving, etc.</a:t>
            </a:r>
          </a:p>
          <a:p>
            <a:pPr lvl="1"/>
            <a:r>
              <a:rPr lang="en-GB" sz="2000" dirty="0"/>
              <a:t>The components are independent of the manufacturer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1314A-D8E9-47D1-52D8-BD69DA4C40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42941" y="1644699"/>
            <a:ext cx="3167583" cy="4536504"/>
          </a:xfrm>
        </p:spPr>
        <p:txBody>
          <a:bodyPr/>
          <a:lstStyle/>
          <a:p>
            <a:pPr marL="0" indent="0" algn="ctr">
              <a:buNone/>
            </a:pPr>
            <a:r>
              <a:rPr lang="en-GB" sz="2400" b="1" dirty="0"/>
              <a:t>Disadvantages</a:t>
            </a:r>
            <a:r>
              <a:rPr lang="en-GB" b="1" dirty="0"/>
              <a:t> </a:t>
            </a:r>
          </a:p>
          <a:p>
            <a:pPr lvl="1"/>
            <a:r>
              <a:rPr lang="en-GB" sz="2000" dirty="0"/>
              <a:t>High dependence between the data structure of storage and components</a:t>
            </a:r>
          </a:p>
          <a:p>
            <a:pPr lvl="1"/>
            <a:r>
              <a:rPr lang="en-GB" sz="2000" dirty="0"/>
              <a:t>Storage - single point of failure (single point of failure)</a:t>
            </a:r>
          </a:p>
          <a:p>
            <a:pPr lvl="1"/>
            <a:r>
              <a:rPr lang="en-GB" sz="2000" dirty="0"/>
              <a:t>Changes in data structure strongly affect customers</a:t>
            </a:r>
          </a:p>
          <a:p>
            <a:pPr lvl="1"/>
            <a:r>
              <a:rPr lang="en-GB" sz="2000" dirty="0"/>
              <a:t>Multiple sync issues components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7821019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CF5E8-795F-CD39-1A0F-5AB5EBDA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Client-server architecture</a:t>
            </a:r>
            <a:endParaRPr lang="en-GB" dirty="0"/>
          </a:p>
        </p:txBody>
      </p:sp>
      <p:pic>
        <p:nvPicPr>
          <p:cNvPr id="4" name="Picture 2" descr="Client-server architecture">
            <a:extLst>
              <a:ext uri="{FF2B5EF4-FFF2-40B4-BE49-F238E27FC236}">
                <a16:creationId xmlns:a16="http://schemas.microsoft.com/office/drawing/2014/main" id="{DAF7AFFC-5B7B-6893-5623-88A06FEF3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796" y="4077072"/>
            <a:ext cx="5426244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80D556-6626-3172-DEEB-90DCFDDF7E4E}"/>
              </a:ext>
            </a:extLst>
          </p:cNvPr>
          <p:cNvSpPr txBox="1"/>
          <p:nvPr/>
        </p:nvSpPr>
        <p:spPr>
          <a:xfrm>
            <a:off x="755576" y="1700809"/>
            <a:ext cx="774268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functionality of the system is </a:t>
            </a:r>
            <a:r>
              <a:rPr lang="en-US" sz="2000" dirty="0" err="1"/>
              <a:t>organised</a:t>
            </a:r>
            <a:r>
              <a:rPr lang="en-US" sz="2000" dirty="0"/>
              <a:t> into services</a:t>
            </a:r>
          </a:p>
          <a:p>
            <a:pPr marL="741363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Each service is delivered from a separate server</a:t>
            </a:r>
          </a:p>
          <a:p>
            <a:pPr marL="741363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Clients are users of these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Used When</a:t>
            </a:r>
          </a:p>
          <a:p>
            <a:pPr marL="741363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data in a shared database</a:t>
            </a:r>
          </a:p>
          <a:p>
            <a:pPr marL="741363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servers can be replicated</a:t>
            </a:r>
          </a:p>
        </p:txBody>
      </p:sp>
    </p:spTree>
    <p:extLst>
      <p:ext uri="{BB962C8B-B14F-4D97-AF65-F5344CB8AC3E}">
        <p14:creationId xmlns:p14="http://schemas.microsoft.com/office/powerpoint/2010/main" val="322290650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062C-C89E-8146-3E52-41247067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Client-server architecture..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E502C-0236-B691-03FF-D3C3A65887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sz="2400" b="1" dirty="0"/>
              <a:t>Advantages</a:t>
            </a:r>
            <a:r>
              <a:rPr lang="en-GB" b="1" dirty="0"/>
              <a:t> </a:t>
            </a:r>
          </a:p>
          <a:p>
            <a:pPr lvl="1"/>
            <a:r>
              <a:rPr lang="en-GB" sz="2000" dirty="0"/>
              <a:t>Centralized architecture facilitates the protection of the data</a:t>
            </a:r>
          </a:p>
          <a:p>
            <a:pPr lvl="1"/>
            <a:r>
              <a:rPr lang="en-GB" sz="2000" dirty="0"/>
              <a:t>Servers can be distributed</a:t>
            </a:r>
          </a:p>
          <a:p>
            <a:pPr lvl="1"/>
            <a:r>
              <a:rPr lang="en-GB" sz="2000" dirty="0"/>
              <a:t>Data is transferred through protocols that are not of interest from the platforms</a:t>
            </a:r>
          </a:p>
          <a:p>
            <a:pPr lvl="1"/>
            <a:r>
              <a:rPr lang="en-GB" sz="2000" dirty="0"/>
              <a:t>Resource sharing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A3624-451B-EE41-177F-9A8EE16296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sz="2400" b="1" dirty="0"/>
              <a:t>Disadvantages</a:t>
            </a:r>
            <a:r>
              <a:rPr lang="en-GB" b="1" dirty="0"/>
              <a:t> </a:t>
            </a:r>
          </a:p>
          <a:p>
            <a:pPr lvl="1"/>
            <a:r>
              <a:rPr lang="en-GB" sz="2000" dirty="0"/>
              <a:t>Productivity depends on the network as well as the system</a:t>
            </a:r>
          </a:p>
          <a:p>
            <a:pPr lvl="1"/>
            <a:r>
              <a:rPr lang="en-GB" sz="2000" dirty="0"/>
              <a:t>Each service is a single point of failure</a:t>
            </a:r>
          </a:p>
          <a:p>
            <a:pPr lvl="1"/>
            <a:r>
              <a:rPr lang="en-GB" sz="2000" dirty="0"/>
              <a:t>Susceptible to denial of service attack</a:t>
            </a:r>
          </a:p>
          <a:p>
            <a:pPr lvl="1"/>
            <a:r>
              <a:rPr lang="en-GB" sz="2000" dirty="0"/>
              <a:t>Performance depends on the network as well as the system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4838826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6912E-19A9-EF93-8D7B-18044DFFF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Thin and Fat clients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9E8C6AC-7467-194C-6D5F-45C2DDAA7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12698" y="2276872"/>
            <a:ext cx="8118603" cy="2970894"/>
            <a:chOff x="420637" y="2271903"/>
            <a:chExt cx="8118603" cy="297089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B5616DC-DB5F-FC5E-3684-691EF678800C}"/>
                </a:ext>
              </a:extLst>
            </p:cNvPr>
            <p:cNvSpPr/>
            <p:nvPr/>
          </p:nvSpPr>
          <p:spPr>
            <a:xfrm>
              <a:off x="1763688" y="2636912"/>
              <a:ext cx="2007488" cy="578824"/>
            </a:xfrm>
            <a:prstGeom prst="ellipse">
              <a:avLst/>
            </a:prstGeom>
            <a:solidFill>
              <a:srgbClr val="C3C8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Client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1B18D94-2FA1-C7F6-9B9D-6789064A5DBC}"/>
                </a:ext>
              </a:extLst>
            </p:cNvPr>
            <p:cNvCxnSpPr>
              <a:cxnSpLocks/>
              <a:stCxn id="7" idx="1"/>
              <a:endCxn id="4" idx="6"/>
            </p:cNvCxnSpPr>
            <p:nvPr/>
          </p:nvCxnSpPr>
          <p:spPr>
            <a:xfrm flipH="1" flipV="1">
              <a:off x="3771176" y="2926325"/>
              <a:ext cx="2245538" cy="1"/>
            </a:xfrm>
            <a:prstGeom prst="line">
              <a:avLst/>
            </a:prstGeom>
            <a:ln w="44450">
              <a:solidFill>
                <a:schemeClr val="bg1">
                  <a:lumMod val="50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5E8747F-86B4-BC3C-BFE5-AA9D8B672D69}"/>
                </a:ext>
              </a:extLst>
            </p:cNvPr>
            <p:cNvGrpSpPr/>
            <p:nvPr/>
          </p:nvGrpSpPr>
          <p:grpSpPr>
            <a:xfrm>
              <a:off x="6016715" y="2387702"/>
              <a:ext cx="2457907" cy="1077247"/>
              <a:chOff x="6035218" y="2351753"/>
              <a:chExt cx="2457907" cy="1077247"/>
            </a:xfrm>
          </p:grpSpPr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4098F3CA-FAB0-8A82-2B5D-8DF2F72FCE4B}"/>
                  </a:ext>
                </a:extLst>
              </p:cNvPr>
              <p:cNvSpPr/>
              <p:nvPr/>
            </p:nvSpPr>
            <p:spPr>
              <a:xfrm>
                <a:off x="6035218" y="2351753"/>
                <a:ext cx="2457907" cy="1077247"/>
              </a:xfrm>
              <a:prstGeom prst="roundRect">
                <a:avLst/>
              </a:prstGeom>
              <a:solidFill>
                <a:srgbClr val="BCFFB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GB" sz="1600" dirty="0">
                    <a:solidFill>
                      <a:schemeClr val="tx1"/>
                    </a:solidFill>
                  </a:rPr>
                  <a:t>Server</a:t>
                </a:r>
                <a:endParaRPr lang="en-GB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Data Management Application processing</a:t>
                </a:r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4819C6C-247F-FD0A-94D7-FCBC63E7EB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35218" y="2741812"/>
                <a:ext cx="2457907" cy="0"/>
              </a:xfrm>
              <a:prstGeom prst="line">
                <a:avLst/>
              </a:prstGeom>
              <a:ln w="31750">
                <a:solidFill>
                  <a:schemeClr val="accent3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DE84682-601B-83AD-AD2B-CE78B7187129}"/>
                </a:ext>
              </a:extLst>
            </p:cNvPr>
            <p:cNvGrpSpPr/>
            <p:nvPr/>
          </p:nvGrpSpPr>
          <p:grpSpPr>
            <a:xfrm>
              <a:off x="6081333" y="4070333"/>
              <a:ext cx="2457907" cy="1077247"/>
              <a:chOff x="6224194" y="5365750"/>
              <a:chExt cx="2457907" cy="1077247"/>
            </a:xfrm>
          </p:grpSpPr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ACD9E46E-F95C-A876-BC1B-4B40D0449437}"/>
                  </a:ext>
                </a:extLst>
              </p:cNvPr>
              <p:cNvSpPr/>
              <p:nvPr/>
            </p:nvSpPr>
            <p:spPr>
              <a:xfrm>
                <a:off x="6224194" y="5365750"/>
                <a:ext cx="2457907" cy="1077247"/>
              </a:xfrm>
              <a:prstGeom prst="roundRect">
                <a:avLst/>
              </a:prstGeom>
              <a:solidFill>
                <a:srgbClr val="BCFFB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GB" sz="1600" dirty="0">
                    <a:solidFill>
                      <a:schemeClr val="tx1"/>
                    </a:solidFill>
                  </a:rPr>
                  <a:t>Server</a:t>
                </a:r>
              </a:p>
              <a:p>
                <a:pPr algn="ctr"/>
                <a:endParaRPr lang="en-GB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GB" dirty="0">
                    <a:solidFill>
                      <a:schemeClr val="tx1"/>
                    </a:solidFill>
                  </a:rPr>
                  <a:t>Data Management </a:t>
                </a: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3A915608-CECB-8C11-1138-9C83D8B6B0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224194" y="5755809"/>
                <a:ext cx="2457907" cy="0"/>
              </a:xfrm>
              <a:prstGeom prst="line">
                <a:avLst/>
              </a:prstGeom>
              <a:ln w="31750">
                <a:solidFill>
                  <a:schemeClr val="accent3">
                    <a:lumMod val="7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E8EEABB-7328-28A6-1C57-167349196CB6}"/>
                </a:ext>
              </a:extLst>
            </p:cNvPr>
            <p:cNvSpPr/>
            <p:nvPr/>
          </p:nvSpPr>
          <p:spPr>
            <a:xfrm>
              <a:off x="1806767" y="4319543"/>
              <a:ext cx="2007488" cy="578824"/>
            </a:xfrm>
            <a:prstGeom prst="ellipse">
              <a:avLst/>
            </a:prstGeom>
            <a:solidFill>
              <a:srgbClr val="C3C8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>
                  <a:solidFill>
                    <a:schemeClr val="tx1"/>
                  </a:solidFill>
                </a:rPr>
                <a:t>Client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6BC338-FE20-5036-175E-B669CAD72001}"/>
                </a:ext>
              </a:extLst>
            </p:cNvPr>
            <p:cNvCxnSpPr>
              <a:cxnSpLocks/>
              <a:stCxn id="10" idx="1"/>
              <a:endCxn id="12" idx="6"/>
            </p:cNvCxnSpPr>
            <p:nvPr/>
          </p:nvCxnSpPr>
          <p:spPr>
            <a:xfrm flipH="1" flipV="1">
              <a:off x="3814256" y="4608956"/>
              <a:ext cx="2267077" cy="1"/>
            </a:xfrm>
            <a:prstGeom prst="line">
              <a:avLst/>
            </a:prstGeom>
            <a:ln w="44450">
              <a:solidFill>
                <a:schemeClr val="bg1">
                  <a:lumMod val="50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B40C1D-7FE8-350D-8BB4-4255E22D84F8}"/>
                </a:ext>
              </a:extLst>
            </p:cNvPr>
            <p:cNvSpPr txBox="1"/>
            <p:nvPr/>
          </p:nvSpPr>
          <p:spPr>
            <a:xfrm>
              <a:off x="420637" y="2271903"/>
              <a:ext cx="1214094" cy="91440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lang="en-GB" sz="2000" b="1" dirty="0">
                  <a:latin typeface="Tahoma" charset="0"/>
                  <a:ea typeface="Tahoma" charset="0"/>
                  <a:cs typeface="Tahoma" charset="0"/>
                </a:rPr>
                <a:t>Thin-client</a:t>
              </a:r>
            </a:p>
            <a:p>
              <a:pPr algn="ctr"/>
              <a:r>
                <a:rPr lang="en-GB" sz="2000" b="1" dirty="0">
                  <a:latin typeface="Tahoma" charset="0"/>
                  <a:ea typeface="Tahoma" charset="0"/>
                  <a:cs typeface="Tahoma" charset="0"/>
                </a:rPr>
                <a:t>model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A2DAFE8-E30D-BE21-AF55-A2E7809B2068}"/>
                </a:ext>
              </a:extLst>
            </p:cNvPr>
            <p:cNvSpPr txBox="1"/>
            <p:nvPr/>
          </p:nvSpPr>
          <p:spPr>
            <a:xfrm>
              <a:off x="441948" y="4317849"/>
              <a:ext cx="914400" cy="914400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en-US"/>
              </a:defPPr>
              <a:lvl1pPr algn="ctr">
                <a:defRPr sz="2000" b="1">
                  <a:latin typeface="Tahoma" charset="0"/>
                  <a:ea typeface="Tahoma" charset="0"/>
                  <a:cs typeface="Tahoma" charset="0"/>
                </a:defRPr>
              </a:lvl1pPr>
            </a:lstStyle>
            <a:p>
              <a:r>
                <a:rPr lang="en-GB" dirty="0"/>
                <a:t>Fat-client</a:t>
              </a:r>
            </a:p>
            <a:p>
              <a:r>
                <a:rPr lang="en-GB" dirty="0"/>
                <a:t>model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B77ED7A-BEA7-7DA7-7B27-6860CE2FC84F}"/>
                </a:ext>
              </a:extLst>
            </p:cNvPr>
            <p:cNvSpPr txBox="1"/>
            <p:nvPr/>
          </p:nvSpPr>
          <p:spPr>
            <a:xfrm>
              <a:off x="2353311" y="3227594"/>
              <a:ext cx="914400" cy="344429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algn="ctr"/>
              <a:r>
                <a:rPr lang="en-GB" dirty="0">
                  <a:latin typeface="Tahoma" charset="0"/>
                  <a:ea typeface="Tahoma" charset="0"/>
                  <a:cs typeface="Tahoma" charset="0"/>
                </a:rPr>
                <a:t>Presentation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74ADEB0-D2EC-C950-2438-95AD547408A5}"/>
                </a:ext>
              </a:extLst>
            </p:cNvPr>
            <p:cNvSpPr txBox="1"/>
            <p:nvPr/>
          </p:nvSpPr>
          <p:spPr>
            <a:xfrm>
              <a:off x="2111261" y="4898368"/>
              <a:ext cx="914400" cy="344429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r>
                <a:rPr lang="en-GB" dirty="0">
                  <a:latin typeface="Tahoma" charset="0"/>
                  <a:ea typeface="Tahoma" charset="0"/>
                  <a:cs typeface="Tahoma" charset="0"/>
                </a:rPr>
                <a:t>Presentation</a:t>
              </a:r>
            </a:p>
            <a:p>
              <a:r>
                <a:rPr lang="en-GB" dirty="0">
                  <a:latin typeface="Tahoma" charset="0"/>
                  <a:ea typeface="Tahoma" charset="0"/>
                  <a:cs typeface="Tahoma" charset="0"/>
                </a:rPr>
                <a:t>Application Processing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6729744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7D79E-EA57-40F8-9299-2CF0DEB47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Pipe and filter architecture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3289F-105F-F076-ED11-1ABA7948CA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3672409" cy="4608512"/>
          </a:xfrm>
        </p:spPr>
        <p:txBody>
          <a:bodyPr/>
          <a:lstStyle/>
          <a:p>
            <a:r>
              <a:rPr lang="en-US" sz="2000" dirty="0"/>
              <a:t>Functional transformations process their inputs to produce outputs.</a:t>
            </a:r>
          </a:p>
          <a:p>
            <a:r>
              <a:rPr lang="en-US" sz="2000" dirty="0"/>
              <a:t>May be referred to as a pipe and filter model (as in UNIX shell).</a:t>
            </a:r>
          </a:p>
          <a:p>
            <a:r>
              <a:rPr lang="en-US" sz="2000" dirty="0"/>
              <a:t>Variants of this approach are very common. When transformations are sequential, this is a batch sequential model which is extensively used in data processing systems.</a:t>
            </a:r>
          </a:p>
          <a:p>
            <a:r>
              <a:rPr lang="en-US" sz="2000" dirty="0"/>
              <a:t>Not really suitable for interactive systems.</a:t>
            </a:r>
          </a:p>
          <a:p>
            <a:endParaRPr lang="en-GB" sz="2000" dirty="0"/>
          </a:p>
        </p:txBody>
      </p:sp>
      <p:pic>
        <p:nvPicPr>
          <p:cNvPr id="4" name="Picture 2" descr="Pipe and filter architecture">
            <a:extLst>
              <a:ext uri="{FF2B5EF4-FFF2-40B4-BE49-F238E27FC236}">
                <a16:creationId xmlns:a16="http://schemas.microsoft.com/office/drawing/2014/main" id="{9F63F48D-EF29-6F46-C68E-FEDB210D8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7" y="1700808"/>
            <a:ext cx="4330827" cy="3096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4E436A0-4DA0-C012-0EC1-B638AA2E8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656" y="5147726"/>
            <a:ext cx="4303178" cy="116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64708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B5C27-05ED-F2BB-37B4-1B37BD24D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79B65-BD6F-C9D0-363D-A50965097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Pipe and filter example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C45B5C-9637-12F4-84DC-2C693C564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0" y="1700808"/>
            <a:ext cx="7056785" cy="4608512"/>
          </a:xfrm>
        </p:spPr>
        <p:txBody>
          <a:bodyPr/>
          <a:lstStyle/>
          <a:p>
            <a:pPr algn="l">
              <a:spcBef>
                <a:spcPts val="900"/>
              </a:spcBef>
            </a:pPr>
            <a:r>
              <a:rPr lang="en-GB" sz="2000" b="0" i="0" dirty="0">
                <a:solidFill>
                  <a:srgbClr val="111111"/>
                </a:solidFill>
                <a:effectLst/>
                <a:latin typeface="-apple-system"/>
              </a:rPr>
              <a:t>Imagine a simple data processing system that reads a text file, converts all text to uppercase, removes any numbers, and then writes the cleaned text to a new file. </a:t>
            </a:r>
          </a:p>
          <a:p>
            <a:pPr algn="l">
              <a:spcBef>
                <a:spcPts val="900"/>
              </a:spcBef>
            </a:pPr>
            <a:r>
              <a:rPr lang="en-GB" sz="2000" b="0" i="0" dirty="0">
                <a:solidFill>
                  <a:srgbClr val="111111"/>
                </a:solidFill>
                <a:effectLst/>
                <a:latin typeface="-apple-system"/>
              </a:rPr>
              <a:t>In a Pipe and Filter architecture, this could be broken down into:</a:t>
            </a:r>
          </a:p>
          <a:p>
            <a:pPr lvl="2">
              <a:spcBef>
                <a:spcPts val="900"/>
              </a:spcBef>
              <a:buFont typeface="+mj-lt"/>
              <a:buAutoNum type="arabicPeriod"/>
            </a:pPr>
            <a:r>
              <a:rPr lang="en-GB" sz="2000" b="1" i="0" dirty="0">
                <a:solidFill>
                  <a:srgbClr val="111111"/>
                </a:solidFill>
                <a:effectLst/>
                <a:latin typeface="-apple-system"/>
              </a:rPr>
              <a:t>Read Filter</a:t>
            </a:r>
            <a:r>
              <a:rPr lang="en-GB" sz="2000" b="0" i="0" dirty="0">
                <a:solidFill>
                  <a:srgbClr val="111111"/>
                </a:solidFill>
                <a:effectLst/>
                <a:latin typeface="-apple-system"/>
              </a:rPr>
              <a:t>: Reads the text file.</a:t>
            </a:r>
          </a:p>
          <a:p>
            <a:pPr lvl="2">
              <a:spcBef>
                <a:spcPts val="900"/>
              </a:spcBef>
              <a:buFont typeface="+mj-lt"/>
              <a:buAutoNum type="arabicPeriod"/>
            </a:pPr>
            <a:r>
              <a:rPr lang="en-GB" sz="2000" b="1" i="0" dirty="0">
                <a:solidFill>
                  <a:srgbClr val="111111"/>
                </a:solidFill>
                <a:effectLst/>
                <a:latin typeface="-apple-system"/>
              </a:rPr>
              <a:t>Uppercase Filter</a:t>
            </a:r>
            <a:r>
              <a:rPr lang="en-GB" sz="2000" b="0" i="0" dirty="0">
                <a:solidFill>
                  <a:srgbClr val="111111"/>
                </a:solidFill>
                <a:effectLst/>
                <a:latin typeface="-apple-system"/>
              </a:rPr>
              <a:t>: Converts all text to uppercase.</a:t>
            </a:r>
          </a:p>
          <a:p>
            <a:pPr lvl="2">
              <a:spcBef>
                <a:spcPts val="900"/>
              </a:spcBef>
              <a:buFont typeface="+mj-lt"/>
              <a:buAutoNum type="arabicPeriod"/>
            </a:pPr>
            <a:r>
              <a:rPr lang="en-GB" sz="2000" b="1" i="0" dirty="0">
                <a:solidFill>
                  <a:srgbClr val="111111"/>
                </a:solidFill>
                <a:effectLst/>
                <a:latin typeface="-apple-system"/>
              </a:rPr>
              <a:t>Remove Numbers Filter</a:t>
            </a:r>
            <a:r>
              <a:rPr lang="en-GB" sz="2000" b="0" i="0" dirty="0">
                <a:solidFill>
                  <a:srgbClr val="111111"/>
                </a:solidFill>
                <a:effectLst/>
                <a:latin typeface="-apple-system"/>
              </a:rPr>
              <a:t>: Removes any numeric characters.</a:t>
            </a:r>
          </a:p>
          <a:p>
            <a:pPr lvl="2">
              <a:spcBef>
                <a:spcPts val="900"/>
              </a:spcBef>
              <a:buFont typeface="+mj-lt"/>
              <a:buAutoNum type="arabicPeriod"/>
            </a:pPr>
            <a:r>
              <a:rPr lang="en-GB" sz="2000" b="1" i="0" dirty="0">
                <a:solidFill>
                  <a:srgbClr val="111111"/>
                </a:solidFill>
                <a:effectLst/>
                <a:latin typeface="-apple-system"/>
              </a:rPr>
              <a:t>Write Filter</a:t>
            </a:r>
            <a:r>
              <a:rPr lang="en-GB" sz="2000" b="0" i="0" dirty="0">
                <a:solidFill>
                  <a:srgbClr val="111111"/>
                </a:solidFill>
                <a:effectLst/>
                <a:latin typeface="-apple-system"/>
              </a:rPr>
              <a:t>: Writes the cleaned text to a new file.</a:t>
            </a:r>
          </a:p>
          <a:p>
            <a:pPr algn="l">
              <a:spcBef>
                <a:spcPts val="900"/>
              </a:spcBef>
            </a:pPr>
            <a:r>
              <a:rPr lang="en-GB" sz="2000" b="0" i="0" dirty="0">
                <a:solidFill>
                  <a:srgbClr val="111111"/>
                </a:solidFill>
                <a:effectLst/>
                <a:latin typeface="-apple-system"/>
              </a:rPr>
              <a:t>Each filter performs a specific task, and the data flows through the pipeline from one filter to the next until the final output is produced.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006006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2F3F0-474A-FB43-5A71-8460C78EA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Pipe and filter architecture..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D7F78-B3E0-1A03-3BCE-61637ABF2C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400" b="1" dirty="0"/>
              <a:t>Advantages</a:t>
            </a:r>
            <a:endParaRPr lang="en-US" b="1" dirty="0"/>
          </a:p>
          <a:p>
            <a:pPr lvl="1"/>
            <a:r>
              <a:rPr lang="en-US" sz="2000" dirty="0"/>
              <a:t>Easy to understand</a:t>
            </a:r>
          </a:p>
          <a:p>
            <a:pPr lvl="1"/>
            <a:r>
              <a:rPr lang="en-US" sz="2000" dirty="0"/>
              <a:t>Workflow style matches business processes</a:t>
            </a:r>
          </a:p>
          <a:p>
            <a:pPr lvl="1"/>
            <a:r>
              <a:rPr lang="en-US" sz="2000" dirty="0"/>
              <a:t>Sequential or concurrent</a:t>
            </a:r>
          </a:p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F8993-FECC-C43E-EDA3-6C39F980C2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400" b="1" dirty="0"/>
              <a:t>Disadvantages</a:t>
            </a:r>
            <a:endParaRPr lang="en-US" b="1" dirty="0"/>
          </a:p>
          <a:p>
            <a:pPr lvl="1"/>
            <a:r>
              <a:rPr lang="en-US" sz="2000" dirty="0"/>
              <a:t>data transfer has to be agreed</a:t>
            </a:r>
          </a:p>
          <a:p>
            <a:pPr lvl="1"/>
            <a:r>
              <a:rPr lang="en-US" sz="2000" dirty="0"/>
              <a:t>Input </a:t>
            </a:r>
            <a:r>
              <a:rPr lang="mr-IN" sz="2000" dirty="0"/>
              <a:t>–</a:t>
            </a:r>
            <a:r>
              <a:rPr lang="en-US" sz="2000" dirty="0"/>
              <a:t> output must be agreed</a:t>
            </a:r>
          </a:p>
          <a:p>
            <a:pPr lvl="1"/>
            <a:r>
              <a:rPr lang="en-US" sz="2000" dirty="0"/>
              <a:t>No reuse of transformations on incompatible data structures</a:t>
            </a:r>
          </a:p>
          <a:p>
            <a:pPr lvl="1"/>
            <a:r>
              <a:rPr lang="en-US" sz="2000" dirty="0"/>
              <a:t>Difficult to share data</a:t>
            </a:r>
            <a:endParaRPr lang="en-GB" sz="20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3983997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Layered architecture">
            <a:extLst>
              <a:ext uri="{FF2B5EF4-FFF2-40B4-BE49-F238E27FC236}">
                <a16:creationId xmlns:a16="http://schemas.microsoft.com/office/drawing/2014/main" id="{2ECDCA26-F7E5-6B52-B9EB-E0329714A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Layered architecture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26BA7-A211-9C5E-B994-44FDACF0A3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484784"/>
            <a:ext cx="7886700" cy="4824536"/>
          </a:xfrm>
        </p:spPr>
        <p:txBody>
          <a:bodyPr/>
          <a:lstStyle/>
          <a:p>
            <a:r>
              <a:rPr lang="en-GB" sz="2000" dirty="0"/>
              <a:t>Organizes the system into layers</a:t>
            </a:r>
          </a:p>
          <a:p>
            <a:r>
              <a:rPr lang="en-GB" sz="2000" dirty="0"/>
              <a:t>Layers based on related functionality</a:t>
            </a:r>
          </a:p>
          <a:p>
            <a:r>
              <a:rPr lang="en-GB" sz="2000" dirty="0"/>
              <a:t>Each layer offers services through an interface</a:t>
            </a:r>
          </a:p>
          <a:p>
            <a:r>
              <a:rPr lang="en-GB" sz="2000" dirty="0"/>
              <a:t>Only the layer which is directly above can use the service from layer below</a:t>
            </a:r>
          </a:p>
          <a:p>
            <a:r>
              <a:rPr lang="en-GB" sz="2000" dirty="0"/>
              <a:t>Thus, each layer represents:</a:t>
            </a:r>
            <a:br>
              <a:rPr lang="en-GB" dirty="0"/>
            </a:br>
            <a:endParaRPr lang="en-GB" dirty="0"/>
          </a:p>
          <a:p>
            <a:endParaRPr lang="en-GB" dirty="0"/>
          </a:p>
        </p:txBody>
      </p:sp>
      <p:pic>
        <p:nvPicPr>
          <p:cNvPr id="4" name="Picture 2" descr="Alt Text">
            <a:extLst>
              <a:ext uri="{FF2B5EF4-FFF2-40B4-BE49-F238E27FC236}">
                <a16:creationId xmlns:a16="http://schemas.microsoft.com/office/drawing/2014/main" id="{5385D5EC-65B3-8A81-5F90-BFA0AE133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799" y="3581690"/>
            <a:ext cx="5400600" cy="327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369782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5AFCE-E2C8-4CCC-4C76-DBCDDCCD1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Layering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68C97-1065-F720-C952-1C66C190A4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7344818" cy="4608512"/>
          </a:xfrm>
        </p:spPr>
        <p:txBody>
          <a:bodyPr/>
          <a:lstStyle/>
          <a:p>
            <a:r>
              <a:rPr lang="en-GB" sz="2000" dirty="0"/>
              <a:t>Layering is a technique that software designers use to </a:t>
            </a:r>
            <a:r>
              <a:rPr lang="en-GB" sz="2000" b="1" dirty="0"/>
              <a:t>break apart </a:t>
            </a:r>
            <a:r>
              <a:rPr lang="en-GB" sz="2000" dirty="0"/>
              <a:t>a complicated software system </a:t>
            </a:r>
          </a:p>
          <a:p>
            <a:r>
              <a:rPr lang="en-GB" sz="2000" dirty="0"/>
              <a:t>Subsystems are arranged where each layer rests on a lower layer</a:t>
            </a:r>
          </a:p>
          <a:p>
            <a:r>
              <a:rPr lang="en-GB" sz="2000" dirty="0"/>
              <a:t>Higher layers use various services defined by the lower layer, but the lower layer is </a:t>
            </a:r>
            <a:r>
              <a:rPr lang="en-GB" sz="2000" b="1" dirty="0"/>
              <a:t>unaware</a:t>
            </a:r>
            <a:r>
              <a:rPr lang="en-GB" sz="2000" dirty="0"/>
              <a:t> of the higher layer</a:t>
            </a:r>
          </a:p>
          <a:p>
            <a:endParaRPr lang="en-GB" sz="2000" dirty="0"/>
          </a:p>
          <a:p>
            <a:r>
              <a:rPr lang="en-GB" sz="2000" dirty="0"/>
              <a:t>For example:</a:t>
            </a:r>
          </a:p>
          <a:p>
            <a:pPr lvl="1"/>
            <a:r>
              <a:rPr lang="en-GB" sz="2000" dirty="0"/>
              <a:t> FTP on top of TCP on top of IP on top of Ethernet</a:t>
            </a:r>
          </a:p>
        </p:txBody>
      </p:sp>
    </p:spTree>
    <p:extLst>
      <p:ext uri="{BB962C8B-B14F-4D97-AF65-F5344CB8AC3E}">
        <p14:creationId xmlns:p14="http://schemas.microsoft.com/office/powerpoint/2010/main" val="120987617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8B50F-4F3F-8CC4-AAB6-011BF3B40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Layered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8F946-66B1-0370-3C9E-33D65A79E5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sz="2400" b="1" dirty="0"/>
              <a:t>Advantages</a:t>
            </a:r>
            <a:endParaRPr lang="en-GB" b="1" dirty="0"/>
          </a:p>
          <a:p>
            <a:pPr lvl="1"/>
            <a:r>
              <a:rPr lang="en-GB" sz="2000" dirty="0"/>
              <a:t>Single layer as a coherent whole</a:t>
            </a:r>
          </a:p>
          <a:p>
            <a:pPr lvl="1"/>
            <a:r>
              <a:rPr lang="en-GB" sz="2000" dirty="0"/>
              <a:t>Can substitute layers with alternative implementations </a:t>
            </a:r>
          </a:p>
          <a:p>
            <a:pPr lvl="1"/>
            <a:r>
              <a:rPr lang="en-GB" sz="2000" dirty="0"/>
              <a:t>Minimize dependencies between layers</a:t>
            </a:r>
          </a:p>
          <a:p>
            <a:pPr lvl="1"/>
            <a:r>
              <a:rPr lang="en-GB" sz="2000" dirty="0"/>
              <a:t>Layers make good places for standardization</a:t>
            </a:r>
          </a:p>
          <a:p>
            <a:pPr lvl="1"/>
            <a:r>
              <a:rPr lang="en-GB" sz="2000" dirty="0"/>
              <a:t>Expand to many higher-level services</a:t>
            </a:r>
          </a:p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2A1D7-B296-1258-2C68-40B18B97EF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sz="2400" b="1" dirty="0"/>
              <a:t>Drawbacks</a:t>
            </a:r>
          </a:p>
          <a:p>
            <a:pPr lvl="1"/>
            <a:r>
              <a:rPr lang="en-GB" sz="2000" dirty="0"/>
              <a:t>Layers encapsulate some, but not all, things well</a:t>
            </a:r>
          </a:p>
          <a:p>
            <a:pPr lvl="2"/>
            <a:r>
              <a:rPr lang="en-GB" sz="2000" dirty="0"/>
              <a:t>A field on the UI, must be in the database, and thus to every layer in between</a:t>
            </a:r>
          </a:p>
          <a:p>
            <a:pPr lvl="1"/>
            <a:r>
              <a:rPr lang="en-GB" sz="2000" dirty="0"/>
              <a:t>Extra layers can harm performance</a:t>
            </a:r>
          </a:p>
        </p:txBody>
      </p:sp>
    </p:spTree>
    <p:extLst>
      <p:ext uri="{BB962C8B-B14F-4D97-AF65-F5344CB8AC3E}">
        <p14:creationId xmlns:p14="http://schemas.microsoft.com/office/powerpoint/2010/main" val="1455200813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E4013-08AF-C5D3-5597-5B4A7F187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Three Principal Layers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0CAD1A-C515-98D7-8BC1-3D5AB332E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78363"/>
              </p:ext>
            </p:extLst>
          </p:nvPr>
        </p:nvGraphicFramePr>
        <p:xfrm>
          <a:off x="755577" y="1657441"/>
          <a:ext cx="3816424" cy="3643767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381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5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624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chemeClr val="tx1"/>
                          </a:solidFill>
                        </a:rPr>
                        <a:t>Responsibilities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0485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Provision of services, display of information (e.g., in Mobile, Windows or HTML, handling of user request)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589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Logic that is the real point of the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8069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tx1"/>
                          </a:solidFill>
                        </a:rPr>
                        <a:t>Data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tx1"/>
                          </a:solidFill>
                        </a:rPr>
                        <a:t>Communication with databases, messaging systems, transaction managers, other packages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C889DCF-2353-AFA1-6476-80F5BCAE6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587364"/>
              </p:ext>
            </p:extLst>
          </p:nvPr>
        </p:nvGraphicFramePr>
        <p:xfrm>
          <a:off x="4842941" y="1657441"/>
          <a:ext cx="4236161" cy="352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385296" imgH="3719460" progId="Visio.Drawing.11">
                  <p:embed/>
                </p:oleObj>
              </mc:Choice>
              <mc:Fallback>
                <p:oleObj name="Visio" r:id="rId2" imgW="4385296" imgH="3719460" progId="Visio.Drawing.11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CC889DCF-2353-AFA1-6476-80F5BCAE6FC6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2941" y="1657441"/>
                        <a:ext cx="4236161" cy="352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7816256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FE936-7F6C-0F90-3E69-7EF7E8290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Distributed Systems Architectures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6B3EF-9B53-8745-593A-73FD1B8CF8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3672409" cy="4608512"/>
          </a:xfrm>
        </p:spPr>
        <p:txBody>
          <a:bodyPr/>
          <a:lstStyle/>
          <a:p>
            <a:r>
              <a:rPr lang="en-GB" sz="2000" dirty="0"/>
              <a:t>Architectural design for software that executes on </a:t>
            </a:r>
            <a:r>
              <a:rPr lang="en-GB" sz="2000" b="1" dirty="0"/>
              <a:t>more</a:t>
            </a:r>
            <a:r>
              <a:rPr lang="en-GB" sz="2000" dirty="0"/>
              <a:t> than one processor</a:t>
            </a:r>
          </a:p>
          <a:p>
            <a:r>
              <a:rPr lang="en-GB" sz="2000" dirty="0"/>
              <a:t>Virtually all large computer-based systems are now distributed systems</a:t>
            </a:r>
          </a:p>
          <a:p>
            <a:r>
              <a:rPr lang="en-GB" sz="2000" dirty="0"/>
              <a:t>Information </a:t>
            </a:r>
            <a:r>
              <a:rPr lang="en-GB" sz="2000" b="1" dirty="0"/>
              <a:t>processing</a:t>
            </a:r>
            <a:r>
              <a:rPr lang="en-GB" sz="2000" dirty="0"/>
              <a:t> is distributed over several computers rather than confined to a single machine</a:t>
            </a:r>
          </a:p>
          <a:p>
            <a:r>
              <a:rPr lang="en-GB" sz="2000" b="1" dirty="0"/>
              <a:t>Distributed</a:t>
            </a:r>
            <a:r>
              <a:rPr lang="en-GB" sz="2000" dirty="0"/>
              <a:t> software engineering is now very important</a:t>
            </a:r>
          </a:p>
          <a:p>
            <a:endParaRPr lang="en-GB" sz="1800" dirty="0"/>
          </a:p>
          <a:p>
            <a:endParaRPr lang="en-GB" dirty="0"/>
          </a:p>
        </p:txBody>
      </p:sp>
      <p:pic>
        <p:nvPicPr>
          <p:cNvPr id="5122" name="Picture 2" descr="Scaling Microservices Architecture using Caching | Developer.com">
            <a:extLst>
              <a:ext uri="{FF2B5EF4-FFF2-40B4-BE49-F238E27FC236}">
                <a16:creationId xmlns:a16="http://schemas.microsoft.com/office/drawing/2014/main" id="{4B05B51F-0EBC-116C-588F-34C609EC4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1904206"/>
            <a:ext cx="4572001" cy="304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130342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4A335-DE74-2446-D84C-03965154D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Distributed System Characteristics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F12272-AC0E-3051-FC90-883DE81CB0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0" y="1700808"/>
            <a:ext cx="7128793" cy="4608512"/>
          </a:xfrm>
        </p:spPr>
        <p:txBody>
          <a:bodyPr/>
          <a:lstStyle/>
          <a:p>
            <a:pPr marL="9525" indent="0">
              <a:lnSpc>
                <a:spcPct val="90000"/>
              </a:lnSpc>
              <a:buNone/>
            </a:pPr>
            <a:r>
              <a:rPr lang="en-GB" altLang="x-none" sz="2400" b="1" dirty="0"/>
              <a:t>Resource sharing</a:t>
            </a:r>
          </a:p>
          <a:p>
            <a:pPr lvl="1">
              <a:lnSpc>
                <a:spcPct val="90000"/>
              </a:lnSpc>
            </a:pPr>
            <a:r>
              <a:rPr lang="en-GB" altLang="x-none" sz="2000" dirty="0"/>
              <a:t>Sharing of hardware and software resources.</a:t>
            </a:r>
          </a:p>
          <a:p>
            <a:pPr lvl="1">
              <a:lnSpc>
                <a:spcPct val="90000"/>
              </a:lnSpc>
            </a:pPr>
            <a:endParaRPr lang="en-GB" altLang="x-none" sz="1200" dirty="0"/>
          </a:p>
          <a:p>
            <a:pPr marL="9525" indent="0">
              <a:lnSpc>
                <a:spcPct val="90000"/>
              </a:lnSpc>
              <a:buNone/>
            </a:pPr>
            <a:r>
              <a:rPr lang="en-GB" altLang="x-none" sz="2400" b="1" dirty="0"/>
              <a:t>Openness</a:t>
            </a:r>
          </a:p>
          <a:p>
            <a:pPr lvl="1">
              <a:lnSpc>
                <a:spcPct val="90000"/>
              </a:lnSpc>
            </a:pPr>
            <a:r>
              <a:rPr lang="en-GB" altLang="x-none" sz="2000" dirty="0"/>
              <a:t>Use of equipment and software from different vendors.</a:t>
            </a:r>
          </a:p>
          <a:p>
            <a:pPr lvl="1">
              <a:lnSpc>
                <a:spcPct val="90000"/>
              </a:lnSpc>
            </a:pPr>
            <a:endParaRPr lang="en-GB" altLang="x-none" sz="1200" dirty="0"/>
          </a:p>
          <a:p>
            <a:pPr marL="9525" indent="0">
              <a:lnSpc>
                <a:spcPct val="90000"/>
              </a:lnSpc>
              <a:buNone/>
            </a:pPr>
            <a:r>
              <a:rPr lang="en-GB" altLang="x-none" sz="2400" b="1" dirty="0"/>
              <a:t>Concurrency</a:t>
            </a:r>
          </a:p>
          <a:p>
            <a:pPr lvl="1">
              <a:lnSpc>
                <a:spcPct val="90000"/>
              </a:lnSpc>
            </a:pPr>
            <a:r>
              <a:rPr lang="en-GB" altLang="x-none" sz="2000" dirty="0"/>
              <a:t>Concurrent processing to enhance performance.</a:t>
            </a:r>
          </a:p>
          <a:p>
            <a:pPr lvl="1">
              <a:lnSpc>
                <a:spcPct val="90000"/>
              </a:lnSpc>
            </a:pPr>
            <a:endParaRPr lang="en-GB" altLang="x-none" sz="1200" dirty="0"/>
          </a:p>
          <a:p>
            <a:pPr marL="9525" indent="0">
              <a:lnSpc>
                <a:spcPct val="90000"/>
              </a:lnSpc>
              <a:buNone/>
            </a:pPr>
            <a:r>
              <a:rPr lang="en-GB" altLang="x-none" sz="2400" b="1" dirty="0"/>
              <a:t>Scalability</a:t>
            </a:r>
          </a:p>
          <a:p>
            <a:pPr lvl="1">
              <a:lnSpc>
                <a:spcPct val="90000"/>
              </a:lnSpc>
            </a:pPr>
            <a:r>
              <a:rPr lang="en-GB" altLang="x-none" sz="2000" dirty="0"/>
              <a:t>Increased throughput by adding new resources.</a:t>
            </a:r>
          </a:p>
          <a:p>
            <a:pPr lvl="1">
              <a:lnSpc>
                <a:spcPct val="90000"/>
              </a:lnSpc>
            </a:pPr>
            <a:endParaRPr lang="en-GB" altLang="x-none" sz="1200" dirty="0"/>
          </a:p>
          <a:p>
            <a:pPr marL="9525" indent="0">
              <a:lnSpc>
                <a:spcPct val="90000"/>
              </a:lnSpc>
              <a:buNone/>
            </a:pPr>
            <a:r>
              <a:rPr lang="en-GB" altLang="x-none" sz="2400" b="1" dirty="0"/>
              <a:t>Fault tolerance</a:t>
            </a:r>
          </a:p>
          <a:p>
            <a:pPr lvl="1">
              <a:lnSpc>
                <a:spcPct val="90000"/>
              </a:lnSpc>
            </a:pPr>
            <a:r>
              <a:rPr lang="en-GB" altLang="x-none" sz="2000" dirty="0"/>
              <a:t>The ability to continue in operation after a fault has occurred.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4497971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4BA2A-DB63-ECE3-F87F-78E55FCAA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x-none" dirty="0"/>
              <a:t>Distributed System Disadvantages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A84D8-CC5B-5217-9943-72AC813474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0" y="1700808"/>
            <a:ext cx="7272809" cy="4608512"/>
          </a:xfrm>
        </p:spPr>
        <p:txBody>
          <a:bodyPr/>
          <a:lstStyle/>
          <a:p>
            <a:pPr marL="9525" indent="0">
              <a:buNone/>
            </a:pPr>
            <a:r>
              <a:rPr lang="en-GB" altLang="x-none" sz="2400" b="1" dirty="0"/>
              <a:t>Complexity</a:t>
            </a:r>
          </a:p>
          <a:p>
            <a:pPr lvl="1"/>
            <a:r>
              <a:rPr lang="en-GB" altLang="x-none" sz="2000" dirty="0"/>
              <a:t>Typically, distributed systems are more complex than centralised systems.</a:t>
            </a:r>
          </a:p>
          <a:p>
            <a:pPr lvl="1"/>
            <a:endParaRPr lang="en-GB" altLang="x-none" sz="1200" dirty="0"/>
          </a:p>
          <a:p>
            <a:pPr marL="9525" indent="0">
              <a:buNone/>
            </a:pPr>
            <a:r>
              <a:rPr lang="en-GB" altLang="x-none" sz="2400" b="1" dirty="0"/>
              <a:t>Security</a:t>
            </a:r>
          </a:p>
          <a:p>
            <a:pPr lvl="1"/>
            <a:r>
              <a:rPr lang="en-GB" altLang="x-none" sz="2000" dirty="0"/>
              <a:t>More susceptible to external attack.</a:t>
            </a:r>
          </a:p>
          <a:p>
            <a:pPr lvl="1"/>
            <a:endParaRPr lang="en-GB" altLang="x-none" sz="1200" dirty="0"/>
          </a:p>
          <a:p>
            <a:pPr marL="9525" indent="0">
              <a:buNone/>
            </a:pPr>
            <a:r>
              <a:rPr lang="en-GB" altLang="x-none" sz="2400" b="1" dirty="0"/>
              <a:t>Manageability</a:t>
            </a:r>
          </a:p>
          <a:p>
            <a:pPr lvl="1"/>
            <a:r>
              <a:rPr lang="en-GB" altLang="x-none" sz="2000" dirty="0"/>
              <a:t>More effort required for system management.</a:t>
            </a:r>
          </a:p>
          <a:p>
            <a:pPr lvl="1"/>
            <a:endParaRPr lang="en-GB" altLang="x-none" sz="1200" dirty="0"/>
          </a:p>
          <a:p>
            <a:pPr marL="9525" indent="0">
              <a:buNone/>
            </a:pPr>
            <a:r>
              <a:rPr lang="en-GB" altLang="x-none" sz="2400" b="1" dirty="0"/>
              <a:t>Unpredictability</a:t>
            </a:r>
          </a:p>
          <a:p>
            <a:pPr lvl="1"/>
            <a:r>
              <a:rPr lang="en-GB" altLang="x-none" sz="2000" dirty="0"/>
              <a:t>Unpredictable responses depending on the system organisation and network load.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9198501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AC445-692E-3E5F-E5F0-E9C54DB5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x-none" dirty="0"/>
              <a:t>Distributed Systems Architectures..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61F42-20E1-5A85-328A-D689280E20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altLang="x-none" sz="2000" b="1" dirty="0"/>
              <a:t>Client-server architectures</a:t>
            </a:r>
          </a:p>
          <a:p>
            <a:pPr lvl="1"/>
            <a:r>
              <a:rPr lang="en-GB" altLang="x-none" sz="2000" dirty="0"/>
              <a:t>Distributed services which are called on by clients. Servers that provide services are treated differently from clients that use services.</a:t>
            </a:r>
          </a:p>
          <a:p>
            <a:pPr lvl="1"/>
            <a:endParaRPr lang="en-GB" altLang="x-none" sz="2000" dirty="0"/>
          </a:p>
          <a:p>
            <a:r>
              <a:rPr lang="en-GB" altLang="x-none" sz="2000" b="1" dirty="0"/>
              <a:t>Distributed Object architectures</a:t>
            </a:r>
          </a:p>
          <a:p>
            <a:pPr lvl="1"/>
            <a:r>
              <a:rPr lang="en-GB" altLang="x-none" sz="2000" dirty="0"/>
              <a:t>No distinction between clients and servers. Any object on the system may provide and use services from other objects.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625266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EAE05-1238-58FE-8B86-B210DD22F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x-none" dirty="0"/>
              <a:t>Middleware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32CE9-A0E3-7676-D35E-20DB96576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altLang="x-none" sz="2000" dirty="0"/>
              <a:t>Software that manages and supports the different components of a distributed system. </a:t>
            </a:r>
          </a:p>
          <a:p>
            <a:r>
              <a:rPr lang="en-GB" altLang="x-none" sz="2000" dirty="0"/>
              <a:t>In essence, it sits in the </a:t>
            </a:r>
            <a:r>
              <a:rPr lang="en-GB" altLang="x-none" sz="2000" i="1" dirty="0"/>
              <a:t>middle </a:t>
            </a:r>
            <a:r>
              <a:rPr lang="en-GB" altLang="x-none" sz="2000" dirty="0"/>
              <a:t>of the system.</a:t>
            </a:r>
          </a:p>
          <a:p>
            <a:r>
              <a:rPr lang="en-GB" altLang="x-none" sz="2000" dirty="0"/>
              <a:t>Middleware is usually off-the-shelf rather than specially written software.</a:t>
            </a:r>
          </a:p>
          <a:p>
            <a:r>
              <a:rPr lang="en-GB" altLang="x-none" sz="2000" dirty="0"/>
              <a:t>Examples</a:t>
            </a:r>
          </a:p>
          <a:p>
            <a:pPr lvl="1"/>
            <a:r>
              <a:rPr lang="en-GB" altLang="x-none" sz="2000" dirty="0"/>
              <a:t>Transaction processing monitors;</a:t>
            </a:r>
          </a:p>
          <a:p>
            <a:pPr lvl="1"/>
            <a:r>
              <a:rPr lang="en-GB" altLang="x-none" sz="2000" dirty="0"/>
              <a:t>Data converters;</a:t>
            </a:r>
          </a:p>
          <a:p>
            <a:pPr lvl="1"/>
            <a:r>
              <a:rPr lang="en-GB" altLang="x-none" sz="2000" dirty="0"/>
              <a:t>Communication controllers.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458802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5A8B0-1629-0A21-960E-F7552BE11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92D44-E664-91CA-C18C-A15A55654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x-none" dirty="0"/>
              <a:t>Middleware in Distributed Systems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E3A1B-93BB-7E9E-7A90-E7076B2AA3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sz="2000" dirty="0"/>
              <a:t>Middleware hides some of the complexity of distribution.</a:t>
            </a:r>
          </a:p>
          <a:p>
            <a:r>
              <a:rPr lang="en-GB" sz="2000" dirty="0"/>
              <a:t>Provides common services between applications.</a:t>
            </a:r>
          </a:p>
          <a:p>
            <a:r>
              <a:rPr lang="en-GB" sz="2000" dirty="0"/>
              <a:t>Typical responsibilities include:</a:t>
            </a:r>
          </a:p>
          <a:p>
            <a:pPr lvl="1"/>
            <a:r>
              <a:rPr lang="en-GB" dirty="0"/>
              <a:t>communication</a:t>
            </a:r>
          </a:p>
          <a:p>
            <a:pPr lvl="1"/>
            <a:r>
              <a:rPr lang="en-GB" dirty="0"/>
              <a:t>message routing</a:t>
            </a:r>
          </a:p>
          <a:p>
            <a:pPr lvl="1"/>
            <a:r>
              <a:rPr lang="en-GB" dirty="0"/>
              <a:t>data conversion</a:t>
            </a:r>
          </a:p>
          <a:p>
            <a:pPr lvl="1"/>
            <a:r>
              <a:rPr lang="en-GB" dirty="0"/>
              <a:t>transaction management</a:t>
            </a:r>
          </a:p>
          <a:p>
            <a:pPr lvl="1"/>
            <a:r>
              <a:rPr lang="en-GB" dirty="0"/>
              <a:t>authentication/security</a:t>
            </a:r>
          </a:p>
          <a:p>
            <a:pPr lvl="1"/>
            <a:r>
              <a:rPr lang="en-GB" dirty="0"/>
              <a:t>service discovery</a:t>
            </a:r>
          </a:p>
          <a:p>
            <a:r>
              <a:rPr lang="en-GB" sz="2000" dirty="0"/>
              <a:t>Middleware lets components interact without each component having to implement all communication and integration logic itself.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7555879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54C4F-D9FD-DDF6-924E-6C1835F29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5E49D-69CE-CF71-8CE1-EF35A1A12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Message-Based Integration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14398-1CFD-7B22-C399-F912A8E966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7344818" cy="4608512"/>
          </a:xfrm>
        </p:spPr>
        <p:txBody>
          <a:bodyPr/>
          <a:lstStyle/>
          <a:p>
            <a:r>
              <a:rPr lang="en-GB" altLang="x-none" sz="2000" dirty="0"/>
              <a:t>Systems exchange messages through a broker, queue, or event bus.</a:t>
            </a:r>
          </a:p>
          <a:p>
            <a:r>
              <a:rPr lang="en-GB" altLang="x-none" sz="2000" dirty="0"/>
              <a:t>Sender and receiver do not need to run at the same time.</a:t>
            </a:r>
          </a:p>
          <a:p>
            <a:r>
              <a:rPr lang="en-GB" altLang="x-none" sz="2000" dirty="0"/>
              <a:t>Supports asynchronous communication.</a:t>
            </a:r>
          </a:p>
          <a:p>
            <a:r>
              <a:rPr lang="en-GB" altLang="x-none" sz="2000" dirty="0"/>
              <a:t>Reduces direct dependencies between systems.</a:t>
            </a:r>
          </a:p>
          <a:p>
            <a:r>
              <a:rPr lang="en-GB" altLang="x-none" sz="2000" dirty="0"/>
              <a:t>Useful when integrating multiple enterprise applications or services.</a:t>
            </a:r>
          </a:p>
          <a:p>
            <a:r>
              <a:rPr lang="en-GB" altLang="x-none" sz="2000" dirty="0"/>
              <a:t>Can improve scalability and resilience.</a:t>
            </a:r>
          </a:p>
          <a:p>
            <a:endParaRPr lang="en-GB" sz="2000" dirty="0"/>
          </a:p>
          <a:p>
            <a:r>
              <a:rPr lang="en-GB" sz="2400" dirty="0"/>
              <a:t>The sender does not need to know exactly how each receiving system works.</a:t>
            </a:r>
          </a:p>
        </p:txBody>
      </p:sp>
    </p:spTree>
    <p:extLst>
      <p:ext uri="{BB962C8B-B14F-4D97-AF65-F5344CB8AC3E}">
        <p14:creationId xmlns:p14="http://schemas.microsoft.com/office/powerpoint/2010/main" val="4117385844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C8D2D-D1A8-54B2-6DDC-2A6548412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DA92-C81F-5010-9291-4BAF408A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Data Consistency in Distributed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C7491-BA8C-4FFE-9702-F026229F6A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700808"/>
            <a:ext cx="7344818" cy="4608512"/>
          </a:xfrm>
        </p:spPr>
        <p:txBody>
          <a:bodyPr/>
          <a:lstStyle/>
          <a:p>
            <a:r>
              <a:rPr lang="en-GB" altLang="x-none" sz="2000" dirty="0"/>
              <a:t>In a distributed system, multiple services may hold copies of related data.</a:t>
            </a:r>
          </a:p>
          <a:p>
            <a:r>
              <a:rPr lang="en-GB" altLang="x-none" sz="2000" dirty="0"/>
              <a:t>Updating one system does not automatically update all others immediately.</a:t>
            </a:r>
          </a:p>
          <a:p>
            <a:r>
              <a:rPr lang="en-GB" altLang="x-none" sz="2000" dirty="0"/>
              <a:t>Network delay or failure can create temporary inconsistencies.</a:t>
            </a:r>
          </a:p>
          <a:p>
            <a:r>
              <a:rPr lang="en-GB" altLang="x-none" sz="2000" dirty="0"/>
              <a:t>Two common approaches:</a:t>
            </a:r>
          </a:p>
          <a:p>
            <a:pPr lvl="1"/>
            <a:r>
              <a:rPr lang="en-GB" altLang="x-none" dirty="0"/>
              <a:t>Strong consistency — all components see the latest value before processing continues.</a:t>
            </a:r>
          </a:p>
          <a:p>
            <a:pPr lvl="1"/>
            <a:r>
              <a:rPr lang="en-GB" altLang="x-none" dirty="0"/>
              <a:t>Eventual consistency — updates may take time to propagate, but systems should converge later.</a:t>
            </a:r>
          </a:p>
          <a:p>
            <a:r>
              <a:rPr lang="en-GB" altLang="x-none" sz="2000" dirty="0"/>
              <a:t>Trade-off:</a:t>
            </a:r>
          </a:p>
          <a:p>
            <a:pPr lvl="1"/>
            <a:r>
              <a:rPr lang="en-GB" altLang="x-none" dirty="0"/>
              <a:t>stronger consistency can reduce availability/performance;</a:t>
            </a:r>
          </a:p>
          <a:p>
            <a:pPr lvl="1"/>
            <a:r>
              <a:rPr lang="en-GB" altLang="x-none" dirty="0"/>
              <a:t>looser consistency improves scalability and resilience but may allow temporary mismatch.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60106862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template sky standard" id="{A7359E9C-777D-0F4B-8211-91AB7F1124B5}" vid="{C3CAC618-405E-8C47-A78E-8848AAD023C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FC3F4283AECA48BCBDDFCF4103160C" ma:contentTypeVersion="2" ma:contentTypeDescription="Create a new document." ma:contentTypeScope="" ma:versionID="71a29f68b18f52e7e0b329625759c092">
  <xsd:schema xmlns:xsd="http://www.w3.org/2001/XMLSchema" xmlns:xs="http://www.w3.org/2001/XMLSchema" xmlns:p="http://schemas.microsoft.com/office/2006/metadata/properties" xmlns:ns2="037ba92a-5764-4297-b5f7-6ea117412624" xmlns:ns3="3a4ab234-afbc-41ab-b2db-358d80304e46" targetNamespace="http://schemas.microsoft.com/office/2006/metadata/properties" ma:root="true" ma:fieldsID="a458c3587d291faf4ca1653387720a89" ns2:_="" ns3:_="">
    <xsd:import namespace="037ba92a-5764-4297-b5f7-6ea117412624"/>
    <xsd:import namespace="3a4ab234-afbc-41ab-b2db-358d80304e4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Document_x0020_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7ba92a-5764-4297-b5f7-6ea11741262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ab234-afbc-41ab-b2db-358d80304e46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11" nillable="true" ma:displayName="Document Type" ma:default="Main Issue" ma:description="Specify type of document to help with filtered views" ma:format="Dropdown" ma:internalName="Document_x0020_Type">
      <xsd:simpleType>
        <xsd:restriction base="dms:Choice">
          <xsd:enumeration value="Main Issue"/>
          <xsd:enumeration value="Supporting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Type xmlns="3a4ab234-afbc-41ab-b2db-358d80304e46">Main Issue</Document_x0020_Type>
    <_dlc_DocId xmlns="037ba92a-5764-4297-b5f7-6ea117412624">NAYYJSKVSPAS-2-1608</_dlc_DocId>
    <_dlc_DocIdUrl xmlns="037ba92a-5764-4297-b5f7-6ea117412624">
      <Url>https://docs.uwe.ac.uk/ou/Communications/_layouts/15/DocIdRedir.aspx?ID=NAYYJSKVSPAS-2-1608</Url>
      <Description>NAYYJSKVSPAS-2-1608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8277BB-DC5E-47BA-8CA9-13DFAB3B24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7ba92a-5764-4297-b5f7-6ea117412624"/>
    <ds:schemaRef ds:uri="3a4ab234-afbc-41ab-b2db-358d80304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D2D201-97C8-4E70-BF77-76D11DC8600F}">
  <ds:schemaRefs>
    <ds:schemaRef ds:uri="http://purl.org/dc/elements/1.1/"/>
    <ds:schemaRef ds:uri="3a4ab234-afbc-41ab-b2db-358d80304e46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037ba92a-5764-4297-b5f7-6ea117412624"/>
    <ds:schemaRef ds:uri="http://purl.org/dc/terms/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F364826-19C1-4551-92C2-A6C074B09DC4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c7fd77c-bf1b-4511-8a0d-ca095442aa9f}" enabled="1" method="Privileged" siteId="{07ef1208-413c-4b5e-9cdd-64ef305754f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1847</TotalTime>
  <Words>1705</Words>
  <Application>Microsoft Office PowerPoint</Application>
  <PresentationFormat>On-screen Show (4:3)</PresentationFormat>
  <Paragraphs>297</Paragraphs>
  <Slides>28</Slides>
  <Notes>18</Notes>
  <HiddenSlides>2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-apple-system</vt:lpstr>
      <vt:lpstr>ＭＳ Ｐゴシック</vt:lpstr>
      <vt:lpstr>Arial</vt:lpstr>
      <vt:lpstr>Calibri</vt:lpstr>
      <vt:lpstr>Courier New</vt:lpstr>
      <vt:lpstr>Tahoma</vt:lpstr>
      <vt:lpstr>Custom Design</vt:lpstr>
      <vt:lpstr>Visio</vt:lpstr>
      <vt:lpstr>Application Architectures and Distribution </vt:lpstr>
      <vt:lpstr>Session Plan</vt:lpstr>
      <vt:lpstr>Enterprise Applications (EA)</vt:lpstr>
      <vt:lpstr>Characteristics of EA</vt:lpstr>
      <vt:lpstr>Types of EA</vt:lpstr>
      <vt:lpstr>Software Architecture </vt:lpstr>
      <vt:lpstr>Architecture Reuse</vt:lpstr>
      <vt:lpstr>Recurring Architectural Patterns</vt:lpstr>
      <vt:lpstr>Repository Architecture</vt:lpstr>
      <vt:lpstr>Repository Architecture..</vt:lpstr>
      <vt:lpstr>Client-server architecture</vt:lpstr>
      <vt:lpstr>Client-server architecture..</vt:lpstr>
      <vt:lpstr>Thin and Fat clients</vt:lpstr>
      <vt:lpstr>Pipe and filter architecture</vt:lpstr>
      <vt:lpstr>Pipe and filter example</vt:lpstr>
      <vt:lpstr>Pipe and filter architecture..</vt:lpstr>
      <vt:lpstr>Layered architecture</vt:lpstr>
      <vt:lpstr>Layering</vt:lpstr>
      <vt:lpstr>Layered Architecture</vt:lpstr>
      <vt:lpstr>The Three Principal Layers</vt:lpstr>
      <vt:lpstr>Distributed Systems Architectures</vt:lpstr>
      <vt:lpstr>Distributed System Characteristics</vt:lpstr>
      <vt:lpstr>Distributed System Disadvantages</vt:lpstr>
      <vt:lpstr>Distributed Systems Architectures..</vt:lpstr>
      <vt:lpstr>Middleware</vt:lpstr>
      <vt:lpstr>Middleware in Distributed Systems</vt:lpstr>
      <vt:lpstr>Message-Based Integration</vt:lpstr>
      <vt:lpstr>Data Consistency in Distributed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UFCFAF-30-3  Development of Information Systems Projects   Application Architectures and Distribution </dc:title>
  <dc:creator>Dilshan Jayatilake (Student)</dc:creator>
  <cp:lastModifiedBy>David Wyatt</cp:lastModifiedBy>
  <cp:revision>10</cp:revision>
  <cp:lastPrinted>2016-09-22T10:08:48Z</cp:lastPrinted>
  <dcterms:created xsi:type="dcterms:W3CDTF">2023-02-02T09:02:30Z</dcterms:created>
  <dcterms:modified xsi:type="dcterms:W3CDTF">2026-09-29T13:11:43Z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0x01010072FC3F4283AECA48BCBDDFCF4103160C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dlc_DocIdItemGuid">
    <vt:lpwstr>0beaf668-18bc-407e-89e0-ef66d74dcf56</vt:lpwstr>
  </property>
</Properties>
</file>