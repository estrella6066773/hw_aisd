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5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4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8495E4-BD9B-7ACC-A96A-4FFA9C933310}" v="19" dt="2026-10-11T14:27:21.441"/>
    <p1510:client id="{53DDDC77-4E55-D1BA-8B6D-7164BBE8FD24}" v="251" dt="2026-10-11T13:50:28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glin Chand" userId="S::franglin.chand@uwe.ac.uk::992060cb-535b-4e67-b6b6-7b75d3240efb" providerId="AD" clId="Web-{1B8495E4-BD9B-7ACC-A96A-4FFA9C933310}"/>
    <pc:docChg chg="modSld">
      <pc:chgData name="Franglin Chand" userId="S::franglin.chand@uwe.ac.uk::992060cb-535b-4e67-b6b6-7b75d3240efb" providerId="AD" clId="Web-{1B8495E4-BD9B-7ACC-A96A-4FFA9C933310}" dt="2026-10-11T14:27:19.863" v="8" actId="20577"/>
      <pc:docMkLst>
        <pc:docMk/>
      </pc:docMkLst>
      <pc:sldChg chg="modSp">
        <pc:chgData name="Franglin Chand" userId="S::franglin.chand@uwe.ac.uk::992060cb-535b-4e67-b6b6-7b75d3240efb" providerId="AD" clId="Web-{1B8495E4-BD9B-7ACC-A96A-4FFA9C933310}" dt="2026-10-11T14:27:19.863" v="8" actId="20577"/>
        <pc:sldMkLst>
          <pc:docMk/>
          <pc:sldMk cId="0" sldId="272"/>
        </pc:sldMkLst>
        <pc:spChg chg="mod">
          <ac:chgData name="Franglin Chand" userId="S::franglin.chand@uwe.ac.uk::992060cb-535b-4e67-b6b6-7b75d3240efb" providerId="AD" clId="Web-{1B8495E4-BD9B-7ACC-A96A-4FFA9C933310}" dt="2026-10-11T14:27:19.863" v="8" actId="20577"/>
          <ac:spMkLst>
            <pc:docMk/>
            <pc:sldMk cId="0" sldId="272"/>
            <ac:spMk id="14" creationId="{00000000-0000-0000-0000-000000000000}"/>
          </ac:spMkLst>
        </pc:spChg>
      </pc:sldChg>
    </pc:docChg>
  </pc:docChgLst>
  <pc:docChgLst>
    <pc:chgData name="Franglin Chand" userId="S::franglin.chand@uwe.ac.uk::992060cb-535b-4e67-b6b6-7b75d3240efb" providerId="AD" clId="Web-{53DDDC77-4E55-D1BA-8B6D-7164BBE8FD24}"/>
    <pc:docChg chg="addSld delSld modSld">
      <pc:chgData name="Franglin Chand" userId="S::franglin.chand@uwe.ac.uk::992060cb-535b-4e67-b6b6-7b75d3240efb" providerId="AD" clId="Web-{53DDDC77-4E55-D1BA-8B6D-7164BBE8FD24}" dt="2026-10-11T13:50:22.812" v="130" actId="20577"/>
      <pc:docMkLst>
        <pc:docMk/>
      </pc:docMkLst>
      <pc:sldChg chg="add del">
        <pc:chgData name="Franglin Chand" userId="S::franglin.chand@uwe.ac.uk::992060cb-535b-4e67-b6b6-7b75d3240efb" providerId="AD" clId="Web-{53DDDC77-4E55-D1BA-8B6D-7164BBE8FD24}" dt="2026-10-11T13:45:52.726" v="5"/>
        <pc:sldMkLst>
          <pc:docMk/>
          <pc:sldMk cId="0" sldId="256"/>
        </pc:sldMkLst>
      </pc:sldChg>
      <pc:sldChg chg="addSp delSp new del">
        <pc:chgData name="Franglin Chand" userId="S::franglin.chand@uwe.ac.uk::992060cb-535b-4e67-b6b6-7b75d3240efb" providerId="AD" clId="Web-{53DDDC77-4E55-D1BA-8B6D-7164BBE8FD24}" dt="2026-10-11T13:43:06.674" v="3"/>
        <pc:sldMkLst>
          <pc:docMk/>
          <pc:sldMk cId="440935337" sldId="305"/>
        </pc:sldMkLst>
        <pc:spChg chg="add del">
          <ac:chgData name="Franglin Chand" userId="S::franglin.chand@uwe.ac.uk::992060cb-535b-4e67-b6b6-7b75d3240efb" providerId="AD" clId="Web-{53DDDC77-4E55-D1BA-8B6D-7164BBE8FD24}" dt="2026-10-11T13:43:03.517" v="2"/>
          <ac:spMkLst>
            <pc:docMk/>
            <pc:sldMk cId="440935337" sldId="305"/>
            <ac:spMk id="2" creationId="{83B11EEF-2F88-9665-5DFB-42A8E629DE23}"/>
          </ac:spMkLst>
        </pc:spChg>
      </pc:sldChg>
      <pc:sldChg chg="addSp modSp new">
        <pc:chgData name="Franglin Chand" userId="S::franglin.chand@uwe.ac.uk::992060cb-535b-4e67-b6b6-7b75d3240efb" providerId="AD" clId="Web-{53DDDC77-4E55-D1BA-8B6D-7164BBE8FD24}" dt="2026-10-11T13:50:22.812" v="130" actId="20577"/>
        <pc:sldMkLst>
          <pc:docMk/>
          <pc:sldMk cId="3594330382" sldId="305"/>
        </pc:sldMkLst>
        <pc:spChg chg="add mod">
          <ac:chgData name="Franglin Chand" userId="S::franglin.chand@uwe.ac.uk::992060cb-535b-4e67-b6b6-7b75d3240efb" providerId="AD" clId="Web-{53DDDC77-4E55-D1BA-8B6D-7164BBE8FD24}" dt="2026-10-11T13:50:22.812" v="130" actId="20577"/>
          <ac:spMkLst>
            <pc:docMk/>
            <pc:sldMk cId="3594330382" sldId="305"/>
            <ac:spMk id="2" creationId="{393C93A4-0BB8-3C23-0549-B778F9859840}"/>
          </ac:spMkLst>
        </pc:spChg>
      </pc:sldChg>
    </pc:docChg>
  </pc:docChgLst>
  <pc:docChgLst>
    <pc:chgData name="David Wyatt" userId="1b0a4936-1a58-4717-8936-09533ddce9e9" providerId="ADAL" clId="{78B570B4-0A49-41D2-8737-23D6749A7F5B}"/>
    <pc:docChg chg="custSel modSld">
      <pc:chgData name="David Wyatt" userId="1b0a4936-1a58-4717-8936-09533ddce9e9" providerId="ADAL" clId="{78B570B4-0A49-41D2-8737-23D6749A7F5B}" dt="2026-10-11T15:11:03.372" v="37" actId="478"/>
      <pc:docMkLst>
        <pc:docMk/>
      </pc:docMkLst>
      <pc:sldChg chg="modSp mod">
        <pc:chgData name="David Wyatt" userId="1b0a4936-1a58-4717-8936-09533ddce9e9" providerId="ADAL" clId="{78B570B4-0A49-41D2-8737-23D6749A7F5B}" dt="2026-10-11T15:08:48.433" v="0" actId="6549"/>
        <pc:sldMkLst>
          <pc:docMk/>
          <pc:sldMk cId="0" sldId="256"/>
        </pc:sldMkLst>
        <pc:spChg chg="mod">
          <ac:chgData name="David Wyatt" userId="1b0a4936-1a58-4717-8936-09533ddce9e9" providerId="ADAL" clId="{78B570B4-0A49-41D2-8737-23D6749A7F5B}" dt="2026-10-11T15:08:48.433" v="0" actId="6549"/>
          <ac:spMkLst>
            <pc:docMk/>
            <pc:sldMk cId="0" sldId="256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02.695" v="1" actId="478"/>
        <pc:sldMkLst>
          <pc:docMk/>
          <pc:sldMk cId="0" sldId="260"/>
        </pc:sldMkLst>
        <pc:spChg chg="del">
          <ac:chgData name="David Wyatt" userId="1b0a4936-1a58-4717-8936-09533ddce9e9" providerId="ADAL" clId="{78B570B4-0A49-41D2-8737-23D6749A7F5B}" dt="2026-10-11T15:09:02.695" v="1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06.749" v="2" actId="478"/>
        <pc:sldMkLst>
          <pc:docMk/>
          <pc:sldMk cId="0" sldId="261"/>
        </pc:sldMkLst>
        <pc:spChg chg="del">
          <ac:chgData name="David Wyatt" userId="1b0a4936-1a58-4717-8936-09533ddce9e9" providerId="ADAL" clId="{78B570B4-0A49-41D2-8737-23D6749A7F5B}" dt="2026-10-11T15:09:06.749" v="2" actId="478"/>
          <ac:spMkLst>
            <pc:docMk/>
            <pc:sldMk cId="0" sldId="261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13.427" v="3" actId="478"/>
        <pc:sldMkLst>
          <pc:docMk/>
          <pc:sldMk cId="0" sldId="262"/>
        </pc:sldMkLst>
        <pc:spChg chg="del">
          <ac:chgData name="David Wyatt" userId="1b0a4936-1a58-4717-8936-09533ddce9e9" providerId="ADAL" clId="{78B570B4-0A49-41D2-8737-23D6749A7F5B}" dt="2026-10-11T15:09:13.427" v="3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17.557" v="4" actId="478"/>
        <pc:sldMkLst>
          <pc:docMk/>
          <pc:sldMk cId="0" sldId="263"/>
        </pc:sldMkLst>
        <pc:spChg chg="del">
          <ac:chgData name="David Wyatt" userId="1b0a4936-1a58-4717-8936-09533ddce9e9" providerId="ADAL" clId="{78B570B4-0A49-41D2-8737-23D6749A7F5B}" dt="2026-10-11T15:09:17.557" v="4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21.022" v="5" actId="478"/>
        <pc:sldMkLst>
          <pc:docMk/>
          <pc:sldMk cId="0" sldId="264"/>
        </pc:sldMkLst>
        <pc:spChg chg="del">
          <ac:chgData name="David Wyatt" userId="1b0a4936-1a58-4717-8936-09533ddce9e9" providerId="ADAL" clId="{78B570B4-0A49-41D2-8737-23D6749A7F5B}" dt="2026-10-11T15:09:21.022" v="5" actId="478"/>
          <ac:spMkLst>
            <pc:docMk/>
            <pc:sldMk cId="0" sldId="264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24.268" v="6" actId="478"/>
        <pc:sldMkLst>
          <pc:docMk/>
          <pc:sldMk cId="0" sldId="266"/>
        </pc:sldMkLst>
        <pc:spChg chg="del">
          <ac:chgData name="David Wyatt" userId="1b0a4936-1a58-4717-8936-09533ddce9e9" providerId="ADAL" clId="{78B570B4-0A49-41D2-8737-23D6749A7F5B}" dt="2026-10-11T15:09:24.268" v="6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28.571" v="7" actId="478"/>
        <pc:sldMkLst>
          <pc:docMk/>
          <pc:sldMk cId="0" sldId="267"/>
        </pc:sldMkLst>
        <pc:spChg chg="del">
          <ac:chgData name="David Wyatt" userId="1b0a4936-1a58-4717-8936-09533ddce9e9" providerId="ADAL" clId="{78B570B4-0A49-41D2-8737-23D6749A7F5B}" dt="2026-10-11T15:09:28.571" v="7" actId="478"/>
          <ac:spMkLst>
            <pc:docMk/>
            <pc:sldMk cId="0" sldId="267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32.317" v="8" actId="478"/>
        <pc:sldMkLst>
          <pc:docMk/>
          <pc:sldMk cId="0" sldId="269"/>
        </pc:sldMkLst>
        <pc:spChg chg="del">
          <ac:chgData name="David Wyatt" userId="1b0a4936-1a58-4717-8936-09533ddce9e9" providerId="ADAL" clId="{78B570B4-0A49-41D2-8737-23D6749A7F5B}" dt="2026-10-11T15:09:32.317" v="8" actId="478"/>
          <ac:spMkLst>
            <pc:docMk/>
            <pc:sldMk cId="0" sldId="269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36.125" v="9" actId="478"/>
        <pc:sldMkLst>
          <pc:docMk/>
          <pc:sldMk cId="0" sldId="270"/>
        </pc:sldMkLst>
        <pc:spChg chg="del">
          <ac:chgData name="David Wyatt" userId="1b0a4936-1a58-4717-8936-09533ddce9e9" providerId="ADAL" clId="{78B570B4-0A49-41D2-8737-23D6749A7F5B}" dt="2026-10-11T15:09:36.125" v="9" actId="478"/>
          <ac:spMkLst>
            <pc:docMk/>
            <pc:sldMk cId="0" sldId="270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38.340" v="10" actId="478"/>
        <pc:sldMkLst>
          <pc:docMk/>
          <pc:sldMk cId="0" sldId="271"/>
        </pc:sldMkLst>
        <pc:spChg chg="del">
          <ac:chgData name="David Wyatt" userId="1b0a4936-1a58-4717-8936-09533ddce9e9" providerId="ADAL" clId="{78B570B4-0A49-41D2-8737-23D6749A7F5B}" dt="2026-10-11T15:09:38.340" v="10" actId="478"/>
          <ac:spMkLst>
            <pc:docMk/>
            <pc:sldMk cId="0" sldId="271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41.478" v="11" actId="478"/>
        <pc:sldMkLst>
          <pc:docMk/>
          <pc:sldMk cId="0" sldId="272"/>
        </pc:sldMkLst>
        <pc:spChg chg="del">
          <ac:chgData name="David Wyatt" userId="1b0a4936-1a58-4717-8936-09533ddce9e9" providerId="ADAL" clId="{78B570B4-0A49-41D2-8737-23D6749A7F5B}" dt="2026-10-11T15:09:41.478" v="11" actId="478"/>
          <ac:spMkLst>
            <pc:docMk/>
            <pc:sldMk cId="0" sldId="272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44.551" v="12" actId="478"/>
        <pc:sldMkLst>
          <pc:docMk/>
          <pc:sldMk cId="0" sldId="273"/>
        </pc:sldMkLst>
        <pc:spChg chg="del">
          <ac:chgData name="David Wyatt" userId="1b0a4936-1a58-4717-8936-09533ddce9e9" providerId="ADAL" clId="{78B570B4-0A49-41D2-8737-23D6749A7F5B}" dt="2026-10-11T15:09:44.551" v="12" actId="478"/>
          <ac:spMkLst>
            <pc:docMk/>
            <pc:sldMk cId="0" sldId="273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48.174" v="13" actId="478"/>
        <pc:sldMkLst>
          <pc:docMk/>
          <pc:sldMk cId="0" sldId="274"/>
        </pc:sldMkLst>
        <pc:spChg chg="del">
          <ac:chgData name="David Wyatt" userId="1b0a4936-1a58-4717-8936-09533ddce9e9" providerId="ADAL" clId="{78B570B4-0A49-41D2-8737-23D6749A7F5B}" dt="2026-10-11T15:09:48.174" v="13" actId="478"/>
          <ac:spMkLst>
            <pc:docMk/>
            <pc:sldMk cId="0" sldId="274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51.919" v="14" actId="478"/>
        <pc:sldMkLst>
          <pc:docMk/>
          <pc:sldMk cId="0" sldId="275"/>
        </pc:sldMkLst>
        <pc:spChg chg="del">
          <ac:chgData name="David Wyatt" userId="1b0a4936-1a58-4717-8936-09533ddce9e9" providerId="ADAL" clId="{78B570B4-0A49-41D2-8737-23D6749A7F5B}" dt="2026-10-11T15:09:51.919" v="14" actId="478"/>
          <ac:spMkLst>
            <pc:docMk/>
            <pc:sldMk cId="0" sldId="275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54.890" v="15" actId="478"/>
        <pc:sldMkLst>
          <pc:docMk/>
          <pc:sldMk cId="0" sldId="276"/>
        </pc:sldMkLst>
        <pc:spChg chg="del">
          <ac:chgData name="David Wyatt" userId="1b0a4936-1a58-4717-8936-09533ddce9e9" providerId="ADAL" clId="{78B570B4-0A49-41D2-8737-23D6749A7F5B}" dt="2026-10-11T15:09:54.890" v="15" actId="478"/>
          <ac:spMkLst>
            <pc:docMk/>
            <pc:sldMk cId="0" sldId="276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09:57.732" v="16" actId="478"/>
        <pc:sldMkLst>
          <pc:docMk/>
          <pc:sldMk cId="0" sldId="279"/>
        </pc:sldMkLst>
        <pc:spChg chg="del">
          <ac:chgData name="David Wyatt" userId="1b0a4936-1a58-4717-8936-09533ddce9e9" providerId="ADAL" clId="{78B570B4-0A49-41D2-8737-23D6749A7F5B}" dt="2026-10-11T15:09:57.732" v="16" actId="478"/>
          <ac:spMkLst>
            <pc:docMk/>
            <pc:sldMk cId="0" sldId="279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02.053" v="17" actId="478"/>
        <pc:sldMkLst>
          <pc:docMk/>
          <pc:sldMk cId="0" sldId="280"/>
        </pc:sldMkLst>
        <pc:spChg chg="del">
          <ac:chgData name="David Wyatt" userId="1b0a4936-1a58-4717-8936-09533ddce9e9" providerId="ADAL" clId="{78B570B4-0A49-41D2-8737-23D6749A7F5B}" dt="2026-10-11T15:10:02.053" v="17" actId="478"/>
          <ac:spMkLst>
            <pc:docMk/>
            <pc:sldMk cId="0" sldId="280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07.751" v="18" actId="478"/>
        <pc:sldMkLst>
          <pc:docMk/>
          <pc:sldMk cId="0" sldId="281"/>
        </pc:sldMkLst>
        <pc:spChg chg="del">
          <ac:chgData name="David Wyatt" userId="1b0a4936-1a58-4717-8936-09533ddce9e9" providerId="ADAL" clId="{78B570B4-0A49-41D2-8737-23D6749A7F5B}" dt="2026-10-11T15:10:07.751" v="18" actId="478"/>
          <ac:spMkLst>
            <pc:docMk/>
            <pc:sldMk cId="0" sldId="281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10.011" v="19" actId="478"/>
        <pc:sldMkLst>
          <pc:docMk/>
          <pc:sldMk cId="0" sldId="282"/>
        </pc:sldMkLst>
        <pc:spChg chg="del">
          <ac:chgData name="David Wyatt" userId="1b0a4936-1a58-4717-8936-09533ddce9e9" providerId="ADAL" clId="{78B570B4-0A49-41D2-8737-23D6749A7F5B}" dt="2026-10-11T15:10:10.011" v="19" actId="478"/>
          <ac:spMkLst>
            <pc:docMk/>
            <pc:sldMk cId="0" sldId="282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12.288" v="20" actId="478"/>
        <pc:sldMkLst>
          <pc:docMk/>
          <pc:sldMk cId="0" sldId="283"/>
        </pc:sldMkLst>
        <pc:spChg chg="del">
          <ac:chgData name="David Wyatt" userId="1b0a4936-1a58-4717-8936-09533ddce9e9" providerId="ADAL" clId="{78B570B4-0A49-41D2-8737-23D6749A7F5B}" dt="2026-10-11T15:10:12.288" v="20" actId="478"/>
          <ac:spMkLst>
            <pc:docMk/>
            <pc:sldMk cId="0" sldId="283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15.412" v="21" actId="478"/>
        <pc:sldMkLst>
          <pc:docMk/>
          <pc:sldMk cId="0" sldId="284"/>
        </pc:sldMkLst>
        <pc:spChg chg="del">
          <ac:chgData name="David Wyatt" userId="1b0a4936-1a58-4717-8936-09533ddce9e9" providerId="ADAL" clId="{78B570B4-0A49-41D2-8737-23D6749A7F5B}" dt="2026-10-11T15:10:15.412" v="21" actId="478"/>
          <ac:spMkLst>
            <pc:docMk/>
            <pc:sldMk cId="0" sldId="284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17.633" v="22" actId="478"/>
        <pc:sldMkLst>
          <pc:docMk/>
          <pc:sldMk cId="0" sldId="285"/>
        </pc:sldMkLst>
        <pc:spChg chg="del">
          <ac:chgData name="David Wyatt" userId="1b0a4936-1a58-4717-8936-09533ddce9e9" providerId="ADAL" clId="{78B570B4-0A49-41D2-8737-23D6749A7F5B}" dt="2026-10-11T15:10:17.633" v="22" actId="478"/>
          <ac:spMkLst>
            <pc:docMk/>
            <pc:sldMk cId="0" sldId="285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22.253" v="23" actId="478"/>
        <pc:sldMkLst>
          <pc:docMk/>
          <pc:sldMk cId="0" sldId="286"/>
        </pc:sldMkLst>
        <pc:spChg chg="del">
          <ac:chgData name="David Wyatt" userId="1b0a4936-1a58-4717-8936-09533ddce9e9" providerId="ADAL" clId="{78B570B4-0A49-41D2-8737-23D6749A7F5B}" dt="2026-10-11T15:10:22.253" v="23" actId="478"/>
          <ac:spMkLst>
            <pc:docMk/>
            <pc:sldMk cId="0" sldId="286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25.618" v="24" actId="478"/>
        <pc:sldMkLst>
          <pc:docMk/>
          <pc:sldMk cId="0" sldId="288"/>
        </pc:sldMkLst>
        <pc:spChg chg="del">
          <ac:chgData name="David Wyatt" userId="1b0a4936-1a58-4717-8936-09533ddce9e9" providerId="ADAL" clId="{78B570B4-0A49-41D2-8737-23D6749A7F5B}" dt="2026-10-11T15:10:25.618" v="24" actId="478"/>
          <ac:spMkLst>
            <pc:docMk/>
            <pc:sldMk cId="0" sldId="288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28.215" v="25" actId="478"/>
        <pc:sldMkLst>
          <pc:docMk/>
          <pc:sldMk cId="0" sldId="289"/>
        </pc:sldMkLst>
        <pc:spChg chg="del">
          <ac:chgData name="David Wyatt" userId="1b0a4936-1a58-4717-8936-09533ddce9e9" providerId="ADAL" clId="{78B570B4-0A49-41D2-8737-23D6749A7F5B}" dt="2026-10-11T15:10:28.215" v="25" actId="478"/>
          <ac:spMkLst>
            <pc:docMk/>
            <pc:sldMk cId="0" sldId="289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31.255" v="26" actId="478"/>
        <pc:sldMkLst>
          <pc:docMk/>
          <pc:sldMk cId="0" sldId="291"/>
        </pc:sldMkLst>
        <pc:spChg chg="del">
          <ac:chgData name="David Wyatt" userId="1b0a4936-1a58-4717-8936-09533ddce9e9" providerId="ADAL" clId="{78B570B4-0A49-41D2-8737-23D6749A7F5B}" dt="2026-10-11T15:10:31.255" v="26" actId="478"/>
          <ac:spMkLst>
            <pc:docMk/>
            <pc:sldMk cId="0" sldId="291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33.812" v="27" actId="478"/>
        <pc:sldMkLst>
          <pc:docMk/>
          <pc:sldMk cId="0" sldId="293"/>
        </pc:sldMkLst>
        <pc:spChg chg="del">
          <ac:chgData name="David Wyatt" userId="1b0a4936-1a58-4717-8936-09533ddce9e9" providerId="ADAL" clId="{78B570B4-0A49-41D2-8737-23D6749A7F5B}" dt="2026-10-11T15:10:33.812" v="27" actId="478"/>
          <ac:spMkLst>
            <pc:docMk/>
            <pc:sldMk cId="0" sldId="293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37.103" v="28" actId="478"/>
        <pc:sldMkLst>
          <pc:docMk/>
          <pc:sldMk cId="0" sldId="294"/>
        </pc:sldMkLst>
        <pc:spChg chg="del">
          <ac:chgData name="David Wyatt" userId="1b0a4936-1a58-4717-8936-09533ddce9e9" providerId="ADAL" clId="{78B570B4-0A49-41D2-8737-23D6749A7F5B}" dt="2026-10-11T15:10:37.103" v="28" actId="478"/>
          <ac:spMkLst>
            <pc:docMk/>
            <pc:sldMk cId="0" sldId="294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39.531" v="29" actId="478"/>
        <pc:sldMkLst>
          <pc:docMk/>
          <pc:sldMk cId="0" sldId="295"/>
        </pc:sldMkLst>
        <pc:spChg chg="del">
          <ac:chgData name="David Wyatt" userId="1b0a4936-1a58-4717-8936-09533ddce9e9" providerId="ADAL" clId="{78B570B4-0A49-41D2-8737-23D6749A7F5B}" dt="2026-10-11T15:10:39.531" v="29" actId="478"/>
          <ac:spMkLst>
            <pc:docMk/>
            <pc:sldMk cId="0" sldId="295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42.100" v="30" actId="478"/>
        <pc:sldMkLst>
          <pc:docMk/>
          <pc:sldMk cId="0" sldId="296"/>
        </pc:sldMkLst>
        <pc:spChg chg="del">
          <ac:chgData name="David Wyatt" userId="1b0a4936-1a58-4717-8936-09533ddce9e9" providerId="ADAL" clId="{78B570B4-0A49-41D2-8737-23D6749A7F5B}" dt="2026-10-11T15:10:42.100" v="30" actId="478"/>
          <ac:spMkLst>
            <pc:docMk/>
            <pc:sldMk cId="0" sldId="296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44.425" v="31" actId="478"/>
        <pc:sldMkLst>
          <pc:docMk/>
          <pc:sldMk cId="0" sldId="297"/>
        </pc:sldMkLst>
        <pc:spChg chg="del">
          <ac:chgData name="David Wyatt" userId="1b0a4936-1a58-4717-8936-09533ddce9e9" providerId="ADAL" clId="{78B570B4-0A49-41D2-8737-23D6749A7F5B}" dt="2026-10-11T15:10:44.425" v="31" actId="478"/>
          <ac:spMkLst>
            <pc:docMk/>
            <pc:sldMk cId="0" sldId="297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48.445" v="32" actId="478"/>
        <pc:sldMkLst>
          <pc:docMk/>
          <pc:sldMk cId="0" sldId="298"/>
        </pc:sldMkLst>
        <pc:spChg chg="del">
          <ac:chgData name="David Wyatt" userId="1b0a4936-1a58-4717-8936-09533ddce9e9" providerId="ADAL" clId="{78B570B4-0A49-41D2-8737-23D6749A7F5B}" dt="2026-10-11T15:10:48.445" v="32" actId="478"/>
          <ac:spMkLst>
            <pc:docMk/>
            <pc:sldMk cId="0" sldId="298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51.558" v="33" actId="478"/>
        <pc:sldMkLst>
          <pc:docMk/>
          <pc:sldMk cId="0" sldId="299"/>
        </pc:sldMkLst>
        <pc:spChg chg="del">
          <ac:chgData name="David Wyatt" userId="1b0a4936-1a58-4717-8936-09533ddce9e9" providerId="ADAL" clId="{78B570B4-0A49-41D2-8737-23D6749A7F5B}" dt="2026-10-11T15:10:51.558" v="33" actId="478"/>
          <ac:spMkLst>
            <pc:docMk/>
            <pc:sldMk cId="0" sldId="299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54.056" v="34" actId="478"/>
        <pc:sldMkLst>
          <pc:docMk/>
          <pc:sldMk cId="0" sldId="300"/>
        </pc:sldMkLst>
        <pc:spChg chg="del">
          <ac:chgData name="David Wyatt" userId="1b0a4936-1a58-4717-8936-09533ddce9e9" providerId="ADAL" clId="{78B570B4-0A49-41D2-8737-23D6749A7F5B}" dt="2026-10-11T15:10:54.056" v="34" actId="478"/>
          <ac:spMkLst>
            <pc:docMk/>
            <pc:sldMk cId="0" sldId="300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0:57.270" v="35" actId="478"/>
        <pc:sldMkLst>
          <pc:docMk/>
          <pc:sldMk cId="0" sldId="301"/>
        </pc:sldMkLst>
        <pc:spChg chg="del">
          <ac:chgData name="David Wyatt" userId="1b0a4936-1a58-4717-8936-09533ddce9e9" providerId="ADAL" clId="{78B570B4-0A49-41D2-8737-23D6749A7F5B}" dt="2026-10-11T15:10:57.270" v="35" actId="478"/>
          <ac:spMkLst>
            <pc:docMk/>
            <pc:sldMk cId="0" sldId="301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1:00.181" v="36" actId="478"/>
        <pc:sldMkLst>
          <pc:docMk/>
          <pc:sldMk cId="0" sldId="302"/>
        </pc:sldMkLst>
        <pc:spChg chg="del">
          <ac:chgData name="David Wyatt" userId="1b0a4936-1a58-4717-8936-09533ddce9e9" providerId="ADAL" clId="{78B570B4-0A49-41D2-8737-23D6749A7F5B}" dt="2026-10-11T15:11:00.181" v="36" actId="478"/>
          <ac:spMkLst>
            <pc:docMk/>
            <pc:sldMk cId="0" sldId="302"/>
            <ac:spMk id="4" creationId="{00000000-0000-0000-0000-000000000000}"/>
          </ac:spMkLst>
        </pc:spChg>
      </pc:sldChg>
      <pc:sldChg chg="delSp mod">
        <pc:chgData name="David Wyatt" userId="1b0a4936-1a58-4717-8936-09533ddce9e9" providerId="ADAL" clId="{78B570B4-0A49-41D2-8737-23D6749A7F5B}" dt="2026-10-11T15:11:03.372" v="37" actId="478"/>
        <pc:sldMkLst>
          <pc:docMk/>
          <pc:sldMk cId="0" sldId="304"/>
        </pc:sldMkLst>
        <pc:spChg chg="del">
          <ac:chgData name="David Wyatt" userId="1b0a4936-1a58-4717-8936-09533ddce9e9" providerId="ADAL" clId="{78B570B4-0A49-41D2-8737-23D6749A7F5B}" dt="2026-10-11T15:11:03.372" v="37" actId="478"/>
          <ac:spMkLst>
            <pc:docMk/>
            <pc:sldMk cId="0" sldId="30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6CA12-E773-3034-D5D7-182DD92AFF9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277343" y="0"/>
            <a:ext cx="1914657" cy="65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ftp.cs.toronto.edu/pub/eric/JMfest09-EY.pdf" TargetMode="External"/><Relationship Id="rId2" Type="http://schemas.openxmlformats.org/officeDocument/2006/relationships/hyperlink" Target="https://uwe.primo.exlibrisgroup.com/permalink/44UWE_INST/1mvr6lj/cdi_bcs_primary_4002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eur-ws.org/Vol-1674/iStar16_pp25-30.pdf" TargetMode="External"/><Relationship Id="rId5" Type="http://schemas.openxmlformats.org/officeDocument/2006/relationships/hyperlink" Target="https://www.cin.ufpe.br/~jhcp/pistar/" TargetMode="External"/><Relationship Id="rId4" Type="http://schemas.openxmlformats.org/officeDocument/2006/relationships/hyperlink" Target="https://sourceforge.net/projects/openome/fil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14600" y="1828800"/>
            <a:ext cx="18288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97480" y="1851660"/>
            <a:ext cx="845134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>
                <a:solidFill>
                  <a:srgbClr val="FFFFFF"/>
                </a:solidFill>
                <a:latin typeface="Arial"/>
              </a:defRPr>
            </a:pPr>
            <a:r>
              <a:rPr sz="3600" dirty="0">
                <a:latin typeface="+mj-lt"/>
              </a:rPr>
              <a:t>Goal-Oriented Strategic Modelling</a:t>
            </a:r>
          </a:p>
          <a:p>
            <a:pPr>
              <a:spcAft>
                <a:spcPts val="1200"/>
              </a:spcAft>
              <a:defRPr sz="2700">
                <a:solidFill>
                  <a:srgbClr val="FFFFFF"/>
                </a:solidFill>
                <a:latin typeface="Arial"/>
              </a:defRPr>
            </a:pPr>
            <a:r>
              <a:rPr i="1" dirty="0">
                <a:latin typeface="+mj-lt"/>
              </a:rPr>
              <a:t>Using the </a:t>
            </a:r>
            <a:r>
              <a:rPr i="1" dirty="0" err="1">
                <a:latin typeface="+mj-lt"/>
              </a:rPr>
              <a:t>i</a:t>
            </a:r>
            <a:r>
              <a:rPr i="1" dirty="0">
                <a:latin typeface="+mj-lt"/>
              </a:rPr>
              <a:t>* Framework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FA513-8BF9-08E6-C2DC-BAEC7ACBD2A8}"/>
              </a:ext>
            </a:extLst>
          </p:cNvPr>
          <p:cNvSpPr txBox="1"/>
          <p:nvPr/>
        </p:nvSpPr>
        <p:spPr>
          <a:xfrm>
            <a:off x="640080" y="18288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bg1"/>
                </a:solidFill>
              </a:rPr>
              <a:t>Presentation By</a:t>
            </a:r>
          </a:p>
          <a:p>
            <a:r>
              <a:rPr lang="en-GB">
                <a:solidFill>
                  <a:schemeClr val="bg1"/>
                </a:solidFill>
              </a:rPr>
              <a:t>Franglin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3C93A4-0BB8-3C23-0549-B778F9859840}"/>
              </a:ext>
            </a:extLst>
          </p:cNvPr>
          <p:cNvSpPr txBox="1"/>
          <p:nvPr/>
        </p:nvSpPr>
        <p:spPr>
          <a:xfrm>
            <a:off x="1336073" y="2148286"/>
            <a:ext cx="952284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ea typeface="Tahoma"/>
                <a:cs typeface="Tahoma"/>
              </a:rPr>
              <a:t>I* - Goal Oriented Modelling Framework used in requirements engineering.</a:t>
            </a:r>
          </a:p>
          <a:p>
            <a:endParaRPr lang="en-GB" sz="2400">
              <a:ea typeface="Tahoma"/>
              <a:cs typeface="Tahoma"/>
            </a:endParaRPr>
          </a:p>
          <a:p>
            <a:r>
              <a:rPr lang="en-GB" sz="2400">
                <a:ea typeface="Tahoma"/>
                <a:cs typeface="Tahoma"/>
              </a:rPr>
              <a:t>Two Main Models, </a:t>
            </a:r>
          </a:p>
          <a:p>
            <a:pPr marL="285750" indent="-285750">
              <a:buFont typeface="Arial"/>
              <a:buChar char="•"/>
            </a:pPr>
            <a:r>
              <a:rPr lang="en-GB" sz="2400">
                <a:ea typeface="Tahoma"/>
                <a:cs typeface="Tahoma"/>
              </a:rPr>
              <a:t>Strategic Dependency </a:t>
            </a:r>
          </a:p>
          <a:p>
            <a:pPr marL="285750" indent="-285750">
              <a:buFont typeface="Arial"/>
              <a:buChar char="•"/>
            </a:pPr>
            <a:r>
              <a:rPr lang="en-GB" sz="2400">
                <a:ea typeface="Tahoma"/>
                <a:cs typeface="Tahoma"/>
              </a:rPr>
              <a:t>Strategic Rational</a:t>
            </a:r>
          </a:p>
        </p:txBody>
      </p:sp>
    </p:spTree>
    <p:extLst>
      <p:ext uri="{BB962C8B-B14F-4D97-AF65-F5344CB8AC3E}">
        <p14:creationId xmlns:p14="http://schemas.microsoft.com/office/powerpoint/2010/main" val="359433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5882444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rPr>
                <a:latin typeface="+mj-lt"/>
              </a:rPr>
              <a:t>Session Plan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19672"/>
            <a:ext cx="118071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5F5F5F"/>
                </a:solidFill>
                <a:latin typeface="Arial"/>
              </a:defRPr>
            </a:pPr>
            <a:r>
              <a:t>UFCFAF-30-3 Development of Information Systems Projects (DISP)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371383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rgbClr val="26374C"/>
                </a:solidFill>
                <a:latin typeface="Arial"/>
              </a:defRPr>
            </a:pPr>
            <a:r>
              <a:rPr>
                <a:latin typeface="+mj-lt"/>
              </a:rPr>
              <a:t>Explain Goal-Oriented Requirements Engineering (GORE) in simple language.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rgbClr val="26374C"/>
                </a:solidFill>
                <a:latin typeface="Arial"/>
              </a:defRPr>
            </a:pPr>
            <a:r>
              <a:rPr>
                <a:latin typeface="+mj-lt"/>
              </a:rPr>
              <a:t>Identify actors, hard goals, soft goals, tasks and resources in a real-world scenario.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rgbClr val="26374C"/>
                </a:solidFill>
                <a:latin typeface="Arial"/>
              </a:defRPr>
            </a:pPr>
            <a:r>
              <a:rPr>
                <a:latin typeface="+mj-lt"/>
              </a:rPr>
              <a:t>Read and create a Strategic Dependency (SD) model.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rgbClr val="26374C"/>
                </a:solidFill>
                <a:latin typeface="Arial"/>
              </a:defRPr>
            </a:pPr>
            <a:r>
              <a:rPr>
                <a:latin typeface="+mj-lt"/>
              </a:rPr>
              <a:t>Extend an SD model into a Strategic Rationale (SR) model.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rgbClr val="26374C"/>
                </a:solidFill>
                <a:latin typeface="Arial"/>
              </a:defRPr>
            </a:pPr>
            <a:r>
              <a:rPr>
                <a:latin typeface="+mj-lt"/>
              </a:rPr>
              <a:t>Use task decomposition, means-end and contribution links.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rgbClr val="26374C"/>
                </a:solidFill>
                <a:latin typeface="Arial"/>
              </a:defRPr>
            </a:pPr>
            <a:r>
              <a:rPr>
                <a:latin typeface="+mj-lt"/>
              </a:rPr>
              <a:t>Explain how </a:t>
            </a:r>
            <a:r>
              <a:rPr err="1">
                <a:latin typeface="+mj-lt"/>
              </a:rPr>
              <a:t>i</a:t>
            </a:r>
            <a:r>
              <a:rPr>
                <a:latin typeface="+mj-lt"/>
              </a:rPr>
              <a:t>* models can help identify functional and non-functional requirements.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rgbClr val="26374C"/>
                </a:solidFill>
                <a:latin typeface="Arial"/>
              </a:defRPr>
            </a:pPr>
            <a:r>
              <a:rPr lang="en-GB">
                <a:latin typeface="+mj-lt"/>
              </a:rPr>
              <a:t>Tutorial : </a:t>
            </a:r>
            <a:r>
              <a:rPr>
                <a:latin typeface="+mj-lt"/>
              </a:rPr>
              <a:t>Work in groups to model a travel-booking scenario and justify design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31720" y="1828800"/>
            <a:ext cx="18288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5897768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>
                <a:solidFill>
                  <a:srgbClr val="FFFFFF"/>
                </a:solidFill>
                <a:latin typeface="Arial"/>
              </a:defRPr>
            </a:pPr>
            <a:r>
              <a:t>1. Start with the WHY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Goal-Oriented Requirements Engineering (GORE)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Warm-up: What does a system really need to achieve?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09288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100">
                <a:solidFill>
                  <a:srgbClr val="26374C"/>
                </a:solidFill>
                <a:latin typeface="Arial"/>
              </a:defRPr>
            </a:pPr>
            <a:r>
              <a:t>A requirement is easier to understand when we know the reason behind it.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100">
                <a:solidFill>
                  <a:srgbClr val="26374C"/>
                </a:solidFill>
                <a:latin typeface="Arial"/>
              </a:defRPr>
            </a:pPr>
            <a:r>
              <a:t>Example: “The app must send an SMS” is a service.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100">
                <a:solidFill>
                  <a:srgbClr val="26374C"/>
                </a:solidFill>
                <a:latin typeface="Arial"/>
              </a:defRPr>
            </a:pPr>
            <a:r>
              <a:t>But WHY? A possible reason is “the customer should know when the delivery arrives.”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100">
                <a:solidFill>
                  <a:srgbClr val="26374C"/>
                </a:solidFill>
                <a:latin typeface="Arial"/>
              </a:defRPr>
            </a:pPr>
            <a:r>
              <a:t>GORE starts from goals and uses them to explore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1 Word cloud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When you hear “software requirement”, what word comes to mind?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Real-world example: GP appointment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What the system does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Book an appointment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Send appointment confirmation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Show available doctors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Store appointment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2120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Why it matters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Patient gets care at the right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Booking should be quick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Information should be reliable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Patient information should be protected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4892040"/>
            <a:ext cx="4251960" cy="82296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Key idea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Services tell us WHAT. Goals explain WHY.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Hard Goals vs Soft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Hard Goal (functional)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A service or outcome the system should provide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Usually can be stated as something achieved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Example: “Appointment booked”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Example: “Patient diagnosed”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Soft Goal (quality / constraint)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A quality or preference about the outcome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Often asks HOW WELL?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Example: “Appointment booking is quick”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Example: “Information is reliable”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2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“The online checkout should be fast.” Is this mainly a…?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Hard goal  |  Soft goal  |  Actor  |  Resource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A simple language rule for beginners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09288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100">
                <a:solidFill>
                  <a:srgbClr val="26374C"/>
                </a:solidFill>
                <a:latin typeface="Arial"/>
              </a:defRPr>
            </a:pPr>
            <a:r>
              <a:rPr sz="2100">
                <a:solidFill>
                  <a:srgbClr val="26374C"/>
                </a:solidFill>
                <a:latin typeface="Arial"/>
              </a:rPr>
              <a:t>Ask: “Can I point to a service/outcome?” → think HARD GOAL.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100">
                <a:solidFill>
                  <a:srgbClr val="26374C"/>
                </a:solidFill>
                <a:latin typeface="Arial"/>
              </a:defRPr>
            </a:pPr>
            <a:r>
              <a:rPr sz="2100">
                <a:solidFill>
                  <a:srgbClr val="26374C"/>
                </a:solidFill>
                <a:latin typeface="Arial"/>
              </a:rPr>
              <a:t>Ask: “Is this about quality, speed, cost, reliability, security, usability?” → think SOFT GOAL.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100">
                <a:solidFill>
                  <a:srgbClr val="26374C"/>
                </a:solidFill>
                <a:latin typeface="Arial"/>
              </a:defRPr>
            </a:pPr>
            <a:r>
              <a:rPr sz="2100">
                <a:solidFill>
                  <a:srgbClr val="26374C"/>
                </a:solidFill>
                <a:latin typeface="Arial"/>
              </a:rPr>
              <a:t>Do not worry about perfect wording at first. Focus on the meaning.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100">
                <a:solidFill>
                  <a:srgbClr val="26374C"/>
                </a:solidFill>
                <a:latin typeface="Arial"/>
              </a:defRPr>
            </a:pPr>
            <a:r>
              <a:rPr sz="2100">
                <a:solidFill>
                  <a:srgbClr val="26374C"/>
                </a:solidFill>
                <a:latin typeface="Arial"/>
              </a:rPr>
              <a:t>Use short phrases: “Book appointment”, “Quick booking”, “Pay fee”.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4709160"/>
            <a:ext cx="5242560" cy="9601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Goal = something wanted. Quality = how well it is wanted.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i*: think about people, not only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14417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err="1"/>
              <a:t>i</a:t>
            </a:r>
            <a:r>
              <a:t>* uses social modelling: different actors have different goals and responsibilities.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t>An actor can be a person, role, </a:t>
            </a:r>
            <a:r>
              <a:rPr err="1"/>
              <a:t>organisation</a:t>
            </a:r>
            <a:r>
              <a:t>, team or system.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t>Ask two beginner-friendly questions: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t>1. WHO wants something?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t>2. WHO depends on WHOM to get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389120"/>
            <a:ext cx="3383280" cy="109728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Example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Patient → Doctor → diagnosis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31720" y="1828800"/>
            <a:ext cx="18288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3833101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>
                <a:solidFill>
                  <a:srgbClr val="FFFFFF"/>
                </a:solidFill>
                <a:latin typeface="Arial"/>
              </a:defRPr>
            </a:pPr>
            <a:r>
              <a:t>2. The </a:t>
            </a:r>
            <a:r>
              <a:rPr err="1"/>
              <a:t>i</a:t>
            </a:r>
            <a:r>
              <a:t>* Framework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Actors, goals and dependencies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The i* Framework: the core vocabulary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28775"/>
            <a:ext cx="5212080" cy="273177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Main concepts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Actor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Hard goal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Soft goal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Task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Resource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Dependency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28775"/>
            <a:ext cx="5212080" cy="273177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Memory aid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Actor = WHO?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Goal = WHAT?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Soft goal = HOW WELL?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Task = HOW?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Resource = WHAT is delivered?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493163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3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Which item is an ACTOR?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Quick booking  |  Doctor  |  Patient diagnosed  |  Payment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Two i* models: SD and SR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Strategic Dependency (SD)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Looks at relationships BETWEEN actors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Shows who depends on whom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Shows what is depended upon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Think: “WHO needs WHAT from WHOM?”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Strategic Rationale (SR)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Looks INSIDE an actor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Shows how an actor works towards goals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Shows alternatives and internal reasoning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374C"/>
                </a:solidFill>
                <a:latin typeface="Arial"/>
              </a:defRPr>
            </a:pPr>
            <a:r>
              <a:t>Think: “HOW can this actor achieve it?”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5029200"/>
            <a:ext cx="5212080" cy="7315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Simple analogy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SD = map of relationships. SR = inside view of one actor.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31720" y="1828800"/>
            <a:ext cx="18288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6662401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>
                <a:solidFill>
                  <a:srgbClr val="FFFFFF"/>
                </a:solidFill>
                <a:latin typeface="Arial"/>
              </a:defRPr>
            </a:pPr>
            <a:r>
              <a:t>3. Strategic Dependency (SD) Model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From everyday relationships to a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What is a dependency?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1708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t>A dependency means one actor relies on another actor for something.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t>The actor who needs something is the DEPENDER.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t>The actor who provides it is the DEPENDEE.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t>The “something” can be a hard goal, soft goal, task or resource.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663440"/>
            <a:ext cx="3749039" cy="91440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Everyday example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Student depends on lecturer for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Four dependency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2816352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What can be depended upon?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HARD GOAL — a service/outcome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SOFT GOAL — a quality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TASK — an activity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RESOURCE — an entity / information / thing delivered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12080" cy="2816352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Fast examples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Doctor → Patient: diagnosis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Patient → Provider: quick support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Doctor → Lab: perform blood test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Lab → Claims Manager: test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4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“Doctor depends on laboratory to perform a test.” The dependency is a…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Hard goal  |  Soft goal  |  Task  |  Resource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9C1B52-B53B-4381-8BD3-963F2A651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73200"/>
            <a:ext cx="5448300" cy="363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SD example: online food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2410103"/>
            <a:ext cx="10058400" cy="108747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Customer depends on restaurant for the prepared meal.</a:t>
            </a:r>
          </a:p>
          <a:p>
            <a:pPr>
              <a:spcAft>
                <a:spcPts val="10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Restaurant depends on courier to collect the order.</a:t>
            </a:r>
          </a:p>
          <a:p>
            <a:pPr>
              <a:spcAft>
                <a:spcPts val="10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Customer depends on courier for delivery.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38971D-2CCD-258E-E30E-1294A6DFC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90" y="888746"/>
            <a:ext cx="4781550" cy="3187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SD example: university coursework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058400" cy="1087477"/>
          </a:xfrm>
          <a:prstGeom prst="rect">
            <a:avLst/>
          </a:prstGeom>
          <a:noFill/>
        </p:spPr>
        <p:txBody>
          <a:bodyPr wrap="square" lIns="27432" tIns="45720" rIns="27432" bIns="45720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Student depends on lecturer for feedback.</a:t>
            </a:r>
          </a:p>
          <a:p>
            <a:pPr>
              <a:spcAft>
                <a:spcPts val="10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Lecturer depends on student to submit work.</a:t>
            </a:r>
          </a:p>
          <a:p>
            <a:pPr>
              <a:spcAft>
                <a:spcPts val="10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Student depends on the VLE</a:t>
            </a:r>
            <a:r>
              <a:rPr lang="en-GB"/>
              <a:t>(Virtual learning)</a:t>
            </a:r>
            <a:r>
              <a:t> for access to learning materials.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70348"/>
            <a:ext cx="10835640" cy="873252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5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If a lecturer needs students to submit work, who is the DEPENDER?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Lecturer  |  Student  |  VLE  |  Both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A reliable method for drawing an SD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3955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t>STEP 1 — Underline the actors in the scenario.</a:t>
            </a:r>
          </a:p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t>STEP 2 — Circle the things they want / need.</a:t>
            </a:r>
          </a:p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t>STEP 3 — Identify the relationship: WHO depends on WHOM?</a:t>
            </a:r>
          </a:p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t>STEP 4 — Classify the dependency: hard goal, soft goal, task or resource.</a:t>
            </a:r>
          </a:p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t>STEP 5 — Draw and label the dependency.</a:t>
            </a:r>
          </a:p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t>STEP 6 — Read every arrow as a sentence: “A depends on B for X.”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4800600"/>
            <a:ext cx="3840480" cy="91440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Beginner tip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Write the sentence before drawing the arrow.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Mini-practice: identify the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1708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74C"/>
                </a:solidFill>
                <a:latin typeface="Arial"/>
              </a:defRPr>
            </a:pPr>
            <a:r>
              <a:t>Scenario: “A patient depends on a receptionist to register their details.”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Question 1: Who is the </a:t>
            </a:r>
            <a:r>
              <a:rPr sz="2000" err="1">
                <a:solidFill>
                  <a:srgbClr val="26374C"/>
                </a:solidFill>
                <a:latin typeface="Arial"/>
              </a:rPr>
              <a:t>depender</a:t>
            </a:r>
            <a:r>
              <a:rPr sz="2000">
                <a:solidFill>
                  <a:srgbClr val="26374C"/>
                </a:solidFill>
                <a:latin typeface="Arial"/>
              </a:rPr>
              <a:t>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Question 2: Who is the </a:t>
            </a:r>
            <a:r>
              <a:rPr sz="2000" err="1">
                <a:solidFill>
                  <a:srgbClr val="26374C"/>
                </a:solidFill>
                <a:latin typeface="Arial"/>
              </a:rPr>
              <a:t>dependee</a:t>
            </a:r>
            <a:r>
              <a:rPr sz="2000">
                <a:solidFill>
                  <a:srgbClr val="26374C"/>
                </a:solidFill>
                <a:latin typeface="Arial"/>
              </a:rPr>
              <a:t>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Question 3: Is “registration” a hard goal, soft goal, task or resource?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6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What type is “registration of patient details” in this scenario?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Hard goal  |  Soft goal  |  Task  |  Resource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Case: healthcare SD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23060"/>
            <a:ext cx="10424160" cy="214417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 healthcare example shows seven dependency relationships.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Examples include: regulator → healthcare provider for accountability (soft goal).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Healthcare provider → monitoring system for collecting/reporting patient condition (task).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Monitoring agent → patient for vital signs (resource).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Patient → healthcare provider for treatment (hard goal).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4617720"/>
            <a:ext cx="3886200" cy="100584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Your task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List the seven dependencies before the solution is shown.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SD challenge: claims and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451953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Actors in this scenario include: Patients, Physicians, Laboratories, Claims Managers and Insurance Companies.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Examples: patients depend on physicians for treatment (goal).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Physicians depend on patients to take medication (task).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Physicians and labs depend on claims managers for fee payments (resource).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Insurance companies depend on claims managers to process claims (task).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7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“Insurance company depends on claims manager to process claims.” What is it?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Goal  |  Soft goal  |  Task  |  Resource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31720" y="1828800"/>
            <a:ext cx="18288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6109365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>
                <a:solidFill>
                  <a:srgbClr val="FFFFFF"/>
                </a:solidFill>
                <a:latin typeface="Arial"/>
              </a:defRPr>
            </a:pPr>
            <a:r>
              <a:t>4. Strategic Rationale (SR) Model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Inside an actor: how and why?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SD vs SR: one more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12080" cy="282956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SD asks…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Who depends on whom?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What is the dependency?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What crosses the actor boundary?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212080" cy="282956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SR asks…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What does this actor want?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What tasks help achieve it?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What must a task be decomposed into?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What alternatives are available?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How does a task affect quality goals?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26280"/>
            <a:ext cx="10835640" cy="14808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8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You want to show how a Claims Manager completes “Approve Treatment”. Which model is most appropriate?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SD  |  SR  |  Neither  |  Only a flowchart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SR: Task decomposition (AND)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01593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 task can be broken into smaller elements that ALL need to be completed.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This is called AND decomposition.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Example: “Approve treatment” may require “Treatment assessed” AND “Sign approval document”.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Think: “I need A AND B before the main task is complete.”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566160"/>
            <a:ext cx="1920240" cy="777240"/>
          </a:xfrm>
          <a:prstGeom prst="roundRect">
            <a:avLst/>
          </a:prstGeom>
          <a:solidFill>
            <a:srgbClr val="DAE6F7"/>
          </a:solidFill>
          <a:ln>
            <a:solidFill>
              <a:srgbClr val="48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374C"/>
                </a:solidFill>
                <a:latin typeface="Arial"/>
              </a:defRPr>
            </a:pPr>
            <a:r>
              <a:t>Approve</a:t>
            </a:r>
            <a:br/>
            <a:r>
              <a:t>Treatment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566160"/>
            <a:ext cx="1920240" cy="777240"/>
          </a:xfrm>
          <a:prstGeom prst="roundRect">
            <a:avLst/>
          </a:prstGeom>
          <a:solidFill>
            <a:srgbClr val="DAE6F7"/>
          </a:solidFill>
          <a:ln>
            <a:solidFill>
              <a:srgbClr val="48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374C"/>
                </a:solidFill>
                <a:latin typeface="Arial"/>
              </a:defRPr>
            </a:pPr>
            <a:r>
              <a:t>Treatment</a:t>
            </a:r>
            <a:br/>
            <a:r>
              <a:t>assessed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566160"/>
            <a:ext cx="1920240" cy="777240"/>
          </a:xfrm>
          <a:prstGeom prst="roundRect">
            <a:avLst/>
          </a:prstGeom>
          <a:solidFill>
            <a:srgbClr val="DAE6F7"/>
          </a:solidFill>
          <a:ln>
            <a:solidFill>
              <a:srgbClr val="48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374C"/>
                </a:solidFill>
                <a:latin typeface="Arial"/>
              </a:defRPr>
            </a:pPr>
            <a:r>
              <a:t>Sign approval</a:t>
            </a:r>
            <a:br/>
            <a:r>
              <a:t>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754880"/>
            <a:ext cx="3611880" cy="86868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Memory cue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AND = both / all paths are needed.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SR: Means-end links (OR / alternatives)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01593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 means-end link shows different ways of achieving an end.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These are alternatives.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Example: Treatment assessed can be achieved by the Claims Manager OR by a medical assessor.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Think: “I can achieve the same end in more than one way.”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429000"/>
            <a:ext cx="1828800" cy="822960"/>
          </a:xfrm>
          <a:prstGeom prst="roundRect">
            <a:avLst/>
          </a:prstGeom>
          <a:solidFill>
            <a:srgbClr val="DAE6F7"/>
          </a:solidFill>
          <a:ln>
            <a:solidFill>
              <a:srgbClr val="48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374C"/>
                </a:solidFill>
                <a:latin typeface="Arial"/>
              </a:defRPr>
            </a:pPr>
            <a:r>
              <a:t>Method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3429000"/>
            <a:ext cx="1828800" cy="822960"/>
          </a:xfrm>
          <a:prstGeom prst="roundRect">
            <a:avLst/>
          </a:prstGeom>
          <a:solidFill>
            <a:srgbClr val="DAE6F7"/>
          </a:solidFill>
          <a:ln>
            <a:solidFill>
              <a:srgbClr val="48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374C"/>
                </a:solidFill>
                <a:latin typeface="Arial"/>
              </a:defRPr>
            </a:pPr>
            <a:r>
              <a:t>Treatment</a:t>
            </a:r>
            <a:br/>
            <a:r>
              <a:t>assessed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429000"/>
            <a:ext cx="1828800" cy="822960"/>
          </a:xfrm>
          <a:prstGeom prst="roundRect">
            <a:avLst/>
          </a:prstGeom>
          <a:solidFill>
            <a:srgbClr val="DAE6F7"/>
          </a:solidFill>
          <a:ln>
            <a:solidFill>
              <a:srgbClr val="48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374C"/>
                </a:solidFill>
                <a:latin typeface="Arial"/>
              </a:defRPr>
            </a:pPr>
            <a:r>
              <a:t>Method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754880"/>
            <a:ext cx="3794760" cy="86868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Memory cue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OR = alternative ways.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SR: Contribution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1708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Contribution links connect tasks to soft goals.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They show whether a task helps or hurts a quality.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Use “make +” for positive contribution and “hurt -” for negative contribution.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Example: “Manual assessment” may hurt “Fast turnaround” if it takes longer.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29000"/>
            <a:ext cx="5212080" cy="1559535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Positive contribution (+)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Online check-in → quick service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Automated reminder → reliable attendance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Clear dashboard → easy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429000"/>
            <a:ext cx="5212080" cy="1559535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Negative contribution (-)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Extra manual checking → slower service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More steps → harder usability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Extra cost → affordability is reduced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6280" y="5292056"/>
            <a:ext cx="10835640" cy="902978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9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A new security check improves security but adds time. Its effect on “Fast turnaround” is likely…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Positive  |  Negative  |  No contribution  |  It becomes an actor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Worked SR example: online shopping 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301621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Actor: Checkout Service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Goal: Complete customer purchase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Task: Process checkout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Subtasks: Validate basket AND calculate total AND confirm payment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Alternative means for payment: card payment OR approved digital wallet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Soft goal: Fast checkout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Contribution: extra verification may improve security (+) but hurt speed </a:t>
            </a:r>
            <a:r>
              <a:t>(-)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Worked SR example: GP appointment booking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1"/>
            <a:ext cx="5212080" cy="2816352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Actor: Receptionist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Hard goal: Appointment booked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Soft goal: Booking is quick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Task: Book appointment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Resource: Patient payment (if required)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12080" cy="2816353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Inside the task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Check patient details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Find available slot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Confirm appointment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Alternative: book manually OR use online self-service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Ask: which option helps speed?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10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“Book manually OR use self-service” is an example of…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AND decomposition  |  Means-end alternative  |  Contribution  |  Resource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Case: Cancer Detection SR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63149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Task: build an SR model from the Doctor’s perspective.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Patient depends on Doctor for diagnosis (hard goal) and determining cancer type/site (task).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To diagnose: review patient history AND perform clinical appraisal AND assess need for admission.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To determine cancer type/site: review lab and imaging results OR let a specialist review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572000"/>
            <a:ext cx="4023360" cy="105156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Why this is useful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It naturally demonstrates AND decomposition + OR alternatives.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Three SR links students should recognise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AND decomposition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All child elements are needed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“Do A AND B AND C”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Break one task into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Means-end / OR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Different alternatives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“Use A OR B”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Show different ways to achieve an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77639"/>
            <a:ext cx="4937760" cy="114300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Contribution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Task → soft goal: helps (+) or hurts (-)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" y="5285232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11 Ranking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Which link is hardest to remember?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AND decomposition  |  Means-end  |  Contribution  |  None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31720" y="1828800"/>
            <a:ext cx="18288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6332183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>
                <a:solidFill>
                  <a:srgbClr val="FFFFFF"/>
                </a:solidFill>
                <a:latin typeface="Arial"/>
              </a:defRPr>
            </a:pPr>
            <a:r>
              <a:t>5. From </a:t>
            </a:r>
            <a:r>
              <a:rPr err="1"/>
              <a:t>i</a:t>
            </a:r>
            <a:r>
              <a:t>* Models to Requirements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Why do we model goals?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How i* helps a requirements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14417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Resources suggest data that may need to be stored in databases.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Tasks and hard goals help identify functional requirements.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Soft goals help identify non-functional requirements.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Dependencies reveal where one actor relies on another.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SR alternatives help discuss design choices and trade-offs.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12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Which </a:t>
            </a:r>
            <a:r>
              <a:rPr err="1"/>
              <a:t>i</a:t>
            </a:r>
            <a:r>
              <a:t>* element most directly suggests non-functional requirements?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Resource  |  Soft goal  |  Actor  |  Task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Turn a simple sentence into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31957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Business statement: “Patients need appointments to be booked quickly.”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Hard goal: Appointment booked.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Soft goal: Quick appointment booking.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Possible functional requirement: system shall allow an appointment to be booked.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Possible non-functional requirement: booking should complete within an agreed response time.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Important: the </a:t>
            </a:r>
            <a:r>
              <a:rPr sz="2000" err="1">
                <a:solidFill>
                  <a:srgbClr val="26374C"/>
                </a:solidFill>
                <a:latin typeface="Arial"/>
              </a:rPr>
              <a:t>i</a:t>
            </a:r>
            <a:r>
              <a:rPr sz="2000">
                <a:solidFill>
                  <a:srgbClr val="26374C"/>
                </a:solidFill>
                <a:latin typeface="Arial"/>
              </a:rPr>
              <a:t>* model helps us discover and discuss these; it does not replace detailed requirements specification.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31720" y="1828800"/>
            <a:ext cx="18288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6263253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>
                <a:solidFill>
                  <a:srgbClr val="FFFFFF"/>
                </a:solidFill>
                <a:latin typeface="Arial"/>
              </a:defRPr>
            </a:pPr>
            <a:r>
              <a:t>6. Systems of Systems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Use the case as context, not a </a:t>
            </a:r>
            <a:r>
              <a:rPr err="1"/>
              <a:t>memorisation</a:t>
            </a:r>
            <a:r>
              <a:t> exercise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Systems of Systems (SoS): the simple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18876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An SoS is a set of independent, useful systems integrated into a larger system that delivers unique capabilities.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Goal modelling can be used at different levels: global / SoS-level goals and local / constituent-system goals.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lang="en-GB" sz="2000">
                <a:solidFill>
                  <a:srgbClr val="26374C"/>
                </a:solidFill>
                <a:latin typeface="Arial"/>
              </a:rPr>
              <a:t>T</a:t>
            </a:r>
            <a:r>
              <a:rPr sz="2000" err="1">
                <a:solidFill>
                  <a:srgbClr val="26374C"/>
                </a:solidFill>
                <a:latin typeface="Arial"/>
              </a:rPr>
              <a:t>hink</a:t>
            </a:r>
            <a:r>
              <a:rPr sz="2000">
                <a:solidFill>
                  <a:srgbClr val="26374C"/>
                </a:solidFill>
                <a:latin typeface="Arial"/>
              </a:rPr>
              <a:t> “many useful systems working together toward a bigger outcome.”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9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31720" y="1828800"/>
            <a:ext cx="18288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7052059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>
                <a:solidFill>
                  <a:srgbClr val="FFFFFF"/>
                </a:solidFill>
                <a:latin typeface="Arial"/>
              </a:defRPr>
            </a:pPr>
            <a:r>
              <a:t>7. Hands-on Tutorial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Travel Booking Scenario Group SD modelling + presentation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Tutorial scenario: Travel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58019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 Travel Agency receives a reservation request for airline transport and a hotel.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The Agency researches availability, selects alternatives, and offers them to the Client.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The Client has 24 hours to select an option or cancel.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If cancelled / expired, the Agency updates the Client record and notifies the Client.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After selection, the Client provides Credit Card information within 24 hours.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The booking then covers flight + hotel, with reversals if errors occur.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Tutorial: extract the actors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4211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t>Work in groups of 3–4.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Step 1: List the actors only — do not draw arrows yet.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Possible actors to look for: Client, Travel Agency, Airline, Hotel, Payment/Credit Card service.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Be careful: a thing such as “reservation” is not automatically an actor.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Then compare your actor list with another group.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13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Which is most clearly an ACTOR in the travel scenario?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Client  |  Reservation  |  Credit Card information  |  Availability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Tutorial Step 1: identify every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451953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Use the sentence pattern: “Actor A depends on Actor B for X.”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Underline the </a:t>
            </a:r>
            <a:r>
              <a:rPr sz="2000" err="1">
                <a:solidFill>
                  <a:srgbClr val="26374C"/>
                </a:solidFill>
                <a:latin typeface="Arial"/>
              </a:rPr>
              <a:t>depender</a:t>
            </a:r>
            <a:r>
              <a:rPr sz="2000">
                <a:solidFill>
                  <a:srgbClr val="26374C"/>
                </a:solidFill>
                <a:latin typeface="Arial"/>
              </a:rPr>
              <a:t> (A).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Circle the </a:t>
            </a:r>
            <a:r>
              <a:rPr sz="2000" err="1">
                <a:solidFill>
                  <a:srgbClr val="26374C"/>
                </a:solidFill>
                <a:latin typeface="Arial"/>
              </a:rPr>
              <a:t>dependee</a:t>
            </a:r>
            <a:r>
              <a:rPr sz="2000">
                <a:solidFill>
                  <a:srgbClr val="26374C"/>
                </a:solidFill>
                <a:latin typeface="Arial"/>
              </a:rPr>
              <a:t> (B).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Box X and classify it as hard goal / soft goal / task / resource.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Aim to capture the relationships described by the scenario before adding extra assumptions.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4663440"/>
            <a:ext cx="4114800" cy="105156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20-minute group task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Draw your Strategic Dependency model on paper / whiteboard / PiStar.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Tutorial support: likely dependency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58019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Client → Travel Agency: reservation / proposed travel alternatives.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Travel Agency → Airline: flight booking.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Travel Agency → Hotel: hotel booking.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Travel Agency → Client: required Credit Card information.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Client → Travel Agency: cancellation / confirmation decision.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Where the scenario is ambiguous, label your assumption and be ready to explain 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Tutorial: add the dependency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2532888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Ask “what is X?”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A service / outcome → HARD GOAL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A quality → SOFT GOAL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An activity → TASK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Information / entity delivered → RESOURCE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12080" cy="2532888"/>
          </a:xfrm>
          <a:prstGeom prst="roundRect">
            <a:avLst/>
          </a:prstGeom>
          <a:solidFill>
            <a:srgbClr val="FFFFFF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39DAB"/>
                </a:solidFill>
                <a:latin typeface="Arial"/>
              </a:defRPr>
            </a:pPr>
            <a:r>
              <a:t>Examples from the scenario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Book flight → hard goal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Quick booking → soft goal (if explicitly modelled)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Process booking → task</a:t>
            </a:r>
          </a:p>
          <a:p>
            <a:pPr>
              <a:spcAft>
                <a:spcPts val="600"/>
              </a:spcAft>
              <a:defRPr sz="1600">
                <a:solidFill>
                  <a:srgbClr val="26374C"/>
                </a:solidFill>
                <a:latin typeface="Arial"/>
              </a:defRPr>
            </a:pPr>
            <a:r>
              <a:t>Credit Card information → resource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14 Multiple choice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“Client provides Credit Card information.” In </a:t>
            </a:r>
            <a:r>
              <a:rPr err="1"/>
              <a:t>i</a:t>
            </a:r>
            <a:r>
              <a:t>* this is best treated as a…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Hard goal  |  Soft goal  |  Task  |  Resource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w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09728"/>
            <a:ext cx="1298448" cy="7866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Tutorial: presentation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14417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Each group gets about 2 minutes.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Show your actors.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Explain 2–3 important dependencies using full sentences.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Explain one modelling choice that another group might make differently.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The class gives one “clear” point and one “question” for each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663440"/>
            <a:ext cx="3931920" cy="91440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Tutor feedback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Focus on correct reasoning, not artistic drawing.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Extension: if we turned the SD into SR…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54941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Choose</a:t>
            </a:r>
            <a:r>
              <a:t> ONE actor — for example, Travel Agency.</a:t>
            </a:r>
          </a:p>
          <a:p>
            <a:pPr>
              <a:spcAft>
                <a:spcPts val="1000"/>
              </a:spcAft>
              <a:defRPr sz="1800">
                <a:solidFill>
                  <a:srgbClr val="26374C"/>
                </a:solidFill>
                <a:latin typeface="Arial"/>
              </a:defRPr>
            </a:pPr>
            <a:r>
              <a:t>Pick ONE important goal — for example, complete booking.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Ask: what tasks are needed?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Ask: which tasks can be decomposed with AND?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Ask: are there alternative ways with OR / means-end?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Ask: which tasks help or hurt a soft goal such as fast booking?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15 Open text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For the Travel Agency, what is one important soft goal?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Exit Menti: 5-question confidence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14417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74C"/>
                </a:solidFill>
                <a:latin typeface="Arial"/>
              </a:defRPr>
            </a:pPr>
            <a:r>
              <a:t>1. I can identify actors.</a:t>
            </a:r>
          </a:p>
          <a:p>
            <a:pPr>
              <a:spcAft>
                <a:spcPts val="1000"/>
              </a:spcAft>
              <a:defRPr sz="2000">
                <a:solidFill>
                  <a:srgbClr val="26374C"/>
                </a:solidFill>
                <a:latin typeface="Arial"/>
              </a:defRPr>
            </a:pPr>
            <a:r>
              <a:t>2. I can tell hard goals from soft goals.</a:t>
            </a:r>
          </a:p>
          <a:p>
            <a:pPr>
              <a:spcAft>
                <a:spcPts val="1000"/>
              </a:spcAft>
              <a:defRPr sz="2000">
                <a:solidFill>
                  <a:srgbClr val="26374C"/>
                </a:solidFill>
                <a:latin typeface="Arial"/>
              </a:defRPr>
            </a:pPr>
            <a:r>
              <a:t>3. I can identify task vs resource dependencies.</a:t>
            </a:r>
          </a:p>
          <a:p>
            <a:pPr>
              <a:spcAft>
                <a:spcPts val="1000"/>
              </a:spcAft>
              <a:defRPr sz="2000">
                <a:solidFill>
                  <a:srgbClr val="26374C"/>
                </a:solidFill>
                <a:latin typeface="Arial"/>
              </a:defRPr>
            </a:pPr>
            <a:r>
              <a:t>4. I know when to use SD rather than SR.</a:t>
            </a:r>
          </a:p>
          <a:p>
            <a:pPr>
              <a:spcAft>
                <a:spcPts val="1000"/>
              </a:spcAft>
              <a:defRPr sz="2000">
                <a:solidFill>
                  <a:srgbClr val="26374C"/>
                </a:solidFill>
                <a:latin typeface="Arial"/>
              </a:defRPr>
            </a:pPr>
            <a:r>
              <a:t>5. I can explain AND, OR/means-end and contribution links.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26280"/>
            <a:ext cx="10835640" cy="14173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9DAB"/>
                </a:solidFill>
                <a:latin typeface="Arial"/>
              </a:defRPr>
            </a:pPr>
            <a:r>
              <a:t>MENTI POLL 16 Likert scale</a:t>
            </a:r>
          </a:p>
          <a:p>
            <a:pPr>
              <a:defRPr sz="1600" b="1">
                <a:solidFill>
                  <a:srgbClr val="26374C"/>
                </a:solidFill>
                <a:latin typeface="Arial"/>
              </a:defRPr>
            </a:pPr>
            <a:r>
              <a:t>How confident are you now with </a:t>
            </a:r>
            <a:r>
              <a:rPr err="1"/>
              <a:t>i</a:t>
            </a:r>
            <a:r>
              <a:t>* modelling?</a:t>
            </a:r>
          </a:p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Options: 1 Not confident  |  2  |  3  |  4  |  5 Very confident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Final recap: the one-minute i*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324261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ACTOR = WHO?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GOAL = WHAT does the actor want?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SOFT GOAL = HOW WELL?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TASK = HOW / what activity?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RESOURCE = WHAT is delivered?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SD = relationships between actors.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SR = reasoning inside an actor.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AND = all required parts.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OR / means-end = alternatives.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CONTRIBUTION = effect on a soft goal (+ / -).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4709160"/>
            <a:ext cx="4160520" cy="96012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Before you leave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Say aloud: “A depends on B for X.” Then classify X.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Independent practice /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58019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Recreate the Travel Booking SD model neatly.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Choose one actor and create a small SR model.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Label at least one AND decomposition.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Label at least one means-end alternative.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Add one soft goal and show one positive or negative contribution.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Prepare to explain one modelling decision in the next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4617720"/>
            <a:ext cx="4251960" cy="1051560"/>
          </a:xfrm>
          <a:prstGeom prst="roundRect">
            <a:avLst/>
          </a:prstGeom>
          <a:solidFill>
            <a:srgbClr val="E6F7F9"/>
          </a:solidFill>
          <a:ln>
            <a:solidFill>
              <a:srgbClr val="23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6374C"/>
                </a:solidFill>
                <a:latin typeface="Arial"/>
              </a:defRPr>
            </a:pPr>
            <a:r>
              <a:t>i* modelling tools</a:t>
            </a:r>
          </a:p>
          <a:p>
            <a:pPr>
              <a:defRPr sz="1200">
                <a:solidFill>
                  <a:srgbClr val="26374C"/>
                </a:solidFill>
                <a:latin typeface="Arial"/>
              </a:defRPr>
            </a:pPr>
            <a:r>
              <a:t>OpenOME, PiStar and CreativeLeaf.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38912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0">
                <a:solidFill>
                  <a:srgbClr val="239DAB"/>
                </a:solidFill>
                <a:latin typeface="Arial"/>
              </a:defRPr>
            </a:pPr>
            <a:r>
              <a:t>References &amp; learning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920" y="1291590"/>
            <a:ext cx="10424160" cy="1272143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</a:rPr>
              <a:t>Eric Yu et al., </a:t>
            </a:r>
            <a:r>
              <a:rPr sz="2000">
                <a:solidFill>
                  <a:srgbClr val="26374C"/>
                </a:solidFill>
                <a:latin typeface="Arial"/>
                <a:hlinkClick r:id="rId2"/>
              </a:rPr>
              <a:t>Social Modeling for Requirements Engineering (MIT </a:t>
            </a:r>
            <a:r>
              <a:rPr sz="2000">
                <a:solidFill>
                  <a:srgbClr val="26374C"/>
                </a:solidFill>
                <a:latin typeface="Arial"/>
              </a:rPr>
              <a:t>Press, 2011).</a:t>
            </a: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>
                <a:solidFill>
                  <a:srgbClr val="26374C"/>
                </a:solidFill>
                <a:latin typeface="Arial"/>
                <a:hlinkClick r:id="rId3"/>
              </a:rPr>
              <a:t>Eric Yu, “Social Modeling and </a:t>
            </a:r>
            <a:r>
              <a:rPr sz="2000" err="1">
                <a:solidFill>
                  <a:srgbClr val="26374C"/>
                </a:solidFill>
                <a:latin typeface="Arial"/>
                <a:hlinkClick r:id="rId3"/>
              </a:rPr>
              <a:t>i</a:t>
            </a:r>
            <a:r>
              <a:rPr sz="2000">
                <a:solidFill>
                  <a:srgbClr val="26374C"/>
                </a:solidFill>
                <a:latin typeface="Arial"/>
                <a:hlinkClick r:id="rId3"/>
              </a:rPr>
              <a:t>*” (2009).</a:t>
            </a:r>
            <a:endParaRPr sz="2000">
              <a:solidFill>
                <a:srgbClr val="26374C"/>
              </a:solidFill>
              <a:latin typeface="Arial"/>
            </a:endParaRPr>
          </a:p>
          <a:p>
            <a:pPr marL="342900" indent="-342900">
              <a:spcAft>
                <a:spcPts val="10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26374C"/>
                </a:solidFill>
                <a:latin typeface="Arial"/>
              </a:defRPr>
            </a:pPr>
            <a:r>
              <a:rPr sz="2000" err="1">
                <a:solidFill>
                  <a:srgbClr val="26374C"/>
                </a:solidFill>
                <a:latin typeface="Arial"/>
              </a:rPr>
              <a:t>i</a:t>
            </a:r>
            <a:r>
              <a:rPr sz="2000">
                <a:solidFill>
                  <a:srgbClr val="26374C"/>
                </a:solidFill>
                <a:latin typeface="Arial"/>
              </a:rPr>
              <a:t>* tool support: </a:t>
            </a:r>
            <a:r>
              <a:rPr sz="2000">
                <a:solidFill>
                  <a:srgbClr val="26374C"/>
                </a:solidFill>
                <a:latin typeface="Arial"/>
                <a:hlinkClick r:id="rId4"/>
              </a:rPr>
              <a:t>OpenOME</a:t>
            </a:r>
            <a:r>
              <a:rPr sz="2000">
                <a:solidFill>
                  <a:srgbClr val="26374C"/>
                </a:solidFill>
                <a:latin typeface="Arial"/>
              </a:rPr>
              <a:t>, </a:t>
            </a:r>
            <a:r>
              <a:rPr sz="2000">
                <a:solidFill>
                  <a:srgbClr val="26374C"/>
                </a:solidFill>
                <a:latin typeface="Arial"/>
                <a:hlinkClick r:id="rId5"/>
              </a:rPr>
              <a:t>PiStar</a:t>
            </a:r>
            <a:r>
              <a:rPr sz="2000">
                <a:solidFill>
                  <a:srgbClr val="26374C"/>
                </a:solidFill>
                <a:latin typeface="Arial"/>
              </a:rPr>
              <a:t> and </a:t>
            </a:r>
            <a:r>
              <a:rPr sz="2000" err="1">
                <a:solidFill>
                  <a:srgbClr val="26374C"/>
                </a:solidFill>
                <a:latin typeface="Arial"/>
                <a:hlinkClick r:id="rId6"/>
              </a:rPr>
              <a:t>CreativeLeaf</a:t>
            </a:r>
            <a:r>
              <a:rPr sz="2000">
                <a:solidFill>
                  <a:srgbClr val="26374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3150</Words>
  <Application>Microsoft Office PowerPoint</Application>
  <PresentationFormat>Widescreen</PresentationFormat>
  <Paragraphs>387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Wyatt</cp:lastModifiedBy>
  <cp:revision>4</cp:revision>
  <dcterms:created xsi:type="dcterms:W3CDTF">2013-01-27T09:14:16Z</dcterms:created>
  <dcterms:modified xsi:type="dcterms:W3CDTF">2026-10-11T15:11:03Z</dcterms:modified>
  <cp:category/>
</cp:coreProperties>
</file>