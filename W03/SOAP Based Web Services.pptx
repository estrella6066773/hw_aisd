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5"/>
  </p:sldMasterIdLst>
  <p:notesMasterIdLst>
    <p:notesMasterId r:id="rId32"/>
  </p:notesMasterIdLst>
  <p:handoutMasterIdLst>
    <p:handoutMasterId r:id="rId33"/>
  </p:handoutMasterIdLst>
  <p:sldIdLst>
    <p:sldId id="256" r:id="rId6"/>
    <p:sldId id="258" r:id="rId7"/>
    <p:sldId id="286" r:id="rId8"/>
    <p:sldId id="287" r:id="rId9"/>
    <p:sldId id="288" r:id="rId10"/>
    <p:sldId id="289" r:id="rId11"/>
    <p:sldId id="290" r:id="rId12"/>
    <p:sldId id="259" r:id="rId13"/>
    <p:sldId id="260" r:id="rId14"/>
    <p:sldId id="272" r:id="rId15"/>
    <p:sldId id="273" r:id="rId16"/>
    <p:sldId id="274" r:id="rId17"/>
    <p:sldId id="275" r:id="rId18"/>
    <p:sldId id="276" r:id="rId19"/>
    <p:sldId id="277" r:id="rId20"/>
    <p:sldId id="282" r:id="rId21"/>
    <p:sldId id="261" r:id="rId22"/>
    <p:sldId id="263" r:id="rId23"/>
    <p:sldId id="264" r:id="rId24"/>
    <p:sldId id="265" r:id="rId25"/>
    <p:sldId id="266" r:id="rId26"/>
    <p:sldId id="267" r:id="rId27"/>
    <p:sldId id="284" r:id="rId28"/>
    <p:sldId id="285" r:id="rId29"/>
    <p:sldId id="268" r:id="rId30"/>
    <p:sldId id="300" r:id="rId31"/>
  </p:sldIdLst>
  <p:sldSz cx="9144000" cy="6858000" type="screen4x3"/>
  <p:notesSz cx="9144000" cy="6858000"/>
  <p:custDataLst>
    <p:tags r:id="rId34"/>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SOAP Based Web Services" id="{4284EADD-FE41-494D-A42C-2B60CCFC2DE6}">
          <p14:sldIdLst>
            <p14:sldId id="256"/>
            <p14:sldId id="258"/>
            <p14:sldId id="286"/>
            <p14:sldId id="287"/>
            <p14:sldId id="288"/>
            <p14:sldId id="289"/>
            <p14:sldId id="290"/>
            <p14:sldId id="259"/>
            <p14:sldId id="260"/>
            <p14:sldId id="272"/>
            <p14:sldId id="273"/>
            <p14:sldId id="274"/>
            <p14:sldId id="275"/>
            <p14:sldId id="276"/>
            <p14:sldId id="277"/>
            <p14:sldId id="282"/>
            <p14:sldId id="261"/>
            <p14:sldId id="263"/>
            <p14:sldId id="264"/>
            <p14:sldId id="265"/>
            <p14:sldId id="266"/>
            <p14:sldId id="267"/>
            <p14:sldId id="284"/>
            <p14:sldId id="285"/>
            <p14:sldId id="268"/>
            <p14:sldId id="300"/>
          </p14:sldIdLst>
        </p14:section>
      </p14:sectionLst>
    </p:ex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99DAC"/>
    <a:srgbClr val="1A9DAC"/>
    <a:srgbClr val="16818D"/>
    <a:srgbClr val="1C9DAC"/>
    <a:srgbClr val="7A7392"/>
    <a:srgbClr val="598752"/>
    <a:srgbClr val="6DA463"/>
    <a:srgbClr val="A65C45"/>
    <a:srgbClr val="CC70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1F4B33-C657-4D81-AE61-378B7B6BA774}" v="1" dt="2026-10-11T08:10:22.8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79811"/>
  </p:normalViewPr>
  <p:slideViewPr>
    <p:cSldViewPr showGuides="1">
      <p:cViewPr varScale="1">
        <p:scale>
          <a:sx n="50" d="100"/>
          <a:sy n="50" d="100"/>
        </p:scale>
        <p:origin x="308" y="36"/>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83" d="100"/>
          <a:sy n="183" d="100"/>
        </p:scale>
        <p:origin x="208" y="3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6/11/relationships/changesInfo" Target="changesInfos/changesInfo1.xml"/><Relationship Id="rId21" Type="http://schemas.openxmlformats.org/officeDocument/2006/relationships/slide" Target="slides/slide16.xml"/><Relationship Id="rId34" Type="http://schemas.openxmlformats.org/officeDocument/2006/relationships/tags" Target="tags/tag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Wyatt" userId="1b0a4936-1a58-4717-8936-09533ddce9e9" providerId="ADAL" clId="{78B570B4-0A49-41D2-8737-23D6749A7F5B}"/>
    <pc:docChg chg="addSld modSld sldOrd">
      <pc:chgData name="David Wyatt" userId="1b0a4936-1a58-4717-8936-09533ddce9e9" providerId="ADAL" clId="{78B570B4-0A49-41D2-8737-23D6749A7F5B}" dt="2026-10-11T08:10:35.506" v="2"/>
      <pc:docMkLst>
        <pc:docMk/>
      </pc:docMkLst>
      <pc:sldChg chg="add ord">
        <pc:chgData name="David Wyatt" userId="1b0a4936-1a58-4717-8936-09533ddce9e9" providerId="ADAL" clId="{78B570B4-0A49-41D2-8737-23D6749A7F5B}" dt="2026-10-11T08:10:35.506" v="2"/>
        <pc:sldMkLst>
          <pc:docMk/>
          <pc:sldMk cId="1653041656" sldId="3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a:t>
            </a:fld>
            <a:endParaRPr lang="en-US" altLang="en-US"/>
          </a:p>
        </p:txBody>
      </p:sp>
    </p:spTree>
    <p:extLst>
      <p:ext uri="{BB962C8B-B14F-4D97-AF65-F5344CB8AC3E}">
        <p14:creationId xmlns:p14="http://schemas.microsoft.com/office/powerpoint/2010/main" val="1940281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Because the term "service-oriented" has existed for some time, it has been used in different contexts and for different purposes. One constant through its existence has been that it represents a distinct approach for separating concerns. What this means is that logic required to solve a large problem can be better constructed, carried out, and managed if it is decomposed into a collection of smaller, related pieces. Each of these pieces addresses a concern or a specific part of the problem.</a:t>
            </a:r>
          </a:p>
          <a:p>
            <a:endParaRPr lang="en-GB" dirty="0"/>
          </a:p>
          <a:p>
            <a:r>
              <a:rPr lang="en-GB" dirty="0"/>
              <a:t>This approach transcends technology and automation solutions. It is an established and generic theory that can be used to address a variety of problems. What distinguishes the service-oriented approach to separating concerns is the manner in which it achieves separation.”</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4</a:t>
            </a:fld>
            <a:endParaRPr lang="en-US" altLang="en-US"/>
          </a:p>
        </p:txBody>
      </p:sp>
    </p:spTree>
    <p:extLst>
      <p:ext uri="{BB962C8B-B14F-4D97-AF65-F5344CB8AC3E}">
        <p14:creationId xmlns:p14="http://schemas.microsoft.com/office/powerpoint/2010/main" val="3056611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developing Web services, you need to have some of language which can be used for web services to talk with client applications. SOAP is the perfect medium which was developed in order to achieve this purpose. This protocol is also recommended by the W3C consortium which is the governing body for all web standards.   </a:t>
            </a:r>
          </a:p>
          <a:p>
            <a:endParaRPr lang="en-GB" dirty="0"/>
          </a:p>
          <a:p>
            <a:r>
              <a:rPr lang="en-GB" dirty="0"/>
              <a:t> SOAP is a light-weight protocol that is used for data interchange between applications. Note the keyword 'light.' Since SOAP is based on the XML language, which itself is a light weight data interchange language, hence SOAP as a protocol that also falls in the same category.    </a:t>
            </a:r>
          </a:p>
          <a:p>
            <a:endParaRPr lang="en-GB" dirty="0"/>
          </a:p>
          <a:p>
            <a:r>
              <a:rPr lang="en-GB" dirty="0"/>
              <a:t>SOAP is designed to be platform independent and is also designed to be operating system independent. So the SOAP protocol can work any programming language based applications on both Windows and Linux platform.    </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8</a:t>
            </a:fld>
            <a:endParaRPr lang="en-US" altLang="en-US"/>
          </a:p>
        </p:txBody>
      </p:sp>
    </p:spTree>
    <p:extLst>
      <p:ext uri="{BB962C8B-B14F-4D97-AF65-F5344CB8AC3E}">
        <p14:creationId xmlns:p14="http://schemas.microsoft.com/office/powerpoint/2010/main" val="2280741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A web service is any piece of software that makes itself available over the internet and uses a standardized XML messaging system. XML is used to encode all communications to a web service. For example, a client invokes a web service by sending an XML message, then waits for a corresponding XML response. As all communication is in XML, web services are not tied to any one operating system or programming language—Java can talk with Perl; Windows applications can talk with Unix applications.</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10</a:t>
            </a:fld>
            <a:endParaRPr lang="en-US" altLang="en-US"/>
          </a:p>
        </p:txBody>
      </p:sp>
    </p:spTree>
    <p:extLst>
      <p:ext uri="{BB962C8B-B14F-4D97-AF65-F5344CB8AC3E}">
        <p14:creationId xmlns:p14="http://schemas.microsoft.com/office/powerpoint/2010/main" val="491582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Web services are self-contained, modular, distributed, dynamic applications that can be described, published, located, or invoked over the network to create products, processes, and supply chains. These applications can be local, distributed, or web-based. Web services are built on top of open standards such as TCP/IP, HTTP, Java, HTML, and XML.</a:t>
            </a:r>
          </a:p>
          <a:p>
            <a:endParaRPr lang="en-GB" dirty="0"/>
          </a:p>
          <a:p>
            <a:r>
              <a:rPr lang="en-GB" dirty="0"/>
              <a:t>Web services are XML-based information exchange systems that use the Internet for direct application-to-application interaction. These systems can include programs, objects, messages, or documents</a:t>
            </a:r>
          </a:p>
          <a:p>
            <a:endParaRPr lang="en-GB" dirty="0"/>
          </a:p>
          <a:p>
            <a:r>
              <a:rPr lang="en-GB" dirty="0"/>
              <a:t>A web service is a collection of open protocols and standards used for exchanging data between applications or systems. Software applications written in various programming languages and running on various platforms can use web services to exchange data over computer networks like the Internet in a manner similar to inter-process communication on a single computer. This interoperability (e.g., between Java and Python, or Windows and Linux applications) is due to the use of open standards.</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11</a:t>
            </a:fld>
            <a:endParaRPr lang="en-US" altLang="en-US"/>
          </a:p>
        </p:txBody>
      </p:sp>
    </p:spTree>
    <p:extLst>
      <p:ext uri="{BB962C8B-B14F-4D97-AF65-F5344CB8AC3E}">
        <p14:creationId xmlns:p14="http://schemas.microsoft.com/office/powerpoint/2010/main" val="4216153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They are XML-Based</a:t>
            </a:r>
            <a:r>
              <a:rPr lang="en-US" dirty="0"/>
              <a:t> - Web Services uses XML to represent the data at the representation and data transportation layers. Using XML eliminates any networking, operating system, or platform sort of dependency since XML is the common language understood by all. </a:t>
            </a:r>
          </a:p>
          <a:p>
            <a:r>
              <a:rPr lang="en-US" b="1" dirty="0"/>
              <a:t>Loosely Coupled</a:t>
            </a:r>
            <a:r>
              <a:rPr lang="en-US" dirty="0"/>
              <a:t> – Loosely coupled means that the client and the web service are not bound to each other, which means that even if the web service changes over time, it should not change the way the client calls the web service. Adopting a loosely coupled architecture tends to make software systems more manageable and allows simpler integration between different systems. </a:t>
            </a:r>
          </a:p>
          <a:p>
            <a:r>
              <a:rPr lang="en-US" b="1" dirty="0"/>
              <a:t>Synchronous or Asynchronous</a:t>
            </a:r>
            <a:r>
              <a:rPr lang="en-US" dirty="0"/>
              <a:t> </a:t>
            </a:r>
            <a:r>
              <a:rPr lang="en-US" b="1" dirty="0"/>
              <a:t>functionality</a:t>
            </a:r>
            <a:r>
              <a:rPr lang="en-US" dirty="0"/>
              <a:t>- Synchronicity refers to the binding of the client to the execution of the service. In synchronous operations, the client will actually wait for the web service to complete an operation. An example of this is probably a scenario wherein a database read and write operation are being performed. If data is read from one database and subsequently written to another, then the operations have to be done in a sequential manner. Asynchronous operations allow a client to invoke a service and then execute other functions in parallel. This is one of the common and probably the most preferred techniques for ensuring that other services are not stopped when a particular operation is being carried out. </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12</a:t>
            </a:fld>
            <a:endParaRPr lang="en-US" altLang="en-US"/>
          </a:p>
        </p:txBody>
      </p:sp>
    </p:spTree>
    <p:extLst>
      <p:ext uri="{BB962C8B-B14F-4D97-AF65-F5344CB8AC3E}">
        <p14:creationId xmlns:p14="http://schemas.microsoft.com/office/powerpoint/2010/main" val="4033462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Ability to support Remote Procedure Calls (RPCs)</a:t>
            </a:r>
            <a:r>
              <a:rPr lang="en-US" dirty="0"/>
              <a:t> - Web services enable clients to invoke procedures, functions, and methods on remote objects using an XML-based protocol. Remote procedures expose input and output parameters that a web service must support. </a:t>
            </a:r>
          </a:p>
          <a:p>
            <a:r>
              <a:rPr lang="en-US" b="1" dirty="0"/>
              <a:t>Supports Document Exchange</a:t>
            </a:r>
            <a:r>
              <a:rPr lang="en-US" dirty="0"/>
              <a:t> - One of the key benefits of XML is its generic way of representing not only data but also complex documents. These documents can be as simple as representing a current address, or they can be as complex as representing an entire book.</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Coarse-Grained </a:t>
            </a:r>
            <a:r>
              <a:rPr lang="en-US" dirty="0"/>
              <a:t>Businesses and the interfaces that they expose should be coarse-grained. Web services technology provides a natural way of defining coarse-grained services that access the right amount of business logic.</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13</a:t>
            </a:fld>
            <a:endParaRPr lang="en-US" altLang="en-US"/>
          </a:p>
        </p:txBody>
      </p:sp>
    </p:spTree>
    <p:extLst>
      <p:ext uri="{BB962C8B-B14F-4D97-AF65-F5344CB8AC3E}">
        <p14:creationId xmlns:p14="http://schemas.microsoft.com/office/powerpoint/2010/main" val="796756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Provider</a:t>
            </a:r>
            <a:r>
              <a:rPr lang="en-US" dirty="0"/>
              <a:t> - The provider creates the web service and makes it available to client application who want to use it.</a:t>
            </a:r>
          </a:p>
          <a:p>
            <a:r>
              <a:rPr lang="en-US" b="1" dirty="0"/>
              <a:t>Requestor</a:t>
            </a:r>
            <a:r>
              <a:rPr lang="en-US" dirty="0"/>
              <a:t> - A requestor is nothing but the client application that needs to contact a web service. The client application can be a </a:t>
            </a:r>
            <a:r>
              <a:rPr lang="en-US" dirty="0" err="1"/>
              <a:t>.Net</a:t>
            </a:r>
            <a:r>
              <a:rPr lang="en-US" dirty="0"/>
              <a:t>, Java, or any other language based application which looks for some sort of functionality via a web service.</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Broker (Registry)</a:t>
            </a:r>
            <a:r>
              <a:rPr lang="en-US" dirty="0"/>
              <a:t> - This is a logically centralized directory of services. The registry provides a central place where developers can publish new services or find existing ones. It therefore serves as a centralized clearing house for companies and their services.</a:t>
            </a:r>
          </a:p>
          <a:p>
            <a:r>
              <a:rPr lang="en-US" dirty="0"/>
              <a:t>The broker is nothing but the application which provides access to the UDDI. The UDDI, as discussed in the earlier topic enables the client application to locate the web service. </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14</a:t>
            </a:fld>
            <a:endParaRPr lang="en-US" altLang="en-US"/>
          </a:p>
        </p:txBody>
      </p:sp>
    </p:spTree>
    <p:extLst>
      <p:ext uri="{BB962C8B-B14F-4D97-AF65-F5344CB8AC3E}">
        <p14:creationId xmlns:p14="http://schemas.microsoft.com/office/powerpoint/2010/main" val="4234589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Service Transport</a:t>
            </a:r>
          </a:p>
          <a:p>
            <a:r>
              <a:rPr lang="en-US" dirty="0"/>
              <a:t>This layer is responsible for transporting messages between applications. Currently, this layer includes Hyper Text Transport Protocol (HTTP), Simple Mail Transfer Protocol (SMTP), File Transfer Protocol (FTP), and newer protocols such as Blocks Extensible Exchange Protocol (BEEP).</a:t>
            </a:r>
          </a:p>
          <a:p>
            <a:r>
              <a:rPr lang="en-US" b="1" dirty="0"/>
              <a:t>XML Messaging</a:t>
            </a:r>
          </a:p>
          <a:p>
            <a:r>
              <a:rPr lang="en-US" dirty="0"/>
              <a:t>This layer is responsible for encoding messages in a common XML format so that messages can be understood at either end. Currently, this layer includes XML-RPC and SOAP.</a:t>
            </a:r>
          </a:p>
          <a:p>
            <a:r>
              <a:rPr lang="en-US" b="1" dirty="0"/>
              <a:t>Service Description</a:t>
            </a:r>
          </a:p>
          <a:p>
            <a:r>
              <a:rPr lang="en-US" dirty="0"/>
              <a:t>This layer is responsible for describing the public interface to a specific web service. Currently, service description is handled via the Web Service Description Language (WSDL).</a:t>
            </a:r>
          </a:p>
          <a:p>
            <a:r>
              <a:rPr lang="en-US" b="1" dirty="0"/>
              <a:t>Service Discovery</a:t>
            </a:r>
          </a:p>
          <a:p>
            <a:r>
              <a:rPr lang="en-US" dirty="0"/>
              <a:t>This layer is responsible for centralizing services into a common registry and providing easy publish/find functionality. Currently, service discovery is handled via Universal Description, Discovery, and Integration (UDDI).</a:t>
            </a:r>
          </a:p>
          <a:p>
            <a:r>
              <a:rPr lang="en-US" dirty="0"/>
              <a:t>.</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15</a:t>
            </a:fld>
            <a:endParaRPr lang="en-US" altLang="en-US"/>
          </a:p>
        </p:txBody>
      </p:sp>
    </p:spTree>
    <p:extLst>
      <p:ext uri="{BB962C8B-B14F-4D97-AF65-F5344CB8AC3E}">
        <p14:creationId xmlns:p14="http://schemas.microsoft.com/office/powerpoint/2010/main" val="2007298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Arial" charset="0"/>
                <a:ea typeface="ＭＳ Ｐゴシック" charset="0"/>
                <a:cs typeface="ＭＳ Ｐゴシック" charset="0"/>
              </a:rPr>
              <a:t>UDDI offers a way to publish information about web services, as well as provide a mechanism to discover what web services are available. In essence, UDDI is a registration system instantiated as a series of XML files, and associated schema, which contain a description of a business entity and the web services that it offers. It is envisioned that there will ultimately be many public UDDI registration servers distributed about the Web that continually replicate data amongst themselves. </a:t>
            </a:r>
          </a:p>
          <a:p>
            <a:r>
              <a:rPr lang="en-US" sz="1200" kern="1200" dirty="0">
                <a:solidFill>
                  <a:schemeClr val="tx1"/>
                </a:solidFill>
                <a:latin typeface="Arial" charset="0"/>
                <a:ea typeface="ＭＳ Ｐゴシック" charset="0"/>
                <a:cs typeface="ＭＳ Ｐゴシック" charset="0"/>
              </a:rPr>
              <a:t>The UDDI specification provides a programmatic interface that allows a business to register a web service and/or search through the registry for a specific web service. Once the desired web service is identified, a pointer to the location of the WSDL document is provided. It is important to note that UDDI is entirely optional. Companies with web services that want to limit specific functionality to people or devices of their choosing need not advertise their service externally. </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16</a:t>
            </a:fld>
            <a:endParaRPr lang="en-US" altLang="en-US"/>
          </a:p>
        </p:txBody>
      </p:sp>
    </p:spTree>
    <p:extLst>
      <p:ext uri="{BB962C8B-B14F-4D97-AF65-F5344CB8AC3E}">
        <p14:creationId xmlns:p14="http://schemas.microsoft.com/office/powerpoint/2010/main" val="1098174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Envelope element that identifies the XML document as a SOAP message – This is the containing part of the SOAP message and is used to encapsulate all the details in the SOAP message. This is the root element in the SOAP message.</a:t>
            </a:r>
          </a:p>
          <a:p>
            <a:endParaRPr lang="en-US" dirty="0"/>
          </a:p>
          <a:p>
            <a:r>
              <a:rPr lang="en-US" dirty="0"/>
              <a:t>A Header element that contains header information – The header element can contain information such as authentication credentials which can be used by the calling application. It can also contain the definition of complex types which could be used in the SOAP message. By default, the SOAP message can contain parameters which could be of simple types such as strings and numbers, but can also be a complex object type.</a:t>
            </a:r>
          </a:p>
          <a:p>
            <a:endParaRPr lang="en-US" dirty="0"/>
          </a:p>
          <a:p>
            <a:r>
              <a:rPr lang="en-US" dirty="0"/>
              <a:t>A Body element that contains call and response information – This element is what contains the actual data which needs to be sent between the web service and the calling application. </a:t>
            </a:r>
            <a:endParaRPr lang="en-GB" dirty="0"/>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18</a:t>
            </a:fld>
            <a:endParaRPr lang="en-US" altLang="en-US"/>
          </a:p>
        </p:txBody>
      </p:sp>
    </p:spTree>
    <p:extLst>
      <p:ext uri="{BB962C8B-B14F-4D97-AF65-F5344CB8AC3E}">
        <p14:creationId xmlns:p14="http://schemas.microsoft.com/office/powerpoint/2010/main" val="3728183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WSDL is an XML-based file which tells the client application what the web service does. It is known as the Web Services Description Language(WSDL).</a:t>
            </a:r>
          </a:p>
          <a:p>
            <a:endParaRPr lang="en-GB" dirty="0"/>
          </a:p>
          <a:p>
            <a:r>
              <a:rPr lang="en-GB" dirty="0"/>
              <a:t>The</a:t>
            </a:r>
            <a:r>
              <a:rPr lang="en-GB" baseline="0" dirty="0"/>
              <a:t> </a:t>
            </a:r>
            <a:r>
              <a:rPr lang="en-GB" dirty="0"/>
              <a:t>description is required, so that client applications are able to understand what the web service actually does. The WSDL file contains the location of the web service and The methods which are exposed by the web service.</a:t>
            </a:r>
          </a:p>
          <a:p>
            <a:endParaRPr lang="en-GB" dirty="0"/>
          </a:p>
          <a:p>
            <a:r>
              <a:rPr lang="en-GB" dirty="0"/>
              <a:t>contains all the necessary information that any client application would require to use the relevant web service</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20</a:t>
            </a:fld>
            <a:endParaRPr lang="en-US" altLang="en-US"/>
          </a:p>
        </p:txBody>
      </p:sp>
    </p:spTree>
    <p:extLst>
      <p:ext uri="{BB962C8B-B14F-4D97-AF65-F5344CB8AC3E}">
        <p14:creationId xmlns:p14="http://schemas.microsoft.com/office/powerpoint/2010/main" val="1008782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&lt;types&gt;</a:t>
            </a:r>
            <a:r>
              <a:rPr lang="en-US" dirty="0"/>
              <a:t> tag is used to define all the complex datatypes, which will be used in the message exchanged between the client application and the web service. This is an important aspect of the client application, because if the web service works with a complex data type, then the client application should know how to process the complex data type. Data types such as float, numbers, and strings are all simple data types, but there could be structured data types which may be provided by the web service. </a:t>
            </a:r>
          </a:p>
          <a:p>
            <a:r>
              <a:rPr lang="en-US" dirty="0"/>
              <a:t>For example, there could be a data type called </a:t>
            </a:r>
            <a:r>
              <a:rPr lang="en-US" dirty="0" err="1"/>
              <a:t>EmployeeDataType</a:t>
            </a:r>
            <a:r>
              <a:rPr lang="en-US" dirty="0"/>
              <a:t> which could have 2 elements called "</a:t>
            </a:r>
            <a:r>
              <a:rPr lang="en-US" dirty="0" err="1"/>
              <a:t>EmployeeName</a:t>
            </a:r>
            <a:r>
              <a:rPr lang="en-US" dirty="0"/>
              <a:t>" of type string and "</a:t>
            </a:r>
            <a:r>
              <a:rPr lang="en-US" dirty="0" err="1"/>
              <a:t>EmployeeID</a:t>
            </a:r>
            <a:r>
              <a:rPr lang="en-US" dirty="0"/>
              <a:t>" of type number or integer. Together they form a data structure which then becomes a complex data type. </a:t>
            </a:r>
          </a:p>
          <a:p>
            <a:r>
              <a:rPr lang="en-US" dirty="0"/>
              <a:t>The </a:t>
            </a:r>
            <a:r>
              <a:rPr lang="en-US" b="1" dirty="0"/>
              <a:t>&lt;messages&gt;</a:t>
            </a:r>
            <a:r>
              <a:rPr lang="en-US" dirty="0"/>
              <a:t> tag is used to define the message which is exchanged between the client application and the web server. These messages will explain the input and output operations which can be performed by the web service. An example of a message can be a message which accepts the </a:t>
            </a:r>
            <a:r>
              <a:rPr lang="en-US" dirty="0" err="1"/>
              <a:t>EmployeeID</a:t>
            </a:r>
            <a:r>
              <a:rPr lang="en-US" dirty="0"/>
              <a:t> of an employee, and the output message can be the name of the employee based on the </a:t>
            </a:r>
            <a:r>
              <a:rPr lang="en-US" dirty="0" err="1"/>
              <a:t>EmpoyeeID</a:t>
            </a:r>
            <a:r>
              <a:rPr lang="en-US" dirty="0"/>
              <a:t> provided. </a:t>
            </a:r>
          </a:p>
          <a:p>
            <a:r>
              <a:rPr lang="en-US" dirty="0"/>
              <a:t>The </a:t>
            </a:r>
            <a:r>
              <a:rPr lang="en-US" b="1" dirty="0"/>
              <a:t>&lt;</a:t>
            </a:r>
            <a:r>
              <a:rPr lang="en-US" b="1" dirty="0" err="1"/>
              <a:t>portType</a:t>
            </a:r>
            <a:r>
              <a:rPr lang="en-US" b="1" dirty="0"/>
              <a:t>&gt;</a:t>
            </a:r>
            <a:r>
              <a:rPr lang="en-US" dirty="0"/>
              <a:t> tag is used to encapsulate every input and output message into one logical operation. So there could be an operation called "</a:t>
            </a:r>
            <a:r>
              <a:rPr lang="en-US" dirty="0" err="1"/>
              <a:t>GetEmployee</a:t>
            </a:r>
            <a:r>
              <a:rPr lang="en-US" dirty="0"/>
              <a:t>" which combines the input message of accepting the </a:t>
            </a:r>
            <a:r>
              <a:rPr lang="en-US" dirty="0" err="1"/>
              <a:t>EmployeeID</a:t>
            </a:r>
            <a:r>
              <a:rPr lang="en-US" dirty="0"/>
              <a:t> from a client application and then sending the </a:t>
            </a:r>
            <a:r>
              <a:rPr lang="en-US" dirty="0" err="1"/>
              <a:t>EmployeeName</a:t>
            </a:r>
            <a:r>
              <a:rPr lang="en-US" dirty="0"/>
              <a:t> as the output message. </a:t>
            </a:r>
          </a:p>
          <a:p>
            <a:r>
              <a:rPr lang="en-US" dirty="0"/>
              <a:t>The </a:t>
            </a:r>
            <a:r>
              <a:rPr lang="en-US" b="1" dirty="0"/>
              <a:t>&lt;binding&gt;</a:t>
            </a:r>
            <a:r>
              <a:rPr lang="en-US" dirty="0"/>
              <a:t> tag is used to bind the operation to the particular port type. This is so that when the client application calls the relevant port type, it will then be able to access the operations which are bound to this port type. Port types are just like interfaces. So if a client application needs to use a web service they need to use the binding information to ensure that they can connect to the interface provided by that web service. </a:t>
            </a:r>
          </a:p>
          <a:p>
            <a:r>
              <a:rPr lang="en-US" dirty="0"/>
              <a:t>The </a:t>
            </a:r>
            <a:r>
              <a:rPr lang="en-US" b="1" dirty="0"/>
              <a:t>&lt;service&gt; </a:t>
            </a:r>
            <a:r>
              <a:rPr lang="en-US" dirty="0"/>
              <a:t>tag is a </a:t>
            </a:r>
          </a:p>
          <a:p>
            <a:r>
              <a:rPr lang="en-US" dirty="0"/>
              <a:t>. Initially, when a client application makes a call to the web service, it will do by calling the name of the web service.</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21</a:t>
            </a:fld>
            <a:endParaRPr lang="en-US" altLang="en-US"/>
          </a:p>
        </p:txBody>
      </p:sp>
    </p:spTree>
    <p:extLst>
      <p:ext uri="{BB962C8B-B14F-4D97-AF65-F5344CB8AC3E}">
        <p14:creationId xmlns:p14="http://schemas.microsoft.com/office/powerpoint/2010/main" val="1863934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23</a:t>
            </a:fld>
            <a:endParaRPr lang="en-US" altLang="en-US"/>
          </a:p>
        </p:txBody>
      </p:sp>
    </p:spTree>
    <p:extLst>
      <p:ext uri="{BB962C8B-B14F-4D97-AF65-F5344CB8AC3E}">
        <p14:creationId xmlns:p14="http://schemas.microsoft.com/office/powerpoint/2010/main" val="3720720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E77E2-D3A7-0339-3CFB-75B86E95C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51DE3-AD3D-82E7-4F98-A0FB93B158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93114-E69A-CBA4-0E98-CA000D3DB89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BD823DE-D16C-F297-E7C7-AAFC0531D472}"/>
              </a:ext>
            </a:extLst>
          </p:cNvPr>
          <p:cNvSpPr>
            <a:spLocks noGrp="1"/>
          </p:cNvSpPr>
          <p:nvPr>
            <p:ph type="sldNum" sz="quarter" idx="5"/>
          </p:nvPr>
        </p:nvSpPr>
        <p:spPr/>
        <p:txBody>
          <a:bodyPr/>
          <a:lstStyle/>
          <a:p>
            <a:pPr>
              <a:defRPr/>
            </a:pPr>
            <a:fld id="{85360570-2B09-DB43-BBE0-DA076DA911F1}" type="slidenum">
              <a:rPr lang="en-US" altLang="en-US" smtClean="0"/>
              <a:pPr>
                <a:defRPr/>
              </a:pPr>
              <a:t>24</a:t>
            </a:fld>
            <a:endParaRPr lang="en-US" altLang="en-US"/>
          </a:p>
        </p:txBody>
      </p:sp>
    </p:spTree>
    <p:extLst>
      <p:ext uri="{BB962C8B-B14F-4D97-AF65-F5344CB8AC3E}">
        <p14:creationId xmlns:p14="http://schemas.microsoft.com/office/powerpoint/2010/main" val="2060926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WS-AT WS- Web Service Atomic Transaction</a:t>
            </a:r>
          </a:p>
          <a:p>
            <a:r>
              <a:rPr lang="en-GB" dirty="0"/>
              <a:t>WS-BA – Web Service Business Activity</a:t>
            </a:r>
          </a:p>
          <a:p>
            <a:r>
              <a:rPr lang="en-GB" dirty="0"/>
              <a:t>WS-RM - Web Service Reliable Messaging</a:t>
            </a:r>
          </a:p>
          <a:p>
            <a:r>
              <a:rPr lang="en-GB" dirty="0"/>
              <a:t>WS-RF - Web Service  Resources framework</a:t>
            </a:r>
          </a:p>
          <a:p>
            <a:r>
              <a:rPr lang="en-GB" dirty="0"/>
              <a:t>WS-C - Web Service Coordination</a:t>
            </a:r>
          </a:p>
          <a:p>
            <a:r>
              <a:rPr lang="en-GB" dirty="0"/>
              <a:t>WS-N – Web Service Notification</a:t>
            </a:r>
          </a:p>
          <a:p>
            <a:r>
              <a:rPr lang="en-GB" dirty="0"/>
              <a:t>SCA – Service Component Architecture</a:t>
            </a:r>
          </a:p>
          <a:p>
            <a:endParaRPr lang="en-GB" dirty="0"/>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25</a:t>
            </a:fld>
            <a:endParaRPr lang="en-US" altLang="en-US"/>
          </a:p>
        </p:txBody>
      </p:sp>
    </p:spTree>
    <p:extLst>
      <p:ext uri="{BB962C8B-B14F-4D97-AF65-F5344CB8AC3E}">
        <p14:creationId xmlns:p14="http://schemas.microsoft.com/office/powerpoint/2010/main" val="27079765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GB"/>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GB"/>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GB"/>
              <a:t>Click to 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1A9DAC"/>
                </a:solidFill>
              </a:defRPr>
            </a:lvl1pPr>
          </a:lstStyle>
          <a:p>
            <a:r>
              <a:rPr lang="en-GB"/>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GB"/>
              <a:t>Click to 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lvl1pPr>
              <a:defRPr>
                <a:solidFill>
                  <a:srgbClr val="1A9DAC"/>
                </a:solidFill>
              </a:defRPr>
            </a:lvl1pPr>
          </a:lstStyle>
          <a:p>
            <a:r>
              <a:rPr lang="en-GB"/>
              <a:t>Click to edit Master title style</a:t>
            </a:r>
            <a:endParaRPr lang="en-US" dirty="0"/>
          </a:p>
        </p:txBody>
      </p:sp>
      <p:sp>
        <p:nvSpPr>
          <p:cNvPr id="3" name="Text Placeholder 2"/>
          <p:cNvSpPr>
            <a:spLocks noGrp="1"/>
          </p:cNvSpPr>
          <p:nvPr>
            <p:ph type="body" sz="quarter" idx="11"/>
          </p:nvPr>
        </p:nvSpPr>
        <p:spPr>
          <a:xfrm>
            <a:off x="900113" y="1700213"/>
            <a:ext cx="6551612" cy="4465637"/>
          </a:xfrm>
          <a:prstGeom prst="rect">
            <a:avLst/>
          </a:prstGeom>
        </p:spPr>
        <p:txBody>
          <a:bodyPr lIns="0" tIns="0" rIns="0" bIns="0"/>
          <a:lstStyle>
            <a:lvl1pPr marL="266700" indent="-266700">
              <a:buClr>
                <a:srgbClr val="1A9DAC"/>
              </a:buClr>
              <a:buFont typeface="+mj-lt"/>
              <a:buAutoNum type="arabicPeriod"/>
              <a:defRPr sz="18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GB"/>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lvl1pPr>
              <a:defRPr>
                <a:solidFill>
                  <a:srgbClr val="1A9DAC"/>
                </a:solidFill>
              </a:defRPr>
            </a:lvl1pPr>
          </a:lstStyle>
          <a:p>
            <a:r>
              <a:rPr lang="en-GB"/>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lvl1pPr>
              <a:defRPr>
                <a:solidFill>
                  <a:srgbClr val="1A9DAC"/>
                </a:solidFill>
              </a:defRPr>
            </a:lvl1pPr>
          </a:lstStyle>
          <a:p>
            <a:r>
              <a:rPr lang="en-GB"/>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0"/>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GB"/>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GB"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lvl1pPr>
              <a:defRPr>
                <a:solidFill>
                  <a:srgbClr val="1A9DAC"/>
                </a:solidFill>
              </a:defRPr>
            </a:lvl1pPr>
          </a:lstStyle>
          <a:p>
            <a:r>
              <a:rPr lang="en-GB"/>
              <a:t>Click to edit Master title style</a:t>
            </a:r>
            <a:endParaRPr lang="en-US" dirty="0"/>
          </a:p>
        </p:txBody>
      </p:sp>
      <p:sp>
        <p:nvSpPr>
          <p:cNvPr id="6" name="Text Placeholder 5"/>
          <p:cNvSpPr>
            <a:spLocks noGrp="1"/>
          </p:cNvSpPr>
          <p:nvPr>
            <p:ph type="body" sz="quarter" idx="11"/>
          </p:nvPr>
        </p:nvSpPr>
        <p:spPr>
          <a:xfrm>
            <a:off x="899592" y="1628800"/>
            <a:ext cx="3312368"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GB"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lvl1pPr>
              <a:defRPr>
                <a:solidFill>
                  <a:srgbClr val="1A9DAC"/>
                </a:solidFill>
              </a:defRPr>
            </a:lvl1pPr>
          </a:lstStyle>
          <a:p>
            <a:r>
              <a:rPr lang="en-GB"/>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GB"/>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lvl1pPr>
              <a:defRPr>
                <a:solidFill>
                  <a:srgbClr val="1A9DAC"/>
                </a:solidFill>
              </a:defRPr>
            </a:lvl1pPr>
          </a:lstStyle>
          <a:p>
            <a:r>
              <a:rPr lang="en-GB"/>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GB"/>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GB"/>
              <a:t>Click icon to add picture</a:t>
            </a:r>
            <a:endParaRPr lang="en-US"/>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GB"/>
              <a:t>Click icon to add picture</a:t>
            </a:r>
            <a:endParaRPr lang="en-US"/>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GB"/>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6"/>
            <a:ext cx="7886700" cy="768356"/>
          </a:xfrm>
        </p:spPr>
        <p:txBody>
          <a:bodyPr/>
          <a:lstStyle/>
          <a:p>
            <a:r>
              <a:rPr lang="en-GB"/>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GB"/>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GB"/>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GB"/>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224136"/>
          </a:xfrm>
        </p:spPr>
        <p:txBody>
          <a:bodyPr/>
          <a:lstStyle/>
          <a:p>
            <a:r>
              <a:rPr lang="en-GB"/>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GB"/>
              <a:t>Click to edit Master title style</a:t>
            </a:r>
            <a:endParaRPr lang="en-GB" dirty="0"/>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467544" y="2349500"/>
            <a:ext cx="4104456"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dirty="0"/>
              <a:t>100%</a:t>
            </a:r>
            <a:endParaRPr lang="en-GB" dirty="0"/>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4716016" y="2349500"/>
            <a:ext cx="3672334" cy="2879725"/>
          </a:xfrm>
          <a:prstGeom prst="rect">
            <a:avLst/>
          </a:prstGeom>
        </p:spPr>
        <p:txBody>
          <a:bodyPr/>
          <a:lstStyle>
            <a:lvl1pPr marL="0" indent="0">
              <a:buNone/>
              <a:defRPr sz="1800">
                <a:solidFill>
                  <a:srgbClr val="199DAC"/>
                </a:solidFill>
              </a:defRPr>
            </a:lvl1pPr>
            <a:lvl2pPr marL="609600" indent="0">
              <a:buNone/>
              <a:defRPr sz="1800">
                <a:solidFill>
                  <a:srgbClr val="199DAC"/>
                </a:solidFill>
              </a:defRPr>
            </a:lvl2pPr>
            <a:lvl3pPr marL="1219200" indent="0">
              <a:buNone/>
              <a:defRPr sz="1800">
                <a:solidFill>
                  <a:srgbClr val="199DAC"/>
                </a:solidFill>
              </a:defRPr>
            </a:lvl3pPr>
            <a:lvl4pPr marL="1828800" indent="0">
              <a:buNone/>
              <a:defRPr sz="1800">
                <a:solidFill>
                  <a:srgbClr val="199DAC"/>
                </a:solidFill>
              </a:defRPr>
            </a:lvl4pPr>
            <a:lvl5pPr marL="2438400" indent="0">
              <a:buNone/>
              <a:defRPr sz="1800">
                <a:solidFill>
                  <a:srgbClr val="199DAC"/>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628650" y="5157192"/>
            <a:ext cx="7472363"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1465793842"/>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6"/>
            <a:ext cx="7886700" cy="1325563"/>
          </a:xfrm>
          <a:prstGeom prst="rect">
            <a:avLst/>
          </a:prstGeom>
        </p:spPr>
        <p:txBody>
          <a:bodyPr vert="horz" lIns="0" tIns="0" rIns="0" bIns="0" rtlCol="0" anchor="t" anchorCtr="0">
            <a:normAutofit/>
          </a:bodyPr>
          <a:lstStyle/>
          <a:p>
            <a:r>
              <a:rPr lang="en-GB"/>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6" r:id="rId14"/>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4C6A-CA2E-4C35-8BA5-916C10203F2E}"/>
              </a:ext>
            </a:extLst>
          </p:cNvPr>
          <p:cNvSpPr>
            <a:spLocks noGrp="1"/>
          </p:cNvSpPr>
          <p:nvPr>
            <p:ph type="title"/>
          </p:nvPr>
        </p:nvSpPr>
        <p:spPr/>
        <p:txBody>
          <a:bodyPr>
            <a:normAutofit/>
          </a:bodyPr>
          <a:lstStyle/>
          <a:p>
            <a:r>
              <a:rPr lang="en-GB" sz="3600" dirty="0"/>
              <a:t>SOAP Based Web Services</a:t>
            </a:r>
            <a:br>
              <a:rPr lang="en-GB" altLang="en-US" sz="3600" dirty="0">
                <a:ea typeface="ＭＳ Ｐゴシック" charset="-128"/>
              </a:rPr>
            </a:br>
            <a:endParaRPr lang="en-GB" dirty="0"/>
          </a:p>
        </p:txBody>
      </p:sp>
      <p:sp>
        <p:nvSpPr>
          <p:cNvPr id="3" name="Text Placeholder 2">
            <a:extLst>
              <a:ext uri="{FF2B5EF4-FFF2-40B4-BE49-F238E27FC236}">
                <a16:creationId xmlns:a16="http://schemas.microsoft.com/office/drawing/2014/main" id="{876BE806-4523-4FEC-B19F-B5D4FF00D6A6}"/>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FA5FC82F-1F0B-4D11-BC78-0C43FDE0F394}"/>
              </a:ext>
            </a:extLst>
          </p:cNvPr>
          <p:cNvSpPr>
            <a:spLocks noGrp="1"/>
          </p:cNvSpPr>
          <p:nvPr>
            <p:ph type="body" sz="quarter" idx="16"/>
          </p:nvPr>
        </p:nvSpPr>
        <p:spPr/>
        <p:txBody>
          <a:bodyPr/>
          <a:lstStyle/>
          <a:p>
            <a:r>
              <a:rPr lang="en-GB" dirty="0"/>
              <a:t>Dr David Wyatt</a:t>
            </a:r>
          </a:p>
        </p:txBody>
      </p:sp>
      <p:sp>
        <p:nvSpPr>
          <p:cNvPr id="6" name="Text Placeholder 5">
            <a:extLst>
              <a:ext uri="{FF2B5EF4-FFF2-40B4-BE49-F238E27FC236}">
                <a16:creationId xmlns:a16="http://schemas.microsoft.com/office/drawing/2014/main" id="{8AF42F57-4342-4892-B2AD-019DCDCB61B2}"/>
              </a:ext>
            </a:extLst>
          </p:cNvPr>
          <p:cNvSpPr>
            <a:spLocks noGrp="1"/>
          </p:cNvSpPr>
          <p:nvPr>
            <p:ph type="body" sz="quarter" idx="18"/>
          </p:nvPr>
        </p:nvSpPr>
        <p:spPr/>
        <p:txBody>
          <a:bodyPr lIns="0" tIns="0" rIns="0" bIns="0" anchor="t"/>
          <a:lstStyle/>
          <a:p>
            <a:endParaRPr lang="en-GB" dirty="0"/>
          </a:p>
        </p:txBody>
      </p:sp>
    </p:spTree>
    <p:extLst>
      <p:ext uri="{BB962C8B-B14F-4D97-AF65-F5344CB8AC3E}">
        <p14:creationId xmlns:p14="http://schemas.microsoft.com/office/powerpoint/2010/main" val="3764760811"/>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93DA-9975-43A2-9678-60BDA25B6C21}"/>
              </a:ext>
            </a:extLst>
          </p:cNvPr>
          <p:cNvSpPr>
            <a:spLocks noGrp="1"/>
          </p:cNvSpPr>
          <p:nvPr>
            <p:ph type="title"/>
          </p:nvPr>
        </p:nvSpPr>
        <p:spPr/>
        <p:txBody>
          <a:bodyPr/>
          <a:lstStyle/>
          <a:p>
            <a:r>
              <a:rPr lang="en-GB" dirty="0"/>
              <a:t>Session Plan</a:t>
            </a:r>
          </a:p>
        </p:txBody>
      </p:sp>
      <p:sp>
        <p:nvSpPr>
          <p:cNvPr id="3" name="Text Placeholder 2">
            <a:extLst>
              <a:ext uri="{FF2B5EF4-FFF2-40B4-BE49-F238E27FC236}">
                <a16:creationId xmlns:a16="http://schemas.microsoft.com/office/drawing/2014/main" id="{D1474684-16B6-4667-AD9F-523AB5D333B5}"/>
              </a:ext>
            </a:extLst>
          </p:cNvPr>
          <p:cNvSpPr>
            <a:spLocks noGrp="1"/>
          </p:cNvSpPr>
          <p:nvPr>
            <p:ph type="body" sz="quarter" idx="11"/>
          </p:nvPr>
        </p:nvSpPr>
        <p:spPr>
          <a:xfrm>
            <a:off x="899591" y="1340768"/>
            <a:ext cx="6551612" cy="4608512"/>
          </a:xfrm>
        </p:spPr>
        <p:txBody>
          <a:bodyPr/>
          <a:lstStyle/>
          <a:p>
            <a:r>
              <a:rPr lang="en-GB" dirty="0"/>
              <a:t>Monolithic Vs SOA Vs Microservices</a:t>
            </a:r>
          </a:p>
          <a:p>
            <a:r>
              <a:rPr lang="en-GB" dirty="0"/>
              <a:t>Service-Oriented Architecture (SOA)</a:t>
            </a:r>
          </a:p>
          <a:p>
            <a:pPr lvl="1"/>
            <a:r>
              <a:rPr lang="en-GB" dirty="0"/>
              <a:t>Why SOA?</a:t>
            </a:r>
          </a:p>
          <a:p>
            <a:pPr lvl="1"/>
            <a:r>
              <a:rPr lang="en-GB" dirty="0"/>
              <a:t>SOA Architectural Principles</a:t>
            </a:r>
          </a:p>
          <a:p>
            <a:r>
              <a:rPr lang="en-GB" dirty="0"/>
              <a:t>Web Services</a:t>
            </a:r>
          </a:p>
          <a:p>
            <a:pPr lvl="1"/>
            <a:r>
              <a:rPr lang="en-GB" dirty="0"/>
              <a:t>Web Service Characteristics</a:t>
            </a:r>
          </a:p>
          <a:p>
            <a:pPr lvl="1"/>
            <a:r>
              <a:rPr lang="en-GB" dirty="0"/>
              <a:t>Web Service Roles</a:t>
            </a:r>
          </a:p>
          <a:p>
            <a:pPr lvl="1"/>
            <a:r>
              <a:rPr lang="en-GB" dirty="0"/>
              <a:t>Web Service Protocol Stack</a:t>
            </a:r>
          </a:p>
          <a:p>
            <a:pPr lvl="1"/>
            <a:r>
              <a:rPr lang="en-GB" dirty="0"/>
              <a:t>UDDI</a:t>
            </a:r>
          </a:p>
          <a:p>
            <a:r>
              <a:rPr lang="en-GB" dirty="0"/>
              <a:t>SOAP</a:t>
            </a:r>
          </a:p>
          <a:p>
            <a:pPr lvl="1"/>
            <a:r>
              <a:rPr lang="en-GB" dirty="0"/>
              <a:t>Simple Object Access Protocol  (SOAP)</a:t>
            </a:r>
          </a:p>
          <a:p>
            <a:pPr lvl="1"/>
            <a:r>
              <a:rPr lang="en-GB" dirty="0"/>
              <a:t>SOAP Service Architecture</a:t>
            </a:r>
          </a:p>
          <a:p>
            <a:pPr lvl="1"/>
            <a:r>
              <a:rPr lang="en-GB" dirty="0"/>
              <a:t>Overview of SOAP</a:t>
            </a:r>
          </a:p>
          <a:p>
            <a:pPr lvl="1"/>
            <a:r>
              <a:rPr lang="en-GB" dirty="0"/>
              <a:t>SOAP Message (Building blocks)</a:t>
            </a:r>
          </a:p>
          <a:p>
            <a:pPr lvl="1"/>
            <a:r>
              <a:rPr lang="en-GB" dirty="0"/>
              <a:t>Example SOAP Web Services</a:t>
            </a:r>
          </a:p>
          <a:p>
            <a:r>
              <a:rPr lang="en-GB" dirty="0"/>
              <a:t>Web Services Description Language (WSDL)</a:t>
            </a:r>
          </a:p>
          <a:p>
            <a:endParaRPr lang="en-GB" dirty="0"/>
          </a:p>
        </p:txBody>
      </p:sp>
    </p:spTree>
    <p:extLst>
      <p:ext uri="{BB962C8B-B14F-4D97-AF65-F5344CB8AC3E}">
        <p14:creationId xmlns:p14="http://schemas.microsoft.com/office/powerpoint/2010/main" val="1719998758"/>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BAF34-31BB-4939-08B4-6118237CF545}"/>
              </a:ext>
            </a:extLst>
          </p:cNvPr>
          <p:cNvSpPr>
            <a:spLocks noGrp="1"/>
          </p:cNvSpPr>
          <p:nvPr>
            <p:ph type="title"/>
          </p:nvPr>
        </p:nvSpPr>
        <p:spPr/>
        <p:txBody>
          <a:bodyPr>
            <a:normAutofit/>
          </a:bodyPr>
          <a:lstStyle/>
          <a:p>
            <a:r>
              <a:rPr lang="en-GB" dirty="0"/>
              <a:t>Monolithic Vs SOA Vs Microservices</a:t>
            </a:r>
          </a:p>
        </p:txBody>
      </p:sp>
      <p:sp>
        <p:nvSpPr>
          <p:cNvPr id="4" name="Rounded Rectangle 3">
            <a:extLst>
              <a:ext uri="{FF2B5EF4-FFF2-40B4-BE49-F238E27FC236}">
                <a16:creationId xmlns:a16="http://schemas.microsoft.com/office/drawing/2014/main" id="{50FEABAD-DE20-4749-FAD6-AB0DD8F7CF4D}"/>
              </a:ext>
              <a:ext uri="{C183D7F6-B498-43B3-948B-1728B52AA6E4}">
                <adec:decorative xmlns:adec="http://schemas.microsoft.com/office/drawing/2017/decorative" val="1"/>
              </a:ext>
            </a:extLst>
          </p:cNvPr>
          <p:cNvSpPr/>
          <p:nvPr/>
        </p:nvSpPr>
        <p:spPr>
          <a:xfrm>
            <a:off x="1040424" y="2504466"/>
            <a:ext cx="1662477" cy="16732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3548A897-2349-FB67-ECA1-22AEA647518C}"/>
              </a:ext>
              <a:ext uri="{C183D7F6-B498-43B3-948B-1728B52AA6E4}">
                <adec:decorative xmlns:adec="http://schemas.microsoft.com/office/drawing/2017/decorative" val="1"/>
              </a:ext>
            </a:extLst>
          </p:cNvPr>
          <p:cNvSpPr/>
          <p:nvPr/>
        </p:nvSpPr>
        <p:spPr>
          <a:xfrm>
            <a:off x="3519041" y="2586254"/>
            <a:ext cx="570786" cy="5847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9805BC5F-9054-1CF3-B166-D17BD193153F}"/>
              </a:ext>
              <a:ext uri="{C183D7F6-B498-43B3-948B-1728B52AA6E4}">
                <adec:decorative xmlns:adec="http://schemas.microsoft.com/office/drawing/2017/decorative" val="1"/>
              </a:ext>
            </a:extLst>
          </p:cNvPr>
          <p:cNvSpPr/>
          <p:nvPr/>
        </p:nvSpPr>
        <p:spPr>
          <a:xfrm>
            <a:off x="4562239" y="2540561"/>
            <a:ext cx="570786" cy="5847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2BD56501-8EC0-22F1-2286-1E1120C3C657}"/>
              </a:ext>
              <a:ext uri="{C183D7F6-B498-43B3-948B-1728B52AA6E4}">
                <adec:decorative xmlns:adec="http://schemas.microsoft.com/office/drawing/2017/decorative" val="1"/>
              </a:ext>
            </a:extLst>
          </p:cNvPr>
          <p:cNvSpPr/>
          <p:nvPr/>
        </p:nvSpPr>
        <p:spPr>
          <a:xfrm>
            <a:off x="3519041" y="3440276"/>
            <a:ext cx="570786" cy="5847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E5D59DBF-C032-D024-7115-E9411A7BE21D}"/>
              </a:ext>
              <a:ext uri="{C183D7F6-B498-43B3-948B-1728B52AA6E4}">
                <adec:decorative xmlns:adec="http://schemas.microsoft.com/office/drawing/2017/decorative" val="1"/>
              </a:ext>
            </a:extLst>
          </p:cNvPr>
          <p:cNvSpPr/>
          <p:nvPr/>
        </p:nvSpPr>
        <p:spPr>
          <a:xfrm>
            <a:off x="4557548" y="3440276"/>
            <a:ext cx="570786" cy="5847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97485A73-6FDF-1842-1810-5C98BCB12202}"/>
              </a:ext>
              <a:ext uri="{C183D7F6-B498-43B3-948B-1728B52AA6E4}">
                <adec:decorative xmlns:adec="http://schemas.microsoft.com/office/drawing/2017/decorative" val="1"/>
              </a:ext>
            </a:extLst>
          </p:cNvPr>
          <p:cNvSpPr/>
          <p:nvPr/>
        </p:nvSpPr>
        <p:spPr>
          <a:xfrm>
            <a:off x="6131689" y="1887151"/>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9A45C91B-34A7-CF5A-2BB7-13AEBAB644AB}"/>
              </a:ext>
              <a:ext uri="{C183D7F6-B498-43B3-948B-1728B52AA6E4}">
                <adec:decorative xmlns:adec="http://schemas.microsoft.com/office/drawing/2017/decorative" val="1"/>
              </a:ext>
            </a:extLst>
          </p:cNvPr>
          <p:cNvSpPr/>
          <p:nvPr/>
        </p:nvSpPr>
        <p:spPr>
          <a:xfrm>
            <a:off x="6691862" y="1887151"/>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77BD64CF-F3D5-BE8D-B1CD-2C400FE7EBFE}"/>
              </a:ext>
              <a:ext uri="{C183D7F6-B498-43B3-948B-1728B52AA6E4}">
                <adec:decorative xmlns:adec="http://schemas.microsoft.com/office/drawing/2017/decorative" val="1"/>
              </a:ext>
            </a:extLst>
          </p:cNvPr>
          <p:cNvSpPr/>
          <p:nvPr/>
        </p:nvSpPr>
        <p:spPr>
          <a:xfrm>
            <a:off x="6158460" y="2433334"/>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F38FF6EC-FFDA-74F2-CA4E-B1CEE860C69C}"/>
              </a:ext>
              <a:ext uri="{C183D7F6-B498-43B3-948B-1728B52AA6E4}">
                <adec:decorative xmlns:adec="http://schemas.microsoft.com/office/drawing/2017/decorative" val="1"/>
              </a:ext>
            </a:extLst>
          </p:cNvPr>
          <p:cNvSpPr/>
          <p:nvPr/>
        </p:nvSpPr>
        <p:spPr>
          <a:xfrm>
            <a:off x="6691862" y="2433333"/>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55CE2138-9E6E-912C-A250-CDA9FC8436D7}"/>
              </a:ext>
              <a:ext uri="{C183D7F6-B498-43B3-948B-1728B52AA6E4}">
                <adec:decorative xmlns:adec="http://schemas.microsoft.com/office/drawing/2017/decorative" val="1"/>
              </a:ext>
            </a:extLst>
          </p:cNvPr>
          <p:cNvSpPr/>
          <p:nvPr/>
        </p:nvSpPr>
        <p:spPr>
          <a:xfrm>
            <a:off x="7229385" y="1887151"/>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C154F907-50C6-40BF-AEE8-F854809AC33B}"/>
              </a:ext>
              <a:ext uri="{C183D7F6-B498-43B3-948B-1728B52AA6E4}">
                <adec:decorative xmlns:adec="http://schemas.microsoft.com/office/drawing/2017/decorative" val="1"/>
              </a:ext>
            </a:extLst>
          </p:cNvPr>
          <p:cNvSpPr/>
          <p:nvPr/>
        </p:nvSpPr>
        <p:spPr>
          <a:xfrm>
            <a:off x="7789558" y="1887151"/>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39FAD903-0C99-01B4-3254-4FED9DEBD111}"/>
              </a:ext>
              <a:ext uri="{C183D7F6-B498-43B3-948B-1728B52AA6E4}">
                <adec:decorative xmlns:adec="http://schemas.microsoft.com/office/drawing/2017/decorative" val="1"/>
              </a:ext>
            </a:extLst>
          </p:cNvPr>
          <p:cNvSpPr/>
          <p:nvPr/>
        </p:nvSpPr>
        <p:spPr>
          <a:xfrm>
            <a:off x="7256156" y="2433334"/>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09839E15-2CCC-B354-7E39-F5172FF174A3}"/>
              </a:ext>
              <a:ext uri="{C183D7F6-B498-43B3-948B-1728B52AA6E4}">
                <adec:decorative xmlns:adec="http://schemas.microsoft.com/office/drawing/2017/decorative" val="1"/>
              </a:ext>
            </a:extLst>
          </p:cNvPr>
          <p:cNvSpPr/>
          <p:nvPr/>
        </p:nvSpPr>
        <p:spPr>
          <a:xfrm>
            <a:off x="7789558" y="2433333"/>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51F6236-8A2E-6139-306C-BDF3AD452FF4}"/>
              </a:ext>
              <a:ext uri="{C183D7F6-B498-43B3-948B-1728B52AA6E4}">
                <adec:decorative xmlns:adec="http://schemas.microsoft.com/office/drawing/2017/decorative" val="1"/>
              </a:ext>
            </a:extLst>
          </p:cNvPr>
          <p:cNvSpPr/>
          <p:nvPr/>
        </p:nvSpPr>
        <p:spPr>
          <a:xfrm>
            <a:off x="6131689" y="2925973"/>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60AE0FA6-1C94-12EA-BE9A-97959A34881A}"/>
              </a:ext>
              <a:ext uri="{C183D7F6-B498-43B3-948B-1728B52AA6E4}">
                <adec:decorative xmlns:adec="http://schemas.microsoft.com/office/drawing/2017/decorative" val="1"/>
              </a:ext>
            </a:extLst>
          </p:cNvPr>
          <p:cNvSpPr/>
          <p:nvPr/>
        </p:nvSpPr>
        <p:spPr>
          <a:xfrm>
            <a:off x="6691862" y="2925973"/>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A6DF082A-207F-79F6-FC2A-2480F7881304}"/>
              </a:ext>
              <a:ext uri="{C183D7F6-B498-43B3-948B-1728B52AA6E4}">
                <adec:decorative xmlns:adec="http://schemas.microsoft.com/office/drawing/2017/decorative" val="1"/>
              </a:ext>
            </a:extLst>
          </p:cNvPr>
          <p:cNvSpPr/>
          <p:nvPr/>
        </p:nvSpPr>
        <p:spPr>
          <a:xfrm>
            <a:off x="6158460" y="3472156"/>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BE263731-8DAD-C71A-C7CA-70EA555F190B}"/>
              </a:ext>
              <a:ext uri="{C183D7F6-B498-43B3-948B-1728B52AA6E4}">
                <adec:decorative xmlns:adec="http://schemas.microsoft.com/office/drawing/2017/decorative" val="1"/>
              </a:ext>
            </a:extLst>
          </p:cNvPr>
          <p:cNvSpPr/>
          <p:nvPr/>
        </p:nvSpPr>
        <p:spPr>
          <a:xfrm>
            <a:off x="6691862" y="3472155"/>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48137C24-4696-ED74-7C4B-8C5C6E086E04}"/>
              </a:ext>
              <a:ext uri="{C183D7F6-B498-43B3-948B-1728B52AA6E4}">
                <adec:decorative xmlns:adec="http://schemas.microsoft.com/office/drawing/2017/decorative" val="1"/>
              </a:ext>
            </a:extLst>
          </p:cNvPr>
          <p:cNvSpPr/>
          <p:nvPr/>
        </p:nvSpPr>
        <p:spPr>
          <a:xfrm>
            <a:off x="7273665" y="2925972"/>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30DD11F0-6D7C-35D2-2EC1-FB8AA5EF056C}"/>
              </a:ext>
              <a:ext uri="{C183D7F6-B498-43B3-948B-1728B52AA6E4}">
                <adec:decorative xmlns:adec="http://schemas.microsoft.com/office/drawing/2017/decorative" val="1"/>
              </a:ext>
            </a:extLst>
          </p:cNvPr>
          <p:cNvSpPr/>
          <p:nvPr/>
        </p:nvSpPr>
        <p:spPr>
          <a:xfrm>
            <a:off x="7833838" y="2925972"/>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7D5C563F-A578-C8EF-E3FC-D09C15CA1E5F}"/>
              </a:ext>
              <a:ext uri="{C183D7F6-B498-43B3-948B-1728B52AA6E4}">
                <adec:decorative xmlns:adec="http://schemas.microsoft.com/office/drawing/2017/decorative" val="1"/>
              </a:ext>
            </a:extLst>
          </p:cNvPr>
          <p:cNvSpPr/>
          <p:nvPr/>
        </p:nvSpPr>
        <p:spPr>
          <a:xfrm>
            <a:off x="7300436" y="3472155"/>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F051E3CF-3FDA-0C7F-D68F-30B1A6DF1005}"/>
              </a:ext>
              <a:ext uri="{C183D7F6-B498-43B3-948B-1728B52AA6E4}">
                <adec:decorative xmlns:adec="http://schemas.microsoft.com/office/drawing/2017/decorative" val="1"/>
              </a:ext>
            </a:extLst>
          </p:cNvPr>
          <p:cNvSpPr/>
          <p:nvPr/>
        </p:nvSpPr>
        <p:spPr>
          <a:xfrm>
            <a:off x="7833838" y="3472154"/>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9800C20B-14BD-9D26-D688-40ABA8D139C5}"/>
              </a:ext>
              <a:ext uri="{C183D7F6-B498-43B3-948B-1728B52AA6E4}">
                <adec:decorative xmlns:adec="http://schemas.microsoft.com/office/drawing/2017/decorative" val="1"/>
              </a:ext>
            </a:extLst>
          </p:cNvPr>
          <p:cNvSpPr/>
          <p:nvPr/>
        </p:nvSpPr>
        <p:spPr>
          <a:xfrm>
            <a:off x="6185234" y="3995940"/>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CAE5E69C-80DC-4070-B8DB-E5B73CBF6A1F}"/>
              </a:ext>
              <a:ext uri="{C183D7F6-B498-43B3-948B-1728B52AA6E4}">
                <adec:decorative xmlns:adec="http://schemas.microsoft.com/office/drawing/2017/decorative" val="1"/>
              </a:ext>
            </a:extLst>
          </p:cNvPr>
          <p:cNvSpPr/>
          <p:nvPr/>
        </p:nvSpPr>
        <p:spPr>
          <a:xfrm>
            <a:off x="6718636" y="3995939"/>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6EC91175-6EF7-52D2-B114-F495351788F3}"/>
              </a:ext>
              <a:ext uri="{C183D7F6-B498-43B3-948B-1728B52AA6E4}">
                <adec:decorative xmlns:adec="http://schemas.microsoft.com/office/drawing/2017/decorative" val="1"/>
              </a:ext>
            </a:extLst>
          </p:cNvPr>
          <p:cNvSpPr/>
          <p:nvPr/>
        </p:nvSpPr>
        <p:spPr>
          <a:xfrm>
            <a:off x="7327210" y="3995939"/>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627D495C-FF26-07AD-17A9-91F1873A31E6}"/>
              </a:ext>
              <a:ext uri="{C183D7F6-B498-43B3-948B-1728B52AA6E4}">
                <adec:decorative xmlns:adec="http://schemas.microsoft.com/office/drawing/2017/decorative" val="1"/>
              </a:ext>
            </a:extLst>
          </p:cNvPr>
          <p:cNvSpPr/>
          <p:nvPr/>
        </p:nvSpPr>
        <p:spPr>
          <a:xfrm>
            <a:off x="7860612" y="3995938"/>
            <a:ext cx="171910" cy="18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3F0F756E-3622-A44B-C233-DE0D39B6D8A1}"/>
              </a:ext>
            </a:extLst>
          </p:cNvPr>
          <p:cNvSpPr txBox="1"/>
          <p:nvPr/>
        </p:nvSpPr>
        <p:spPr>
          <a:xfrm>
            <a:off x="806009" y="4553058"/>
            <a:ext cx="2131306" cy="584775"/>
          </a:xfrm>
          <a:prstGeom prst="rect">
            <a:avLst/>
          </a:prstGeom>
          <a:noFill/>
        </p:spPr>
        <p:txBody>
          <a:bodyPr wrap="square" rtlCol="0">
            <a:spAutoFit/>
          </a:bodyPr>
          <a:lstStyle/>
          <a:p>
            <a:r>
              <a:rPr lang="en-GB" sz="3200" dirty="0"/>
              <a:t>Monolithic</a:t>
            </a:r>
            <a:r>
              <a:rPr lang="en-GB" dirty="0"/>
              <a:t> </a:t>
            </a:r>
          </a:p>
        </p:txBody>
      </p:sp>
      <p:sp>
        <p:nvSpPr>
          <p:cNvPr id="30" name="TextBox 29">
            <a:extLst>
              <a:ext uri="{FF2B5EF4-FFF2-40B4-BE49-F238E27FC236}">
                <a16:creationId xmlns:a16="http://schemas.microsoft.com/office/drawing/2014/main" id="{B977D418-172A-35FE-6D40-F1C3A9D5B4B8}"/>
              </a:ext>
            </a:extLst>
          </p:cNvPr>
          <p:cNvSpPr txBox="1"/>
          <p:nvPr/>
        </p:nvSpPr>
        <p:spPr>
          <a:xfrm>
            <a:off x="3644652" y="4553058"/>
            <a:ext cx="1415860" cy="584775"/>
          </a:xfrm>
          <a:prstGeom prst="rect">
            <a:avLst/>
          </a:prstGeom>
          <a:noFill/>
        </p:spPr>
        <p:txBody>
          <a:bodyPr wrap="square" rtlCol="0">
            <a:spAutoFit/>
          </a:bodyPr>
          <a:lstStyle/>
          <a:p>
            <a:pPr algn="ctr"/>
            <a:r>
              <a:rPr lang="en-GB" sz="3200" dirty="0"/>
              <a:t>SOA</a:t>
            </a:r>
            <a:r>
              <a:rPr lang="en-GB" dirty="0"/>
              <a:t> </a:t>
            </a:r>
          </a:p>
        </p:txBody>
      </p:sp>
      <p:sp>
        <p:nvSpPr>
          <p:cNvPr id="31" name="TextBox 30">
            <a:extLst>
              <a:ext uri="{FF2B5EF4-FFF2-40B4-BE49-F238E27FC236}">
                <a16:creationId xmlns:a16="http://schemas.microsoft.com/office/drawing/2014/main" id="{98B50956-C33A-6032-4793-01B68253711D}"/>
              </a:ext>
            </a:extLst>
          </p:cNvPr>
          <p:cNvSpPr txBox="1"/>
          <p:nvPr/>
        </p:nvSpPr>
        <p:spPr>
          <a:xfrm>
            <a:off x="5767849" y="4553058"/>
            <a:ext cx="2878036" cy="584775"/>
          </a:xfrm>
          <a:prstGeom prst="rect">
            <a:avLst/>
          </a:prstGeom>
          <a:noFill/>
        </p:spPr>
        <p:txBody>
          <a:bodyPr wrap="square" rtlCol="0">
            <a:spAutoFit/>
          </a:bodyPr>
          <a:lstStyle/>
          <a:p>
            <a:r>
              <a:rPr lang="en-GB" sz="3200" dirty="0"/>
              <a:t>Microservices</a:t>
            </a:r>
            <a:r>
              <a:rPr lang="en-GB" dirty="0"/>
              <a:t> </a:t>
            </a:r>
          </a:p>
        </p:txBody>
      </p:sp>
    </p:spTree>
    <p:extLst>
      <p:ext uri="{BB962C8B-B14F-4D97-AF65-F5344CB8AC3E}">
        <p14:creationId xmlns:p14="http://schemas.microsoft.com/office/powerpoint/2010/main" val="2813317470"/>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FE082-5114-94A2-5950-4718ECB4E342}"/>
              </a:ext>
            </a:extLst>
          </p:cNvPr>
          <p:cNvSpPr>
            <a:spLocks noGrp="1"/>
          </p:cNvSpPr>
          <p:nvPr>
            <p:ph type="title"/>
          </p:nvPr>
        </p:nvSpPr>
        <p:spPr/>
        <p:txBody>
          <a:bodyPr>
            <a:normAutofit/>
          </a:bodyPr>
          <a:lstStyle/>
          <a:p>
            <a:r>
              <a:rPr lang="en-GB" dirty="0"/>
              <a:t>Service-Oriented Architecture (SOA)</a:t>
            </a:r>
          </a:p>
        </p:txBody>
      </p:sp>
      <p:sp>
        <p:nvSpPr>
          <p:cNvPr id="3" name="Text Placeholder 2">
            <a:extLst>
              <a:ext uri="{FF2B5EF4-FFF2-40B4-BE49-F238E27FC236}">
                <a16:creationId xmlns:a16="http://schemas.microsoft.com/office/drawing/2014/main" id="{74040F11-D8E8-4F5D-8486-5D74231D74C6}"/>
              </a:ext>
            </a:extLst>
          </p:cNvPr>
          <p:cNvSpPr>
            <a:spLocks noGrp="1"/>
          </p:cNvSpPr>
          <p:nvPr>
            <p:ph type="body" sz="quarter" idx="11"/>
          </p:nvPr>
        </p:nvSpPr>
        <p:spPr>
          <a:xfrm>
            <a:off x="899590" y="1700808"/>
            <a:ext cx="7886699" cy="4608512"/>
          </a:xfrm>
        </p:spPr>
        <p:txBody>
          <a:bodyPr/>
          <a:lstStyle/>
          <a:p>
            <a:r>
              <a:rPr lang="en-GB" sz="2000" b="1" dirty="0"/>
              <a:t>Service Oriented Architecture </a:t>
            </a:r>
            <a:br>
              <a:rPr lang="en-GB" sz="2000" b="1" dirty="0"/>
            </a:br>
            <a:br>
              <a:rPr lang="en-GB" sz="2000" b="1" dirty="0"/>
            </a:br>
            <a:r>
              <a:rPr lang="en-GB" sz="2000" dirty="0"/>
              <a:t>A paradigm for organizing and utilizing </a:t>
            </a:r>
            <a:r>
              <a:rPr lang="en-GB" sz="2000" b="1" dirty="0"/>
              <a:t>distributed</a:t>
            </a:r>
            <a:r>
              <a:rPr lang="en-GB" sz="2000" dirty="0"/>
              <a:t> capabilities that may be under the control of different ownership domains.</a:t>
            </a:r>
          </a:p>
          <a:p>
            <a:r>
              <a:rPr lang="en-GB" sz="2000" dirty="0"/>
              <a:t>solve a large problem can be better constructed, carried out, and managed if it is decomposed into a collection of smaller, related pieces</a:t>
            </a:r>
          </a:p>
          <a:p>
            <a:pPr marL="0" indent="0">
              <a:buNone/>
            </a:pPr>
            <a:r>
              <a:rPr lang="en-GB" sz="2400" b="1" dirty="0"/>
              <a:t>“</a:t>
            </a:r>
            <a:r>
              <a:rPr lang="en-GB" sz="2000" b="1" dirty="0"/>
              <a:t>A set of components which can be invoked, and whose interface descriptions can be published and discovered”  - World Wide Web Consortium (W3C)</a:t>
            </a:r>
            <a:endParaRPr lang="en-GB" sz="2400" b="1" dirty="0"/>
          </a:p>
          <a:p>
            <a:endParaRPr lang="en-GB" dirty="0"/>
          </a:p>
        </p:txBody>
      </p:sp>
    </p:spTree>
    <p:extLst>
      <p:ext uri="{BB962C8B-B14F-4D97-AF65-F5344CB8AC3E}">
        <p14:creationId xmlns:p14="http://schemas.microsoft.com/office/powerpoint/2010/main" val="105129581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A3B9D-492F-453C-23D5-E33C93AD017E}"/>
              </a:ext>
            </a:extLst>
          </p:cNvPr>
          <p:cNvSpPr>
            <a:spLocks noGrp="1"/>
          </p:cNvSpPr>
          <p:nvPr>
            <p:ph type="title"/>
          </p:nvPr>
        </p:nvSpPr>
        <p:spPr/>
        <p:txBody>
          <a:bodyPr>
            <a:normAutofit/>
          </a:bodyPr>
          <a:lstStyle/>
          <a:p>
            <a:r>
              <a:rPr lang="en-GB" dirty="0"/>
              <a:t>Why SOA</a:t>
            </a:r>
          </a:p>
        </p:txBody>
      </p:sp>
      <p:sp>
        <p:nvSpPr>
          <p:cNvPr id="3" name="Text Placeholder 2">
            <a:extLst>
              <a:ext uri="{FF2B5EF4-FFF2-40B4-BE49-F238E27FC236}">
                <a16:creationId xmlns:a16="http://schemas.microsoft.com/office/drawing/2014/main" id="{DB9CD2CA-65FF-F06B-6EE2-52A6F89A52DF}"/>
              </a:ext>
            </a:extLst>
          </p:cNvPr>
          <p:cNvSpPr>
            <a:spLocks noGrp="1"/>
          </p:cNvSpPr>
          <p:nvPr>
            <p:ph type="body" sz="quarter" idx="11"/>
          </p:nvPr>
        </p:nvSpPr>
        <p:spPr>
          <a:xfrm>
            <a:off x="899591" y="1700808"/>
            <a:ext cx="3672409" cy="4608512"/>
          </a:xfrm>
        </p:spPr>
        <p:txBody>
          <a:bodyPr/>
          <a:lstStyle/>
          <a:p>
            <a:r>
              <a:rPr lang="en-US" sz="2000" dirty="0"/>
              <a:t>Promotes architectural </a:t>
            </a:r>
            <a:r>
              <a:rPr lang="en-US" sz="2000" b="1" dirty="0"/>
              <a:t>composability</a:t>
            </a:r>
          </a:p>
          <a:p>
            <a:r>
              <a:rPr lang="en-US" sz="2000" dirty="0"/>
              <a:t>Fosters inherent </a:t>
            </a:r>
            <a:r>
              <a:rPr lang="en-US" sz="2000" b="1" dirty="0"/>
              <a:t>reusability</a:t>
            </a:r>
          </a:p>
          <a:p>
            <a:r>
              <a:rPr lang="en-US" sz="2000" dirty="0"/>
              <a:t>Emphasizes </a:t>
            </a:r>
            <a:r>
              <a:rPr lang="en-US" sz="2000" b="1" dirty="0"/>
              <a:t>extensibility</a:t>
            </a:r>
          </a:p>
          <a:p>
            <a:r>
              <a:rPr lang="en-US" sz="2000" dirty="0"/>
              <a:t>Supports a service-oriented </a:t>
            </a:r>
            <a:r>
              <a:rPr lang="en-US" sz="2000" b="1" dirty="0"/>
              <a:t>business modelling </a:t>
            </a:r>
            <a:r>
              <a:rPr lang="en-US" sz="2000" dirty="0"/>
              <a:t>paradigm</a:t>
            </a:r>
          </a:p>
          <a:p>
            <a:r>
              <a:rPr lang="en-US" sz="2000" dirty="0"/>
              <a:t>Implements layers of </a:t>
            </a:r>
            <a:r>
              <a:rPr lang="en-US" sz="2000" b="1" dirty="0"/>
              <a:t>abstraction</a:t>
            </a:r>
          </a:p>
          <a:p>
            <a:r>
              <a:rPr lang="en-US" sz="2000" dirty="0"/>
              <a:t>Promotes </a:t>
            </a:r>
            <a:r>
              <a:rPr lang="en-US" sz="2000" b="1" dirty="0"/>
              <a:t>loose coupling </a:t>
            </a:r>
            <a:r>
              <a:rPr lang="en-US" sz="2000" dirty="0"/>
              <a:t>throughout the enterprise</a:t>
            </a:r>
          </a:p>
          <a:p>
            <a:r>
              <a:rPr lang="en-US" sz="2000" dirty="0"/>
              <a:t>Promotes organizational </a:t>
            </a:r>
            <a:r>
              <a:rPr lang="en-US" sz="2000" b="1" dirty="0"/>
              <a:t>agility</a:t>
            </a:r>
          </a:p>
          <a:p>
            <a:endParaRPr lang="en-GB" dirty="0"/>
          </a:p>
        </p:txBody>
      </p:sp>
      <p:pic>
        <p:nvPicPr>
          <p:cNvPr id="1026" name="Picture 2" descr="Introducing SOA Technologies - DZone">
            <a:extLst>
              <a:ext uri="{FF2B5EF4-FFF2-40B4-BE49-F238E27FC236}">
                <a16:creationId xmlns:a16="http://schemas.microsoft.com/office/drawing/2014/main" id="{6D808F6E-176B-6C24-2838-F2D718735E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0654" y="1551955"/>
            <a:ext cx="3316982" cy="3754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60257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FA938-8A0A-3632-0EE2-EA53473983C2}"/>
              </a:ext>
            </a:extLst>
          </p:cNvPr>
          <p:cNvSpPr>
            <a:spLocks noGrp="1"/>
          </p:cNvSpPr>
          <p:nvPr>
            <p:ph type="title"/>
          </p:nvPr>
        </p:nvSpPr>
        <p:spPr/>
        <p:txBody>
          <a:bodyPr>
            <a:normAutofit/>
          </a:bodyPr>
          <a:lstStyle/>
          <a:p>
            <a:r>
              <a:rPr lang="en-GB" dirty="0"/>
              <a:t>SOA Architectural Principles</a:t>
            </a:r>
          </a:p>
        </p:txBody>
      </p:sp>
      <p:sp>
        <p:nvSpPr>
          <p:cNvPr id="3" name="Text Placeholder 2">
            <a:extLst>
              <a:ext uri="{FF2B5EF4-FFF2-40B4-BE49-F238E27FC236}">
                <a16:creationId xmlns:a16="http://schemas.microsoft.com/office/drawing/2014/main" id="{ACBFC0ED-256C-D906-88ED-6963E7832B37}"/>
              </a:ext>
            </a:extLst>
          </p:cNvPr>
          <p:cNvSpPr>
            <a:spLocks noGrp="1"/>
          </p:cNvSpPr>
          <p:nvPr>
            <p:ph type="body" sz="quarter" idx="11"/>
          </p:nvPr>
        </p:nvSpPr>
        <p:spPr>
          <a:xfrm>
            <a:off x="899590" y="1700808"/>
            <a:ext cx="7416825" cy="4752528"/>
          </a:xfrm>
        </p:spPr>
        <p:txBody>
          <a:bodyPr/>
          <a:lstStyle/>
          <a:p>
            <a:pPr marL="9525" indent="0">
              <a:buNone/>
            </a:pPr>
            <a:r>
              <a:rPr lang="en-US" sz="2000" b="1" dirty="0"/>
              <a:t>Loose coupling</a:t>
            </a:r>
          </a:p>
          <a:p>
            <a:pPr lvl="1"/>
            <a:r>
              <a:rPr lang="en-US" dirty="0"/>
              <a:t>Services maintain a relationship that minimizes dependencies and only maintains an awareness of each other</a:t>
            </a:r>
          </a:p>
          <a:p>
            <a:pPr marL="9525" indent="0">
              <a:buNone/>
            </a:pPr>
            <a:endParaRPr lang="en-US" sz="2000" b="1" dirty="0"/>
          </a:p>
          <a:p>
            <a:pPr marL="9525" indent="0">
              <a:buNone/>
            </a:pPr>
            <a:r>
              <a:rPr lang="en-US" sz="2000" b="1" dirty="0"/>
              <a:t>Service contract</a:t>
            </a:r>
          </a:p>
          <a:p>
            <a:pPr lvl="1"/>
            <a:r>
              <a:rPr lang="en-US" dirty="0"/>
              <a:t>Services adhere to a communications agreement as defined collectively by one or more service description documents</a:t>
            </a:r>
          </a:p>
          <a:p>
            <a:endParaRPr lang="en-US" sz="2000" dirty="0"/>
          </a:p>
          <a:p>
            <a:pPr marL="9525" indent="0">
              <a:buNone/>
            </a:pPr>
            <a:r>
              <a:rPr lang="en-US" sz="2000" b="1" dirty="0"/>
              <a:t>Service abstraction</a:t>
            </a:r>
          </a:p>
          <a:p>
            <a:pPr lvl="1"/>
            <a:r>
              <a:rPr lang="en-US" dirty="0"/>
              <a:t>Beyond what is described in the service contract, services hide logic from the outside world</a:t>
            </a:r>
          </a:p>
          <a:p>
            <a:endParaRPr lang="en-US" sz="2000" dirty="0"/>
          </a:p>
          <a:p>
            <a:pPr marL="9525" indent="0">
              <a:buNone/>
            </a:pPr>
            <a:r>
              <a:rPr lang="en-US" sz="2000" b="1" dirty="0"/>
              <a:t>Service reusability</a:t>
            </a:r>
          </a:p>
          <a:p>
            <a:pPr lvl="1"/>
            <a:r>
              <a:rPr lang="en-US" dirty="0"/>
              <a:t>Logic is divided into services with the intention of promoting reuse</a:t>
            </a:r>
          </a:p>
          <a:p>
            <a:endParaRPr lang="en-GB" sz="2000" dirty="0"/>
          </a:p>
        </p:txBody>
      </p:sp>
    </p:spTree>
    <p:extLst>
      <p:ext uri="{BB962C8B-B14F-4D97-AF65-F5344CB8AC3E}">
        <p14:creationId xmlns:p14="http://schemas.microsoft.com/office/powerpoint/2010/main" val="213939808"/>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41DB4-6E83-6743-B39C-9C75FC088879}"/>
              </a:ext>
            </a:extLst>
          </p:cNvPr>
          <p:cNvSpPr>
            <a:spLocks noGrp="1"/>
          </p:cNvSpPr>
          <p:nvPr>
            <p:ph type="title"/>
          </p:nvPr>
        </p:nvSpPr>
        <p:spPr/>
        <p:txBody>
          <a:bodyPr>
            <a:normAutofit/>
          </a:bodyPr>
          <a:lstStyle/>
          <a:p>
            <a:r>
              <a:rPr lang="en-GB" dirty="0"/>
              <a:t>SOA Architectural Principles </a:t>
            </a:r>
          </a:p>
        </p:txBody>
      </p:sp>
      <p:sp>
        <p:nvSpPr>
          <p:cNvPr id="3" name="Text Placeholder 2">
            <a:extLst>
              <a:ext uri="{FF2B5EF4-FFF2-40B4-BE49-F238E27FC236}">
                <a16:creationId xmlns:a16="http://schemas.microsoft.com/office/drawing/2014/main" id="{D3DF5D9E-DDF0-E776-3382-18F6DA7AAA27}"/>
              </a:ext>
            </a:extLst>
          </p:cNvPr>
          <p:cNvSpPr>
            <a:spLocks noGrp="1"/>
          </p:cNvSpPr>
          <p:nvPr>
            <p:ph type="body" sz="quarter" idx="11"/>
          </p:nvPr>
        </p:nvSpPr>
        <p:spPr>
          <a:xfrm>
            <a:off x="899590" y="1700808"/>
            <a:ext cx="7488833" cy="4608512"/>
          </a:xfrm>
        </p:spPr>
        <p:txBody>
          <a:bodyPr/>
          <a:lstStyle/>
          <a:p>
            <a:pPr marL="9525" indent="0">
              <a:buNone/>
            </a:pPr>
            <a:r>
              <a:rPr lang="en-GB" sz="2000" b="1" dirty="0"/>
              <a:t>Service composability </a:t>
            </a:r>
          </a:p>
          <a:p>
            <a:pPr lvl="1"/>
            <a:r>
              <a:rPr lang="en-GB" dirty="0"/>
              <a:t>Collections of services can be coordinated and assembled to form composite services</a:t>
            </a:r>
          </a:p>
          <a:p>
            <a:pPr lvl="1"/>
            <a:endParaRPr lang="en-GB" sz="2000" dirty="0"/>
          </a:p>
          <a:p>
            <a:pPr marL="9525" indent="0">
              <a:buNone/>
            </a:pPr>
            <a:r>
              <a:rPr lang="en-GB" sz="2000" b="1" dirty="0"/>
              <a:t>Service autonomy</a:t>
            </a:r>
          </a:p>
          <a:p>
            <a:pPr lvl="1"/>
            <a:r>
              <a:rPr lang="en-GB" dirty="0"/>
              <a:t>Services have control over the logic they encapsulate</a:t>
            </a:r>
          </a:p>
          <a:p>
            <a:endParaRPr lang="en-GB" sz="2000" dirty="0"/>
          </a:p>
          <a:p>
            <a:pPr marL="9525" indent="0">
              <a:buNone/>
            </a:pPr>
            <a:r>
              <a:rPr lang="en-GB" sz="2000" b="1" dirty="0"/>
              <a:t>Service optimization</a:t>
            </a:r>
          </a:p>
          <a:p>
            <a:pPr lvl="1"/>
            <a:r>
              <a:rPr lang="en-GB" dirty="0"/>
              <a:t>All else equal, high-quality services are generally considered preferable to low-quality ones</a:t>
            </a:r>
          </a:p>
          <a:p>
            <a:endParaRPr lang="en-GB" sz="2000" dirty="0"/>
          </a:p>
          <a:p>
            <a:pPr marL="9525" indent="0">
              <a:buNone/>
            </a:pPr>
            <a:r>
              <a:rPr lang="en-GB" sz="2000" b="1" dirty="0"/>
              <a:t>Service discoverability</a:t>
            </a:r>
          </a:p>
          <a:p>
            <a:pPr lvl="1"/>
            <a:r>
              <a:rPr lang="en-GB" dirty="0"/>
              <a:t>Services are designed to be outwardly descriptive so that they can be found and assessed via available discovery mechanisms</a:t>
            </a:r>
          </a:p>
          <a:p>
            <a:endParaRPr lang="en-GB" sz="2000" dirty="0"/>
          </a:p>
        </p:txBody>
      </p:sp>
    </p:spTree>
    <p:extLst>
      <p:ext uri="{BB962C8B-B14F-4D97-AF65-F5344CB8AC3E}">
        <p14:creationId xmlns:p14="http://schemas.microsoft.com/office/powerpoint/2010/main" val="147092586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1DB1B-5532-92C9-D16C-DC4068DE9571}"/>
              </a:ext>
            </a:extLst>
          </p:cNvPr>
          <p:cNvSpPr>
            <a:spLocks noGrp="1"/>
          </p:cNvSpPr>
          <p:nvPr>
            <p:ph type="title"/>
          </p:nvPr>
        </p:nvSpPr>
        <p:spPr/>
        <p:txBody>
          <a:bodyPr>
            <a:normAutofit/>
          </a:bodyPr>
          <a:lstStyle/>
          <a:p>
            <a:r>
              <a:rPr lang="en-GB" dirty="0"/>
              <a:t>Simple Object Access Protocol  (SOAP)</a:t>
            </a:r>
          </a:p>
        </p:txBody>
      </p:sp>
      <p:sp>
        <p:nvSpPr>
          <p:cNvPr id="3" name="Text Placeholder 2">
            <a:extLst>
              <a:ext uri="{FF2B5EF4-FFF2-40B4-BE49-F238E27FC236}">
                <a16:creationId xmlns:a16="http://schemas.microsoft.com/office/drawing/2014/main" id="{74330DD4-3A2C-1753-6167-DFB4D70B3B1F}"/>
              </a:ext>
            </a:extLst>
          </p:cNvPr>
          <p:cNvSpPr>
            <a:spLocks noGrp="1"/>
          </p:cNvSpPr>
          <p:nvPr>
            <p:ph type="body" sz="quarter" idx="11"/>
          </p:nvPr>
        </p:nvSpPr>
        <p:spPr>
          <a:xfrm>
            <a:off x="899590" y="1700808"/>
            <a:ext cx="7416825" cy="4608512"/>
          </a:xfrm>
        </p:spPr>
        <p:txBody>
          <a:bodyPr/>
          <a:lstStyle/>
          <a:p>
            <a:r>
              <a:rPr lang="en-GB" sz="2000" dirty="0"/>
              <a:t>SOAP</a:t>
            </a:r>
          </a:p>
          <a:p>
            <a:pPr lvl="1"/>
            <a:r>
              <a:rPr lang="en-GB" sz="2000" dirty="0"/>
              <a:t>XML-based protocol for accessing web services </a:t>
            </a:r>
          </a:p>
          <a:p>
            <a:pPr lvl="2"/>
            <a:r>
              <a:rPr lang="en-GB" sz="2000" dirty="0"/>
              <a:t>may run over HTTP </a:t>
            </a:r>
          </a:p>
          <a:p>
            <a:pPr lvl="2"/>
            <a:r>
              <a:rPr lang="en-GB" sz="2000" dirty="0"/>
              <a:t>but that's just one option (SOAP over Pigeon!)</a:t>
            </a:r>
          </a:p>
          <a:p>
            <a:pPr lvl="1"/>
            <a:r>
              <a:rPr lang="en-GB" sz="2000" dirty="0"/>
              <a:t>Protocol for exchanging information between computers</a:t>
            </a:r>
          </a:p>
          <a:p>
            <a:pPr lvl="1"/>
            <a:r>
              <a:rPr lang="en-GB" sz="2000" dirty="0"/>
              <a:t>Light Weight</a:t>
            </a:r>
          </a:p>
          <a:p>
            <a:pPr lvl="2"/>
            <a:r>
              <a:rPr lang="en-GB" sz="2000" dirty="0"/>
              <a:t>based on the XML language, which itself is a lightweight data interchange language</a:t>
            </a:r>
          </a:p>
          <a:p>
            <a:pPr lvl="1"/>
            <a:r>
              <a:rPr lang="en-GB" sz="2000" dirty="0"/>
              <a:t>Platform and Language independent</a:t>
            </a:r>
          </a:p>
          <a:p>
            <a:pPr lvl="2"/>
            <a:r>
              <a:rPr lang="en-GB" sz="2000" dirty="0"/>
              <a:t>can work with any programming language but there can be some challenges</a:t>
            </a:r>
          </a:p>
          <a:p>
            <a:pPr lvl="1"/>
            <a:r>
              <a:rPr lang="en-GB" sz="2000" dirty="0"/>
              <a:t>Simple and extensible</a:t>
            </a:r>
          </a:p>
          <a:p>
            <a:endParaRPr lang="en-GB" sz="2000" dirty="0"/>
          </a:p>
        </p:txBody>
      </p:sp>
    </p:spTree>
    <p:extLst>
      <p:ext uri="{BB962C8B-B14F-4D97-AF65-F5344CB8AC3E}">
        <p14:creationId xmlns:p14="http://schemas.microsoft.com/office/powerpoint/2010/main" val="4287414034"/>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B194-C42A-6AF0-364D-C53DFD188618}"/>
              </a:ext>
            </a:extLst>
          </p:cNvPr>
          <p:cNvSpPr>
            <a:spLocks noGrp="1"/>
          </p:cNvSpPr>
          <p:nvPr>
            <p:ph type="title"/>
          </p:nvPr>
        </p:nvSpPr>
        <p:spPr/>
        <p:txBody>
          <a:bodyPr>
            <a:normAutofit/>
          </a:bodyPr>
          <a:lstStyle/>
          <a:p>
            <a:r>
              <a:rPr lang="en-GB" dirty="0"/>
              <a:t>SOAP Service Architecture</a:t>
            </a:r>
          </a:p>
        </p:txBody>
      </p:sp>
      <p:sp>
        <p:nvSpPr>
          <p:cNvPr id="3" name="Text Placeholder 2">
            <a:extLst>
              <a:ext uri="{FF2B5EF4-FFF2-40B4-BE49-F238E27FC236}">
                <a16:creationId xmlns:a16="http://schemas.microsoft.com/office/drawing/2014/main" id="{2ED9025A-BF8F-BFC1-A5E5-19B4A3C79EDA}"/>
              </a:ext>
            </a:extLst>
          </p:cNvPr>
          <p:cNvSpPr>
            <a:spLocks noGrp="1"/>
          </p:cNvSpPr>
          <p:nvPr>
            <p:ph type="body" sz="quarter" idx="11"/>
          </p:nvPr>
        </p:nvSpPr>
        <p:spPr>
          <a:xfrm>
            <a:off x="899591" y="1700808"/>
            <a:ext cx="3450407" cy="4608512"/>
          </a:xfrm>
        </p:spPr>
        <p:txBody>
          <a:bodyPr/>
          <a:lstStyle/>
          <a:p>
            <a:pPr marL="342900" indent="-342900">
              <a:spcBef>
                <a:spcPct val="30000"/>
              </a:spcBef>
              <a:buClr>
                <a:srgbClr val="000000"/>
              </a:buClr>
              <a:buSzPct val="100000"/>
              <a:buFont typeface="Times New Roman" panose="02020603050405020304" pitchFamily="18" charset="0"/>
              <a:buChar char="•"/>
            </a:pPr>
            <a:r>
              <a:rPr lang="en-US" altLang="en-US" sz="2000" dirty="0">
                <a:latin typeface="Times New Roman" panose="02020603050405020304" pitchFamily="18" charset="0"/>
              </a:rPr>
              <a:t>Interfaces in implementation independent format</a:t>
            </a:r>
          </a:p>
          <a:p>
            <a:pPr marL="342900" indent="-342900">
              <a:spcBef>
                <a:spcPct val="30000"/>
              </a:spcBef>
              <a:buClr>
                <a:srgbClr val="000000"/>
              </a:buClr>
              <a:buSzPct val="100000"/>
              <a:buFont typeface="Times New Roman" panose="02020603050405020304" pitchFamily="18" charset="0"/>
              <a:buChar char="•"/>
            </a:pPr>
            <a:r>
              <a:rPr lang="en-US" altLang="en-US" sz="2000" dirty="0">
                <a:latin typeface="Times New Roman" panose="02020603050405020304" pitchFamily="18" charset="0"/>
              </a:rPr>
              <a:t>XML-based data is easily exchanged</a:t>
            </a:r>
          </a:p>
          <a:p>
            <a:pPr marL="342900" indent="-342900">
              <a:spcBef>
                <a:spcPct val="30000"/>
              </a:spcBef>
              <a:buClr>
                <a:srgbClr val="000000"/>
              </a:buClr>
              <a:buSzPct val="100000"/>
              <a:buFont typeface="Times New Roman" panose="02020603050405020304" pitchFamily="18" charset="0"/>
              <a:buChar char="•"/>
            </a:pPr>
            <a:r>
              <a:rPr lang="en-US" altLang="en-US" sz="2000" dirty="0">
                <a:latin typeface="Times New Roman" panose="02020603050405020304" pitchFamily="18" charset="0"/>
              </a:rPr>
              <a:t>Designed for remote access, across heterogeneous platforms</a:t>
            </a:r>
          </a:p>
          <a:p>
            <a:endParaRPr lang="en-GB" sz="2000" dirty="0"/>
          </a:p>
          <a:p>
            <a:endParaRPr lang="en-GB" sz="2000" dirty="0"/>
          </a:p>
        </p:txBody>
      </p:sp>
      <p:grpSp>
        <p:nvGrpSpPr>
          <p:cNvPr id="4" name="Group 3" descr="SOAP - Apps&#10;">
            <a:extLst>
              <a:ext uri="{FF2B5EF4-FFF2-40B4-BE49-F238E27FC236}">
                <a16:creationId xmlns:a16="http://schemas.microsoft.com/office/drawing/2014/main" id="{33A1F378-B788-6D25-9C73-698579D34999}"/>
              </a:ext>
            </a:extLst>
          </p:cNvPr>
          <p:cNvGrpSpPr/>
          <p:nvPr/>
        </p:nvGrpSpPr>
        <p:grpSpPr>
          <a:xfrm>
            <a:off x="4127748" y="1484784"/>
            <a:ext cx="4143375" cy="4279900"/>
            <a:chOff x="4224338" y="1594984"/>
            <a:chExt cx="4143375" cy="4279900"/>
          </a:xfrm>
        </p:grpSpPr>
        <p:grpSp>
          <p:nvGrpSpPr>
            <p:cNvPr id="5" name="Group 2">
              <a:extLst>
                <a:ext uri="{FF2B5EF4-FFF2-40B4-BE49-F238E27FC236}">
                  <a16:creationId xmlns:a16="http://schemas.microsoft.com/office/drawing/2014/main" id="{C606F61B-CE32-A541-206F-007C548F2CC6}"/>
                </a:ext>
              </a:extLst>
            </p:cNvPr>
            <p:cNvGrpSpPr>
              <a:grpSpLocks/>
            </p:cNvGrpSpPr>
            <p:nvPr/>
          </p:nvGrpSpPr>
          <p:grpSpPr bwMode="auto">
            <a:xfrm>
              <a:off x="4832350" y="2707821"/>
              <a:ext cx="2671763" cy="2055813"/>
              <a:chOff x="3260" y="1860"/>
              <a:chExt cx="1683" cy="1295"/>
            </a:xfrm>
          </p:grpSpPr>
          <p:grpSp>
            <p:nvGrpSpPr>
              <p:cNvPr id="42" name="Group 3">
                <a:extLst>
                  <a:ext uri="{FF2B5EF4-FFF2-40B4-BE49-F238E27FC236}">
                    <a16:creationId xmlns:a16="http://schemas.microsoft.com/office/drawing/2014/main" id="{EAA1C8ED-6EDA-9EAE-55A9-4EAD1CA707B4}"/>
                  </a:ext>
                </a:extLst>
              </p:cNvPr>
              <p:cNvGrpSpPr>
                <a:grpSpLocks/>
              </p:cNvGrpSpPr>
              <p:nvPr/>
            </p:nvGrpSpPr>
            <p:grpSpPr bwMode="auto">
              <a:xfrm>
                <a:off x="3260" y="1860"/>
                <a:ext cx="1683" cy="62"/>
                <a:chOff x="3260" y="1860"/>
                <a:chExt cx="1683" cy="62"/>
              </a:xfrm>
            </p:grpSpPr>
            <p:sp>
              <p:nvSpPr>
                <p:cNvPr id="46" name="AutoShape 4">
                  <a:extLst>
                    <a:ext uri="{FF2B5EF4-FFF2-40B4-BE49-F238E27FC236}">
                      <a16:creationId xmlns:a16="http://schemas.microsoft.com/office/drawing/2014/main" id="{7EACE61A-7F81-A352-9461-A3459D50969F}"/>
                    </a:ext>
                  </a:extLst>
                </p:cNvPr>
                <p:cNvSpPr>
                  <a:spLocks noChangeArrowheads="1"/>
                </p:cNvSpPr>
                <p:nvPr/>
              </p:nvSpPr>
              <p:spPr bwMode="black">
                <a:xfrm>
                  <a:off x="4771" y="1860"/>
                  <a:ext cx="172" cy="62"/>
                </a:xfrm>
                <a:custGeom>
                  <a:avLst/>
                  <a:gdLst>
                    <a:gd name="G0" fmla="+- 2763 0 0"/>
                    <a:gd name="G1" fmla="+- 21600 0 2763"/>
                    <a:gd name="G2" fmla="*/ 2763 1 2"/>
                    <a:gd name="G3" fmla="+- 21600 0 G2"/>
                    <a:gd name="G4" fmla="+/ 2763 21600 2"/>
                    <a:gd name="G5" fmla="+/ G1 0 2"/>
                    <a:gd name="G6" fmla="*/ 21600 21600 2763"/>
                    <a:gd name="G7" fmla="*/ G6 1 2"/>
                    <a:gd name="G8" fmla="+- 21600 0 G7"/>
                    <a:gd name="G9" fmla="*/ 21600 1 2"/>
                    <a:gd name="G10" fmla="+- 2763 0 G9"/>
                    <a:gd name="G11" fmla="?: G10 G8 0"/>
                    <a:gd name="G12" fmla="?: G10 G7 21600"/>
                    <a:gd name="T0" fmla="*/ 20218 w 21600"/>
                    <a:gd name="T1" fmla="*/ 10800 h 21600"/>
                    <a:gd name="T2" fmla="*/ 10800 w 21600"/>
                    <a:gd name="T3" fmla="*/ 21600 h 21600"/>
                    <a:gd name="T4" fmla="*/ 1382 w 21600"/>
                    <a:gd name="T5" fmla="*/ 10800 h 21600"/>
                    <a:gd name="T6" fmla="*/ 10800 w 21600"/>
                    <a:gd name="T7" fmla="*/ 0 h 21600"/>
                    <a:gd name="T8" fmla="*/ 3182 w 21600"/>
                    <a:gd name="T9" fmla="*/ 3182 h 21600"/>
                    <a:gd name="T10" fmla="*/ 18418 w 21600"/>
                    <a:gd name="T11" fmla="*/ 18418 h 21600"/>
                  </a:gdLst>
                  <a:ahLst/>
                  <a:cxnLst>
                    <a:cxn ang="0">
                      <a:pos x="T0" y="T1"/>
                    </a:cxn>
                    <a:cxn ang="0">
                      <a:pos x="T2" y="T3"/>
                    </a:cxn>
                    <a:cxn ang="0">
                      <a:pos x="T4" y="T5"/>
                    </a:cxn>
                    <a:cxn ang="0">
                      <a:pos x="T6" y="T7"/>
                    </a:cxn>
                  </a:cxnLst>
                  <a:rect l="T8" t="T9" r="T10" b="T11"/>
                  <a:pathLst>
                    <a:path w="21600" h="21600">
                      <a:moveTo>
                        <a:pt x="0" y="0"/>
                      </a:moveTo>
                      <a:lnTo>
                        <a:pt x="2763" y="21600"/>
                      </a:lnTo>
                      <a:lnTo>
                        <a:pt x="18837" y="21600"/>
                      </a:lnTo>
                      <a:lnTo>
                        <a:pt x="21600" y="0"/>
                      </a:lnTo>
                      <a:close/>
                    </a:path>
                  </a:pathLst>
                </a:custGeom>
                <a:solidFill>
                  <a:srgbClr val="FDD75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96317"/>
                        </a:outerShdw>
                      </a:effectLst>
                    </a14:hiddenEffects>
                  </a:ext>
                </a:extLst>
              </p:spPr>
              <p:txBody>
                <a:bodyPr wrap="none" anchor="ctr"/>
                <a:lstStyle/>
                <a:p>
                  <a:endParaRPr lang="en-GB"/>
                </a:p>
              </p:txBody>
            </p:sp>
            <p:sp>
              <p:nvSpPr>
                <p:cNvPr id="47" name="AutoShape 5">
                  <a:extLst>
                    <a:ext uri="{FF2B5EF4-FFF2-40B4-BE49-F238E27FC236}">
                      <a16:creationId xmlns:a16="http://schemas.microsoft.com/office/drawing/2014/main" id="{45A96503-36E0-5C01-7788-A4EB55E05290}"/>
                    </a:ext>
                  </a:extLst>
                </p:cNvPr>
                <p:cNvSpPr>
                  <a:spLocks noChangeArrowheads="1"/>
                </p:cNvSpPr>
                <p:nvPr/>
              </p:nvSpPr>
              <p:spPr bwMode="black">
                <a:xfrm>
                  <a:off x="3260" y="1860"/>
                  <a:ext cx="172" cy="62"/>
                </a:xfrm>
                <a:custGeom>
                  <a:avLst/>
                  <a:gdLst>
                    <a:gd name="G0" fmla="+- 2763 0 0"/>
                    <a:gd name="G1" fmla="+- 21600 0 2763"/>
                    <a:gd name="G2" fmla="*/ 2763 1 2"/>
                    <a:gd name="G3" fmla="+- 21600 0 G2"/>
                    <a:gd name="G4" fmla="+/ 2763 21600 2"/>
                    <a:gd name="G5" fmla="+/ G1 0 2"/>
                    <a:gd name="G6" fmla="*/ 21600 21600 2763"/>
                    <a:gd name="G7" fmla="*/ G6 1 2"/>
                    <a:gd name="G8" fmla="+- 21600 0 G7"/>
                    <a:gd name="G9" fmla="*/ 21600 1 2"/>
                    <a:gd name="G10" fmla="+- 2763 0 G9"/>
                    <a:gd name="G11" fmla="?: G10 G8 0"/>
                    <a:gd name="G12" fmla="?: G10 G7 21600"/>
                    <a:gd name="T0" fmla="*/ 20218 w 21600"/>
                    <a:gd name="T1" fmla="*/ 10800 h 21600"/>
                    <a:gd name="T2" fmla="*/ 10800 w 21600"/>
                    <a:gd name="T3" fmla="*/ 21600 h 21600"/>
                    <a:gd name="T4" fmla="*/ 1382 w 21600"/>
                    <a:gd name="T5" fmla="*/ 10800 h 21600"/>
                    <a:gd name="T6" fmla="*/ 10800 w 21600"/>
                    <a:gd name="T7" fmla="*/ 0 h 21600"/>
                    <a:gd name="T8" fmla="*/ 3182 w 21600"/>
                    <a:gd name="T9" fmla="*/ 3182 h 21600"/>
                    <a:gd name="T10" fmla="*/ 18418 w 21600"/>
                    <a:gd name="T11" fmla="*/ 18418 h 21600"/>
                  </a:gdLst>
                  <a:ahLst/>
                  <a:cxnLst>
                    <a:cxn ang="0">
                      <a:pos x="T0" y="T1"/>
                    </a:cxn>
                    <a:cxn ang="0">
                      <a:pos x="T2" y="T3"/>
                    </a:cxn>
                    <a:cxn ang="0">
                      <a:pos x="T4" y="T5"/>
                    </a:cxn>
                    <a:cxn ang="0">
                      <a:pos x="T6" y="T7"/>
                    </a:cxn>
                  </a:cxnLst>
                  <a:rect l="T8" t="T9" r="T10" b="T11"/>
                  <a:pathLst>
                    <a:path w="21600" h="21600">
                      <a:moveTo>
                        <a:pt x="0" y="0"/>
                      </a:moveTo>
                      <a:lnTo>
                        <a:pt x="2763" y="21600"/>
                      </a:lnTo>
                      <a:lnTo>
                        <a:pt x="18837" y="21600"/>
                      </a:lnTo>
                      <a:lnTo>
                        <a:pt x="21600" y="0"/>
                      </a:lnTo>
                      <a:close/>
                    </a:path>
                  </a:pathLst>
                </a:custGeom>
                <a:solidFill>
                  <a:srgbClr val="FDD75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96317"/>
                        </a:outerShdw>
                      </a:effectLst>
                    </a14:hiddenEffects>
                  </a:ext>
                </a:extLst>
              </p:spPr>
              <p:txBody>
                <a:bodyPr wrap="none" anchor="ctr"/>
                <a:lstStyle/>
                <a:p>
                  <a:endParaRPr lang="en-GB"/>
                </a:p>
              </p:txBody>
            </p:sp>
            <p:sp>
              <p:nvSpPr>
                <p:cNvPr id="48" name="AutoShape 6">
                  <a:extLst>
                    <a:ext uri="{FF2B5EF4-FFF2-40B4-BE49-F238E27FC236}">
                      <a16:creationId xmlns:a16="http://schemas.microsoft.com/office/drawing/2014/main" id="{6D4B3364-EAA1-0DF5-0585-3531E26AA9FA}"/>
                    </a:ext>
                  </a:extLst>
                </p:cNvPr>
                <p:cNvSpPr>
                  <a:spLocks noChangeArrowheads="1"/>
                </p:cNvSpPr>
                <p:nvPr/>
              </p:nvSpPr>
              <p:spPr bwMode="black">
                <a:xfrm>
                  <a:off x="4014" y="1860"/>
                  <a:ext cx="172" cy="62"/>
                </a:xfrm>
                <a:custGeom>
                  <a:avLst/>
                  <a:gdLst>
                    <a:gd name="G0" fmla="+- 2763 0 0"/>
                    <a:gd name="G1" fmla="+- 21600 0 2763"/>
                    <a:gd name="G2" fmla="*/ 2763 1 2"/>
                    <a:gd name="G3" fmla="+- 21600 0 G2"/>
                    <a:gd name="G4" fmla="+/ 2763 21600 2"/>
                    <a:gd name="G5" fmla="+/ G1 0 2"/>
                    <a:gd name="G6" fmla="*/ 21600 21600 2763"/>
                    <a:gd name="G7" fmla="*/ G6 1 2"/>
                    <a:gd name="G8" fmla="+- 21600 0 G7"/>
                    <a:gd name="G9" fmla="*/ 21600 1 2"/>
                    <a:gd name="G10" fmla="+- 2763 0 G9"/>
                    <a:gd name="G11" fmla="?: G10 G8 0"/>
                    <a:gd name="G12" fmla="?: G10 G7 21600"/>
                    <a:gd name="T0" fmla="*/ 20218 w 21600"/>
                    <a:gd name="T1" fmla="*/ 10800 h 21600"/>
                    <a:gd name="T2" fmla="*/ 10800 w 21600"/>
                    <a:gd name="T3" fmla="*/ 21600 h 21600"/>
                    <a:gd name="T4" fmla="*/ 1382 w 21600"/>
                    <a:gd name="T5" fmla="*/ 10800 h 21600"/>
                    <a:gd name="T6" fmla="*/ 10800 w 21600"/>
                    <a:gd name="T7" fmla="*/ 0 h 21600"/>
                    <a:gd name="T8" fmla="*/ 3182 w 21600"/>
                    <a:gd name="T9" fmla="*/ 3182 h 21600"/>
                    <a:gd name="T10" fmla="*/ 18418 w 21600"/>
                    <a:gd name="T11" fmla="*/ 18418 h 21600"/>
                  </a:gdLst>
                  <a:ahLst/>
                  <a:cxnLst>
                    <a:cxn ang="0">
                      <a:pos x="T0" y="T1"/>
                    </a:cxn>
                    <a:cxn ang="0">
                      <a:pos x="T2" y="T3"/>
                    </a:cxn>
                    <a:cxn ang="0">
                      <a:pos x="T4" y="T5"/>
                    </a:cxn>
                    <a:cxn ang="0">
                      <a:pos x="T6" y="T7"/>
                    </a:cxn>
                  </a:cxnLst>
                  <a:rect l="T8" t="T9" r="T10" b="T11"/>
                  <a:pathLst>
                    <a:path w="21600" h="21600">
                      <a:moveTo>
                        <a:pt x="0" y="0"/>
                      </a:moveTo>
                      <a:lnTo>
                        <a:pt x="2763" y="21600"/>
                      </a:lnTo>
                      <a:lnTo>
                        <a:pt x="18837" y="21600"/>
                      </a:lnTo>
                      <a:lnTo>
                        <a:pt x="21600" y="0"/>
                      </a:lnTo>
                      <a:close/>
                    </a:path>
                  </a:pathLst>
                </a:custGeom>
                <a:solidFill>
                  <a:srgbClr val="FDD75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96317"/>
                        </a:outerShdw>
                      </a:effectLst>
                    </a14:hiddenEffects>
                  </a:ext>
                </a:extLst>
              </p:spPr>
              <p:txBody>
                <a:bodyPr wrap="none" anchor="ctr"/>
                <a:lstStyle/>
                <a:p>
                  <a:endParaRPr lang="en-GB"/>
                </a:p>
              </p:txBody>
            </p:sp>
          </p:grpSp>
          <p:grpSp>
            <p:nvGrpSpPr>
              <p:cNvPr id="43" name="Group 7">
                <a:extLst>
                  <a:ext uri="{FF2B5EF4-FFF2-40B4-BE49-F238E27FC236}">
                    <a16:creationId xmlns:a16="http://schemas.microsoft.com/office/drawing/2014/main" id="{451FD32F-C5A0-ECFA-8A37-8BA927DA2959}"/>
                  </a:ext>
                </a:extLst>
              </p:cNvPr>
              <p:cNvGrpSpPr>
                <a:grpSpLocks/>
              </p:cNvGrpSpPr>
              <p:nvPr/>
            </p:nvGrpSpPr>
            <p:grpSpPr bwMode="auto">
              <a:xfrm>
                <a:off x="3525" y="3093"/>
                <a:ext cx="1165" cy="62"/>
                <a:chOff x="3525" y="3087"/>
                <a:chExt cx="1165" cy="62"/>
              </a:xfrm>
            </p:grpSpPr>
            <p:sp>
              <p:nvSpPr>
                <p:cNvPr id="44" name="AutoShape 8">
                  <a:extLst>
                    <a:ext uri="{FF2B5EF4-FFF2-40B4-BE49-F238E27FC236}">
                      <a16:creationId xmlns:a16="http://schemas.microsoft.com/office/drawing/2014/main" id="{A7257AAC-5D66-DC84-A083-B5D01FDABEE6}"/>
                    </a:ext>
                  </a:extLst>
                </p:cNvPr>
                <p:cNvSpPr>
                  <a:spLocks noChangeArrowheads="1"/>
                </p:cNvSpPr>
                <p:nvPr/>
              </p:nvSpPr>
              <p:spPr bwMode="black">
                <a:xfrm rot="10800000">
                  <a:off x="3525" y="3087"/>
                  <a:ext cx="172" cy="62"/>
                </a:xfrm>
                <a:custGeom>
                  <a:avLst/>
                  <a:gdLst>
                    <a:gd name="G0" fmla="+- 2763 0 0"/>
                    <a:gd name="G1" fmla="+- 21600 0 2763"/>
                    <a:gd name="G2" fmla="*/ 2763 1 2"/>
                    <a:gd name="G3" fmla="+- 21600 0 G2"/>
                    <a:gd name="G4" fmla="+/ 2763 21600 2"/>
                    <a:gd name="G5" fmla="+/ G1 0 2"/>
                    <a:gd name="G6" fmla="*/ 21600 21600 2763"/>
                    <a:gd name="G7" fmla="*/ G6 1 2"/>
                    <a:gd name="G8" fmla="+- 21600 0 G7"/>
                    <a:gd name="G9" fmla="*/ 21600 1 2"/>
                    <a:gd name="G10" fmla="+- 2763 0 G9"/>
                    <a:gd name="G11" fmla="?: G10 G8 0"/>
                    <a:gd name="G12" fmla="?: G10 G7 21600"/>
                    <a:gd name="T0" fmla="*/ 20218 w 21600"/>
                    <a:gd name="T1" fmla="*/ 10800 h 21600"/>
                    <a:gd name="T2" fmla="*/ 10800 w 21600"/>
                    <a:gd name="T3" fmla="*/ 21600 h 21600"/>
                    <a:gd name="T4" fmla="*/ 1382 w 21600"/>
                    <a:gd name="T5" fmla="*/ 10800 h 21600"/>
                    <a:gd name="T6" fmla="*/ 10800 w 21600"/>
                    <a:gd name="T7" fmla="*/ 0 h 21600"/>
                    <a:gd name="T8" fmla="*/ 3182 w 21600"/>
                    <a:gd name="T9" fmla="*/ 3182 h 21600"/>
                    <a:gd name="T10" fmla="*/ 18418 w 21600"/>
                    <a:gd name="T11" fmla="*/ 18418 h 21600"/>
                  </a:gdLst>
                  <a:ahLst/>
                  <a:cxnLst>
                    <a:cxn ang="0">
                      <a:pos x="T0" y="T1"/>
                    </a:cxn>
                    <a:cxn ang="0">
                      <a:pos x="T2" y="T3"/>
                    </a:cxn>
                    <a:cxn ang="0">
                      <a:pos x="T4" y="T5"/>
                    </a:cxn>
                    <a:cxn ang="0">
                      <a:pos x="T6" y="T7"/>
                    </a:cxn>
                  </a:cxnLst>
                  <a:rect l="T8" t="T9" r="T10" b="T11"/>
                  <a:pathLst>
                    <a:path w="21600" h="21600">
                      <a:moveTo>
                        <a:pt x="0" y="0"/>
                      </a:moveTo>
                      <a:lnTo>
                        <a:pt x="2763" y="21600"/>
                      </a:lnTo>
                      <a:lnTo>
                        <a:pt x="18837" y="21600"/>
                      </a:lnTo>
                      <a:lnTo>
                        <a:pt x="21600" y="0"/>
                      </a:lnTo>
                      <a:close/>
                    </a:path>
                  </a:pathLst>
                </a:custGeom>
                <a:solidFill>
                  <a:srgbClr val="FDD75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96317"/>
                        </a:outerShdw>
                      </a:effectLst>
                    </a14:hiddenEffects>
                  </a:ext>
                </a:extLst>
              </p:spPr>
              <p:txBody>
                <a:bodyPr wrap="none" anchor="ctr"/>
                <a:lstStyle/>
                <a:p>
                  <a:endParaRPr lang="en-GB"/>
                </a:p>
              </p:txBody>
            </p:sp>
            <p:sp>
              <p:nvSpPr>
                <p:cNvPr id="45" name="AutoShape 9">
                  <a:extLst>
                    <a:ext uri="{FF2B5EF4-FFF2-40B4-BE49-F238E27FC236}">
                      <a16:creationId xmlns:a16="http://schemas.microsoft.com/office/drawing/2014/main" id="{C5F3174E-8493-B228-345A-5C990B7A03BC}"/>
                    </a:ext>
                  </a:extLst>
                </p:cNvPr>
                <p:cNvSpPr>
                  <a:spLocks noChangeArrowheads="1"/>
                </p:cNvSpPr>
                <p:nvPr/>
              </p:nvSpPr>
              <p:spPr bwMode="black">
                <a:xfrm rot="10800000">
                  <a:off x="4518" y="3087"/>
                  <a:ext cx="172" cy="62"/>
                </a:xfrm>
                <a:custGeom>
                  <a:avLst/>
                  <a:gdLst>
                    <a:gd name="G0" fmla="+- 2763 0 0"/>
                    <a:gd name="G1" fmla="+- 21600 0 2763"/>
                    <a:gd name="G2" fmla="*/ 2763 1 2"/>
                    <a:gd name="G3" fmla="+- 21600 0 G2"/>
                    <a:gd name="G4" fmla="+/ 2763 21600 2"/>
                    <a:gd name="G5" fmla="+/ G1 0 2"/>
                    <a:gd name="G6" fmla="*/ 21600 21600 2763"/>
                    <a:gd name="G7" fmla="*/ G6 1 2"/>
                    <a:gd name="G8" fmla="+- 21600 0 G7"/>
                    <a:gd name="G9" fmla="*/ 21600 1 2"/>
                    <a:gd name="G10" fmla="+- 2763 0 G9"/>
                    <a:gd name="G11" fmla="?: G10 G8 0"/>
                    <a:gd name="G12" fmla="?: G10 G7 21600"/>
                    <a:gd name="T0" fmla="*/ 20218 w 21600"/>
                    <a:gd name="T1" fmla="*/ 10800 h 21600"/>
                    <a:gd name="T2" fmla="*/ 10800 w 21600"/>
                    <a:gd name="T3" fmla="*/ 21600 h 21600"/>
                    <a:gd name="T4" fmla="*/ 1382 w 21600"/>
                    <a:gd name="T5" fmla="*/ 10800 h 21600"/>
                    <a:gd name="T6" fmla="*/ 10800 w 21600"/>
                    <a:gd name="T7" fmla="*/ 0 h 21600"/>
                    <a:gd name="T8" fmla="*/ 3182 w 21600"/>
                    <a:gd name="T9" fmla="*/ 3182 h 21600"/>
                    <a:gd name="T10" fmla="*/ 18418 w 21600"/>
                    <a:gd name="T11" fmla="*/ 18418 h 21600"/>
                  </a:gdLst>
                  <a:ahLst/>
                  <a:cxnLst>
                    <a:cxn ang="0">
                      <a:pos x="T0" y="T1"/>
                    </a:cxn>
                    <a:cxn ang="0">
                      <a:pos x="T2" y="T3"/>
                    </a:cxn>
                    <a:cxn ang="0">
                      <a:pos x="T4" y="T5"/>
                    </a:cxn>
                    <a:cxn ang="0">
                      <a:pos x="T6" y="T7"/>
                    </a:cxn>
                  </a:cxnLst>
                  <a:rect l="T8" t="T9" r="T10" b="T11"/>
                  <a:pathLst>
                    <a:path w="21600" h="21600">
                      <a:moveTo>
                        <a:pt x="0" y="0"/>
                      </a:moveTo>
                      <a:lnTo>
                        <a:pt x="2763" y="21600"/>
                      </a:lnTo>
                      <a:lnTo>
                        <a:pt x="18837" y="21600"/>
                      </a:lnTo>
                      <a:lnTo>
                        <a:pt x="21600" y="0"/>
                      </a:lnTo>
                      <a:close/>
                    </a:path>
                  </a:pathLst>
                </a:custGeom>
                <a:solidFill>
                  <a:srgbClr val="FDD75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896317"/>
                        </a:outerShdw>
                      </a:effectLst>
                    </a14:hiddenEffects>
                  </a:ext>
                </a:extLst>
              </p:spPr>
              <p:txBody>
                <a:bodyPr wrap="none" anchor="ctr"/>
                <a:lstStyle/>
                <a:p>
                  <a:endParaRPr lang="en-GB"/>
                </a:p>
              </p:txBody>
            </p:sp>
          </p:grpSp>
        </p:grpSp>
        <p:grpSp>
          <p:nvGrpSpPr>
            <p:cNvPr id="6" name="Group 10">
              <a:extLst>
                <a:ext uri="{FF2B5EF4-FFF2-40B4-BE49-F238E27FC236}">
                  <a16:creationId xmlns:a16="http://schemas.microsoft.com/office/drawing/2014/main" id="{336CBEA3-AB05-ECE3-6A0C-F0FD2AB7C279}"/>
                </a:ext>
              </a:extLst>
            </p:cNvPr>
            <p:cNvGrpSpPr>
              <a:grpSpLocks/>
            </p:cNvGrpSpPr>
            <p:nvPr/>
          </p:nvGrpSpPr>
          <p:grpSpPr bwMode="auto">
            <a:xfrm>
              <a:off x="4983163" y="2820534"/>
              <a:ext cx="2384425" cy="923925"/>
              <a:chOff x="3355" y="1898"/>
              <a:chExt cx="1502" cy="615"/>
            </a:xfrm>
          </p:grpSpPr>
          <p:sp>
            <p:nvSpPr>
              <p:cNvPr id="39" name="Line 11">
                <a:extLst>
                  <a:ext uri="{FF2B5EF4-FFF2-40B4-BE49-F238E27FC236}">
                    <a16:creationId xmlns:a16="http://schemas.microsoft.com/office/drawing/2014/main" id="{65FF8B03-9797-E9B8-3AAD-2CE821D65EEB}"/>
                  </a:ext>
                </a:extLst>
              </p:cNvPr>
              <p:cNvSpPr>
                <a:spLocks noChangeShapeType="1"/>
              </p:cNvSpPr>
              <p:nvPr/>
            </p:nvSpPr>
            <p:spPr bwMode="auto">
              <a:xfrm flipH="1">
                <a:off x="3355" y="1898"/>
                <a:ext cx="0" cy="615"/>
              </a:xfrm>
              <a:prstGeom prst="line">
                <a:avLst/>
              </a:prstGeom>
              <a:noFill/>
              <a:ln w="38100">
                <a:solidFill>
                  <a:srgbClr val="A5A5A5"/>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40" name="Line 12">
                <a:extLst>
                  <a:ext uri="{FF2B5EF4-FFF2-40B4-BE49-F238E27FC236}">
                    <a16:creationId xmlns:a16="http://schemas.microsoft.com/office/drawing/2014/main" id="{A6C8BDF1-A065-BA1F-2301-28BA64106F76}"/>
                  </a:ext>
                </a:extLst>
              </p:cNvPr>
              <p:cNvSpPr>
                <a:spLocks noChangeShapeType="1"/>
              </p:cNvSpPr>
              <p:nvPr/>
            </p:nvSpPr>
            <p:spPr bwMode="auto">
              <a:xfrm flipH="1">
                <a:off x="4096" y="1898"/>
                <a:ext cx="0" cy="600"/>
              </a:xfrm>
              <a:prstGeom prst="line">
                <a:avLst/>
              </a:prstGeom>
              <a:noFill/>
              <a:ln w="38100">
                <a:solidFill>
                  <a:srgbClr val="A5A5A5"/>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41" name="Line 13">
                <a:extLst>
                  <a:ext uri="{FF2B5EF4-FFF2-40B4-BE49-F238E27FC236}">
                    <a16:creationId xmlns:a16="http://schemas.microsoft.com/office/drawing/2014/main" id="{AB64131F-CC85-5718-9938-A055DFDABA56}"/>
                  </a:ext>
                </a:extLst>
              </p:cNvPr>
              <p:cNvSpPr>
                <a:spLocks noChangeShapeType="1"/>
              </p:cNvSpPr>
              <p:nvPr/>
            </p:nvSpPr>
            <p:spPr bwMode="auto">
              <a:xfrm flipH="1">
                <a:off x="4857" y="1898"/>
                <a:ext cx="0" cy="608"/>
              </a:xfrm>
              <a:prstGeom prst="line">
                <a:avLst/>
              </a:prstGeom>
              <a:noFill/>
              <a:ln w="38100">
                <a:solidFill>
                  <a:srgbClr val="A5A5A5"/>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grpSp>
        <p:grpSp>
          <p:nvGrpSpPr>
            <p:cNvPr id="7" name="Group 14">
              <a:extLst>
                <a:ext uri="{FF2B5EF4-FFF2-40B4-BE49-F238E27FC236}">
                  <a16:creationId xmlns:a16="http://schemas.microsoft.com/office/drawing/2014/main" id="{24600E5B-4790-9930-0570-F56D583023DC}"/>
                </a:ext>
              </a:extLst>
            </p:cNvPr>
            <p:cNvGrpSpPr>
              <a:grpSpLocks/>
            </p:cNvGrpSpPr>
            <p:nvPr/>
          </p:nvGrpSpPr>
          <p:grpSpPr bwMode="auto">
            <a:xfrm>
              <a:off x="5387975" y="3785734"/>
              <a:ext cx="1576388" cy="968375"/>
              <a:chOff x="3610" y="2523"/>
              <a:chExt cx="993" cy="242"/>
            </a:xfrm>
          </p:grpSpPr>
          <p:sp>
            <p:nvSpPr>
              <p:cNvPr id="37" name="Line 15">
                <a:extLst>
                  <a:ext uri="{FF2B5EF4-FFF2-40B4-BE49-F238E27FC236}">
                    <a16:creationId xmlns:a16="http://schemas.microsoft.com/office/drawing/2014/main" id="{16656335-97B2-6149-ACCD-B984199C03C9}"/>
                  </a:ext>
                </a:extLst>
              </p:cNvPr>
              <p:cNvSpPr>
                <a:spLocks noChangeShapeType="1"/>
              </p:cNvSpPr>
              <p:nvPr/>
            </p:nvSpPr>
            <p:spPr bwMode="auto">
              <a:xfrm flipH="1">
                <a:off x="3610" y="2526"/>
                <a:ext cx="0" cy="239"/>
              </a:xfrm>
              <a:prstGeom prst="line">
                <a:avLst/>
              </a:prstGeom>
              <a:noFill/>
              <a:ln w="38100">
                <a:solidFill>
                  <a:srgbClr val="A5A5A5"/>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38" name="Line 16">
                <a:extLst>
                  <a:ext uri="{FF2B5EF4-FFF2-40B4-BE49-F238E27FC236}">
                    <a16:creationId xmlns:a16="http://schemas.microsoft.com/office/drawing/2014/main" id="{9027C7D8-D5CA-C739-39A1-082E238AE5C7}"/>
                  </a:ext>
                </a:extLst>
              </p:cNvPr>
              <p:cNvSpPr>
                <a:spLocks noChangeShapeType="1"/>
              </p:cNvSpPr>
              <p:nvPr/>
            </p:nvSpPr>
            <p:spPr bwMode="auto">
              <a:xfrm flipH="1">
                <a:off x="4603" y="2523"/>
                <a:ext cx="0" cy="236"/>
              </a:xfrm>
              <a:prstGeom prst="line">
                <a:avLst/>
              </a:prstGeom>
              <a:noFill/>
              <a:ln w="38100">
                <a:solidFill>
                  <a:srgbClr val="A5A5A5"/>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grpSp>
        <p:sp>
          <p:nvSpPr>
            <p:cNvPr id="8" name="Cloud">
              <a:extLst>
                <a:ext uri="{FF2B5EF4-FFF2-40B4-BE49-F238E27FC236}">
                  <a16:creationId xmlns:a16="http://schemas.microsoft.com/office/drawing/2014/main" id="{AF0BC90C-C58B-2BCE-3E97-7DEFB69378AD}"/>
                </a:ext>
              </a:extLst>
            </p:cNvPr>
            <p:cNvSpPr>
              <a:spLocks noChangeAspect="1" noEditPoints="1" noChangeArrowheads="1"/>
            </p:cNvSpPr>
            <p:nvPr/>
          </p:nvSpPr>
          <p:spPr bwMode="auto">
            <a:xfrm>
              <a:off x="4224338" y="3280909"/>
              <a:ext cx="3627437" cy="100012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1"/>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300"/>
                    <a:pt x="7635" y="20039"/>
                    <a:pt x="8235" y="19546"/>
                  </a:cubicBezTo>
                  <a:lnTo>
                    <a:pt x="8229" y="19550"/>
                  </a:lnTo>
                  <a:cubicBezTo>
                    <a:pt x="8855" y="20829"/>
                    <a:pt x="9908" y="21597"/>
                    <a:pt x="11036" y="21597"/>
                  </a:cubicBezTo>
                  <a:cubicBezTo>
                    <a:pt x="12523" y="21597"/>
                    <a:pt x="13836" y="20267"/>
                    <a:pt x="14267" y="18324"/>
                  </a:cubicBezTo>
                  <a:lnTo>
                    <a:pt x="14270" y="18350"/>
                  </a:lnTo>
                  <a:cubicBezTo>
                    <a:pt x="14730" y="18740"/>
                    <a:pt x="15260" y="18947"/>
                    <a:pt x="15802" y="18947"/>
                  </a:cubicBezTo>
                  <a:cubicBezTo>
                    <a:pt x="17390" y="18947"/>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10"/>
                    <a:pt x="2172" y="13110"/>
                  </a:cubicBezTo>
                  <a:cubicBezTo>
                    <a:pt x="2228" y="13110"/>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28575" cap="rnd">
              <a:solidFill>
                <a:srgbClr val="000000"/>
              </a:solidFill>
              <a:prstDash val="sysDot"/>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a:lstStyle/>
            <a:p>
              <a:endParaRPr lang="en-GB"/>
            </a:p>
          </p:txBody>
        </p:sp>
        <p:grpSp>
          <p:nvGrpSpPr>
            <p:cNvPr id="9" name="Group 18">
              <a:extLst>
                <a:ext uri="{FF2B5EF4-FFF2-40B4-BE49-F238E27FC236}">
                  <a16:creationId xmlns:a16="http://schemas.microsoft.com/office/drawing/2014/main" id="{03BAAD41-5DBB-46F5-B021-F48697520A1F}"/>
                </a:ext>
              </a:extLst>
            </p:cNvPr>
            <p:cNvGrpSpPr>
              <a:grpSpLocks/>
            </p:cNvGrpSpPr>
            <p:nvPr/>
          </p:nvGrpSpPr>
          <p:grpSpPr bwMode="auto">
            <a:xfrm>
              <a:off x="4411663" y="1594984"/>
              <a:ext cx="1143000" cy="1184275"/>
              <a:chOff x="1870" y="1159"/>
              <a:chExt cx="720" cy="746"/>
            </a:xfrm>
          </p:grpSpPr>
          <p:sp>
            <p:nvSpPr>
              <p:cNvPr id="35" name="Freeform 19">
                <a:extLst>
                  <a:ext uri="{FF2B5EF4-FFF2-40B4-BE49-F238E27FC236}">
                    <a16:creationId xmlns:a16="http://schemas.microsoft.com/office/drawing/2014/main" id="{735AC70E-CF91-CB13-34A4-1EFB2A1AFE54}"/>
                  </a:ext>
                </a:extLst>
              </p:cNvPr>
              <p:cNvSpPr>
                <a:spLocks noChangeAspect="1"/>
              </p:cNvSpPr>
              <p:nvPr/>
            </p:nvSpPr>
            <p:spPr bwMode="auto">
              <a:xfrm>
                <a:off x="1918" y="1159"/>
                <a:ext cx="603" cy="746"/>
              </a:xfrm>
              <a:custGeom>
                <a:avLst/>
                <a:gdLst>
                  <a:gd name="T0" fmla="*/ 0 w 603"/>
                  <a:gd name="T1" fmla="*/ 0 h 746"/>
                  <a:gd name="T2" fmla="*/ 0 w 603"/>
                  <a:gd name="T3" fmla="*/ 603 h 746"/>
                  <a:gd name="T4" fmla="*/ 205 w 603"/>
                  <a:gd name="T5" fmla="*/ 603 h 746"/>
                  <a:gd name="T6" fmla="*/ 250 w 603"/>
                  <a:gd name="T7" fmla="*/ 746 h 746"/>
                  <a:gd name="T8" fmla="*/ 354 w 603"/>
                  <a:gd name="T9" fmla="*/ 746 h 746"/>
                  <a:gd name="T10" fmla="*/ 397 w 603"/>
                  <a:gd name="T11" fmla="*/ 602 h 746"/>
                  <a:gd name="T12" fmla="*/ 603 w 603"/>
                  <a:gd name="T13" fmla="*/ 602 h 746"/>
                  <a:gd name="T14" fmla="*/ 602 w 603"/>
                  <a:gd name="T15" fmla="*/ 0 h 746"/>
                  <a:gd name="T16" fmla="*/ 0 w 603"/>
                  <a:gd name="T17" fmla="*/ 0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3" h="746">
                    <a:moveTo>
                      <a:pt x="0" y="0"/>
                    </a:moveTo>
                    <a:lnTo>
                      <a:pt x="0" y="603"/>
                    </a:lnTo>
                    <a:lnTo>
                      <a:pt x="205" y="603"/>
                    </a:lnTo>
                    <a:lnTo>
                      <a:pt x="250" y="746"/>
                    </a:lnTo>
                    <a:lnTo>
                      <a:pt x="354" y="746"/>
                    </a:lnTo>
                    <a:lnTo>
                      <a:pt x="397" y="602"/>
                    </a:lnTo>
                    <a:lnTo>
                      <a:pt x="603" y="602"/>
                    </a:lnTo>
                    <a:lnTo>
                      <a:pt x="602" y="0"/>
                    </a:lnTo>
                    <a:lnTo>
                      <a:pt x="0" y="0"/>
                    </a:lnTo>
                    <a:close/>
                  </a:path>
                </a:pathLst>
              </a:custGeom>
              <a:solidFill>
                <a:srgbClr val="E5E5E5"/>
              </a:solidFill>
              <a:ln>
                <a:noFill/>
              </a:ln>
              <a:effectLst/>
              <a:extLst>
                <a:ext uri="{91240B29-F687-4F45-9708-019B960494DF}">
                  <a14:hiddenLine xmlns:a14="http://schemas.microsoft.com/office/drawing/2010/main" w="28575" cap="flat" cmpd="sng">
                    <a:solidFill>
                      <a:schemeClr val="bg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 name="Text Box 20">
                <a:extLst>
                  <a:ext uri="{FF2B5EF4-FFF2-40B4-BE49-F238E27FC236}">
                    <a16:creationId xmlns:a16="http://schemas.microsoft.com/office/drawing/2014/main" id="{299797D6-765F-2C47-503B-2E34472E21C3}"/>
                  </a:ext>
                </a:extLst>
              </p:cNvPr>
              <p:cNvSpPr txBox="1">
                <a:spLocks noChangeArrowheads="1"/>
              </p:cNvSpPr>
              <p:nvPr/>
            </p:nvSpPr>
            <p:spPr bwMode="auto">
              <a:xfrm>
                <a:off x="1870" y="1308"/>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ClrTx/>
                  <a:buSzTx/>
                  <a:buFontTx/>
                  <a:buNone/>
                </a:pPr>
                <a:r>
                  <a:rPr lang="en-US" altLang="en-US" sz="1200" b="1">
                    <a:solidFill>
                      <a:srgbClr val="6C6C6C"/>
                    </a:solidFill>
                    <a:latin typeface="Arial Narrow" panose="020B0604020202020204" pitchFamily="34" charset="0"/>
                  </a:rPr>
                  <a:t>J2EE™ APPLICATION</a:t>
                </a:r>
              </a:p>
            </p:txBody>
          </p:sp>
        </p:grpSp>
        <p:grpSp>
          <p:nvGrpSpPr>
            <p:cNvPr id="10" name="Group 21">
              <a:extLst>
                <a:ext uri="{FF2B5EF4-FFF2-40B4-BE49-F238E27FC236}">
                  <a16:creationId xmlns:a16="http://schemas.microsoft.com/office/drawing/2014/main" id="{97B5C193-368C-4BA8-C481-231F2CED06C0}"/>
                </a:ext>
              </a:extLst>
            </p:cNvPr>
            <p:cNvGrpSpPr>
              <a:grpSpLocks/>
            </p:cNvGrpSpPr>
            <p:nvPr/>
          </p:nvGrpSpPr>
          <p:grpSpPr bwMode="auto">
            <a:xfrm>
              <a:off x="5580063" y="1594984"/>
              <a:ext cx="1158875" cy="1184275"/>
              <a:chOff x="2606" y="1159"/>
              <a:chExt cx="730" cy="746"/>
            </a:xfrm>
          </p:grpSpPr>
          <p:sp>
            <p:nvSpPr>
              <p:cNvPr id="33" name="Freeform 22">
                <a:extLst>
                  <a:ext uri="{FF2B5EF4-FFF2-40B4-BE49-F238E27FC236}">
                    <a16:creationId xmlns:a16="http://schemas.microsoft.com/office/drawing/2014/main" id="{88B1C021-3F25-51B8-728D-D7781E3787C3}"/>
                  </a:ext>
                </a:extLst>
              </p:cNvPr>
              <p:cNvSpPr>
                <a:spLocks noChangeAspect="1"/>
              </p:cNvSpPr>
              <p:nvPr/>
            </p:nvSpPr>
            <p:spPr bwMode="auto">
              <a:xfrm>
                <a:off x="2673" y="1159"/>
                <a:ext cx="603" cy="746"/>
              </a:xfrm>
              <a:custGeom>
                <a:avLst/>
                <a:gdLst>
                  <a:gd name="T0" fmla="*/ 0 w 603"/>
                  <a:gd name="T1" fmla="*/ 0 h 746"/>
                  <a:gd name="T2" fmla="*/ 0 w 603"/>
                  <a:gd name="T3" fmla="*/ 603 h 746"/>
                  <a:gd name="T4" fmla="*/ 205 w 603"/>
                  <a:gd name="T5" fmla="*/ 603 h 746"/>
                  <a:gd name="T6" fmla="*/ 250 w 603"/>
                  <a:gd name="T7" fmla="*/ 746 h 746"/>
                  <a:gd name="T8" fmla="*/ 354 w 603"/>
                  <a:gd name="T9" fmla="*/ 746 h 746"/>
                  <a:gd name="T10" fmla="*/ 397 w 603"/>
                  <a:gd name="T11" fmla="*/ 602 h 746"/>
                  <a:gd name="T12" fmla="*/ 603 w 603"/>
                  <a:gd name="T13" fmla="*/ 602 h 746"/>
                  <a:gd name="T14" fmla="*/ 602 w 603"/>
                  <a:gd name="T15" fmla="*/ 0 h 746"/>
                  <a:gd name="T16" fmla="*/ 0 w 603"/>
                  <a:gd name="T17" fmla="*/ 0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3" h="746">
                    <a:moveTo>
                      <a:pt x="0" y="0"/>
                    </a:moveTo>
                    <a:lnTo>
                      <a:pt x="0" y="603"/>
                    </a:lnTo>
                    <a:lnTo>
                      <a:pt x="205" y="603"/>
                    </a:lnTo>
                    <a:lnTo>
                      <a:pt x="250" y="746"/>
                    </a:lnTo>
                    <a:lnTo>
                      <a:pt x="354" y="746"/>
                    </a:lnTo>
                    <a:lnTo>
                      <a:pt x="397" y="602"/>
                    </a:lnTo>
                    <a:lnTo>
                      <a:pt x="603" y="602"/>
                    </a:lnTo>
                    <a:lnTo>
                      <a:pt x="602" y="0"/>
                    </a:lnTo>
                    <a:lnTo>
                      <a:pt x="0" y="0"/>
                    </a:lnTo>
                    <a:close/>
                  </a:path>
                </a:pathLst>
              </a:custGeom>
              <a:solidFill>
                <a:srgbClr val="E5E5E5"/>
              </a:solidFill>
              <a:ln>
                <a:noFill/>
              </a:ln>
              <a:effectLst/>
              <a:extLst>
                <a:ext uri="{91240B29-F687-4F45-9708-019B960494DF}">
                  <a14:hiddenLine xmlns:a14="http://schemas.microsoft.com/office/drawing/2010/main" w="28575" cap="flat" cmpd="sng">
                    <a:solidFill>
                      <a:schemeClr val="bg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 name="Text Box 23">
                <a:extLst>
                  <a:ext uri="{FF2B5EF4-FFF2-40B4-BE49-F238E27FC236}">
                    <a16:creationId xmlns:a16="http://schemas.microsoft.com/office/drawing/2014/main" id="{547F4A8C-D139-B314-5728-919535D93F2E}"/>
                  </a:ext>
                </a:extLst>
              </p:cNvPr>
              <p:cNvSpPr txBox="1">
                <a:spLocks noChangeArrowheads="1"/>
              </p:cNvSpPr>
              <p:nvPr/>
            </p:nvSpPr>
            <p:spPr bwMode="auto">
              <a:xfrm>
                <a:off x="2606" y="1193"/>
                <a:ext cx="73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ClrTx/>
                  <a:buSzTx/>
                  <a:buFontTx/>
                  <a:buNone/>
                </a:pPr>
                <a:r>
                  <a:rPr lang="en-US" altLang="en-US" sz="1200" b="1">
                    <a:solidFill>
                      <a:srgbClr val="6C6C6C"/>
                    </a:solidFill>
                    <a:latin typeface="Arial Narrow" panose="020B0604020202020204" pitchFamily="34" charset="0"/>
                  </a:rPr>
                  <a:t>PACKAGED APPLICATION</a:t>
                </a:r>
                <a:br>
                  <a:rPr lang="en-US" altLang="en-US" sz="1200" b="1">
                    <a:solidFill>
                      <a:srgbClr val="6C6C6C"/>
                    </a:solidFill>
                    <a:latin typeface="Arial Narrow" panose="020B0604020202020204" pitchFamily="34" charset="0"/>
                  </a:rPr>
                </a:br>
                <a:r>
                  <a:rPr lang="en-US" altLang="en-US" sz="1200" b="1">
                    <a:solidFill>
                      <a:srgbClr val="6C6C6C"/>
                    </a:solidFill>
                    <a:latin typeface="Arial Narrow" panose="020B0604020202020204" pitchFamily="34" charset="0"/>
                  </a:rPr>
                  <a:t> &amp; LEGACY SYSTEMS</a:t>
                </a:r>
              </a:p>
            </p:txBody>
          </p:sp>
        </p:grpSp>
        <p:grpSp>
          <p:nvGrpSpPr>
            <p:cNvPr id="11" name="Group 24">
              <a:extLst>
                <a:ext uri="{FF2B5EF4-FFF2-40B4-BE49-F238E27FC236}">
                  <a16:creationId xmlns:a16="http://schemas.microsoft.com/office/drawing/2014/main" id="{5023D6AB-4A34-3587-7684-9231959517AB}"/>
                </a:ext>
              </a:extLst>
            </p:cNvPr>
            <p:cNvGrpSpPr>
              <a:grpSpLocks/>
            </p:cNvGrpSpPr>
            <p:nvPr/>
          </p:nvGrpSpPr>
          <p:grpSpPr bwMode="auto">
            <a:xfrm>
              <a:off x="6788150" y="1594984"/>
              <a:ext cx="1158875" cy="1184275"/>
              <a:chOff x="3367" y="1159"/>
              <a:chExt cx="730" cy="746"/>
            </a:xfrm>
          </p:grpSpPr>
          <p:sp>
            <p:nvSpPr>
              <p:cNvPr id="31" name="Freeform 25">
                <a:extLst>
                  <a:ext uri="{FF2B5EF4-FFF2-40B4-BE49-F238E27FC236}">
                    <a16:creationId xmlns:a16="http://schemas.microsoft.com/office/drawing/2014/main" id="{3C12E7E6-D51E-078C-D49D-90A2850AB5B4}"/>
                  </a:ext>
                </a:extLst>
              </p:cNvPr>
              <p:cNvSpPr>
                <a:spLocks noChangeAspect="1"/>
              </p:cNvSpPr>
              <p:nvPr/>
            </p:nvSpPr>
            <p:spPr bwMode="auto">
              <a:xfrm>
                <a:off x="3429" y="1159"/>
                <a:ext cx="603" cy="746"/>
              </a:xfrm>
              <a:custGeom>
                <a:avLst/>
                <a:gdLst>
                  <a:gd name="T0" fmla="*/ 0 w 603"/>
                  <a:gd name="T1" fmla="*/ 0 h 746"/>
                  <a:gd name="T2" fmla="*/ 0 w 603"/>
                  <a:gd name="T3" fmla="*/ 603 h 746"/>
                  <a:gd name="T4" fmla="*/ 205 w 603"/>
                  <a:gd name="T5" fmla="*/ 603 h 746"/>
                  <a:gd name="T6" fmla="*/ 250 w 603"/>
                  <a:gd name="T7" fmla="*/ 746 h 746"/>
                  <a:gd name="T8" fmla="*/ 354 w 603"/>
                  <a:gd name="T9" fmla="*/ 746 h 746"/>
                  <a:gd name="T10" fmla="*/ 397 w 603"/>
                  <a:gd name="T11" fmla="*/ 602 h 746"/>
                  <a:gd name="T12" fmla="*/ 603 w 603"/>
                  <a:gd name="T13" fmla="*/ 602 h 746"/>
                  <a:gd name="T14" fmla="*/ 602 w 603"/>
                  <a:gd name="T15" fmla="*/ 0 h 746"/>
                  <a:gd name="T16" fmla="*/ 0 w 603"/>
                  <a:gd name="T17" fmla="*/ 0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3" h="746">
                    <a:moveTo>
                      <a:pt x="0" y="0"/>
                    </a:moveTo>
                    <a:lnTo>
                      <a:pt x="0" y="603"/>
                    </a:lnTo>
                    <a:lnTo>
                      <a:pt x="205" y="603"/>
                    </a:lnTo>
                    <a:lnTo>
                      <a:pt x="250" y="746"/>
                    </a:lnTo>
                    <a:lnTo>
                      <a:pt x="354" y="746"/>
                    </a:lnTo>
                    <a:lnTo>
                      <a:pt x="397" y="602"/>
                    </a:lnTo>
                    <a:lnTo>
                      <a:pt x="603" y="602"/>
                    </a:lnTo>
                    <a:lnTo>
                      <a:pt x="602" y="0"/>
                    </a:lnTo>
                    <a:lnTo>
                      <a:pt x="0" y="0"/>
                    </a:lnTo>
                    <a:close/>
                  </a:path>
                </a:pathLst>
              </a:custGeom>
              <a:solidFill>
                <a:srgbClr val="E5E5E5"/>
              </a:solidFill>
              <a:ln>
                <a:noFill/>
              </a:ln>
              <a:effectLst/>
              <a:extLst>
                <a:ext uri="{91240B29-F687-4F45-9708-019B960494DF}">
                  <a14:hiddenLine xmlns:a14="http://schemas.microsoft.com/office/drawing/2010/main" w="28575" cap="flat" cmpd="sng">
                    <a:solidFill>
                      <a:schemeClr val="bg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 name="Text Box 26">
                <a:extLst>
                  <a:ext uri="{FF2B5EF4-FFF2-40B4-BE49-F238E27FC236}">
                    <a16:creationId xmlns:a16="http://schemas.microsoft.com/office/drawing/2014/main" id="{18625215-EDA5-2995-928C-D49E460DB35D}"/>
                  </a:ext>
                </a:extLst>
              </p:cNvPr>
              <p:cNvSpPr txBox="1">
                <a:spLocks noChangeArrowheads="1"/>
              </p:cNvSpPr>
              <p:nvPr/>
            </p:nvSpPr>
            <p:spPr bwMode="auto">
              <a:xfrm>
                <a:off x="3367" y="1308"/>
                <a:ext cx="7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ClrTx/>
                  <a:buSzTx/>
                  <a:buFontTx/>
                  <a:buNone/>
                </a:pPr>
                <a:r>
                  <a:rPr lang="en-US" altLang="en-US" sz="1200" b="1">
                    <a:solidFill>
                      <a:srgbClr val="6C6C6C"/>
                    </a:solidFill>
                    <a:latin typeface="Arial Narrow" panose="020B0604020202020204" pitchFamily="34" charset="0"/>
                  </a:rPr>
                  <a:t>.NET™</a:t>
                </a:r>
                <a:br>
                  <a:rPr lang="en-US" altLang="en-US" sz="1200" b="1">
                    <a:solidFill>
                      <a:srgbClr val="6C6C6C"/>
                    </a:solidFill>
                    <a:latin typeface="Arial Narrow" panose="020B0604020202020204" pitchFamily="34" charset="0"/>
                  </a:rPr>
                </a:br>
                <a:r>
                  <a:rPr lang="en-US" altLang="en-US" sz="1200" b="1">
                    <a:solidFill>
                      <a:srgbClr val="6C6C6C"/>
                    </a:solidFill>
                    <a:latin typeface="Arial Narrow" panose="020B0604020202020204" pitchFamily="34" charset="0"/>
                  </a:rPr>
                  <a:t>APPLICATION</a:t>
                </a:r>
              </a:p>
            </p:txBody>
          </p:sp>
        </p:grpSp>
        <p:grpSp>
          <p:nvGrpSpPr>
            <p:cNvPr id="12" name="Group 27">
              <a:extLst>
                <a:ext uri="{FF2B5EF4-FFF2-40B4-BE49-F238E27FC236}">
                  <a16:creationId xmlns:a16="http://schemas.microsoft.com/office/drawing/2014/main" id="{26E89F0A-8BC7-E943-2097-4F7A26E34040}"/>
                </a:ext>
              </a:extLst>
            </p:cNvPr>
            <p:cNvGrpSpPr>
              <a:grpSpLocks/>
            </p:cNvGrpSpPr>
            <p:nvPr/>
          </p:nvGrpSpPr>
          <p:grpSpPr bwMode="auto">
            <a:xfrm>
              <a:off x="4899025" y="4690609"/>
              <a:ext cx="979488" cy="1184275"/>
              <a:chOff x="2177" y="3109"/>
              <a:chExt cx="617" cy="746"/>
            </a:xfrm>
          </p:grpSpPr>
          <p:sp>
            <p:nvSpPr>
              <p:cNvPr id="29" name="Freeform 28">
                <a:extLst>
                  <a:ext uri="{FF2B5EF4-FFF2-40B4-BE49-F238E27FC236}">
                    <a16:creationId xmlns:a16="http://schemas.microsoft.com/office/drawing/2014/main" id="{83736828-DC68-5F78-8BA7-5394C436F7AE}"/>
                  </a:ext>
                </a:extLst>
              </p:cNvPr>
              <p:cNvSpPr>
                <a:spLocks noChangeAspect="1"/>
              </p:cNvSpPr>
              <p:nvPr/>
            </p:nvSpPr>
            <p:spPr bwMode="auto">
              <a:xfrm flipV="1">
                <a:off x="2183" y="3109"/>
                <a:ext cx="603" cy="746"/>
              </a:xfrm>
              <a:custGeom>
                <a:avLst/>
                <a:gdLst>
                  <a:gd name="T0" fmla="*/ 0 w 603"/>
                  <a:gd name="T1" fmla="*/ 0 h 746"/>
                  <a:gd name="T2" fmla="*/ 0 w 603"/>
                  <a:gd name="T3" fmla="*/ 603 h 746"/>
                  <a:gd name="T4" fmla="*/ 205 w 603"/>
                  <a:gd name="T5" fmla="*/ 603 h 746"/>
                  <a:gd name="T6" fmla="*/ 250 w 603"/>
                  <a:gd name="T7" fmla="*/ 746 h 746"/>
                  <a:gd name="T8" fmla="*/ 354 w 603"/>
                  <a:gd name="T9" fmla="*/ 746 h 746"/>
                  <a:gd name="T10" fmla="*/ 397 w 603"/>
                  <a:gd name="T11" fmla="*/ 602 h 746"/>
                  <a:gd name="T12" fmla="*/ 603 w 603"/>
                  <a:gd name="T13" fmla="*/ 602 h 746"/>
                  <a:gd name="T14" fmla="*/ 602 w 603"/>
                  <a:gd name="T15" fmla="*/ 0 h 746"/>
                  <a:gd name="T16" fmla="*/ 0 w 603"/>
                  <a:gd name="T17" fmla="*/ 0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3" h="746">
                    <a:moveTo>
                      <a:pt x="0" y="0"/>
                    </a:moveTo>
                    <a:lnTo>
                      <a:pt x="0" y="603"/>
                    </a:lnTo>
                    <a:lnTo>
                      <a:pt x="205" y="603"/>
                    </a:lnTo>
                    <a:lnTo>
                      <a:pt x="250" y="746"/>
                    </a:lnTo>
                    <a:lnTo>
                      <a:pt x="354" y="746"/>
                    </a:lnTo>
                    <a:lnTo>
                      <a:pt x="397" y="602"/>
                    </a:lnTo>
                    <a:lnTo>
                      <a:pt x="603" y="602"/>
                    </a:lnTo>
                    <a:lnTo>
                      <a:pt x="602" y="0"/>
                    </a:lnTo>
                    <a:lnTo>
                      <a:pt x="0" y="0"/>
                    </a:lnTo>
                    <a:close/>
                  </a:path>
                </a:pathLst>
              </a:custGeom>
              <a:solidFill>
                <a:srgbClr val="E5E5E5"/>
              </a:solidFill>
              <a:ln>
                <a:noFill/>
              </a:ln>
              <a:effectLst/>
              <a:extLst>
                <a:ext uri="{91240B29-F687-4F45-9708-019B960494DF}">
                  <a14:hiddenLine xmlns:a14="http://schemas.microsoft.com/office/drawing/2010/main" w="28575" cap="flat" cmpd="sng">
                    <a:solidFill>
                      <a:schemeClr val="bg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 name="Text Box 29">
                <a:extLst>
                  <a:ext uri="{FF2B5EF4-FFF2-40B4-BE49-F238E27FC236}">
                    <a16:creationId xmlns:a16="http://schemas.microsoft.com/office/drawing/2014/main" id="{EFB4A8FA-44F2-410A-B11E-F81486436432}"/>
                  </a:ext>
                </a:extLst>
              </p:cNvPr>
              <p:cNvSpPr txBox="1">
                <a:spLocks noChangeArrowheads="1"/>
              </p:cNvSpPr>
              <p:nvPr/>
            </p:nvSpPr>
            <p:spPr bwMode="auto">
              <a:xfrm>
                <a:off x="2177" y="3389"/>
                <a:ext cx="6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ClrTx/>
                  <a:buSzTx/>
                  <a:buFontTx/>
                  <a:buNone/>
                </a:pPr>
                <a:r>
                  <a:rPr lang="en-US" altLang="en-US" sz="1200" b="1">
                    <a:solidFill>
                      <a:srgbClr val="6C6C6C"/>
                    </a:solidFill>
                    <a:latin typeface="Arial Narrow" panose="020B0604020202020204" pitchFamily="34" charset="0"/>
                  </a:rPr>
                  <a:t>PARTNER SYSTEM</a:t>
                </a:r>
              </a:p>
            </p:txBody>
          </p:sp>
        </p:grpSp>
        <p:grpSp>
          <p:nvGrpSpPr>
            <p:cNvPr id="13" name="Group 30">
              <a:extLst>
                <a:ext uri="{FF2B5EF4-FFF2-40B4-BE49-F238E27FC236}">
                  <a16:creationId xmlns:a16="http://schemas.microsoft.com/office/drawing/2014/main" id="{B3DC5279-6C7A-7346-2A01-C8D740FAB5D5}"/>
                </a:ext>
              </a:extLst>
            </p:cNvPr>
            <p:cNvGrpSpPr>
              <a:grpSpLocks/>
            </p:cNvGrpSpPr>
            <p:nvPr/>
          </p:nvGrpSpPr>
          <p:grpSpPr bwMode="auto">
            <a:xfrm>
              <a:off x="6475413" y="4690609"/>
              <a:ext cx="979487" cy="1184275"/>
              <a:chOff x="3170" y="3109"/>
              <a:chExt cx="617" cy="746"/>
            </a:xfrm>
          </p:grpSpPr>
          <p:sp>
            <p:nvSpPr>
              <p:cNvPr id="27" name="Freeform 31">
                <a:extLst>
                  <a:ext uri="{FF2B5EF4-FFF2-40B4-BE49-F238E27FC236}">
                    <a16:creationId xmlns:a16="http://schemas.microsoft.com/office/drawing/2014/main" id="{D172B151-4DC0-7C27-8909-61890A607A9A}"/>
                  </a:ext>
                </a:extLst>
              </p:cNvPr>
              <p:cNvSpPr>
                <a:spLocks noChangeAspect="1"/>
              </p:cNvSpPr>
              <p:nvPr/>
            </p:nvSpPr>
            <p:spPr bwMode="auto">
              <a:xfrm flipV="1">
                <a:off x="3178" y="3109"/>
                <a:ext cx="603" cy="746"/>
              </a:xfrm>
              <a:custGeom>
                <a:avLst/>
                <a:gdLst>
                  <a:gd name="T0" fmla="*/ 0 w 603"/>
                  <a:gd name="T1" fmla="*/ 0 h 746"/>
                  <a:gd name="T2" fmla="*/ 0 w 603"/>
                  <a:gd name="T3" fmla="*/ 603 h 746"/>
                  <a:gd name="T4" fmla="*/ 205 w 603"/>
                  <a:gd name="T5" fmla="*/ 603 h 746"/>
                  <a:gd name="T6" fmla="*/ 250 w 603"/>
                  <a:gd name="T7" fmla="*/ 746 h 746"/>
                  <a:gd name="T8" fmla="*/ 354 w 603"/>
                  <a:gd name="T9" fmla="*/ 746 h 746"/>
                  <a:gd name="T10" fmla="*/ 397 w 603"/>
                  <a:gd name="T11" fmla="*/ 602 h 746"/>
                  <a:gd name="T12" fmla="*/ 603 w 603"/>
                  <a:gd name="T13" fmla="*/ 602 h 746"/>
                  <a:gd name="T14" fmla="*/ 602 w 603"/>
                  <a:gd name="T15" fmla="*/ 0 h 746"/>
                  <a:gd name="T16" fmla="*/ 0 w 603"/>
                  <a:gd name="T17" fmla="*/ 0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3" h="746">
                    <a:moveTo>
                      <a:pt x="0" y="0"/>
                    </a:moveTo>
                    <a:lnTo>
                      <a:pt x="0" y="603"/>
                    </a:lnTo>
                    <a:lnTo>
                      <a:pt x="205" y="603"/>
                    </a:lnTo>
                    <a:lnTo>
                      <a:pt x="250" y="746"/>
                    </a:lnTo>
                    <a:lnTo>
                      <a:pt x="354" y="746"/>
                    </a:lnTo>
                    <a:lnTo>
                      <a:pt x="397" y="602"/>
                    </a:lnTo>
                    <a:lnTo>
                      <a:pt x="603" y="602"/>
                    </a:lnTo>
                    <a:lnTo>
                      <a:pt x="602" y="0"/>
                    </a:lnTo>
                    <a:lnTo>
                      <a:pt x="0" y="0"/>
                    </a:lnTo>
                    <a:close/>
                  </a:path>
                </a:pathLst>
              </a:custGeom>
              <a:solidFill>
                <a:srgbClr val="E5E5E5"/>
              </a:solidFill>
              <a:ln>
                <a:noFill/>
              </a:ln>
              <a:effectLst/>
              <a:extLst>
                <a:ext uri="{91240B29-F687-4F45-9708-019B960494DF}">
                  <a14:hiddenLine xmlns:a14="http://schemas.microsoft.com/office/drawing/2010/main" w="28575" cap="flat" cmpd="sng">
                    <a:solidFill>
                      <a:schemeClr val="bg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 name="Text Box 32">
                <a:extLst>
                  <a:ext uri="{FF2B5EF4-FFF2-40B4-BE49-F238E27FC236}">
                    <a16:creationId xmlns:a16="http://schemas.microsoft.com/office/drawing/2014/main" id="{87FBC1EC-0DE9-897D-F8E6-622294981ADE}"/>
                  </a:ext>
                </a:extLst>
              </p:cNvPr>
              <p:cNvSpPr txBox="1">
                <a:spLocks noChangeArrowheads="1"/>
              </p:cNvSpPr>
              <p:nvPr/>
            </p:nvSpPr>
            <p:spPr bwMode="auto">
              <a:xfrm>
                <a:off x="3170" y="3389"/>
                <a:ext cx="6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ClrTx/>
                  <a:buSzTx/>
                  <a:buFontTx/>
                  <a:buNone/>
                </a:pPr>
                <a:r>
                  <a:rPr lang="en-US" altLang="en-US" sz="1200" b="1">
                    <a:solidFill>
                      <a:srgbClr val="6C6C6C"/>
                    </a:solidFill>
                    <a:latin typeface="Arial Narrow" panose="020B0604020202020204" pitchFamily="34" charset="0"/>
                  </a:rPr>
                  <a:t>FUTURE</a:t>
                </a:r>
                <a:br>
                  <a:rPr lang="en-US" altLang="en-US" sz="1200" b="1">
                    <a:solidFill>
                      <a:srgbClr val="6C6C6C"/>
                    </a:solidFill>
                    <a:latin typeface="Arial Narrow" panose="020B0604020202020204" pitchFamily="34" charset="0"/>
                  </a:rPr>
                </a:br>
                <a:r>
                  <a:rPr lang="en-US" altLang="en-US" sz="1200" b="1">
                    <a:solidFill>
                      <a:srgbClr val="6C6C6C"/>
                    </a:solidFill>
                    <a:latin typeface="Arial Narrow" panose="020B0604020202020204" pitchFamily="34" charset="0"/>
                  </a:rPr>
                  <a:t>SERVICES</a:t>
                </a:r>
              </a:p>
            </p:txBody>
          </p:sp>
        </p:grpSp>
        <p:sp>
          <p:nvSpPr>
            <p:cNvPr id="14" name="Text Box 33">
              <a:extLst>
                <a:ext uri="{FF2B5EF4-FFF2-40B4-BE49-F238E27FC236}">
                  <a16:creationId xmlns:a16="http://schemas.microsoft.com/office/drawing/2014/main" id="{79B2B243-9C26-3C3F-26DD-703B663F1E7B}"/>
                </a:ext>
              </a:extLst>
            </p:cNvPr>
            <p:cNvSpPr txBox="1">
              <a:spLocks noChangeArrowheads="1"/>
            </p:cNvSpPr>
            <p:nvPr/>
          </p:nvSpPr>
          <p:spPr bwMode="auto">
            <a:xfrm>
              <a:off x="5381625" y="4263571"/>
              <a:ext cx="161131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ClrTx/>
                <a:buSzTx/>
                <a:buFontTx/>
                <a:buNone/>
              </a:pPr>
              <a:r>
                <a:rPr lang="en-US" altLang="en-US" sz="1400" b="1">
                  <a:solidFill>
                    <a:schemeClr val="tx1"/>
                  </a:solidFill>
                  <a:latin typeface="Arial Narrow" panose="020B0604020202020204" pitchFamily="34" charset="0"/>
                </a:rPr>
                <a:t>WEB SERVICES</a:t>
              </a:r>
              <a:br>
                <a:rPr lang="en-US" altLang="en-US" sz="1400" b="1">
                  <a:solidFill>
                    <a:schemeClr val="tx1"/>
                  </a:solidFill>
                  <a:latin typeface="Arial Narrow" panose="020B0604020202020204" pitchFamily="34" charset="0"/>
                </a:rPr>
              </a:br>
              <a:r>
                <a:rPr lang="en-US" altLang="en-US" sz="1400" b="1">
                  <a:solidFill>
                    <a:schemeClr val="tx1"/>
                  </a:solidFill>
                  <a:latin typeface="Arial Narrow" panose="020B0604020202020204" pitchFamily="34" charset="0"/>
                </a:rPr>
                <a:t>INTERFACE</a:t>
              </a:r>
            </a:p>
          </p:txBody>
        </p:sp>
        <p:sp>
          <p:nvSpPr>
            <p:cNvPr id="15" name="Text Box 37">
              <a:extLst>
                <a:ext uri="{FF2B5EF4-FFF2-40B4-BE49-F238E27FC236}">
                  <a16:creationId xmlns:a16="http://schemas.microsoft.com/office/drawing/2014/main" id="{C5A1FA26-3EC8-9105-A780-F7D12694906B}"/>
                </a:ext>
              </a:extLst>
            </p:cNvPr>
            <p:cNvSpPr txBox="1">
              <a:spLocks noChangeArrowheads="1"/>
            </p:cNvSpPr>
            <p:nvPr/>
          </p:nvSpPr>
          <p:spPr bwMode="auto">
            <a:xfrm>
              <a:off x="5741988" y="3544434"/>
              <a:ext cx="852487"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ClrTx/>
                <a:buSzTx/>
                <a:buFontTx/>
                <a:buNone/>
              </a:pPr>
              <a:r>
                <a:rPr lang="en-US" altLang="en-US" sz="1400" b="1">
                  <a:solidFill>
                    <a:schemeClr val="tx1"/>
                  </a:solidFill>
                  <a:latin typeface="Arial Narrow" panose="020B0604020202020204" pitchFamily="34" charset="0"/>
                </a:rPr>
                <a:t>SOAP</a:t>
              </a:r>
              <a:br>
                <a:rPr lang="en-US" altLang="en-US" sz="1400" b="1">
                  <a:solidFill>
                    <a:schemeClr val="tx1"/>
                  </a:solidFill>
                  <a:latin typeface="Arial Narrow" panose="020B0604020202020204" pitchFamily="34" charset="0"/>
                </a:rPr>
              </a:br>
              <a:r>
                <a:rPr lang="en-US" altLang="en-US" sz="1400" b="1">
                  <a:solidFill>
                    <a:schemeClr val="tx1"/>
                  </a:solidFill>
                  <a:latin typeface="Arial Narrow" panose="020B0604020202020204" pitchFamily="34" charset="0"/>
                </a:rPr>
                <a:t>HTTP</a:t>
              </a:r>
            </a:p>
          </p:txBody>
        </p:sp>
        <p:grpSp>
          <p:nvGrpSpPr>
            <p:cNvPr id="16" name="Group 38">
              <a:extLst>
                <a:ext uri="{FF2B5EF4-FFF2-40B4-BE49-F238E27FC236}">
                  <a16:creationId xmlns:a16="http://schemas.microsoft.com/office/drawing/2014/main" id="{827829B7-404A-D228-8C6B-09F7FE2D03E7}"/>
                </a:ext>
              </a:extLst>
            </p:cNvPr>
            <p:cNvGrpSpPr>
              <a:grpSpLocks/>
            </p:cNvGrpSpPr>
            <p:nvPr/>
          </p:nvGrpSpPr>
          <p:grpSpPr bwMode="auto">
            <a:xfrm>
              <a:off x="7513638" y="2957059"/>
              <a:ext cx="854075" cy="307975"/>
              <a:chOff x="4804" y="2179"/>
              <a:chExt cx="538" cy="194"/>
            </a:xfrm>
          </p:grpSpPr>
          <p:grpSp>
            <p:nvGrpSpPr>
              <p:cNvPr id="17" name="Group 39">
                <a:extLst>
                  <a:ext uri="{FF2B5EF4-FFF2-40B4-BE49-F238E27FC236}">
                    <a16:creationId xmlns:a16="http://schemas.microsoft.com/office/drawing/2014/main" id="{5904719E-4FC7-24FE-7B44-FF834DF524E9}"/>
                  </a:ext>
                </a:extLst>
              </p:cNvPr>
              <p:cNvGrpSpPr>
                <a:grpSpLocks noChangeAspect="1"/>
              </p:cNvGrpSpPr>
              <p:nvPr/>
            </p:nvGrpSpPr>
            <p:grpSpPr bwMode="auto">
              <a:xfrm>
                <a:off x="4804" y="2196"/>
                <a:ext cx="150" cy="177"/>
                <a:chOff x="751" y="2087"/>
                <a:chExt cx="109" cy="128"/>
              </a:xfrm>
            </p:grpSpPr>
            <p:sp>
              <p:nvSpPr>
                <p:cNvPr id="19" name="Freeform 40">
                  <a:extLst>
                    <a:ext uri="{FF2B5EF4-FFF2-40B4-BE49-F238E27FC236}">
                      <a16:creationId xmlns:a16="http://schemas.microsoft.com/office/drawing/2014/main" id="{EC938BEE-C531-829E-7F19-A8C9467462F4}"/>
                    </a:ext>
                  </a:extLst>
                </p:cNvPr>
                <p:cNvSpPr>
                  <a:spLocks noChangeAspect="1"/>
                </p:cNvSpPr>
                <p:nvPr/>
              </p:nvSpPr>
              <p:spPr bwMode="auto">
                <a:xfrm>
                  <a:off x="751" y="2087"/>
                  <a:ext cx="109" cy="128"/>
                </a:xfrm>
                <a:custGeom>
                  <a:avLst/>
                  <a:gdLst>
                    <a:gd name="T0" fmla="*/ 0 w 381"/>
                    <a:gd name="T1" fmla="*/ 9 h 458"/>
                    <a:gd name="T2" fmla="*/ 0 w 381"/>
                    <a:gd name="T3" fmla="*/ 458 h 458"/>
                    <a:gd name="T4" fmla="*/ 381 w 381"/>
                    <a:gd name="T5" fmla="*/ 458 h 458"/>
                    <a:gd name="T6" fmla="*/ 381 w 381"/>
                    <a:gd name="T7" fmla="*/ 102 h 458"/>
                    <a:gd name="T8" fmla="*/ 279 w 381"/>
                    <a:gd name="T9" fmla="*/ 0 h 458"/>
                    <a:gd name="T10" fmla="*/ 0 w 381"/>
                    <a:gd name="T11" fmla="*/ 0 h 458"/>
                    <a:gd name="T12" fmla="*/ 0 w 381"/>
                    <a:gd name="T13" fmla="*/ 9 h 458"/>
                  </a:gdLst>
                  <a:ahLst/>
                  <a:cxnLst>
                    <a:cxn ang="0">
                      <a:pos x="T0" y="T1"/>
                    </a:cxn>
                    <a:cxn ang="0">
                      <a:pos x="T2" y="T3"/>
                    </a:cxn>
                    <a:cxn ang="0">
                      <a:pos x="T4" y="T5"/>
                    </a:cxn>
                    <a:cxn ang="0">
                      <a:pos x="T6" y="T7"/>
                    </a:cxn>
                    <a:cxn ang="0">
                      <a:pos x="T8" y="T9"/>
                    </a:cxn>
                    <a:cxn ang="0">
                      <a:pos x="T10" y="T11"/>
                    </a:cxn>
                    <a:cxn ang="0">
                      <a:pos x="T12" y="T13"/>
                    </a:cxn>
                  </a:cxnLst>
                  <a:rect l="0" t="0" r="r" b="b"/>
                  <a:pathLst>
                    <a:path w="381" h="458">
                      <a:moveTo>
                        <a:pt x="0" y="9"/>
                      </a:moveTo>
                      <a:lnTo>
                        <a:pt x="0" y="458"/>
                      </a:lnTo>
                      <a:lnTo>
                        <a:pt x="381" y="458"/>
                      </a:lnTo>
                      <a:lnTo>
                        <a:pt x="381" y="102"/>
                      </a:lnTo>
                      <a:lnTo>
                        <a:pt x="279" y="0"/>
                      </a:lnTo>
                      <a:lnTo>
                        <a:pt x="0" y="0"/>
                      </a:lnTo>
                      <a:lnTo>
                        <a:pt x="0" y="9"/>
                      </a:lnTo>
                      <a:close/>
                    </a:path>
                  </a:pathLst>
                </a:custGeom>
                <a:solidFill>
                  <a:srgbClr val="DFDFDF"/>
                </a:solidFill>
                <a:ln w="9525" cap="flat" cmpd="sng">
                  <a:solidFill>
                    <a:srgbClr val="5E4410"/>
                  </a:solidFill>
                  <a:prstDash val="solid"/>
                  <a:round/>
                  <a:headEnd type="none" w="med" len="med"/>
                  <a:tailEnd type="none" w="med" len="me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a:lstStyle/>
                <a:p>
                  <a:endParaRPr lang="en-GB"/>
                </a:p>
              </p:txBody>
            </p:sp>
            <p:sp>
              <p:nvSpPr>
                <p:cNvPr id="20" name="Freeform 41">
                  <a:extLst>
                    <a:ext uri="{FF2B5EF4-FFF2-40B4-BE49-F238E27FC236}">
                      <a16:creationId xmlns:a16="http://schemas.microsoft.com/office/drawing/2014/main" id="{2138C397-43F0-AB72-1AF5-20DC246E781D}"/>
                    </a:ext>
                  </a:extLst>
                </p:cNvPr>
                <p:cNvSpPr>
                  <a:spLocks noChangeAspect="1"/>
                </p:cNvSpPr>
                <p:nvPr/>
              </p:nvSpPr>
              <p:spPr bwMode="auto">
                <a:xfrm>
                  <a:off x="831" y="2088"/>
                  <a:ext cx="28" cy="29"/>
                </a:xfrm>
                <a:custGeom>
                  <a:avLst/>
                  <a:gdLst>
                    <a:gd name="T0" fmla="*/ 0 w 98"/>
                    <a:gd name="T1" fmla="*/ 0 h 99"/>
                    <a:gd name="T2" fmla="*/ 0 w 98"/>
                    <a:gd name="T3" fmla="*/ 99 h 99"/>
                    <a:gd name="T4" fmla="*/ 98 w 98"/>
                    <a:gd name="T5" fmla="*/ 99 h 99"/>
                  </a:gdLst>
                  <a:ahLst/>
                  <a:cxnLst>
                    <a:cxn ang="0">
                      <a:pos x="T0" y="T1"/>
                    </a:cxn>
                    <a:cxn ang="0">
                      <a:pos x="T2" y="T3"/>
                    </a:cxn>
                    <a:cxn ang="0">
                      <a:pos x="T4" y="T5"/>
                    </a:cxn>
                  </a:cxnLst>
                  <a:rect l="0" t="0" r="r" b="b"/>
                  <a:pathLst>
                    <a:path w="98" h="99">
                      <a:moveTo>
                        <a:pt x="0" y="0"/>
                      </a:moveTo>
                      <a:lnTo>
                        <a:pt x="0" y="99"/>
                      </a:lnTo>
                      <a:lnTo>
                        <a:pt x="98" y="99"/>
                      </a:lnTo>
                    </a:path>
                  </a:pathLst>
                </a:custGeom>
                <a:solidFill>
                  <a:srgbClr val="5E4410"/>
                </a:solidFill>
                <a:ln w="12700" cap="flat" cmpd="sng">
                  <a:solidFill>
                    <a:srgbClr val="5E4410"/>
                  </a:solidFill>
                  <a:prstDash val="solid"/>
                  <a:round/>
                  <a:headEnd type="none" w="med" len="med"/>
                  <a:tailEnd type="none" w="med" len="me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a:lstStyle/>
                <a:p>
                  <a:endParaRPr lang="en-GB"/>
                </a:p>
              </p:txBody>
            </p:sp>
            <p:sp>
              <p:nvSpPr>
                <p:cNvPr id="21" name="Line 42">
                  <a:extLst>
                    <a:ext uri="{FF2B5EF4-FFF2-40B4-BE49-F238E27FC236}">
                      <a16:creationId xmlns:a16="http://schemas.microsoft.com/office/drawing/2014/main" id="{4B5170EB-DD34-1748-9A80-31657A473BF8}"/>
                    </a:ext>
                  </a:extLst>
                </p:cNvPr>
                <p:cNvSpPr>
                  <a:spLocks noChangeAspect="1" noChangeShapeType="1"/>
                </p:cNvSpPr>
                <p:nvPr/>
              </p:nvSpPr>
              <p:spPr bwMode="auto">
                <a:xfrm flipV="1">
                  <a:off x="764" y="2198"/>
                  <a:ext cx="78" cy="0"/>
                </a:xfrm>
                <a:prstGeom prst="line">
                  <a:avLst/>
                </a:prstGeom>
                <a:noFill/>
                <a:ln w="9525">
                  <a:solidFill>
                    <a:srgbClr val="5E441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2" name="Line 43">
                  <a:extLst>
                    <a:ext uri="{FF2B5EF4-FFF2-40B4-BE49-F238E27FC236}">
                      <a16:creationId xmlns:a16="http://schemas.microsoft.com/office/drawing/2014/main" id="{45489A4A-B8E4-B74A-CBB9-91BA3371C6EC}"/>
                    </a:ext>
                  </a:extLst>
                </p:cNvPr>
                <p:cNvSpPr>
                  <a:spLocks noChangeAspect="1" noChangeShapeType="1"/>
                </p:cNvSpPr>
                <p:nvPr/>
              </p:nvSpPr>
              <p:spPr bwMode="auto">
                <a:xfrm flipV="1">
                  <a:off x="764" y="2184"/>
                  <a:ext cx="78" cy="0"/>
                </a:xfrm>
                <a:prstGeom prst="line">
                  <a:avLst/>
                </a:prstGeom>
                <a:noFill/>
                <a:ln w="9525">
                  <a:solidFill>
                    <a:srgbClr val="5E441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 name="Line 44">
                  <a:extLst>
                    <a:ext uri="{FF2B5EF4-FFF2-40B4-BE49-F238E27FC236}">
                      <a16:creationId xmlns:a16="http://schemas.microsoft.com/office/drawing/2014/main" id="{8AEB2EFC-3084-4255-12D9-3C348B57B1E6}"/>
                    </a:ext>
                  </a:extLst>
                </p:cNvPr>
                <p:cNvSpPr>
                  <a:spLocks noChangeAspect="1" noChangeShapeType="1"/>
                </p:cNvSpPr>
                <p:nvPr/>
              </p:nvSpPr>
              <p:spPr bwMode="auto">
                <a:xfrm flipV="1">
                  <a:off x="764" y="2169"/>
                  <a:ext cx="78" cy="0"/>
                </a:xfrm>
                <a:prstGeom prst="line">
                  <a:avLst/>
                </a:prstGeom>
                <a:noFill/>
                <a:ln w="9525">
                  <a:solidFill>
                    <a:srgbClr val="5E441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 name="Line 45">
                  <a:extLst>
                    <a:ext uri="{FF2B5EF4-FFF2-40B4-BE49-F238E27FC236}">
                      <a16:creationId xmlns:a16="http://schemas.microsoft.com/office/drawing/2014/main" id="{D74CCDB0-3E24-5943-3615-E1FD85441B43}"/>
                    </a:ext>
                  </a:extLst>
                </p:cNvPr>
                <p:cNvSpPr>
                  <a:spLocks noChangeAspect="1" noChangeShapeType="1"/>
                </p:cNvSpPr>
                <p:nvPr/>
              </p:nvSpPr>
              <p:spPr bwMode="auto">
                <a:xfrm flipV="1">
                  <a:off x="764" y="2155"/>
                  <a:ext cx="78" cy="0"/>
                </a:xfrm>
                <a:prstGeom prst="line">
                  <a:avLst/>
                </a:prstGeom>
                <a:noFill/>
                <a:ln w="9525">
                  <a:solidFill>
                    <a:srgbClr val="5E441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 name="Line 46">
                  <a:extLst>
                    <a:ext uri="{FF2B5EF4-FFF2-40B4-BE49-F238E27FC236}">
                      <a16:creationId xmlns:a16="http://schemas.microsoft.com/office/drawing/2014/main" id="{223D1B98-DDC9-9F9A-F167-187C760B6FB7}"/>
                    </a:ext>
                  </a:extLst>
                </p:cNvPr>
                <p:cNvSpPr>
                  <a:spLocks noChangeAspect="1" noChangeShapeType="1"/>
                </p:cNvSpPr>
                <p:nvPr/>
              </p:nvSpPr>
              <p:spPr bwMode="auto">
                <a:xfrm flipV="1">
                  <a:off x="764" y="2141"/>
                  <a:ext cx="78" cy="0"/>
                </a:xfrm>
                <a:prstGeom prst="line">
                  <a:avLst/>
                </a:prstGeom>
                <a:noFill/>
                <a:ln w="9525">
                  <a:solidFill>
                    <a:srgbClr val="5E441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 name="Line 47">
                  <a:extLst>
                    <a:ext uri="{FF2B5EF4-FFF2-40B4-BE49-F238E27FC236}">
                      <a16:creationId xmlns:a16="http://schemas.microsoft.com/office/drawing/2014/main" id="{EB327D56-3964-B46D-9C68-A21CD9C4F49A}"/>
                    </a:ext>
                  </a:extLst>
                </p:cNvPr>
                <p:cNvSpPr>
                  <a:spLocks noChangeAspect="1" noChangeShapeType="1"/>
                </p:cNvSpPr>
                <p:nvPr/>
              </p:nvSpPr>
              <p:spPr bwMode="auto">
                <a:xfrm flipV="1">
                  <a:off x="764" y="2126"/>
                  <a:ext cx="78" cy="0"/>
                </a:xfrm>
                <a:prstGeom prst="line">
                  <a:avLst/>
                </a:prstGeom>
                <a:noFill/>
                <a:ln w="9525">
                  <a:solidFill>
                    <a:srgbClr val="5E441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18" name="Text Box 48">
                <a:extLst>
                  <a:ext uri="{FF2B5EF4-FFF2-40B4-BE49-F238E27FC236}">
                    <a16:creationId xmlns:a16="http://schemas.microsoft.com/office/drawing/2014/main" id="{66E15CC1-7BA4-B734-362C-72823E4B436A}"/>
                  </a:ext>
                </a:extLst>
              </p:cNvPr>
              <p:cNvSpPr txBox="1">
                <a:spLocks noChangeArrowheads="1"/>
              </p:cNvSpPr>
              <p:nvPr/>
            </p:nvSpPr>
            <p:spPr bwMode="auto">
              <a:xfrm>
                <a:off x="4925" y="2179"/>
                <a:ext cx="41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ClrTx/>
                  <a:buSzTx/>
                  <a:buFontTx/>
                  <a:buNone/>
                </a:pPr>
                <a:r>
                  <a:rPr lang="en-US" altLang="en-US" sz="1000">
                    <a:solidFill>
                      <a:schemeClr val="tx1"/>
                    </a:solidFill>
                  </a:rPr>
                  <a:t>XML</a:t>
                </a:r>
              </a:p>
            </p:txBody>
          </p:sp>
        </p:grpSp>
      </p:grpSp>
    </p:spTree>
    <p:extLst>
      <p:ext uri="{BB962C8B-B14F-4D97-AF65-F5344CB8AC3E}">
        <p14:creationId xmlns:p14="http://schemas.microsoft.com/office/powerpoint/2010/main" val="1487240463"/>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246C-5B02-A970-31AD-417ED61B029A}"/>
              </a:ext>
            </a:extLst>
          </p:cNvPr>
          <p:cNvSpPr>
            <a:spLocks noGrp="1"/>
          </p:cNvSpPr>
          <p:nvPr>
            <p:ph type="title"/>
          </p:nvPr>
        </p:nvSpPr>
        <p:spPr/>
        <p:txBody>
          <a:bodyPr>
            <a:normAutofit/>
          </a:bodyPr>
          <a:lstStyle/>
          <a:p>
            <a:r>
              <a:rPr lang="en-GB" dirty="0"/>
              <a:t>Web Services</a:t>
            </a:r>
          </a:p>
        </p:txBody>
      </p:sp>
      <p:sp>
        <p:nvSpPr>
          <p:cNvPr id="3" name="Text Placeholder 2">
            <a:extLst>
              <a:ext uri="{FF2B5EF4-FFF2-40B4-BE49-F238E27FC236}">
                <a16:creationId xmlns:a16="http://schemas.microsoft.com/office/drawing/2014/main" id="{3536DCE2-3BB3-0979-0EEF-57342F78A344}"/>
              </a:ext>
            </a:extLst>
          </p:cNvPr>
          <p:cNvSpPr>
            <a:spLocks noGrp="1"/>
          </p:cNvSpPr>
          <p:nvPr>
            <p:ph type="body" sz="quarter" idx="11"/>
          </p:nvPr>
        </p:nvSpPr>
        <p:spPr>
          <a:xfrm>
            <a:off x="899590" y="1700808"/>
            <a:ext cx="7416825" cy="4608512"/>
          </a:xfrm>
        </p:spPr>
        <p:txBody>
          <a:bodyPr/>
          <a:lstStyle/>
          <a:p>
            <a:r>
              <a:rPr lang="en-GB" sz="2000" dirty="0"/>
              <a:t>Web Service</a:t>
            </a:r>
          </a:p>
          <a:p>
            <a:pPr lvl="1"/>
            <a:r>
              <a:rPr lang="en-GB" sz="2000" b="1" dirty="0"/>
              <a:t>standardized</a:t>
            </a:r>
            <a:r>
              <a:rPr lang="en-GB" sz="2000" dirty="0"/>
              <a:t> medium to propagate communication between the client and server applications on the World Wide Web and designed to perform a certain set of tasks</a:t>
            </a:r>
          </a:p>
          <a:p>
            <a:pPr lvl="1"/>
            <a:r>
              <a:rPr lang="en-GB" sz="2000" dirty="0"/>
              <a:t>Is available over the </a:t>
            </a:r>
            <a:r>
              <a:rPr lang="en-GB" sz="2000" b="1" dirty="0"/>
              <a:t>Internet</a:t>
            </a:r>
            <a:r>
              <a:rPr lang="en-GB" sz="2000" dirty="0"/>
              <a:t> or private (intranet) </a:t>
            </a:r>
            <a:r>
              <a:rPr lang="en-GB" sz="2000" b="1" dirty="0"/>
              <a:t>networks</a:t>
            </a:r>
          </a:p>
          <a:p>
            <a:pPr lvl="1"/>
            <a:r>
              <a:rPr lang="en-GB" sz="2000" dirty="0"/>
              <a:t>Uses a standardized XML </a:t>
            </a:r>
            <a:r>
              <a:rPr lang="en-GB" sz="2000" b="1" dirty="0"/>
              <a:t>messaging</a:t>
            </a:r>
            <a:r>
              <a:rPr lang="en-GB" sz="2000" dirty="0"/>
              <a:t> system</a:t>
            </a:r>
          </a:p>
          <a:p>
            <a:pPr lvl="1"/>
            <a:r>
              <a:rPr lang="en-GB" sz="2000" dirty="0"/>
              <a:t>Is </a:t>
            </a:r>
            <a:r>
              <a:rPr lang="en-GB" sz="2000" b="1" dirty="0"/>
              <a:t>not tied</a:t>
            </a:r>
            <a:r>
              <a:rPr lang="en-GB" sz="2000" dirty="0"/>
              <a:t> to any one operating system or programming language</a:t>
            </a:r>
          </a:p>
          <a:p>
            <a:pPr lvl="1"/>
            <a:r>
              <a:rPr lang="en-GB" sz="2000" dirty="0"/>
              <a:t>Is </a:t>
            </a:r>
            <a:r>
              <a:rPr lang="en-GB" sz="2000" b="1" dirty="0"/>
              <a:t>self-describing</a:t>
            </a:r>
            <a:r>
              <a:rPr lang="en-GB" sz="2000" dirty="0"/>
              <a:t> via a common grammar</a:t>
            </a:r>
          </a:p>
          <a:p>
            <a:pPr lvl="1"/>
            <a:r>
              <a:rPr lang="en-GB" sz="2000" dirty="0"/>
              <a:t>Is </a:t>
            </a:r>
            <a:r>
              <a:rPr lang="en-GB" sz="2000" b="1" dirty="0"/>
              <a:t>discoverable</a:t>
            </a:r>
            <a:r>
              <a:rPr lang="en-GB" sz="2000" dirty="0"/>
              <a:t> via a simple find mechanism</a:t>
            </a:r>
          </a:p>
          <a:p>
            <a:endParaRPr lang="en-GB" sz="2000" dirty="0"/>
          </a:p>
        </p:txBody>
      </p:sp>
    </p:spTree>
    <p:extLst>
      <p:ext uri="{BB962C8B-B14F-4D97-AF65-F5344CB8AC3E}">
        <p14:creationId xmlns:p14="http://schemas.microsoft.com/office/powerpoint/2010/main" val="3586334912"/>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A1331-6804-94E1-A5A2-3EF1D096EF2F}"/>
              </a:ext>
            </a:extLst>
          </p:cNvPr>
          <p:cNvSpPr>
            <a:spLocks noGrp="1"/>
          </p:cNvSpPr>
          <p:nvPr>
            <p:ph type="title"/>
          </p:nvPr>
        </p:nvSpPr>
        <p:spPr/>
        <p:txBody>
          <a:bodyPr>
            <a:normAutofit/>
          </a:bodyPr>
          <a:lstStyle/>
          <a:p>
            <a:r>
              <a:rPr lang="en-GB" dirty="0"/>
              <a:t>Web Services </a:t>
            </a:r>
          </a:p>
        </p:txBody>
      </p:sp>
      <p:sp>
        <p:nvSpPr>
          <p:cNvPr id="3" name="Text Placeholder 2">
            <a:extLst>
              <a:ext uri="{FF2B5EF4-FFF2-40B4-BE49-F238E27FC236}">
                <a16:creationId xmlns:a16="http://schemas.microsoft.com/office/drawing/2014/main" id="{48883A97-BCA8-723D-59E5-2DB419491458}"/>
              </a:ext>
            </a:extLst>
          </p:cNvPr>
          <p:cNvSpPr>
            <a:spLocks noGrp="1"/>
          </p:cNvSpPr>
          <p:nvPr>
            <p:ph type="body" sz="quarter" idx="11"/>
          </p:nvPr>
        </p:nvSpPr>
        <p:spPr>
          <a:xfrm>
            <a:off x="899591" y="1700808"/>
            <a:ext cx="6551612" cy="4752528"/>
          </a:xfrm>
        </p:spPr>
        <p:txBody>
          <a:bodyPr/>
          <a:lstStyle/>
          <a:p>
            <a:pPr marL="9525" indent="0">
              <a:buNone/>
            </a:pPr>
            <a:r>
              <a:rPr lang="en-GB" sz="2000" b="1" dirty="0"/>
              <a:t>Self-Contained</a:t>
            </a:r>
          </a:p>
          <a:p>
            <a:pPr lvl="1"/>
            <a:r>
              <a:rPr lang="en-GB" dirty="0"/>
              <a:t>modular, distributed, dynamic applications that can be described, published, located, or invoked over the network</a:t>
            </a:r>
          </a:p>
          <a:p>
            <a:pPr lvl="1"/>
            <a:endParaRPr lang="en-GB" sz="2000" dirty="0"/>
          </a:p>
          <a:p>
            <a:pPr marL="9525" indent="0">
              <a:buNone/>
            </a:pPr>
            <a:r>
              <a:rPr lang="en-GB" sz="2000" b="1" dirty="0"/>
              <a:t>Message Exchange</a:t>
            </a:r>
          </a:p>
          <a:p>
            <a:pPr lvl="1"/>
            <a:r>
              <a:rPr lang="en-GB" dirty="0"/>
              <a:t>collection of open protocols and standards used for exchanging data between applications or systems</a:t>
            </a:r>
          </a:p>
          <a:p>
            <a:pPr lvl="1"/>
            <a:endParaRPr lang="en-GB" sz="2000" dirty="0"/>
          </a:p>
          <a:p>
            <a:pPr marL="9525" indent="0">
              <a:buNone/>
            </a:pPr>
            <a:r>
              <a:rPr lang="en-GB" sz="2000" b="1" dirty="0"/>
              <a:t>Searched</a:t>
            </a:r>
          </a:p>
          <a:p>
            <a:pPr lvl="1"/>
            <a:r>
              <a:rPr lang="en-GB" dirty="0"/>
              <a:t>The web services can be searched for over the network and can also be invoked accordingly</a:t>
            </a:r>
          </a:p>
          <a:p>
            <a:pPr lvl="1"/>
            <a:endParaRPr lang="en-GB" sz="2000" dirty="0"/>
          </a:p>
          <a:p>
            <a:pPr marL="9525" indent="0">
              <a:buNone/>
            </a:pPr>
            <a:r>
              <a:rPr lang="en-GB" sz="2000" b="1" dirty="0"/>
              <a:t>Functionality</a:t>
            </a:r>
          </a:p>
          <a:p>
            <a:pPr lvl="1"/>
            <a:r>
              <a:rPr lang="en-GB" dirty="0"/>
              <a:t>When invoked the web service would be able to provide the functionality to the client which invokes that web service</a:t>
            </a:r>
          </a:p>
          <a:p>
            <a:endParaRPr lang="en-GB" sz="2000" dirty="0"/>
          </a:p>
        </p:txBody>
      </p:sp>
    </p:spTree>
    <p:extLst>
      <p:ext uri="{BB962C8B-B14F-4D97-AF65-F5344CB8AC3E}">
        <p14:creationId xmlns:p14="http://schemas.microsoft.com/office/powerpoint/2010/main" val="2166016493"/>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2FB59-601C-47B5-365A-8146ADF45D19}"/>
              </a:ext>
            </a:extLst>
          </p:cNvPr>
          <p:cNvSpPr>
            <a:spLocks noGrp="1"/>
          </p:cNvSpPr>
          <p:nvPr>
            <p:ph type="title"/>
          </p:nvPr>
        </p:nvSpPr>
        <p:spPr/>
        <p:txBody>
          <a:bodyPr>
            <a:normAutofit/>
          </a:bodyPr>
          <a:lstStyle/>
          <a:p>
            <a:r>
              <a:rPr lang="en-GB" dirty="0"/>
              <a:t>Web Service Characteristics</a:t>
            </a:r>
          </a:p>
        </p:txBody>
      </p:sp>
      <p:sp>
        <p:nvSpPr>
          <p:cNvPr id="3" name="Text Placeholder 2">
            <a:extLst>
              <a:ext uri="{FF2B5EF4-FFF2-40B4-BE49-F238E27FC236}">
                <a16:creationId xmlns:a16="http://schemas.microsoft.com/office/drawing/2014/main" id="{8FAAD494-0E1A-2A0E-3BFF-03948BDB9C2D}"/>
              </a:ext>
            </a:extLst>
          </p:cNvPr>
          <p:cNvSpPr>
            <a:spLocks noGrp="1"/>
          </p:cNvSpPr>
          <p:nvPr>
            <p:ph type="body" sz="quarter" idx="11"/>
          </p:nvPr>
        </p:nvSpPr>
        <p:spPr>
          <a:xfrm>
            <a:off x="899590" y="1700808"/>
            <a:ext cx="7488833" cy="4608512"/>
          </a:xfrm>
        </p:spPr>
        <p:txBody>
          <a:bodyPr/>
          <a:lstStyle/>
          <a:p>
            <a:pPr marL="9525" indent="0">
              <a:buNone/>
            </a:pPr>
            <a:r>
              <a:rPr lang="en-GB" sz="2000" b="1" dirty="0"/>
              <a:t>XML-Based</a:t>
            </a:r>
          </a:p>
          <a:p>
            <a:pPr lvl="1"/>
            <a:r>
              <a:rPr lang="en-US" dirty="0"/>
              <a:t>Web Services uses XML to represent the data at the representation and data transportation layers</a:t>
            </a:r>
          </a:p>
          <a:p>
            <a:pPr lvl="1"/>
            <a:endParaRPr lang="en-US" sz="2000" dirty="0"/>
          </a:p>
          <a:p>
            <a:pPr marL="9525" indent="0">
              <a:buNone/>
            </a:pPr>
            <a:r>
              <a:rPr lang="en-US" sz="2000" b="1" dirty="0"/>
              <a:t>Loosely Coupled</a:t>
            </a:r>
          </a:p>
          <a:p>
            <a:pPr lvl="1"/>
            <a:r>
              <a:rPr lang="en-US" dirty="0"/>
              <a:t>client and the web service are not bound to each other, which means that even if the web service changes over time, it should not change the way the client calls the web service</a:t>
            </a:r>
          </a:p>
          <a:p>
            <a:pPr lvl="1"/>
            <a:endParaRPr lang="en-US" sz="2000" dirty="0"/>
          </a:p>
          <a:p>
            <a:pPr marL="9525" indent="0">
              <a:buNone/>
            </a:pPr>
            <a:r>
              <a:rPr lang="en-US" sz="2000" b="1" dirty="0"/>
              <a:t>Synchronous or Asynchronous</a:t>
            </a:r>
          </a:p>
          <a:p>
            <a:pPr lvl="1"/>
            <a:r>
              <a:rPr lang="en-US" dirty="0"/>
              <a:t>Synchronous operations, the client will actually wait for the web service to complete an operation</a:t>
            </a:r>
          </a:p>
          <a:p>
            <a:pPr lvl="1"/>
            <a:r>
              <a:rPr lang="en-US" dirty="0"/>
              <a:t>Asynchronous operations allow a client to invoke a service and then execute other functions in parallel</a:t>
            </a:r>
            <a:endParaRPr lang="en-GB" dirty="0"/>
          </a:p>
          <a:p>
            <a:endParaRPr lang="en-GB" dirty="0"/>
          </a:p>
        </p:txBody>
      </p:sp>
    </p:spTree>
    <p:extLst>
      <p:ext uri="{BB962C8B-B14F-4D97-AF65-F5344CB8AC3E}">
        <p14:creationId xmlns:p14="http://schemas.microsoft.com/office/powerpoint/2010/main" val="116678154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C8DA2-FD63-DAAE-CEAE-19DF403FACE3}"/>
              </a:ext>
            </a:extLst>
          </p:cNvPr>
          <p:cNvSpPr>
            <a:spLocks noGrp="1"/>
          </p:cNvSpPr>
          <p:nvPr>
            <p:ph type="title"/>
          </p:nvPr>
        </p:nvSpPr>
        <p:spPr/>
        <p:txBody>
          <a:bodyPr>
            <a:normAutofit/>
          </a:bodyPr>
          <a:lstStyle/>
          <a:p>
            <a:r>
              <a:rPr lang="en-GB" dirty="0"/>
              <a:t>Web Service Characteristics </a:t>
            </a:r>
          </a:p>
        </p:txBody>
      </p:sp>
      <p:sp>
        <p:nvSpPr>
          <p:cNvPr id="3" name="Text Placeholder 2">
            <a:extLst>
              <a:ext uri="{FF2B5EF4-FFF2-40B4-BE49-F238E27FC236}">
                <a16:creationId xmlns:a16="http://schemas.microsoft.com/office/drawing/2014/main" id="{794B89C2-3B98-2EE1-36BF-A9BCAC9757BF}"/>
              </a:ext>
            </a:extLst>
          </p:cNvPr>
          <p:cNvSpPr>
            <a:spLocks noGrp="1"/>
          </p:cNvSpPr>
          <p:nvPr>
            <p:ph type="body" sz="quarter" idx="11"/>
          </p:nvPr>
        </p:nvSpPr>
        <p:spPr/>
        <p:txBody>
          <a:bodyPr/>
          <a:lstStyle/>
          <a:p>
            <a:r>
              <a:rPr lang="en-US" sz="2000" b="1" dirty="0"/>
              <a:t>Remote Procedure Calls (RPCs)</a:t>
            </a:r>
          </a:p>
          <a:p>
            <a:pPr lvl="1"/>
            <a:r>
              <a:rPr lang="en-US" dirty="0"/>
              <a:t>Web services enable clients to invoke procedures, functions, and methods on remote objects using an XML-based protocol</a:t>
            </a:r>
          </a:p>
          <a:p>
            <a:pPr lvl="1"/>
            <a:endParaRPr lang="en-US" sz="2000" dirty="0"/>
          </a:p>
          <a:p>
            <a:r>
              <a:rPr lang="en-US" sz="2000" b="1" dirty="0"/>
              <a:t>Document Exchange</a:t>
            </a:r>
          </a:p>
          <a:p>
            <a:pPr lvl="1"/>
            <a:r>
              <a:rPr lang="en-US" dirty="0"/>
              <a:t>Representing not only data but also complex documents </a:t>
            </a:r>
          </a:p>
          <a:p>
            <a:pPr lvl="1"/>
            <a:endParaRPr lang="en-US" sz="2000" dirty="0"/>
          </a:p>
          <a:p>
            <a:r>
              <a:rPr lang="en-US" sz="2000" b="1" dirty="0"/>
              <a:t>Coarse-Grained</a:t>
            </a:r>
          </a:p>
          <a:p>
            <a:pPr lvl="1"/>
            <a:r>
              <a:rPr lang="en-US" dirty="0"/>
              <a:t>provides a natural way of defining coarse-grained services that access the right amount of business logic</a:t>
            </a:r>
            <a:endParaRPr lang="en-GB" dirty="0"/>
          </a:p>
          <a:p>
            <a:pPr marL="9525" indent="0">
              <a:buNone/>
            </a:pPr>
            <a:endParaRPr lang="en-GB" sz="2000" dirty="0"/>
          </a:p>
        </p:txBody>
      </p:sp>
    </p:spTree>
    <p:extLst>
      <p:ext uri="{BB962C8B-B14F-4D97-AF65-F5344CB8AC3E}">
        <p14:creationId xmlns:p14="http://schemas.microsoft.com/office/powerpoint/2010/main" val="1860174995"/>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251C9-416A-34C2-8D39-91F954EB271A}"/>
              </a:ext>
            </a:extLst>
          </p:cNvPr>
          <p:cNvSpPr>
            <a:spLocks noGrp="1"/>
          </p:cNvSpPr>
          <p:nvPr>
            <p:ph type="title"/>
          </p:nvPr>
        </p:nvSpPr>
        <p:spPr/>
        <p:txBody>
          <a:bodyPr>
            <a:normAutofit/>
          </a:bodyPr>
          <a:lstStyle/>
          <a:p>
            <a:r>
              <a:rPr lang="en-GB" dirty="0"/>
              <a:t>Web Service Roles</a:t>
            </a:r>
          </a:p>
        </p:txBody>
      </p:sp>
      <p:sp>
        <p:nvSpPr>
          <p:cNvPr id="3" name="Text Placeholder 2">
            <a:extLst>
              <a:ext uri="{FF2B5EF4-FFF2-40B4-BE49-F238E27FC236}">
                <a16:creationId xmlns:a16="http://schemas.microsoft.com/office/drawing/2014/main" id="{C950740E-C93D-3988-E08D-B3FEF9FEBDE4}"/>
              </a:ext>
            </a:extLst>
          </p:cNvPr>
          <p:cNvSpPr>
            <a:spLocks noGrp="1"/>
          </p:cNvSpPr>
          <p:nvPr>
            <p:ph type="body" sz="quarter" idx="11"/>
          </p:nvPr>
        </p:nvSpPr>
        <p:spPr>
          <a:xfrm>
            <a:off x="899591" y="1700808"/>
            <a:ext cx="4104457" cy="4608512"/>
          </a:xfrm>
        </p:spPr>
        <p:txBody>
          <a:bodyPr/>
          <a:lstStyle/>
          <a:p>
            <a:r>
              <a:rPr lang="en-GB" sz="2000" b="1" dirty="0"/>
              <a:t>Provider</a:t>
            </a:r>
          </a:p>
          <a:p>
            <a:pPr lvl="1"/>
            <a:r>
              <a:rPr lang="en-US" dirty="0"/>
              <a:t>creates the web service and makes it available </a:t>
            </a:r>
            <a:endParaRPr lang="en-GB" dirty="0"/>
          </a:p>
          <a:p>
            <a:endParaRPr lang="en-GB" sz="2000" b="1" dirty="0"/>
          </a:p>
          <a:p>
            <a:r>
              <a:rPr lang="en-GB" sz="2000" b="1" dirty="0"/>
              <a:t>Requestor</a:t>
            </a:r>
          </a:p>
          <a:p>
            <a:pPr lvl="1"/>
            <a:r>
              <a:rPr lang="en-US" dirty="0"/>
              <a:t>the client application that needs to contact a web service</a:t>
            </a:r>
          </a:p>
          <a:p>
            <a:pPr lvl="1"/>
            <a:endParaRPr lang="en-US" sz="2000" dirty="0"/>
          </a:p>
          <a:p>
            <a:r>
              <a:rPr lang="en-US" sz="2000" b="1" dirty="0"/>
              <a:t>Service Registry</a:t>
            </a:r>
          </a:p>
          <a:p>
            <a:pPr lvl="1"/>
            <a:r>
              <a:rPr lang="en-US" dirty="0"/>
              <a:t>a logically centralized directory of services.</a:t>
            </a:r>
          </a:p>
          <a:p>
            <a:pPr lvl="1"/>
            <a:r>
              <a:rPr lang="en-US" dirty="0"/>
              <a:t>publish new services or find existing ones</a:t>
            </a:r>
          </a:p>
          <a:p>
            <a:pPr lvl="1"/>
            <a:endParaRPr lang="en-GB" sz="2000" dirty="0"/>
          </a:p>
          <a:p>
            <a:endParaRPr lang="en-GB" sz="2000" dirty="0"/>
          </a:p>
        </p:txBody>
      </p:sp>
      <p:pic>
        <p:nvPicPr>
          <p:cNvPr id="4" name="Picture 2" descr="eb service architecture &amp; Introduction">
            <a:extLst>
              <a:ext uri="{FF2B5EF4-FFF2-40B4-BE49-F238E27FC236}">
                <a16:creationId xmlns:a16="http://schemas.microsoft.com/office/drawing/2014/main" id="{4DED1F8B-C0EB-024A-9DF2-EB8B2EAF0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874532"/>
            <a:ext cx="3323875" cy="310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02590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Web Service Protocol Stack">
            <a:extLst>
              <a:ext uri="{FF2B5EF4-FFF2-40B4-BE49-F238E27FC236}">
                <a16:creationId xmlns:a16="http://schemas.microsoft.com/office/drawing/2014/main" id="{080C59F8-B38A-DAAC-CBA2-3F09CB18D7B6}"/>
              </a:ext>
            </a:extLst>
          </p:cNvPr>
          <p:cNvSpPr>
            <a:spLocks noGrp="1"/>
          </p:cNvSpPr>
          <p:nvPr>
            <p:ph type="title"/>
          </p:nvPr>
        </p:nvSpPr>
        <p:spPr/>
        <p:txBody>
          <a:bodyPr>
            <a:normAutofit/>
          </a:bodyPr>
          <a:lstStyle/>
          <a:p>
            <a:r>
              <a:rPr lang="en-GB" dirty="0"/>
              <a:t>Web Service Protocol Stack</a:t>
            </a:r>
          </a:p>
        </p:txBody>
      </p:sp>
      <p:sp>
        <p:nvSpPr>
          <p:cNvPr id="3" name="Text Placeholder 2">
            <a:extLst>
              <a:ext uri="{FF2B5EF4-FFF2-40B4-BE49-F238E27FC236}">
                <a16:creationId xmlns:a16="http://schemas.microsoft.com/office/drawing/2014/main" id="{F9CD39DB-A8E7-EB82-8758-592B0DD818B5}"/>
              </a:ext>
            </a:extLst>
          </p:cNvPr>
          <p:cNvSpPr>
            <a:spLocks noGrp="1"/>
          </p:cNvSpPr>
          <p:nvPr>
            <p:ph type="body" sz="quarter" idx="11"/>
          </p:nvPr>
        </p:nvSpPr>
        <p:spPr>
          <a:xfrm>
            <a:off x="899591" y="1340768"/>
            <a:ext cx="4464497" cy="4608512"/>
          </a:xfrm>
        </p:spPr>
        <p:txBody>
          <a:bodyPr/>
          <a:lstStyle/>
          <a:p>
            <a:pPr marL="9525" indent="0">
              <a:buNone/>
            </a:pPr>
            <a:r>
              <a:rPr lang="en-US" b="1" dirty="0"/>
              <a:t>Service Transport</a:t>
            </a:r>
          </a:p>
          <a:p>
            <a:pPr lvl="1"/>
            <a:r>
              <a:rPr lang="en-US" sz="1600" dirty="0"/>
              <a:t>responsible for transporting messages between applications</a:t>
            </a:r>
          </a:p>
          <a:p>
            <a:pPr lvl="1"/>
            <a:r>
              <a:rPr lang="en-US" sz="1600" dirty="0"/>
              <a:t>Hyper Text Transport Protocol (HTTP), Simple Mail Transfer Protocol (SMTP)</a:t>
            </a:r>
          </a:p>
          <a:p>
            <a:endParaRPr lang="en-US" sz="800" dirty="0"/>
          </a:p>
          <a:p>
            <a:pPr marL="9525" indent="0">
              <a:buNone/>
            </a:pPr>
            <a:r>
              <a:rPr lang="en-US" b="1" dirty="0"/>
              <a:t>XML Messaging</a:t>
            </a:r>
          </a:p>
          <a:p>
            <a:pPr lvl="1"/>
            <a:r>
              <a:rPr lang="en-US" sz="1600" dirty="0"/>
              <a:t>for encoding messages in a common XML</a:t>
            </a:r>
          </a:p>
          <a:p>
            <a:pPr lvl="1"/>
            <a:r>
              <a:rPr lang="en-US" sz="1600" dirty="0"/>
              <a:t>XML-RPC and SOAP</a:t>
            </a:r>
          </a:p>
          <a:p>
            <a:endParaRPr lang="en-US" sz="800" dirty="0"/>
          </a:p>
          <a:p>
            <a:pPr marL="9525" indent="0">
              <a:buNone/>
            </a:pPr>
            <a:r>
              <a:rPr lang="en-US" b="1" dirty="0"/>
              <a:t>Service Description</a:t>
            </a:r>
          </a:p>
          <a:p>
            <a:pPr lvl="1"/>
            <a:r>
              <a:rPr lang="en-US" sz="1600" dirty="0"/>
              <a:t>for describing the public interface to a specific web service</a:t>
            </a:r>
          </a:p>
          <a:p>
            <a:pPr lvl="1"/>
            <a:r>
              <a:rPr lang="en-US" sz="1600" dirty="0"/>
              <a:t>Web Service Description Language (WSDL)</a:t>
            </a:r>
          </a:p>
          <a:p>
            <a:endParaRPr lang="en-US" sz="800" dirty="0"/>
          </a:p>
          <a:p>
            <a:pPr marL="9525" indent="0">
              <a:buNone/>
            </a:pPr>
            <a:r>
              <a:rPr lang="en-US" b="1" dirty="0"/>
              <a:t>Service Discovery</a:t>
            </a:r>
          </a:p>
          <a:p>
            <a:pPr lvl="1"/>
            <a:r>
              <a:rPr lang="en-US" sz="1600" dirty="0"/>
              <a:t>for centralizing services into a common registry and providing easy publish/find functionality</a:t>
            </a:r>
          </a:p>
          <a:p>
            <a:pPr lvl="1"/>
            <a:r>
              <a:rPr lang="en-US" sz="1600" dirty="0"/>
              <a:t>Universal Description, Discovery, and Integration (UDDI).</a:t>
            </a:r>
          </a:p>
          <a:p>
            <a:endParaRPr lang="en-US" b="1" dirty="0"/>
          </a:p>
          <a:p>
            <a:endParaRPr lang="en-US" b="1" dirty="0"/>
          </a:p>
          <a:p>
            <a:endParaRPr lang="en-US" b="1" dirty="0"/>
          </a:p>
          <a:p>
            <a:endParaRPr lang="en-GB" dirty="0"/>
          </a:p>
          <a:p>
            <a:endParaRPr lang="en-GB" sz="2000" dirty="0"/>
          </a:p>
        </p:txBody>
      </p:sp>
      <p:pic>
        <p:nvPicPr>
          <p:cNvPr id="4" name="Picture 2" descr="Web Service Protocol Stack">
            <a:extLst>
              <a:ext uri="{FF2B5EF4-FFF2-40B4-BE49-F238E27FC236}">
                <a16:creationId xmlns:a16="http://schemas.microsoft.com/office/drawing/2014/main" id="{7B8EAEA3-0B35-C85C-9332-433DF9B26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2060848"/>
            <a:ext cx="3438096" cy="3384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325408"/>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88DDC-F750-BBDC-3915-77754B166FF2}"/>
              </a:ext>
            </a:extLst>
          </p:cNvPr>
          <p:cNvSpPr>
            <a:spLocks noGrp="1"/>
          </p:cNvSpPr>
          <p:nvPr>
            <p:ph type="title"/>
          </p:nvPr>
        </p:nvSpPr>
        <p:spPr/>
        <p:txBody>
          <a:bodyPr>
            <a:normAutofit/>
          </a:bodyPr>
          <a:lstStyle/>
          <a:p>
            <a:r>
              <a:rPr lang="en-GB" sz="2800" dirty="0"/>
              <a:t>Universal Description, Discovery, and Integration (UDDI)</a:t>
            </a:r>
          </a:p>
        </p:txBody>
      </p:sp>
      <p:sp>
        <p:nvSpPr>
          <p:cNvPr id="3" name="Text Placeholder 2">
            <a:extLst>
              <a:ext uri="{FF2B5EF4-FFF2-40B4-BE49-F238E27FC236}">
                <a16:creationId xmlns:a16="http://schemas.microsoft.com/office/drawing/2014/main" id="{0326947D-ED43-984B-06A3-8E3B17F97053}"/>
              </a:ext>
            </a:extLst>
          </p:cNvPr>
          <p:cNvSpPr>
            <a:spLocks noGrp="1"/>
          </p:cNvSpPr>
          <p:nvPr>
            <p:ph type="body" sz="quarter" idx="11"/>
          </p:nvPr>
        </p:nvSpPr>
        <p:spPr>
          <a:xfrm>
            <a:off x="899591" y="1916832"/>
            <a:ext cx="3413597" cy="4392488"/>
          </a:xfrm>
        </p:spPr>
        <p:txBody>
          <a:bodyPr/>
          <a:lstStyle/>
          <a:p>
            <a:r>
              <a:rPr lang="en-US" sz="2000" dirty="0"/>
              <a:t>A specification for a distributed registry of web services</a:t>
            </a:r>
          </a:p>
          <a:p>
            <a:r>
              <a:rPr lang="en-US" sz="2000" dirty="0"/>
              <a:t>A platform-independent, open framework</a:t>
            </a:r>
          </a:p>
          <a:p>
            <a:r>
              <a:rPr lang="en-US" sz="2000" dirty="0"/>
              <a:t>Uses Web Service Definition Language (WSDL) to describe interfaces to web services</a:t>
            </a:r>
            <a:endParaRPr lang="en-GB" sz="2000" dirty="0"/>
          </a:p>
          <a:p>
            <a:r>
              <a:rPr lang="en-GB" sz="2000" dirty="0"/>
              <a:t>A registry of all web service metadata</a:t>
            </a:r>
          </a:p>
          <a:p>
            <a:r>
              <a:rPr lang="en-GB" sz="2000" dirty="0"/>
              <a:t>A set of WSDL port type definitions for manipulating and searching that registry</a:t>
            </a:r>
          </a:p>
          <a:p>
            <a:r>
              <a:rPr lang="en-US" sz="2000" dirty="0">
                <a:latin typeface="Arial" charset="0"/>
                <a:ea typeface="ＭＳ Ｐゴシック" charset="0"/>
                <a:cs typeface="ＭＳ Ｐゴシック" charset="0"/>
              </a:rPr>
              <a:t>UDDI is entirely optional</a:t>
            </a:r>
            <a:endParaRPr lang="en-US" sz="2000" dirty="0"/>
          </a:p>
          <a:p>
            <a:endParaRPr lang="en-GB" sz="2000" dirty="0"/>
          </a:p>
        </p:txBody>
      </p:sp>
      <p:pic>
        <p:nvPicPr>
          <p:cNvPr id="4" name="Picture 2" descr="verview of UDDI Registry&#10; ">
            <a:extLst>
              <a:ext uri="{FF2B5EF4-FFF2-40B4-BE49-F238E27FC236}">
                <a16:creationId xmlns:a16="http://schemas.microsoft.com/office/drawing/2014/main" id="{2F8D1A47-BB05-AB98-8211-8839D142089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3188" y="2132856"/>
            <a:ext cx="4389881" cy="3292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5661765"/>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191A1-7A34-44E3-15FF-26111A693549}"/>
              </a:ext>
            </a:extLst>
          </p:cNvPr>
          <p:cNvSpPr>
            <a:spLocks noGrp="1"/>
          </p:cNvSpPr>
          <p:nvPr>
            <p:ph type="title"/>
          </p:nvPr>
        </p:nvSpPr>
        <p:spPr/>
        <p:txBody>
          <a:bodyPr>
            <a:normAutofit/>
          </a:bodyPr>
          <a:lstStyle/>
          <a:p>
            <a:r>
              <a:rPr lang="en-GB" dirty="0"/>
              <a:t>Overview of SOAP</a:t>
            </a:r>
          </a:p>
        </p:txBody>
      </p:sp>
      <p:sp>
        <p:nvSpPr>
          <p:cNvPr id="3" name="Text Placeholder 2">
            <a:extLst>
              <a:ext uri="{FF2B5EF4-FFF2-40B4-BE49-F238E27FC236}">
                <a16:creationId xmlns:a16="http://schemas.microsoft.com/office/drawing/2014/main" id="{1BF013FD-FD16-F26B-D437-3D423A1B9D23}"/>
              </a:ext>
            </a:extLst>
          </p:cNvPr>
          <p:cNvSpPr>
            <a:spLocks noGrp="1"/>
          </p:cNvSpPr>
          <p:nvPr>
            <p:ph type="body" sz="quarter" idx="11"/>
          </p:nvPr>
        </p:nvSpPr>
        <p:spPr/>
        <p:txBody>
          <a:bodyPr/>
          <a:lstStyle/>
          <a:p>
            <a:pPr>
              <a:lnSpc>
                <a:spcPct val="105000"/>
              </a:lnSpc>
            </a:pPr>
            <a:r>
              <a:rPr lang="en-US" altLang="en-US" sz="2000" dirty="0"/>
              <a:t>Definition from SOAP 1.1 Spec</a:t>
            </a:r>
          </a:p>
          <a:p>
            <a:pPr lvl="1">
              <a:lnSpc>
                <a:spcPct val="95000"/>
              </a:lnSpc>
            </a:pPr>
            <a:r>
              <a:rPr lang="en-US" altLang="en-US" sz="2000" dirty="0"/>
              <a:t>“SOAP provides a simple and lightweight mechanism for exchanging structured and typed information between peers in a decentralized, distributed environment using XML. ..”</a:t>
            </a:r>
          </a:p>
          <a:p>
            <a:pPr>
              <a:lnSpc>
                <a:spcPct val="105000"/>
              </a:lnSpc>
            </a:pPr>
            <a:r>
              <a:rPr lang="en-US" altLang="en-US" sz="2000" dirty="0"/>
              <a:t>Binding into the network is unspecified</a:t>
            </a:r>
          </a:p>
          <a:p>
            <a:pPr lvl="1">
              <a:lnSpc>
                <a:spcPct val="95000"/>
              </a:lnSpc>
            </a:pPr>
            <a:r>
              <a:rPr lang="en-US" altLang="en-US" sz="2000" dirty="0"/>
              <a:t>SOAP does not define how messages are transported between nodes and how they are routed</a:t>
            </a:r>
          </a:p>
          <a:p>
            <a:pPr lvl="1">
              <a:lnSpc>
                <a:spcPct val="95000"/>
              </a:lnSpc>
            </a:pPr>
            <a:r>
              <a:rPr lang="en-US" altLang="en-US" sz="2000" dirty="0"/>
              <a:t>Web Services rely on HTTP / JMS etc. for this</a:t>
            </a:r>
          </a:p>
          <a:p>
            <a:pPr>
              <a:lnSpc>
                <a:spcPct val="105000"/>
              </a:lnSpc>
            </a:pPr>
            <a:r>
              <a:rPr lang="en-US" altLang="en-US" sz="2000" dirty="0"/>
              <a:t>Supports various message exchange patterns:</a:t>
            </a:r>
          </a:p>
          <a:p>
            <a:pPr lvl="1">
              <a:lnSpc>
                <a:spcPct val="95000"/>
              </a:lnSpc>
            </a:pPr>
            <a:r>
              <a:rPr lang="en-US" altLang="en-US" sz="2000" dirty="0"/>
              <a:t>request/respond</a:t>
            </a:r>
          </a:p>
          <a:p>
            <a:pPr lvl="1">
              <a:lnSpc>
                <a:spcPct val="95000"/>
              </a:lnSpc>
            </a:pPr>
            <a:r>
              <a:rPr lang="en-US" altLang="en-US" sz="2000" dirty="0"/>
              <a:t>notification</a:t>
            </a:r>
          </a:p>
          <a:p>
            <a:pPr lvl="1">
              <a:lnSpc>
                <a:spcPct val="95000"/>
              </a:lnSpc>
            </a:pPr>
            <a:r>
              <a:rPr lang="en-US" altLang="en-US" sz="2000" dirty="0"/>
              <a:t>Callback</a:t>
            </a:r>
            <a:endParaRPr lang="en-GB" sz="2000" dirty="0"/>
          </a:p>
          <a:p>
            <a:endParaRPr lang="en-GB" sz="2000" dirty="0"/>
          </a:p>
        </p:txBody>
      </p:sp>
    </p:spTree>
    <p:extLst>
      <p:ext uri="{BB962C8B-B14F-4D97-AF65-F5344CB8AC3E}">
        <p14:creationId xmlns:p14="http://schemas.microsoft.com/office/powerpoint/2010/main" val="2450073420"/>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15AC8-1980-452E-1736-A823A0919BC4}"/>
              </a:ext>
            </a:extLst>
          </p:cNvPr>
          <p:cNvSpPr>
            <a:spLocks noGrp="1"/>
          </p:cNvSpPr>
          <p:nvPr>
            <p:ph type="title"/>
          </p:nvPr>
        </p:nvSpPr>
        <p:spPr/>
        <p:txBody>
          <a:bodyPr>
            <a:normAutofit/>
          </a:bodyPr>
          <a:lstStyle/>
          <a:p>
            <a:r>
              <a:rPr lang="en-GB" dirty="0"/>
              <a:t>SOAP Message</a:t>
            </a:r>
          </a:p>
        </p:txBody>
      </p:sp>
      <p:sp>
        <p:nvSpPr>
          <p:cNvPr id="3" name="Text Placeholder 2">
            <a:extLst>
              <a:ext uri="{FF2B5EF4-FFF2-40B4-BE49-F238E27FC236}">
                <a16:creationId xmlns:a16="http://schemas.microsoft.com/office/drawing/2014/main" id="{28B3D403-D988-C15D-B3E8-978C32569A22}"/>
              </a:ext>
            </a:extLst>
          </p:cNvPr>
          <p:cNvSpPr>
            <a:spLocks noGrp="1"/>
          </p:cNvSpPr>
          <p:nvPr>
            <p:ph type="body" sz="quarter" idx="11"/>
          </p:nvPr>
        </p:nvSpPr>
        <p:spPr>
          <a:xfrm>
            <a:off x="899591" y="1412776"/>
            <a:ext cx="4032449" cy="4896544"/>
          </a:xfrm>
        </p:spPr>
        <p:txBody>
          <a:bodyPr/>
          <a:lstStyle/>
          <a:p>
            <a:pPr marL="9525" indent="0">
              <a:buNone/>
            </a:pPr>
            <a:r>
              <a:rPr lang="en-US" sz="2000" b="1" dirty="0"/>
              <a:t>Envelope</a:t>
            </a:r>
          </a:p>
          <a:p>
            <a:pPr lvl="1"/>
            <a:r>
              <a:rPr lang="en-US" dirty="0"/>
              <a:t>identifies the XML document as a SOAP message</a:t>
            </a:r>
          </a:p>
          <a:p>
            <a:pPr lvl="1"/>
            <a:r>
              <a:rPr lang="en-US" dirty="0"/>
              <a:t>encapsulate all the details in the SOAP message</a:t>
            </a:r>
          </a:p>
          <a:p>
            <a:pPr lvl="1"/>
            <a:endParaRPr lang="en-US" dirty="0"/>
          </a:p>
          <a:p>
            <a:pPr marL="9525" indent="0">
              <a:buNone/>
            </a:pPr>
            <a:r>
              <a:rPr lang="en-US" sz="2000" b="1" dirty="0"/>
              <a:t>Header</a:t>
            </a:r>
          </a:p>
          <a:p>
            <a:pPr lvl="1"/>
            <a:r>
              <a:rPr lang="en-US" dirty="0"/>
              <a:t>information such as authentication credentials</a:t>
            </a:r>
          </a:p>
          <a:p>
            <a:pPr lvl="1"/>
            <a:r>
              <a:rPr lang="en-US" dirty="0"/>
              <a:t>Can contain the definition of complex types (objects) which could be used in the SOAP message</a:t>
            </a:r>
          </a:p>
          <a:p>
            <a:pPr lvl="1"/>
            <a:endParaRPr lang="en-US" dirty="0"/>
          </a:p>
          <a:p>
            <a:pPr marL="9525" indent="0">
              <a:buNone/>
            </a:pPr>
            <a:r>
              <a:rPr lang="en-US" sz="2000" b="1" dirty="0"/>
              <a:t>Body</a:t>
            </a:r>
          </a:p>
          <a:p>
            <a:pPr lvl="1"/>
            <a:r>
              <a:rPr lang="en-US" dirty="0"/>
              <a:t>contains call and response information</a:t>
            </a:r>
            <a:endParaRPr lang="en-GB" dirty="0"/>
          </a:p>
          <a:p>
            <a:endParaRPr lang="en-GB" sz="2000" dirty="0"/>
          </a:p>
        </p:txBody>
      </p:sp>
      <p:pic>
        <p:nvPicPr>
          <p:cNvPr id="4" name="Picture 4" descr="SOAP Message (Building blocks)">
            <a:extLst>
              <a:ext uri="{FF2B5EF4-FFF2-40B4-BE49-F238E27FC236}">
                <a16:creationId xmlns:a16="http://schemas.microsoft.com/office/drawing/2014/main" id="{4073C056-982C-8062-70F5-7ED998A80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1886096"/>
            <a:ext cx="3113832" cy="3949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273073"/>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02C3E-E5DB-0DA4-FB34-F5E5DFA425EC}"/>
              </a:ext>
            </a:extLst>
          </p:cNvPr>
          <p:cNvSpPr>
            <a:spLocks noGrp="1"/>
          </p:cNvSpPr>
          <p:nvPr>
            <p:ph type="title"/>
          </p:nvPr>
        </p:nvSpPr>
        <p:spPr/>
        <p:txBody>
          <a:bodyPr>
            <a:normAutofit fontScale="90000"/>
          </a:bodyPr>
          <a:lstStyle/>
          <a:p>
            <a:r>
              <a:rPr lang="en-GB" dirty="0"/>
              <a:t>Example SOAP Web Services</a:t>
            </a:r>
            <a:br>
              <a:rPr lang="en-GB" dirty="0"/>
            </a:br>
            <a:endParaRPr lang="en-GB" dirty="0"/>
          </a:p>
        </p:txBody>
      </p:sp>
      <p:grpSp>
        <p:nvGrpSpPr>
          <p:cNvPr id="4" name="Group 3">
            <a:extLst>
              <a:ext uri="{FF2B5EF4-FFF2-40B4-BE49-F238E27FC236}">
                <a16:creationId xmlns:a16="http://schemas.microsoft.com/office/drawing/2014/main" id="{BB36DFCE-6566-9E55-EDC2-91F77044A260}"/>
              </a:ext>
              <a:ext uri="{C183D7F6-B498-43B3-948B-1728B52AA6E4}">
                <adec:decorative xmlns:adec="http://schemas.microsoft.com/office/drawing/2017/decorative" val="1"/>
              </a:ext>
            </a:extLst>
          </p:cNvPr>
          <p:cNvGrpSpPr/>
          <p:nvPr/>
        </p:nvGrpSpPr>
        <p:grpSpPr>
          <a:xfrm>
            <a:off x="457993" y="1340768"/>
            <a:ext cx="8228013" cy="5184775"/>
            <a:chOff x="457200" y="1484313"/>
            <a:chExt cx="8228013" cy="5184775"/>
          </a:xfrm>
        </p:grpSpPr>
        <p:pic>
          <p:nvPicPr>
            <p:cNvPr id="5" name="Picture 4">
              <a:extLst>
                <a:ext uri="{FF2B5EF4-FFF2-40B4-BE49-F238E27FC236}">
                  <a16:creationId xmlns:a16="http://schemas.microsoft.com/office/drawing/2014/main" id="{83B7EDEE-1593-6F37-4170-992DDC362F8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00" y="2974295"/>
              <a:ext cx="5700713" cy="12319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334467AE-51D2-AB1F-CB94-F509F2CDE7EF}"/>
                </a:ext>
              </a:extLst>
            </p:cNvPr>
            <p:cNvSpPr txBox="1">
              <a:spLocks noChangeArrowheads="1"/>
            </p:cNvSpPr>
            <p:nvPr/>
          </p:nvSpPr>
          <p:spPr>
            <a:xfrm>
              <a:off x="457200" y="1484313"/>
              <a:ext cx="8228013" cy="5184775"/>
            </a:xfrm>
            <a:prstGeom prst="rect">
              <a:avLst/>
            </a:prstGeom>
          </p:spPr>
          <p:txBody>
            <a:bodyPr/>
            <a:lstStyle>
              <a:lvl1pPr marL="454025" indent="-454025" algn="l" defTabSz="606425" rtl="0" eaLnBrk="0" fontAlgn="base" hangingPunct="0">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a:lstStyle>
            <a:p>
              <a:pPr>
                <a:lnSpc>
                  <a:spcPct val="105000"/>
                </a:lnSpc>
                <a:buFont typeface="Wingdings" pitchFamily="2" charset="2"/>
                <a:buNone/>
              </a:pPr>
              <a:r>
                <a:rPr lang="en-US" altLang="en-US" sz="1400" b="1" dirty="0">
                  <a:solidFill>
                    <a:srgbClr val="009900"/>
                  </a:solidFill>
                </a:rPr>
                <a:t>&lt;</a:t>
              </a:r>
              <a:r>
                <a:rPr lang="en-US" altLang="en-US" sz="1400" b="1" dirty="0" err="1">
                  <a:solidFill>
                    <a:srgbClr val="009900"/>
                  </a:solidFill>
                </a:rPr>
                <a:t>soap:Envelope</a:t>
              </a:r>
              <a:r>
                <a:rPr lang="en-US" altLang="en-US" sz="1400" b="1" dirty="0">
                  <a:solidFill>
                    <a:srgbClr val="009900"/>
                  </a:solidFill>
                </a:rPr>
                <a:t> </a:t>
              </a:r>
              <a:r>
                <a:rPr lang="en-US" altLang="en-US" sz="1400" b="1" dirty="0" err="1">
                  <a:solidFill>
                    <a:srgbClr val="009900"/>
                  </a:solidFill>
                </a:rPr>
                <a:t>xmlns</a:t>
              </a:r>
              <a:r>
                <a:rPr lang="en-US" altLang="en-US" sz="1400" b="1" dirty="0">
                  <a:solidFill>
                    <a:srgbClr val="009900"/>
                  </a:solidFill>
                </a:rPr>
                <a:t>: …&gt;</a:t>
              </a:r>
            </a:p>
            <a:p>
              <a:pPr>
                <a:lnSpc>
                  <a:spcPct val="105000"/>
                </a:lnSpc>
                <a:buFont typeface="Wingdings" pitchFamily="2" charset="2"/>
                <a:buNone/>
              </a:pPr>
              <a:r>
                <a:rPr lang="en-US" altLang="en-US" sz="1400" dirty="0"/>
                <a:t>	</a:t>
              </a:r>
              <a:r>
                <a:rPr lang="en-US" altLang="en-US" sz="1400" b="1" dirty="0">
                  <a:solidFill>
                    <a:schemeClr val="accent2"/>
                  </a:solidFill>
                </a:rPr>
                <a:t>&lt;</a:t>
              </a:r>
              <a:r>
                <a:rPr lang="en-US" altLang="en-US" sz="1400" b="1" dirty="0" err="1">
                  <a:solidFill>
                    <a:schemeClr val="accent2"/>
                  </a:solidFill>
                </a:rPr>
                <a:t>soap:Body</a:t>
              </a:r>
              <a:r>
                <a:rPr lang="en-US" altLang="en-US" sz="1400" b="1" dirty="0">
                  <a:solidFill>
                    <a:schemeClr val="accent2"/>
                  </a:solidFill>
                </a:rPr>
                <a:t>&gt;</a:t>
              </a:r>
            </a:p>
            <a:p>
              <a:pPr>
                <a:lnSpc>
                  <a:spcPct val="105000"/>
                </a:lnSpc>
                <a:buFont typeface="Wingdings" pitchFamily="2" charset="2"/>
                <a:buNone/>
              </a:pPr>
              <a:r>
                <a:rPr lang="en-US" altLang="en-US" sz="1400" dirty="0"/>
                <a:t>			&lt;</a:t>
              </a:r>
              <a:r>
                <a:rPr lang="en-US" altLang="en-US" sz="1400" dirty="0" err="1"/>
                <a:t>m:getQuote</a:t>
              </a:r>
              <a:r>
                <a:rPr lang="en-US" altLang="en-US" sz="1400" dirty="0"/>
                <a:t> </a:t>
              </a:r>
              <a:r>
                <a:rPr lang="en-US" altLang="en-US" sz="1400" dirty="0" err="1"/>
                <a:t>xmlns</a:t>
              </a:r>
              <a:r>
                <a:rPr lang="en-US" altLang="en-US" sz="1400" dirty="0"/>
                <a:t>="</a:t>
              </a:r>
              <a:r>
                <a:rPr lang="en-US" altLang="en-US" sz="1400" dirty="0" err="1"/>
                <a:t>urn:xmethods-delayed-quotes</a:t>
              </a:r>
              <a:r>
                <a:rPr lang="en-US" altLang="en-US" sz="1400" dirty="0"/>
                <a:t>“&gt;</a:t>
              </a:r>
            </a:p>
            <a:p>
              <a:pPr>
                <a:lnSpc>
                  <a:spcPct val="105000"/>
                </a:lnSpc>
                <a:buFont typeface="Wingdings" pitchFamily="2" charset="2"/>
                <a:buNone/>
              </a:pPr>
              <a:r>
                <a:rPr lang="en-US" altLang="en-US" sz="1400" dirty="0"/>
                <a:t>				&lt;symbol </a:t>
              </a:r>
              <a:r>
                <a:rPr lang="en-US" altLang="en-US" sz="1400" dirty="0" err="1"/>
                <a:t>xsi:type</a:t>
              </a:r>
              <a:r>
                <a:rPr lang="en-US" altLang="en-US" sz="1400" dirty="0"/>
                <a:t>="</a:t>
              </a:r>
              <a:r>
                <a:rPr lang="en-US" altLang="en-US" sz="1400" dirty="0" err="1"/>
                <a:t>xsd:string</a:t>
              </a:r>
              <a:r>
                <a:rPr lang="en-US" altLang="en-US" sz="1400" dirty="0"/>
                <a:t>"&gt;MSFT&lt;/symbol&gt;</a:t>
              </a:r>
            </a:p>
            <a:p>
              <a:pPr>
                <a:lnSpc>
                  <a:spcPct val="105000"/>
                </a:lnSpc>
                <a:buFont typeface="Wingdings" pitchFamily="2" charset="2"/>
                <a:buNone/>
              </a:pPr>
              <a:r>
                <a:rPr lang="en-US" altLang="en-US" sz="1400" dirty="0"/>
                <a:t>			&lt;/</a:t>
              </a:r>
              <a:r>
                <a:rPr lang="en-US" altLang="en-US" sz="1400" dirty="0" err="1"/>
                <a:t>m:getQuote</a:t>
              </a:r>
              <a:r>
                <a:rPr lang="en-US" altLang="en-US" sz="1400" dirty="0"/>
                <a:t>&gt;</a:t>
              </a:r>
            </a:p>
            <a:p>
              <a:pPr>
                <a:lnSpc>
                  <a:spcPct val="105000"/>
                </a:lnSpc>
                <a:buFont typeface="Wingdings" pitchFamily="2" charset="2"/>
                <a:buNone/>
              </a:pPr>
              <a:r>
                <a:rPr lang="en-US" altLang="en-US" sz="1400" dirty="0"/>
                <a:t>	</a:t>
              </a:r>
              <a:r>
                <a:rPr lang="en-US" altLang="en-US" sz="1400" b="1" dirty="0">
                  <a:solidFill>
                    <a:schemeClr val="accent2"/>
                  </a:solidFill>
                </a:rPr>
                <a:t>&lt;/</a:t>
              </a:r>
              <a:r>
                <a:rPr lang="en-US" altLang="en-US" sz="1400" b="1" dirty="0" err="1">
                  <a:solidFill>
                    <a:schemeClr val="accent2"/>
                  </a:solidFill>
                </a:rPr>
                <a:t>soap:Body</a:t>
              </a:r>
              <a:r>
                <a:rPr lang="en-US" altLang="en-US" sz="1400" b="1" dirty="0">
                  <a:solidFill>
                    <a:schemeClr val="accent2"/>
                  </a:solidFill>
                </a:rPr>
                <a:t>&gt;</a:t>
              </a:r>
            </a:p>
            <a:p>
              <a:pPr>
                <a:lnSpc>
                  <a:spcPct val="105000"/>
                </a:lnSpc>
                <a:buFont typeface="Wingdings" pitchFamily="2" charset="2"/>
                <a:buNone/>
              </a:pPr>
              <a:r>
                <a:rPr lang="en-US" altLang="en-US" sz="1400" b="1" dirty="0">
                  <a:solidFill>
                    <a:srgbClr val="009900"/>
                  </a:solidFill>
                </a:rPr>
                <a:t>&lt;/</a:t>
              </a:r>
              <a:r>
                <a:rPr lang="en-US" altLang="en-US" sz="1400" b="1" dirty="0" err="1">
                  <a:solidFill>
                    <a:srgbClr val="009900"/>
                  </a:solidFill>
                </a:rPr>
                <a:t>soap:Envelope</a:t>
              </a:r>
              <a:r>
                <a:rPr lang="en-US" altLang="en-US" sz="1400" b="1" dirty="0">
                  <a:solidFill>
                    <a:srgbClr val="009900"/>
                  </a:solidFill>
                </a:rPr>
                <a:t>&gt;</a:t>
              </a:r>
            </a:p>
            <a:p>
              <a:pPr>
                <a:lnSpc>
                  <a:spcPct val="105000"/>
                </a:lnSpc>
                <a:buFont typeface="Wingdings" pitchFamily="2" charset="2"/>
                <a:buNone/>
              </a:pPr>
              <a:endParaRPr lang="en-GB" altLang="en-US" sz="1400" dirty="0"/>
            </a:p>
            <a:p>
              <a:pPr>
                <a:lnSpc>
                  <a:spcPct val="105000"/>
                </a:lnSpc>
                <a:buFont typeface="Wingdings" pitchFamily="2" charset="2"/>
                <a:buNone/>
              </a:pPr>
              <a:endParaRPr lang="en-GB" altLang="en-US" sz="1000" dirty="0"/>
            </a:p>
            <a:p>
              <a:pPr>
                <a:lnSpc>
                  <a:spcPct val="105000"/>
                </a:lnSpc>
                <a:buFont typeface="Wingdings" pitchFamily="2" charset="2"/>
                <a:buNone/>
              </a:pPr>
              <a:endParaRPr lang="en-GB" altLang="en-US" sz="1000" dirty="0"/>
            </a:p>
            <a:p>
              <a:pPr>
                <a:lnSpc>
                  <a:spcPct val="105000"/>
                </a:lnSpc>
                <a:buFont typeface="Wingdings" pitchFamily="2" charset="2"/>
                <a:buNone/>
              </a:pPr>
              <a:endParaRPr lang="en-GB" altLang="en-US" sz="1000" dirty="0"/>
            </a:p>
            <a:p>
              <a:pPr>
                <a:lnSpc>
                  <a:spcPct val="105000"/>
                </a:lnSpc>
                <a:buFont typeface="Wingdings" pitchFamily="2" charset="2"/>
                <a:buNone/>
              </a:pPr>
              <a:endParaRPr lang="en-GB" altLang="en-US" sz="1000" dirty="0"/>
            </a:p>
            <a:p>
              <a:pPr>
                <a:lnSpc>
                  <a:spcPct val="105000"/>
                </a:lnSpc>
                <a:buFont typeface="Wingdings" pitchFamily="2" charset="2"/>
                <a:buNone/>
              </a:pPr>
              <a:r>
                <a:rPr lang="en-US" altLang="en-US" sz="1400" b="1" dirty="0">
                  <a:solidFill>
                    <a:srgbClr val="009900"/>
                  </a:solidFill>
                </a:rPr>
                <a:t>&lt;</a:t>
              </a:r>
              <a:r>
                <a:rPr lang="en-US" altLang="en-US" sz="1400" b="1" dirty="0" err="1">
                  <a:solidFill>
                    <a:srgbClr val="009900"/>
                  </a:solidFill>
                </a:rPr>
                <a:t>soap:Envelope</a:t>
              </a:r>
              <a:r>
                <a:rPr lang="en-US" altLang="en-US" sz="1400" b="1" dirty="0">
                  <a:solidFill>
                    <a:srgbClr val="009900"/>
                  </a:solidFill>
                </a:rPr>
                <a:t> </a:t>
              </a:r>
              <a:r>
                <a:rPr lang="en-US" altLang="en-US" sz="1400" b="1" dirty="0" err="1">
                  <a:solidFill>
                    <a:srgbClr val="009900"/>
                  </a:solidFill>
                </a:rPr>
                <a:t>xmlns</a:t>
              </a:r>
              <a:r>
                <a:rPr lang="en-US" altLang="en-US" sz="1400" b="1" dirty="0">
                  <a:solidFill>
                    <a:srgbClr val="009900"/>
                  </a:solidFill>
                </a:rPr>
                <a:t>: …&gt;</a:t>
              </a:r>
            </a:p>
            <a:p>
              <a:pPr>
                <a:lnSpc>
                  <a:spcPct val="105000"/>
                </a:lnSpc>
                <a:buFont typeface="Wingdings" pitchFamily="2" charset="2"/>
                <a:buNone/>
              </a:pPr>
              <a:r>
                <a:rPr lang="en-US" altLang="en-US" sz="1400" dirty="0"/>
                <a:t>	</a:t>
              </a:r>
              <a:r>
                <a:rPr lang="en-US" altLang="en-US" sz="1400" b="1" dirty="0">
                  <a:solidFill>
                    <a:schemeClr val="accent2"/>
                  </a:solidFill>
                </a:rPr>
                <a:t>&lt;</a:t>
              </a:r>
              <a:r>
                <a:rPr lang="en-US" altLang="en-US" sz="1400" b="1" dirty="0" err="1">
                  <a:solidFill>
                    <a:schemeClr val="accent2"/>
                  </a:solidFill>
                </a:rPr>
                <a:t>soap:Body</a:t>
              </a:r>
              <a:r>
                <a:rPr lang="en-US" altLang="en-US" sz="1400" b="1" dirty="0">
                  <a:solidFill>
                    <a:schemeClr val="accent2"/>
                  </a:solidFill>
                </a:rPr>
                <a:t>&gt;</a:t>
              </a:r>
            </a:p>
            <a:p>
              <a:pPr>
                <a:lnSpc>
                  <a:spcPct val="105000"/>
                </a:lnSpc>
                <a:buFont typeface="Wingdings" pitchFamily="2" charset="2"/>
                <a:buNone/>
              </a:pPr>
              <a:r>
                <a:rPr lang="en-US" altLang="en-US" sz="1400" dirty="0"/>
                <a:t>			&lt;</a:t>
              </a:r>
              <a:r>
                <a:rPr lang="en-US" altLang="en-US" sz="1400" dirty="0" err="1"/>
                <a:t>n:getQuoteResponse</a:t>
              </a:r>
              <a:r>
                <a:rPr lang="en-US" altLang="en-US" sz="1400" dirty="0"/>
                <a:t> </a:t>
              </a:r>
              <a:r>
                <a:rPr lang="en-US" altLang="en-US" sz="1400" dirty="0" err="1"/>
                <a:t>xmlns</a:t>
              </a:r>
              <a:r>
                <a:rPr lang="en-US" altLang="en-US" sz="1400" dirty="0"/>
                <a:t>="</a:t>
              </a:r>
              <a:r>
                <a:rPr lang="en-US" altLang="en-US" sz="1400" dirty="0" err="1"/>
                <a:t>urn:xmethods-delayed-quotes</a:t>
              </a:r>
              <a:r>
                <a:rPr lang="en-US" altLang="en-US" sz="1400" dirty="0"/>
                <a:t>"&gt;</a:t>
              </a:r>
            </a:p>
            <a:p>
              <a:pPr>
                <a:lnSpc>
                  <a:spcPct val="105000"/>
                </a:lnSpc>
                <a:buFont typeface="Wingdings" pitchFamily="2" charset="2"/>
                <a:buNone/>
              </a:pPr>
              <a:r>
                <a:rPr lang="en-US" altLang="en-US" sz="1400" dirty="0"/>
                <a:t>				&lt;Result </a:t>
              </a:r>
              <a:r>
                <a:rPr lang="en-US" altLang="en-US" sz="1400" dirty="0" err="1"/>
                <a:t>xsi:type</a:t>
              </a:r>
              <a:r>
                <a:rPr lang="en-US" altLang="en-US" sz="1400" dirty="0"/>
                <a:t>="</a:t>
              </a:r>
              <a:r>
                <a:rPr lang="en-US" altLang="en-US" sz="1400" dirty="0" err="1"/>
                <a:t>xsd:float</a:t>
              </a:r>
              <a:r>
                <a:rPr lang="en-US" altLang="en-US" sz="1400" dirty="0"/>
                <a:t>"&gt;24.67&lt;/Result&gt;</a:t>
              </a:r>
            </a:p>
            <a:p>
              <a:pPr>
                <a:lnSpc>
                  <a:spcPct val="105000"/>
                </a:lnSpc>
                <a:buFont typeface="Wingdings" pitchFamily="2" charset="2"/>
                <a:buNone/>
              </a:pPr>
              <a:r>
                <a:rPr lang="en-US" altLang="en-US" sz="1400" dirty="0"/>
                <a:t>			&lt;/</a:t>
              </a:r>
              <a:r>
                <a:rPr lang="en-US" altLang="en-US" sz="1400" dirty="0" err="1"/>
                <a:t>n:getQuoteResponse</a:t>
              </a:r>
              <a:r>
                <a:rPr lang="en-US" altLang="en-US" sz="1400" dirty="0"/>
                <a:t>&gt;</a:t>
              </a:r>
            </a:p>
            <a:p>
              <a:pPr>
                <a:lnSpc>
                  <a:spcPct val="105000"/>
                </a:lnSpc>
                <a:buFont typeface="Wingdings" pitchFamily="2" charset="2"/>
                <a:buNone/>
              </a:pPr>
              <a:r>
                <a:rPr lang="en-US" altLang="en-US" sz="1400" dirty="0"/>
                <a:t>	</a:t>
              </a:r>
              <a:r>
                <a:rPr lang="en-US" altLang="en-US" sz="1400" b="1" dirty="0">
                  <a:solidFill>
                    <a:schemeClr val="accent2"/>
                  </a:solidFill>
                </a:rPr>
                <a:t>&lt;/</a:t>
              </a:r>
              <a:r>
                <a:rPr lang="en-US" altLang="en-US" sz="1400" b="1" dirty="0" err="1">
                  <a:solidFill>
                    <a:schemeClr val="accent2"/>
                  </a:solidFill>
                </a:rPr>
                <a:t>soap:Body</a:t>
              </a:r>
              <a:r>
                <a:rPr lang="en-US" altLang="en-US" sz="1400" b="1" dirty="0">
                  <a:solidFill>
                    <a:schemeClr val="accent2"/>
                  </a:solidFill>
                </a:rPr>
                <a:t>&gt;</a:t>
              </a:r>
            </a:p>
            <a:p>
              <a:pPr>
                <a:lnSpc>
                  <a:spcPct val="105000"/>
                </a:lnSpc>
                <a:buFont typeface="Wingdings" pitchFamily="2" charset="2"/>
                <a:buNone/>
              </a:pPr>
              <a:r>
                <a:rPr lang="en-US" altLang="en-US" sz="1400" b="1" dirty="0">
                  <a:solidFill>
                    <a:srgbClr val="009900"/>
                  </a:solidFill>
                </a:rPr>
                <a:t>&lt;/</a:t>
              </a:r>
              <a:r>
                <a:rPr lang="en-US" altLang="en-US" sz="1400" b="1" dirty="0" err="1">
                  <a:solidFill>
                    <a:srgbClr val="009900"/>
                  </a:solidFill>
                </a:rPr>
                <a:t>soap:Envelope</a:t>
              </a:r>
              <a:r>
                <a:rPr lang="en-US" altLang="en-US" sz="1400" b="1" dirty="0">
                  <a:solidFill>
                    <a:srgbClr val="009900"/>
                  </a:solidFill>
                </a:rPr>
                <a:t>&gt;</a:t>
              </a:r>
            </a:p>
          </p:txBody>
        </p:sp>
      </p:grpSp>
    </p:spTree>
    <p:extLst>
      <p:ext uri="{BB962C8B-B14F-4D97-AF65-F5344CB8AC3E}">
        <p14:creationId xmlns:p14="http://schemas.microsoft.com/office/powerpoint/2010/main" val="4057001831"/>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E013C-9595-8053-7F59-1FF0FD1FED82}"/>
              </a:ext>
            </a:extLst>
          </p:cNvPr>
          <p:cNvSpPr>
            <a:spLocks noGrp="1"/>
          </p:cNvSpPr>
          <p:nvPr>
            <p:ph type="title"/>
          </p:nvPr>
        </p:nvSpPr>
        <p:spPr/>
        <p:txBody>
          <a:bodyPr>
            <a:normAutofit fontScale="90000"/>
          </a:bodyPr>
          <a:lstStyle/>
          <a:p>
            <a:r>
              <a:rPr lang="en-GB" dirty="0"/>
              <a:t>Web Services Description Language (WSDL)</a:t>
            </a:r>
          </a:p>
        </p:txBody>
      </p:sp>
      <p:sp>
        <p:nvSpPr>
          <p:cNvPr id="3" name="Text Placeholder 2">
            <a:extLst>
              <a:ext uri="{FF2B5EF4-FFF2-40B4-BE49-F238E27FC236}">
                <a16:creationId xmlns:a16="http://schemas.microsoft.com/office/drawing/2014/main" id="{134A7354-17A2-D510-87E6-15AECF9DC7F4}"/>
              </a:ext>
            </a:extLst>
          </p:cNvPr>
          <p:cNvSpPr>
            <a:spLocks noGrp="1"/>
          </p:cNvSpPr>
          <p:nvPr>
            <p:ph type="body" sz="quarter" idx="11"/>
          </p:nvPr>
        </p:nvSpPr>
        <p:spPr/>
        <p:txBody>
          <a:bodyPr/>
          <a:lstStyle/>
          <a:p>
            <a:r>
              <a:rPr lang="en-GB" sz="2000" dirty="0"/>
              <a:t>XML-based file which tells the client application what the web service does</a:t>
            </a:r>
          </a:p>
          <a:p>
            <a:r>
              <a:rPr lang="en-GB" sz="2000" dirty="0"/>
              <a:t>Contains the </a:t>
            </a:r>
            <a:r>
              <a:rPr lang="en-GB" sz="2000" b="1" dirty="0"/>
              <a:t>location</a:t>
            </a:r>
            <a:r>
              <a:rPr lang="en-GB" sz="2000" dirty="0"/>
              <a:t> of the web service and the </a:t>
            </a:r>
            <a:r>
              <a:rPr lang="en-GB" sz="2000" b="1" dirty="0"/>
              <a:t>methods </a:t>
            </a:r>
          </a:p>
          <a:p>
            <a:r>
              <a:rPr lang="en-GB" sz="2000" dirty="0"/>
              <a:t>all the necessary information that any client application would require to use </a:t>
            </a:r>
          </a:p>
          <a:p>
            <a:r>
              <a:rPr lang="en-GB" sz="2000" dirty="0"/>
              <a:t>Its general structure contains</a:t>
            </a:r>
          </a:p>
          <a:p>
            <a:pPr lvl="1"/>
            <a:r>
              <a:rPr lang="en-GB" dirty="0"/>
              <a:t>Definition</a:t>
            </a:r>
          </a:p>
          <a:p>
            <a:pPr lvl="1"/>
            <a:r>
              <a:rPr lang="en-GB" dirty="0" err="1"/>
              <a:t>TargetNamespace</a:t>
            </a:r>
            <a:endParaRPr lang="en-GB" dirty="0"/>
          </a:p>
          <a:p>
            <a:pPr lvl="1"/>
            <a:r>
              <a:rPr lang="en-GB" dirty="0" err="1"/>
              <a:t>DataTypes</a:t>
            </a:r>
            <a:endParaRPr lang="en-GB" dirty="0"/>
          </a:p>
          <a:p>
            <a:pPr lvl="1"/>
            <a:r>
              <a:rPr lang="en-GB" dirty="0"/>
              <a:t>Messages</a:t>
            </a:r>
          </a:p>
          <a:p>
            <a:pPr lvl="1"/>
            <a:r>
              <a:rPr lang="en-GB" dirty="0" err="1"/>
              <a:t>PortType</a:t>
            </a:r>
            <a:endParaRPr lang="en-GB" dirty="0"/>
          </a:p>
          <a:p>
            <a:pPr lvl="1"/>
            <a:r>
              <a:rPr lang="en-GB" dirty="0"/>
              <a:t>Bindings</a:t>
            </a:r>
          </a:p>
          <a:p>
            <a:pPr lvl="1"/>
            <a:r>
              <a:rPr lang="en-GB" dirty="0"/>
              <a:t>Service</a:t>
            </a:r>
          </a:p>
          <a:p>
            <a:pPr lvl="2"/>
            <a:endParaRPr lang="en-GB" dirty="0"/>
          </a:p>
          <a:p>
            <a:endParaRPr lang="en-GB" dirty="0"/>
          </a:p>
        </p:txBody>
      </p:sp>
    </p:spTree>
    <p:extLst>
      <p:ext uri="{BB962C8B-B14F-4D97-AF65-F5344CB8AC3E}">
        <p14:creationId xmlns:p14="http://schemas.microsoft.com/office/powerpoint/2010/main" val="3546595793"/>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47E00-5B05-71D3-0D51-3868584448FD}"/>
              </a:ext>
            </a:extLst>
          </p:cNvPr>
          <p:cNvSpPr>
            <a:spLocks noGrp="1"/>
          </p:cNvSpPr>
          <p:nvPr>
            <p:ph type="title"/>
          </p:nvPr>
        </p:nvSpPr>
        <p:spPr/>
        <p:txBody>
          <a:bodyPr>
            <a:normAutofit/>
          </a:bodyPr>
          <a:lstStyle/>
          <a:p>
            <a:r>
              <a:rPr lang="en-GB" dirty="0"/>
              <a:t>WSDL Structure</a:t>
            </a:r>
          </a:p>
        </p:txBody>
      </p:sp>
      <p:sp>
        <p:nvSpPr>
          <p:cNvPr id="3" name="Text Placeholder 2">
            <a:extLst>
              <a:ext uri="{FF2B5EF4-FFF2-40B4-BE49-F238E27FC236}">
                <a16:creationId xmlns:a16="http://schemas.microsoft.com/office/drawing/2014/main" id="{42711268-AB30-59ED-46A0-611BF70650D2}"/>
              </a:ext>
            </a:extLst>
          </p:cNvPr>
          <p:cNvSpPr>
            <a:spLocks noGrp="1"/>
          </p:cNvSpPr>
          <p:nvPr>
            <p:ph type="body" sz="quarter" idx="11"/>
          </p:nvPr>
        </p:nvSpPr>
        <p:spPr>
          <a:xfrm>
            <a:off x="827584" y="1348721"/>
            <a:ext cx="4312704" cy="4819578"/>
          </a:xfrm>
        </p:spPr>
        <p:txBody>
          <a:bodyPr/>
          <a:lstStyle/>
          <a:p>
            <a:r>
              <a:rPr lang="en-GB" b="1" dirty="0"/>
              <a:t>Type</a:t>
            </a:r>
          </a:p>
          <a:p>
            <a:pPr lvl="1"/>
            <a:r>
              <a:rPr lang="en-US" sz="1600" dirty="0"/>
              <a:t>is used to define all the complex datatypes</a:t>
            </a:r>
          </a:p>
          <a:p>
            <a:endParaRPr lang="en-US" sz="1050" dirty="0"/>
          </a:p>
          <a:p>
            <a:r>
              <a:rPr lang="en-GB" b="1" dirty="0"/>
              <a:t>Message</a:t>
            </a:r>
          </a:p>
          <a:p>
            <a:pPr lvl="1"/>
            <a:r>
              <a:rPr lang="en-US" sz="1600" dirty="0"/>
              <a:t>explain the input and output operations which can be performed by the web service</a:t>
            </a:r>
          </a:p>
          <a:p>
            <a:pPr lvl="1"/>
            <a:endParaRPr lang="en-US" sz="1050" dirty="0"/>
          </a:p>
          <a:p>
            <a:r>
              <a:rPr lang="en-US" b="1" dirty="0" err="1"/>
              <a:t>portType</a:t>
            </a:r>
            <a:endParaRPr lang="en-US" b="1" dirty="0"/>
          </a:p>
          <a:p>
            <a:pPr lvl="1"/>
            <a:r>
              <a:rPr lang="en-US" sz="1600" dirty="0"/>
              <a:t>encapsulate every input and output message into one logical operation</a:t>
            </a:r>
          </a:p>
          <a:p>
            <a:pPr lvl="1"/>
            <a:endParaRPr lang="en-US" sz="1050" dirty="0"/>
          </a:p>
          <a:p>
            <a:r>
              <a:rPr lang="en-US" b="1" dirty="0"/>
              <a:t>binding</a:t>
            </a:r>
          </a:p>
          <a:p>
            <a:pPr lvl="1"/>
            <a:r>
              <a:rPr lang="en-US" sz="1600" dirty="0"/>
              <a:t>client application calls the relevant port type, then be able to access the operations which are bound to this port type</a:t>
            </a:r>
          </a:p>
          <a:p>
            <a:pPr lvl="1"/>
            <a:endParaRPr lang="en-US" sz="1050" dirty="0"/>
          </a:p>
          <a:p>
            <a:r>
              <a:rPr lang="en-US" b="1" dirty="0"/>
              <a:t>Service</a:t>
            </a:r>
          </a:p>
          <a:p>
            <a:pPr lvl="1"/>
            <a:r>
              <a:rPr lang="en-US" sz="1600" dirty="0"/>
              <a:t>name given to the web service itself</a:t>
            </a:r>
            <a:endParaRPr lang="en-GB" sz="1600" dirty="0"/>
          </a:p>
          <a:p>
            <a:endParaRPr lang="en-GB" dirty="0"/>
          </a:p>
        </p:txBody>
      </p:sp>
      <p:pic>
        <p:nvPicPr>
          <p:cNvPr id="4" name="Picture 2">
            <a:extLst>
              <a:ext uri="{FF2B5EF4-FFF2-40B4-BE49-F238E27FC236}">
                <a16:creationId xmlns:a16="http://schemas.microsoft.com/office/drawing/2014/main" id="{FF70A303-83A8-EFCC-2894-A126F235BBD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2295" y="1319341"/>
            <a:ext cx="2933700" cy="4876800"/>
          </a:xfrm>
          <a:prstGeom prst="rect">
            <a:avLst/>
          </a:prstGeom>
          <a:solidFill>
            <a:srgbClr val="C00000"/>
          </a:solidFill>
        </p:spPr>
      </p:pic>
    </p:spTree>
    <p:extLst>
      <p:ext uri="{BB962C8B-B14F-4D97-AF65-F5344CB8AC3E}">
        <p14:creationId xmlns:p14="http://schemas.microsoft.com/office/powerpoint/2010/main" val="714372121"/>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399B6-8683-0D3A-1CD0-161F0CA719E5}"/>
              </a:ext>
            </a:extLst>
          </p:cNvPr>
          <p:cNvSpPr>
            <a:spLocks noGrp="1"/>
          </p:cNvSpPr>
          <p:nvPr>
            <p:ph type="title"/>
          </p:nvPr>
        </p:nvSpPr>
        <p:spPr/>
        <p:txBody>
          <a:bodyPr>
            <a:normAutofit/>
          </a:bodyPr>
          <a:lstStyle/>
          <a:p>
            <a:r>
              <a:rPr lang="en-GB" sz="3600" dirty="0"/>
              <a:t>Generated </a:t>
            </a:r>
            <a:r>
              <a:rPr lang="en-GB" dirty="0"/>
              <a:t>WSDL</a:t>
            </a:r>
          </a:p>
        </p:txBody>
      </p:sp>
      <p:sp>
        <p:nvSpPr>
          <p:cNvPr id="3" name="Text Placeholder 2">
            <a:extLst>
              <a:ext uri="{FF2B5EF4-FFF2-40B4-BE49-F238E27FC236}">
                <a16:creationId xmlns:a16="http://schemas.microsoft.com/office/drawing/2014/main" id="{89F82CEE-5B46-2758-68D3-C0A47C2C2E91}"/>
              </a:ext>
            </a:extLst>
          </p:cNvPr>
          <p:cNvSpPr>
            <a:spLocks noGrp="1"/>
          </p:cNvSpPr>
          <p:nvPr>
            <p:ph type="body" sz="quarter" idx="11"/>
          </p:nvPr>
        </p:nvSpPr>
        <p:spPr>
          <a:xfrm>
            <a:off x="899591" y="1340769"/>
            <a:ext cx="6336705" cy="360040"/>
          </a:xfrm>
        </p:spPr>
        <p:txBody>
          <a:bodyPr/>
          <a:lstStyle/>
          <a:p>
            <a:r>
              <a:rPr lang="en-GB" dirty="0"/>
              <a:t>JAX-WS server will generate the WSDL for you</a:t>
            </a:r>
          </a:p>
          <a:p>
            <a:pPr marL="9525" indent="0">
              <a:buNone/>
            </a:pPr>
            <a:endParaRPr lang="en-GB" dirty="0"/>
          </a:p>
        </p:txBody>
      </p:sp>
      <p:pic>
        <p:nvPicPr>
          <p:cNvPr id="4" name="Picture 3">
            <a:extLst>
              <a:ext uri="{FF2B5EF4-FFF2-40B4-BE49-F238E27FC236}">
                <a16:creationId xmlns:a16="http://schemas.microsoft.com/office/drawing/2014/main" id="{77AC7FCD-9786-9864-5122-C6376429047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61863" y="1700809"/>
            <a:ext cx="5958409" cy="5059878"/>
          </a:xfrm>
          <a:prstGeom prst="rect">
            <a:avLst/>
          </a:prstGeom>
        </p:spPr>
      </p:pic>
    </p:spTree>
    <p:extLst>
      <p:ext uri="{BB962C8B-B14F-4D97-AF65-F5344CB8AC3E}">
        <p14:creationId xmlns:p14="http://schemas.microsoft.com/office/powerpoint/2010/main" val="3367036673"/>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F1455-DC57-CCD2-D5B6-EA5DB25B5ED9}"/>
              </a:ext>
            </a:extLst>
          </p:cNvPr>
          <p:cNvSpPr>
            <a:spLocks noGrp="1"/>
          </p:cNvSpPr>
          <p:nvPr>
            <p:ph type="title"/>
          </p:nvPr>
        </p:nvSpPr>
        <p:spPr/>
        <p:txBody>
          <a:bodyPr/>
          <a:lstStyle/>
          <a:p>
            <a:r>
              <a:rPr lang="en-GB" dirty="0"/>
              <a:t>Exercise</a:t>
            </a:r>
          </a:p>
        </p:txBody>
      </p:sp>
      <p:sp>
        <p:nvSpPr>
          <p:cNvPr id="3" name="Text Placeholder 2">
            <a:extLst>
              <a:ext uri="{FF2B5EF4-FFF2-40B4-BE49-F238E27FC236}">
                <a16:creationId xmlns:a16="http://schemas.microsoft.com/office/drawing/2014/main" id="{DEC38FC9-D22F-A0A0-1D5F-78E098FCC1C8}"/>
              </a:ext>
            </a:extLst>
          </p:cNvPr>
          <p:cNvSpPr>
            <a:spLocks noGrp="1"/>
          </p:cNvSpPr>
          <p:nvPr>
            <p:ph type="body" sz="quarter" idx="11"/>
          </p:nvPr>
        </p:nvSpPr>
        <p:spPr/>
        <p:txBody>
          <a:bodyPr/>
          <a:lstStyle/>
          <a:p>
            <a:pPr>
              <a:buFont typeface="Arial" panose="020B0604020202020204" pitchFamily="34" charset="0"/>
              <a:buChar char="•"/>
            </a:pPr>
            <a:r>
              <a:rPr lang="en-GB" sz="2000" b="1" dirty="0"/>
              <a:t>Definitions</a:t>
            </a:r>
            <a:r>
              <a:rPr lang="en-GB" sz="2000" dirty="0"/>
              <a:t> </a:t>
            </a:r>
          </a:p>
          <a:p>
            <a:pPr>
              <a:buFont typeface="Arial" panose="020B0604020202020204" pitchFamily="34" charset="0"/>
              <a:buChar char="•"/>
            </a:pPr>
            <a:r>
              <a:rPr lang="en-GB" sz="2000" b="1" dirty="0"/>
              <a:t>Type</a:t>
            </a:r>
            <a:r>
              <a:rPr lang="en-GB" sz="2000" dirty="0"/>
              <a:t> −</a:t>
            </a:r>
          </a:p>
          <a:p>
            <a:pPr>
              <a:buFont typeface="Arial" panose="020B0604020202020204" pitchFamily="34" charset="0"/>
              <a:buChar char="•"/>
            </a:pPr>
            <a:r>
              <a:rPr lang="en-GB" sz="2000" b="1" dirty="0"/>
              <a:t>Message</a:t>
            </a:r>
            <a:r>
              <a:rPr lang="en-GB" sz="2000" dirty="0"/>
              <a:t> −</a:t>
            </a:r>
          </a:p>
          <a:p>
            <a:pPr lvl="1">
              <a:buFont typeface="Arial" panose="020B0604020202020204" pitchFamily="34" charset="0"/>
              <a:buChar char="•"/>
            </a:pPr>
            <a:r>
              <a:rPr lang="en-GB" sz="2000" dirty="0"/>
              <a:t> </a:t>
            </a:r>
          </a:p>
          <a:p>
            <a:pPr lvl="1">
              <a:buFont typeface="Arial" panose="020B0604020202020204" pitchFamily="34" charset="0"/>
              <a:buChar char="•"/>
            </a:pPr>
            <a:r>
              <a:rPr lang="en-GB" sz="2000" dirty="0"/>
              <a:t>.</a:t>
            </a:r>
          </a:p>
          <a:p>
            <a:pPr>
              <a:buFont typeface="Arial" panose="020B0604020202020204" pitchFamily="34" charset="0"/>
              <a:buChar char="•"/>
            </a:pPr>
            <a:r>
              <a:rPr lang="en-GB" sz="2000" b="1" dirty="0"/>
              <a:t>Port Type</a:t>
            </a:r>
            <a:r>
              <a:rPr lang="en-GB" sz="2000" dirty="0"/>
              <a:t> −.</a:t>
            </a:r>
          </a:p>
          <a:p>
            <a:pPr>
              <a:buFont typeface="Arial" panose="020B0604020202020204" pitchFamily="34" charset="0"/>
              <a:buChar char="•"/>
            </a:pPr>
            <a:r>
              <a:rPr lang="en-GB" sz="2000" b="1" dirty="0"/>
              <a:t>Binding</a:t>
            </a:r>
            <a:r>
              <a:rPr lang="en-GB" sz="2000" dirty="0"/>
              <a:t> − </a:t>
            </a:r>
          </a:p>
          <a:p>
            <a:pPr>
              <a:buFont typeface="Arial" panose="020B0604020202020204" pitchFamily="34" charset="0"/>
              <a:buChar char="•"/>
            </a:pPr>
            <a:r>
              <a:rPr lang="en-GB" sz="2000" b="1" dirty="0"/>
              <a:t>Service</a:t>
            </a:r>
            <a:r>
              <a:rPr lang="en-GB" sz="2000" dirty="0"/>
              <a:t> − </a:t>
            </a:r>
          </a:p>
          <a:p>
            <a:pPr>
              <a:buFont typeface="Arial" panose="020B0604020202020204" pitchFamily="34" charset="0"/>
              <a:buChar char="•"/>
            </a:pPr>
            <a:r>
              <a:rPr lang="en-GB" sz="2000" b="1" dirty="0"/>
              <a:t>Port</a:t>
            </a:r>
            <a:r>
              <a:rPr lang="en-GB" sz="2000" dirty="0"/>
              <a:t> −</a:t>
            </a:r>
          </a:p>
        </p:txBody>
      </p:sp>
    </p:spTree>
    <p:extLst>
      <p:ext uri="{BB962C8B-B14F-4D97-AF65-F5344CB8AC3E}">
        <p14:creationId xmlns:p14="http://schemas.microsoft.com/office/powerpoint/2010/main" val="2854613083"/>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F62D68-F56B-D2BA-861A-94934B64B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C495B-0E77-E425-F16C-B630C56CD2BF}"/>
              </a:ext>
            </a:extLst>
          </p:cNvPr>
          <p:cNvSpPr>
            <a:spLocks noGrp="1"/>
          </p:cNvSpPr>
          <p:nvPr>
            <p:ph type="title"/>
          </p:nvPr>
        </p:nvSpPr>
        <p:spPr/>
        <p:txBody>
          <a:bodyPr/>
          <a:lstStyle/>
          <a:p>
            <a:r>
              <a:rPr lang="en-GB" dirty="0"/>
              <a:t>Exercise</a:t>
            </a:r>
          </a:p>
        </p:txBody>
      </p:sp>
      <p:sp>
        <p:nvSpPr>
          <p:cNvPr id="3" name="Text Placeholder 2">
            <a:extLst>
              <a:ext uri="{FF2B5EF4-FFF2-40B4-BE49-F238E27FC236}">
                <a16:creationId xmlns:a16="http://schemas.microsoft.com/office/drawing/2014/main" id="{9E93C4E0-5A00-71B6-9BBC-55E48A734E24}"/>
              </a:ext>
            </a:extLst>
          </p:cNvPr>
          <p:cNvSpPr>
            <a:spLocks noGrp="1"/>
          </p:cNvSpPr>
          <p:nvPr>
            <p:ph type="body" sz="quarter" idx="11"/>
          </p:nvPr>
        </p:nvSpPr>
        <p:spPr>
          <a:xfrm>
            <a:off x="899590" y="1700808"/>
            <a:ext cx="7560841" cy="4608512"/>
          </a:xfrm>
        </p:spPr>
        <p:txBody>
          <a:bodyPr/>
          <a:lstStyle/>
          <a:p>
            <a:pPr>
              <a:buFont typeface="Arial" panose="020B0604020202020204" pitchFamily="34" charset="0"/>
              <a:buChar char="•"/>
            </a:pPr>
            <a:r>
              <a:rPr lang="en-GB" sz="2000" b="1" dirty="0"/>
              <a:t>Definitions</a:t>
            </a:r>
            <a:r>
              <a:rPr lang="en-GB" sz="2000" dirty="0"/>
              <a:t> − </a:t>
            </a:r>
            <a:r>
              <a:rPr lang="en-GB" sz="2000" dirty="0" err="1"/>
              <a:t>HelloService</a:t>
            </a:r>
            <a:endParaRPr lang="en-GB" sz="2000" dirty="0"/>
          </a:p>
          <a:p>
            <a:pPr>
              <a:buFont typeface="Arial" panose="020B0604020202020204" pitchFamily="34" charset="0"/>
              <a:buChar char="•"/>
            </a:pPr>
            <a:r>
              <a:rPr lang="en-GB" sz="2000" b="1" dirty="0"/>
              <a:t>Type</a:t>
            </a:r>
            <a:r>
              <a:rPr lang="en-GB" sz="2000" dirty="0"/>
              <a:t> − Using built-in data types and they are defined in </a:t>
            </a:r>
            <a:r>
              <a:rPr lang="en-GB" sz="2000" dirty="0" err="1"/>
              <a:t>XMLSchema</a:t>
            </a:r>
            <a:r>
              <a:rPr lang="en-GB" sz="2000" dirty="0"/>
              <a:t>.</a:t>
            </a:r>
          </a:p>
          <a:p>
            <a:pPr>
              <a:buFont typeface="Arial" panose="020B0604020202020204" pitchFamily="34" charset="0"/>
              <a:buChar char="•"/>
            </a:pPr>
            <a:r>
              <a:rPr lang="en-GB" sz="2000" b="1" dirty="0"/>
              <a:t>Message</a:t>
            </a:r>
            <a:r>
              <a:rPr lang="en-GB" sz="2000" dirty="0"/>
              <a:t> −</a:t>
            </a:r>
          </a:p>
          <a:p>
            <a:pPr marL="742950" lvl="1" indent="-285750">
              <a:buFont typeface="Arial" panose="020B0604020202020204" pitchFamily="34" charset="0"/>
              <a:buChar char="•"/>
            </a:pPr>
            <a:r>
              <a:rPr lang="en-GB" sz="2000" dirty="0" err="1"/>
              <a:t>sayHelloRequest</a:t>
            </a:r>
            <a:r>
              <a:rPr lang="en-GB" sz="2000" dirty="0"/>
              <a:t> − </a:t>
            </a:r>
            <a:r>
              <a:rPr lang="en-GB" sz="2000" dirty="0" err="1"/>
              <a:t>firstName</a:t>
            </a:r>
            <a:r>
              <a:rPr lang="en-GB" sz="2000" dirty="0"/>
              <a:t> parameter</a:t>
            </a:r>
          </a:p>
          <a:p>
            <a:pPr marL="742950" lvl="1" indent="-285750">
              <a:buFont typeface="Arial" panose="020B0604020202020204" pitchFamily="34" charset="0"/>
              <a:buChar char="•"/>
            </a:pPr>
            <a:r>
              <a:rPr lang="en-GB" sz="2000" dirty="0" err="1"/>
              <a:t>sayHelloresponse</a:t>
            </a:r>
            <a:r>
              <a:rPr lang="en-GB" sz="2000" dirty="0"/>
              <a:t> − greeting return value</a:t>
            </a:r>
          </a:p>
          <a:p>
            <a:pPr>
              <a:buFont typeface="Arial" panose="020B0604020202020204" pitchFamily="34" charset="0"/>
              <a:buChar char="•"/>
            </a:pPr>
            <a:r>
              <a:rPr lang="en-GB" sz="2000" b="1" dirty="0"/>
              <a:t>Port Type</a:t>
            </a:r>
            <a:r>
              <a:rPr lang="en-GB" sz="2000" dirty="0"/>
              <a:t> − </a:t>
            </a:r>
            <a:r>
              <a:rPr lang="en-GB" sz="2000" dirty="0" err="1"/>
              <a:t>sayHello</a:t>
            </a:r>
            <a:r>
              <a:rPr lang="en-GB" sz="2000" dirty="0"/>
              <a:t> operation that consists of a request and a response service.</a:t>
            </a:r>
          </a:p>
          <a:p>
            <a:pPr>
              <a:buFont typeface="Arial" panose="020B0604020202020204" pitchFamily="34" charset="0"/>
              <a:buChar char="•"/>
            </a:pPr>
            <a:r>
              <a:rPr lang="en-GB" sz="2000" b="1" dirty="0"/>
              <a:t>Binding</a:t>
            </a:r>
            <a:r>
              <a:rPr lang="en-GB" sz="2000" dirty="0"/>
              <a:t> − Direction to use the SOAP HTTP transport protocol.</a:t>
            </a:r>
          </a:p>
          <a:p>
            <a:pPr>
              <a:buFont typeface="Arial" panose="020B0604020202020204" pitchFamily="34" charset="0"/>
              <a:buChar char="•"/>
            </a:pPr>
            <a:r>
              <a:rPr lang="en-GB" sz="2000" b="1" dirty="0"/>
              <a:t>Service</a:t>
            </a:r>
            <a:r>
              <a:rPr lang="en-GB" sz="2000" dirty="0"/>
              <a:t> − Service available at http://</a:t>
            </a:r>
            <a:r>
              <a:rPr lang="en-GB" sz="2000" dirty="0" err="1"/>
              <a:t>www.examples.com</a:t>
            </a:r>
            <a:r>
              <a:rPr lang="en-GB" sz="2000" dirty="0"/>
              <a:t>/</a:t>
            </a:r>
            <a:r>
              <a:rPr lang="en-GB" sz="2000" dirty="0" err="1"/>
              <a:t>SayHello</a:t>
            </a:r>
            <a:r>
              <a:rPr lang="en-GB" sz="2000" dirty="0"/>
              <a:t>/</a:t>
            </a:r>
          </a:p>
          <a:p>
            <a:pPr>
              <a:buFont typeface="Arial" panose="020B0604020202020204" pitchFamily="34" charset="0"/>
              <a:buChar char="•"/>
            </a:pPr>
            <a:r>
              <a:rPr lang="en-GB" sz="2000" b="1" dirty="0"/>
              <a:t>Port</a:t>
            </a:r>
            <a:r>
              <a:rPr lang="en-GB" sz="2000" dirty="0"/>
              <a:t> − Associates the binding with the URI http://</a:t>
            </a:r>
            <a:r>
              <a:rPr lang="en-GB" sz="2000" dirty="0" err="1"/>
              <a:t>www.examples.com</a:t>
            </a:r>
            <a:r>
              <a:rPr lang="en-GB" sz="2000" dirty="0"/>
              <a:t>/</a:t>
            </a:r>
            <a:r>
              <a:rPr lang="en-GB" sz="2000" dirty="0" err="1"/>
              <a:t>SayHello</a:t>
            </a:r>
            <a:r>
              <a:rPr lang="en-GB" sz="2000" dirty="0"/>
              <a:t>/ where the running service can be accessed.</a:t>
            </a:r>
          </a:p>
        </p:txBody>
      </p:sp>
    </p:spTree>
    <p:extLst>
      <p:ext uri="{BB962C8B-B14F-4D97-AF65-F5344CB8AC3E}">
        <p14:creationId xmlns:p14="http://schemas.microsoft.com/office/powerpoint/2010/main" val="623817018"/>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9371D-4331-35D7-163F-99E22809227B}"/>
              </a:ext>
            </a:extLst>
          </p:cNvPr>
          <p:cNvSpPr>
            <a:spLocks noGrp="1"/>
          </p:cNvSpPr>
          <p:nvPr>
            <p:ph type="title"/>
          </p:nvPr>
        </p:nvSpPr>
        <p:spPr/>
        <p:txBody>
          <a:bodyPr>
            <a:normAutofit/>
          </a:bodyPr>
          <a:lstStyle/>
          <a:p>
            <a:r>
              <a:rPr lang="en-GB" dirty="0"/>
              <a:t>Web Service Standards for SOA</a:t>
            </a:r>
          </a:p>
        </p:txBody>
      </p:sp>
      <p:pic>
        <p:nvPicPr>
          <p:cNvPr id="4" name="Picture 4">
            <a:extLst>
              <a:ext uri="{FF2B5EF4-FFF2-40B4-BE49-F238E27FC236}">
                <a16:creationId xmlns:a16="http://schemas.microsoft.com/office/drawing/2014/main" id="{BE56A076-63CB-95EA-9920-3B7EC48C873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994" y="1609536"/>
            <a:ext cx="8482012" cy="4700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424682"/>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0EE76-8E2B-368B-6863-023122CB7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17F16-DDFB-DB08-4C2A-BE5E93C865A4}"/>
              </a:ext>
            </a:extLst>
          </p:cNvPr>
          <p:cNvSpPr>
            <a:spLocks noGrp="1"/>
          </p:cNvSpPr>
          <p:nvPr>
            <p:ph type="title"/>
          </p:nvPr>
        </p:nvSpPr>
        <p:spPr>
          <a:xfrm>
            <a:off x="2203226" y="5546130"/>
            <a:ext cx="6083524" cy="643275"/>
          </a:xfrm>
        </p:spPr>
        <p:txBody>
          <a:bodyPr>
            <a:normAutofit/>
          </a:bodyPr>
          <a:lstStyle/>
          <a:p>
            <a:pPr algn="ctr"/>
            <a:r>
              <a:rPr lang="en-GB" altLang="en-US" sz="3600" dirty="0"/>
              <a:t>Any questions?</a:t>
            </a:r>
            <a:endParaRPr lang="en-GB" dirty="0"/>
          </a:p>
        </p:txBody>
      </p:sp>
      <p:sp>
        <p:nvSpPr>
          <p:cNvPr id="3" name="Text Placeholder 2">
            <a:extLst>
              <a:ext uri="{FF2B5EF4-FFF2-40B4-BE49-F238E27FC236}">
                <a16:creationId xmlns:a16="http://schemas.microsoft.com/office/drawing/2014/main" id="{39E792B8-AB07-ECE2-A5B7-EB87FFA0DB89}"/>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57DEE58D-15F6-7CF8-51D5-F3A7AABE1E61}"/>
              </a:ext>
            </a:extLst>
          </p:cNvPr>
          <p:cNvSpPr>
            <a:spLocks noGrp="1"/>
          </p:cNvSpPr>
          <p:nvPr>
            <p:ph type="body" sz="quarter" idx="16"/>
          </p:nvPr>
        </p:nvSpPr>
        <p:spPr/>
        <p:txBody>
          <a:bodyPr/>
          <a:lstStyle/>
          <a:p>
            <a:r>
              <a:rPr lang="en-GB" dirty="0"/>
              <a:t>Dr David Wyatt</a:t>
            </a:r>
          </a:p>
        </p:txBody>
      </p:sp>
      <p:sp>
        <p:nvSpPr>
          <p:cNvPr id="6" name="Text Placeholder 5">
            <a:extLst>
              <a:ext uri="{FF2B5EF4-FFF2-40B4-BE49-F238E27FC236}">
                <a16:creationId xmlns:a16="http://schemas.microsoft.com/office/drawing/2014/main" id="{26C41372-FB65-EDB9-31A3-E19677E14963}"/>
              </a:ext>
            </a:extLst>
          </p:cNvPr>
          <p:cNvSpPr>
            <a:spLocks noGrp="1"/>
          </p:cNvSpPr>
          <p:nvPr>
            <p:ph type="body" sz="quarter" idx="18"/>
          </p:nvPr>
        </p:nvSpPr>
        <p:spPr/>
        <p:txBody>
          <a:bodyPr/>
          <a:lstStyle/>
          <a:p>
            <a:endParaRPr lang="en-GB" dirty="0"/>
          </a:p>
        </p:txBody>
      </p:sp>
      <p:pic>
        <p:nvPicPr>
          <p:cNvPr id="10" name="Picture 9">
            <a:extLst>
              <a:ext uri="{FF2B5EF4-FFF2-40B4-BE49-F238E27FC236}">
                <a16:creationId xmlns:a16="http://schemas.microsoft.com/office/drawing/2014/main" id="{C3FDB7ED-33F3-DFE3-6071-74049D0023D8}"/>
              </a:ext>
              <a:ext uri="{C183D7F6-B498-43B3-948B-1728B52AA6E4}">
                <adec:decorative xmlns:adec="http://schemas.microsoft.com/office/drawing/2017/decorative" val="1"/>
              </a:ext>
            </a:extLst>
          </p:cNvPr>
          <p:cNvPicPr>
            <a:picLocks noChangeAspect="1"/>
          </p:cNvPicPr>
          <p:nvPr/>
        </p:nvPicPr>
        <p:blipFill>
          <a:blip r:embed="rId2"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3462522" y="2498124"/>
            <a:ext cx="3048006" cy="3048006"/>
          </a:xfrm>
          <a:prstGeom prst="rect">
            <a:avLst/>
          </a:prstGeom>
        </p:spPr>
      </p:pic>
      <p:sp>
        <p:nvSpPr>
          <p:cNvPr id="11" name="Title 1">
            <a:extLst>
              <a:ext uri="{FF2B5EF4-FFF2-40B4-BE49-F238E27FC236}">
                <a16:creationId xmlns:a16="http://schemas.microsoft.com/office/drawing/2014/main" id="{FFE768E2-D838-F52C-2663-333B8F28EB4E}"/>
              </a:ext>
            </a:extLst>
          </p:cNvPr>
          <p:cNvSpPr txBox="1">
            <a:spLocks/>
          </p:cNvSpPr>
          <p:nvPr/>
        </p:nvSpPr>
        <p:spPr>
          <a:xfrm>
            <a:off x="2203226" y="1698978"/>
            <a:ext cx="6083524" cy="951546"/>
          </a:xfrm>
          <a:prstGeom prst="rect">
            <a:avLst/>
          </a:prstGeom>
        </p:spPr>
        <p:txBody>
          <a:bodyPr vert="horz" lIns="0" tIns="0" rIns="0" bIns="0" rtlCol="0" anchor="t" anchorCtr="0">
            <a:normAutofit/>
          </a:bodyPr>
          <a:lstStyle>
            <a:lvl1pPr algn="l" defTabSz="606425" rtl="0" eaLnBrk="1" fontAlgn="base" hangingPunct="1">
              <a:spcBef>
                <a:spcPct val="0"/>
              </a:spcBef>
              <a:spcAft>
                <a:spcPct val="0"/>
              </a:spcAft>
              <a:defRPr sz="3600" kern="1200">
                <a:solidFill>
                  <a:schemeClr val="bg1"/>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a:lstStyle>
          <a:p>
            <a:pPr algn="ctr"/>
            <a:r>
              <a:rPr lang="en-GB" altLang="en-US" dirty="0"/>
              <a:t>Thank you for your attention</a:t>
            </a:r>
            <a:endParaRPr lang="en-GB" dirty="0"/>
          </a:p>
        </p:txBody>
      </p:sp>
    </p:spTree>
    <p:extLst>
      <p:ext uri="{BB962C8B-B14F-4D97-AF65-F5344CB8AC3E}">
        <p14:creationId xmlns:p14="http://schemas.microsoft.com/office/powerpoint/2010/main" val="1653041656"/>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A79954B-D75F-D248-AE4C-5A8C1D0A2E08}" vid="{596BFCDD-A71F-0546-B65D-21184743809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2FC3F4283AECA48BCBDDFCF4103160C" ma:contentTypeVersion="2" ma:contentTypeDescription="Create a new document." ma:contentTypeScope="" ma:versionID="71a29f68b18f52e7e0b329625759c092">
  <xsd:schema xmlns:xsd="http://www.w3.org/2001/XMLSchema" xmlns:xs="http://www.w3.org/2001/XMLSchema" xmlns:p="http://schemas.microsoft.com/office/2006/metadata/properties" xmlns:ns2="037ba92a-5764-4297-b5f7-6ea117412624" xmlns:ns3="3a4ab234-afbc-41ab-b2db-358d80304e46" targetNamespace="http://schemas.microsoft.com/office/2006/metadata/properties" ma:root="true" ma:fieldsID="a458c3587d291faf4ca1653387720a89" ns2:_="" ns3:_="">
    <xsd:import namespace="037ba92a-5764-4297-b5f7-6ea117412624"/>
    <xsd:import namespace="3a4ab234-afbc-41ab-b2db-358d80304e46"/>
    <xsd:element name="properties">
      <xsd:complexType>
        <xsd:sequence>
          <xsd:element name="documentManagement">
            <xsd:complexType>
              <xsd:all>
                <xsd:element ref="ns2:_dlc_DocId" minOccurs="0"/>
                <xsd:element ref="ns2:_dlc_DocIdUrl" minOccurs="0"/>
                <xsd:element ref="ns2:_dlc_DocIdPersistId" minOccurs="0"/>
                <xsd:element ref="ns3:Document_x0020_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7ba92a-5764-4297-b5f7-6ea11741262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a4ab234-afbc-41ab-b2db-358d80304e46" elementFormDefault="qualified">
    <xsd:import namespace="http://schemas.microsoft.com/office/2006/documentManagement/types"/>
    <xsd:import namespace="http://schemas.microsoft.com/office/infopath/2007/PartnerControls"/>
    <xsd:element name="Document_x0020_Type" ma:index="11" nillable="true" ma:displayName="Document Type" ma:default="Main Issue" ma:description="Specify type of document to help with filtered views" ma:format="Dropdown" ma:internalName="Document_x0020_Type">
      <xsd:simpleType>
        <xsd:restriction base="dms:Choice">
          <xsd:enumeration value="Main Issue"/>
          <xsd:enumeration value="Supporting"/>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ocument_x0020_Type xmlns="3a4ab234-afbc-41ab-b2db-358d80304e46">Main Issue</Document_x0020_Type>
    <_dlc_DocId xmlns="037ba92a-5764-4297-b5f7-6ea117412624">NAYYJSKVSPAS-2-1608</_dlc_DocId>
    <_dlc_DocIdUrl xmlns="037ba92a-5764-4297-b5f7-6ea117412624">
      <Url>https://docs.uwe.ac.uk/ou/Communications/_layouts/15/DocIdRedir.aspx?ID=NAYYJSKVSPAS-2-1608</Url>
      <Description>NAYYJSKVSPAS-2-1608</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8277BB-DC5E-47BA-8CA9-13DFAB3B24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7ba92a-5764-4297-b5f7-6ea117412624"/>
    <ds:schemaRef ds:uri="3a4ab234-afbc-41ab-b2db-358d80304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D2D201-97C8-4E70-BF77-76D11DC8600F}">
  <ds:schemaRefs>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037ba92a-5764-4297-b5f7-6ea117412624"/>
    <ds:schemaRef ds:uri="http://purl.org/dc/terms/"/>
    <ds:schemaRef ds:uri="http://purl.org/dc/dcmitype/"/>
    <ds:schemaRef ds:uri="http://www.w3.org/XML/1998/namespace"/>
    <ds:schemaRef ds:uri="http://schemas.microsoft.com/office/infopath/2007/PartnerControls"/>
    <ds:schemaRef ds:uri="3a4ab234-afbc-41ab-b2db-358d80304e46"/>
  </ds:schemaRefs>
</ds:datastoreItem>
</file>

<file path=customXml/itemProps3.xml><?xml version="1.0" encoding="utf-8"?>
<ds:datastoreItem xmlns:ds="http://schemas.openxmlformats.org/officeDocument/2006/customXml" ds:itemID="{1F364826-19C1-4551-92C2-A6C074B09DC4}">
  <ds:schemaRefs>
    <ds:schemaRef ds:uri="http://schemas.microsoft.com/sharepoint/events"/>
  </ds:schemaRefs>
</ds:datastoreItem>
</file>

<file path=customXml/itemProps4.xml><?xml version="1.0" encoding="utf-8"?>
<ds:datastoreItem xmlns:ds="http://schemas.openxmlformats.org/officeDocument/2006/customXml" ds:itemID="{AC5552B4-89B5-4F8D-B1E4-E0A34EA58D51}">
  <ds:schemaRefs>
    <ds:schemaRef ds:uri="http://schemas.microsoft.com/sharepoint/v3/contenttype/forms"/>
  </ds:schemaRefs>
</ds:datastoreItem>
</file>

<file path=docMetadata/LabelInfo.xml><?xml version="1.0" encoding="utf-8"?>
<clbl:labelList xmlns:clbl="http://schemas.microsoft.com/office/2020/mipLabelMetadata">
  <clbl:label id="{0c7fd77c-bf1b-4511-8a0d-ca095442aa9f}" enabled="1" method="Privileged" siteId="{07ef1208-413c-4b5e-9cdd-64ef305754f0}" contentBits="0" removed="0"/>
</clbl:labelList>
</file>

<file path=docProps/app.xml><?xml version="1.0" encoding="utf-8"?>
<Properties xmlns="http://schemas.openxmlformats.org/officeDocument/2006/extended-properties" xmlns:vt="http://schemas.openxmlformats.org/officeDocument/2006/docPropsVTypes">
  <Template>Custom Design</Template>
  <TotalTime>1466</TotalTime>
  <Words>3506</Words>
  <Application>Microsoft Office PowerPoint</Application>
  <PresentationFormat>On-screen Show (4:3)</PresentationFormat>
  <Paragraphs>326</Paragraphs>
  <Slides>26</Slides>
  <Notes>16</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ＭＳ Ｐゴシック</vt:lpstr>
      <vt:lpstr>Arial</vt:lpstr>
      <vt:lpstr>Arial Narrow</vt:lpstr>
      <vt:lpstr>Calibri</vt:lpstr>
      <vt:lpstr>Courier New</vt:lpstr>
      <vt:lpstr>Tahoma</vt:lpstr>
      <vt:lpstr>Times New Roman</vt:lpstr>
      <vt:lpstr>Wingdings</vt:lpstr>
      <vt:lpstr>Custom Design</vt:lpstr>
      <vt:lpstr>SOAP Based Web Services </vt:lpstr>
      <vt:lpstr>Session Plan</vt:lpstr>
      <vt:lpstr>Monolithic Vs SOA Vs Microservices</vt:lpstr>
      <vt:lpstr>Service-Oriented Architecture (SOA)</vt:lpstr>
      <vt:lpstr>Why SOA</vt:lpstr>
      <vt:lpstr>SOA Architectural Principles</vt:lpstr>
      <vt:lpstr>SOA Architectural Principles </vt:lpstr>
      <vt:lpstr>Simple Object Access Protocol  (SOAP)</vt:lpstr>
      <vt:lpstr>SOAP Service Architecture</vt:lpstr>
      <vt:lpstr>Web Services</vt:lpstr>
      <vt:lpstr>Web Services </vt:lpstr>
      <vt:lpstr>Web Service Characteristics</vt:lpstr>
      <vt:lpstr>Web Service Characteristics </vt:lpstr>
      <vt:lpstr>Web Service Roles</vt:lpstr>
      <vt:lpstr>Web Service Protocol Stack</vt:lpstr>
      <vt:lpstr>Universal Description, Discovery, and Integration (UDDI)</vt:lpstr>
      <vt:lpstr>Overview of SOAP</vt:lpstr>
      <vt:lpstr>SOAP Message</vt:lpstr>
      <vt:lpstr>Example SOAP Web Services </vt:lpstr>
      <vt:lpstr>Web Services Description Language (WSDL)</vt:lpstr>
      <vt:lpstr>WSDL Structure</vt:lpstr>
      <vt:lpstr>Generated WSDL</vt:lpstr>
      <vt:lpstr>Exercise</vt:lpstr>
      <vt:lpstr>Exercise</vt:lpstr>
      <vt:lpstr>Web Service Standards for SOA</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UFCFAF-30-3  Development of Information Systems Projects (DISP)  SOAP Based Web Services </dc:title>
  <dc:creator>Dilshan Jayatilake</dc:creator>
  <cp:lastModifiedBy>David Wyatt</cp:lastModifiedBy>
  <cp:revision>9</cp:revision>
  <cp:lastPrinted>2016-09-22T10:08:48Z</cp:lastPrinted>
  <dcterms:created xsi:type="dcterms:W3CDTF">2023-02-16T11:02:41Z</dcterms:created>
  <dcterms:modified xsi:type="dcterms:W3CDTF">2026-10-11T08:10:41Z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0x01010072FC3F4283AECA48BCBDDFCF4103160C</vt:lpwstr>
  </property>
  <property fmtid="{D5CDD505-2E9C-101B-9397-08002B2CF9AE}" pid="3" name="xd_Signature">
    <vt:bool>false</vt:bool>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0beaf668-18bc-407e-89e0-ef66d74dcf56</vt:lpwstr>
  </property>
</Properties>
</file>