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58"/>
  </p:notesMasterIdLst>
  <p:handoutMasterIdLst>
    <p:handoutMasterId r:id="rId59"/>
  </p:handoutMasterIdLst>
  <p:sldIdLst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x="9144000" cy="6858000" type="screen4x3"/>
  <p:notesSz cx="9144000" cy="6858000"/>
  <p:custDataLst>
    <p:tags r:id="rId6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DAC"/>
    <a:srgbClr val="19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79630" autoAdjust="0"/>
  </p:normalViewPr>
  <p:slideViewPr>
    <p:cSldViewPr showGuides="1">
      <p:cViewPr>
        <p:scale>
          <a:sx n="50" d="100"/>
          <a:sy n="50" d="100"/>
        </p:scale>
        <p:origin x="680" y="-84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Start of Part 2 (30 min): users, goals, interviews, personas.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Teach 5 ideas (5 min). Based on Don Norman, 'The Design of Everyday Things'.</a:t>
            </a:r>
          </a:p>
          <a:p>
            <a:r>
              <a:rPr lang="en-GB" dirty="0"/>
              <a:t>Use real objects: a door handle (signifier), a lift light (feedback), a stove (mapping).</a:t>
            </a:r>
          </a:p>
          <a:p>
            <a:r>
              <a:rPr lang="en-GB" dirty="0"/>
              <a:t>Ask students to find one example in the room.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Overview (3 min). These are Jakob Nielsen's 10 usability heuristics, written in simple English.</a:t>
            </a:r>
          </a:p>
          <a:p>
            <a:r>
              <a:rPr lang="en-GB" dirty="0"/>
              <a:t>Heuristic = a simple rule to check a design. Do not read all details now. We look at them in 4 short slides.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Homework (2 min). Keep it small and clear. Tell students to keep their persona and sketches. Share the link in the chat or on the VLE.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4799-2B34-3DCE-582C-270034D3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6480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48505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77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6" r:id="rId15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uwe.primo.exlibrisgroup.com/permalink/44UWE_INST/nmtafk/alma991003843984507511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articles/ten-usability-heuristics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articles/ten-usability-heuristics/" TargetMode="External"/><Relationship Id="rId7" Type="http://schemas.openxmlformats.org/officeDocument/2006/relationships/hyperlink" Target="https://www.canva.com/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gma.com/" TargetMode="External"/><Relationship Id="rId5" Type="http://schemas.openxmlformats.org/officeDocument/2006/relationships/hyperlink" Target="https://www.w3.org/TR/WCAG22/" TargetMode="External"/><Relationship Id="rId4" Type="http://schemas.openxmlformats.org/officeDocument/2006/relationships/hyperlink" Target="https://uwe.primo.exlibrisgroup.com/permalink/44UWE_INST/nmtafk/alma9910038439845075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/>
          <p:cNvSpPr txBox="1"/>
          <p:nvPr/>
        </p:nvSpPr>
        <p:spPr>
          <a:xfrm>
            <a:off x="2103120" y="1920240"/>
            <a:ext cx="6035040" cy="2926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endParaRPr lang="en-GB" sz="3000" b="1" dirty="0">
              <a:solidFill>
                <a:srgbClr val="FFFFFF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311848E-28D7-F718-D144-29D6B8B7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6985670" cy="2089585"/>
          </a:xfrm>
        </p:spPr>
        <p:txBody>
          <a:bodyPr>
            <a:normAutofit/>
          </a:bodyPr>
          <a:lstStyle/>
          <a:p>
            <a:r>
              <a:rPr lang="en-GB" sz="2200" dirty="0"/>
              <a:t>Advanced Information Systems Development</a:t>
            </a:r>
            <a:br>
              <a:rPr lang="en-GB" b="1" dirty="0"/>
            </a:br>
            <a:r>
              <a:rPr lang="en-GB" sz="2800" b="1" dirty="0"/>
              <a:t>Human-Computer Interaction (HCI)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7B63BA-63BA-4322-7789-020BBCA20B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Presented by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83DCC1A-CB15-99EA-BA47-2FB5C59B7C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Franglin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C80373-160D-82C3-199D-A069DD5F11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What you will learn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0DB9D0E-7590-5940-3C1E-35B88CC342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6792" y="1559787"/>
            <a:ext cx="6551612" cy="4608512"/>
          </a:xfrm>
        </p:spPr>
        <p:txBody>
          <a:bodyPr/>
          <a:lstStyle/>
          <a:p>
            <a:pPr marL="9525" indent="0">
              <a:lnSpc>
                <a:spcPct val="150000"/>
              </a:lnSpc>
              <a:buNone/>
            </a:pPr>
            <a:r>
              <a:rPr lang="en-GB" b="1" dirty="0">
                <a:solidFill>
                  <a:srgbClr val="006772"/>
                </a:solidFill>
              </a:rPr>
              <a:t>By the end of today, you can: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rgbClr val="232B30"/>
              </a:solidFill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232B30"/>
                </a:solidFill>
              </a:rPr>
              <a:t>Say what HCI is and why it matters.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232B30"/>
                </a:solidFill>
              </a:rPr>
              <a:t>Describe your users and what they need.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232B30"/>
                </a:solidFill>
              </a:rPr>
              <a:t>Use simple rules to check a design.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232B30"/>
                </a:solidFill>
              </a:rPr>
              <a:t>Explain why accessibility is important.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232B30"/>
                </a:solidFill>
              </a:rPr>
              <a:t>Make a simple prototype.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232B30"/>
                </a:solidFill>
              </a:rPr>
              <a:t>Test a design with a user and find problems.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How we work today</a:t>
            </a:r>
          </a:p>
        </p:txBody>
      </p:sp>
      <p:sp>
        <p:nvSpPr>
          <p:cNvPr id="3" name="Rule card 1"/>
          <p:cNvSpPr/>
          <p:nvPr/>
        </p:nvSpPr>
        <p:spPr>
          <a:xfrm>
            <a:off x="777240" y="15544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Circle ASK"/>
          <p:cNvSpPr/>
          <p:nvPr/>
        </p:nvSpPr>
        <p:spPr>
          <a:xfrm>
            <a:off x="960120" y="1783080"/>
            <a:ext cx="868680" cy="8686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965960" y="169164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Ask a question at any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Say: "Please say it again."</a:t>
            </a:r>
          </a:p>
        </p:txBody>
      </p:sp>
      <p:sp>
        <p:nvSpPr>
          <p:cNvPr id="6" name="Rule card 2"/>
          <p:cNvSpPr/>
          <p:nvPr/>
        </p:nvSpPr>
        <p:spPr>
          <a:xfrm>
            <a:off x="4526280" y="15544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7" name="Circle TALK"/>
          <p:cNvSpPr/>
          <p:nvPr/>
        </p:nvSpPr>
        <p:spPr>
          <a:xfrm>
            <a:off x="4709160" y="1783080"/>
            <a:ext cx="868680" cy="8686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</a:rPr>
              <a:t>TALK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715000" y="169164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Talk with your friend.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You can think in your own language first.</a:t>
            </a:r>
          </a:p>
        </p:txBody>
      </p:sp>
      <p:sp>
        <p:nvSpPr>
          <p:cNvPr id="9" name="Rule card 3"/>
          <p:cNvSpPr/>
          <p:nvPr/>
        </p:nvSpPr>
        <p:spPr>
          <a:xfrm>
            <a:off x="777240" y="34290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0" name="Circle MENTI"/>
          <p:cNvSpPr/>
          <p:nvPr/>
        </p:nvSpPr>
        <p:spPr>
          <a:xfrm>
            <a:off x="960120" y="3657600"/>
            <a:ext cx="868680" cy="8686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</a:rPr>
              <a:t>MENTI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965960" y="356616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Use your phone for Menti.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Your answers are anonymous.</a:t>
            </a:r>
          </a:p>
        </p:txBody>
      </p:sp>
      <p:sp>
        <p:nvSpPr>
          <p:cNvPr id="12" name="Rule card 4"/>
          <p:cNvSpPr/>
          <p:nvPr/>
        </p:nvSpPr>
        <p:spPr>
          <a:xfrm>
            <a:off x="4526280" y="34290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3" name="Circle TRY"/>
          <p:cNvSpPr/>
          <p:nvPr/>
        </p:nvSpPr>
        <p:spPr>
          <a:xfrm>
            <a:off x="4709160" y="3657600"/>
            <a:ext cx="868680" cy="8686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TRY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715000" y="356616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Mistakes are OK.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We learn by trying.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 warm-up: join now</a:t>
            </a:r>
          </a:p>
        </p:txBody>
      </p:sp>
      <p:sp>
        <p:nvSpPr>
          <p:cNvPr id="3" name="Circle 1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371600" y="15087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Open the camera on your phone, or open a web browser.</a:t>
            </a:r>
          </a:p>
        </p:txBody>
      </p:sp>
      <p:sp>
        <p:nvSpPr>
          <p:cNvPr id="5" name="Circle 2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71600" y="22402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Go to menti.com.</a:t>
            </a:r>
          </a:p>
        </p:txBody>
      </p:sp>
      <p:sp>
        <p:nvSpPr>
          <p:cNvPr id="7" name="Circle 3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371600" y="29718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32B30"/>
                </a:solidFill>
              </a:rPr>
              <a:t>Type the code. </a:t>
            </a:r>
            <a:r>
              <a:rPr lang="en-GB" b="1" dirty="0"/>
              <a:t>1278 4313</a:t>
            </a:r>
            <a:endParaRPr lang="en-GB" sz="1600" dirty="0">
              <a:solidFill>
                <a:srgbClr val="232B30"/>
              </a:solidFill>
            </a:endParaRPr>
          </a:p>
        </p:txBody>
      </p:sp>
      <p:sp>
        <p:nvSpPr>
          <p:cNvPr id="9" name="Circle 4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371600" y="37033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Answer the question. Write 1-3 words.</a:t>
            </a:r>
          </a:p>
        </p:txBody>
      </p:sp>
      <p:sp>
        <p:nvSpPr>
          <p:cNvPr id="11" name="QR code space"/>
          <p:cNvSpPr/>
          <p:nvPr/>
        </p:nvSpPr>
        <p:spPr>
          <a:xfrm>
            <a:off x="5076056" y="1290320"/>
            <a:ext cx="2926080" cy="2926080"/>
          </a:xfrm>
          <a:prstGeom prst="rect">
            <a:avLst/>
          </a:prstGeom>
          <a:solidFill>
            <a:srgbClr val="F3F6F7"/>
          </a:solidFill>
          <a:ln w="12700">
            <a:solidFill>
              <a:srgbClr val="646C70"/>
            </a:solidFill>
            <a:prstDash val="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>
              <a:buNone/>
            </a:pPr>
            <a:br>
              <a:rPr lang="en-GB" sz="1400"/>
            </a:br>
            <a:endParaRPr lang="en-GB" sz="1400"/>
          </a:p>
          <a:p>
            <a:pPr>
              <a:buNone/>
            </a:pPr>
            <a:br>
              <a:rPr lang="en-GB" sz="1400"/>
            </a:br>
            <a:endParaRPr lang="en-GB" sz="1400" dirty="0">
              <a:solidFill>
                <a:srgbClr val="646C70"/>
              </a:solidFill>
            </a:endParaRPr>
          </a:p>
        </p:txBody>
      </p:sp>
      <p:sp>
        <p:nvSpPr>
          <p:cNvPr id="12" name="Menti 1 box"/>
          <p:cNvSpPr/>
          <p:nvPr/>
        </p:nvSpPr>
        <p:spPr>
          <a:xfrm>
            <a:off x="777240" y="475488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1  |  Word cloud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Which apps do you use every day? (Write 1- 3 app names)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</a:t>
            </a:fld>
            <a:endParaRPr lang="en-GB" sz="900">
              <a:solidFill>
                <a:srgbClr val="646C7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4ECB97-B30D-9AA3-9788-52FB5DFEF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323327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bar"/>
          <p:cNvSpPr/>
          <p:nvPr/>
        </p:nvSpPr>
        <p:spPr>
          <a:xfrm>
            <a:off x="960120" y="1097280"/>
            <a:ext cx="64008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4" name="Divider text"/>
          <p:cNvSpPr txBox="1"/>
          <p:nvPr/>
        </p:nvSpPr>
        <p:spPr>
          <a:xfrm>
            <a:off x="1325880" y="210312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3400" b="1" dirty="0">
                <a:solidFill>
                  <a:srgbClr val="FFFFFF"/>
                </a:solidFill>
              </a:rPr>
              <a:t>What is HCI?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Think, pair, share</a:t>
            </a:r>
          </a:p>
        </p:txBody>
      </p:sp>
      <p:sp>
        <p:nvSpPr>
          <p:cNvPr id="3" name="Activity banner"/>
          <p:cNvSpPr/>
          <p:nvPr/>
        </p:nvSpPr>
        <p:spPr>
          <a:xfrm>
            <a:off x="777240" y="1371600"/>
            <a:ext cx="731520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82880" tIns="36576" rIns="137160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PAIR TALK</a:t>
            </a:r>
            <a:r>
              <a:rPr lang="en-GB" sz="1600" dirty="0">
                <a:solidFill>
                  <a:srgbClr val="FFFFFF"/>
                </a:solidFill>
              </a:rPr>
              <a:t>   |   Talk to your friend sitting next to you</a:t>
            </a:r>
          </a:p>
        </p:txBody>
      </p:sp>
      <p:sp>
        <p:nvSpPr>
          <p:cNvPr id="4" name="Time badge"/>
          <p:cNvSpPr/>
          <p:nvPr/>
        </p:nvSpPr>
        <p:spPr>
          <a:xfrm>
            <a:off x="6858000" y="1463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F0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2 min</a:t>
            </a:r>
          </a:p>
        </p:txBody>
      </p:sp>
      <p:sp>
        <p:nvSpPr>
          <p:cNvPr id="5" name="Row 1"/>
          <p:cNvSpPr/>
          <p:nvPr/>
        </p:nvSpPr>
        <p:spPr>
          <a:xfrm>
            <a:off x="777240" y="214884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Think of your phone.</a:t>
            </a:r>
            <a:r>
              <a:rPr lang="en-GB" sz="1600" dirty="0">
                <a:solidFill>
                  <a:srgbClr val="232B30"/>
                </a:solidFill>
              </a:rPr>
              <a:t>  Which app do you like? Why?</a:t>
            </a:r>
          </a:p>
        </p:txBody>
      </p:sp>
      <p:sp>
        <p:nvSpPr>
          <p:cNvPr id="6" name="Circle 1"/>
          <p:cNvSpPr/>
          <p:nvPr/>
        </p:nvSpPr>
        <p:spPr>
          <a:xfrm>
            <a:off x="914400" y="232714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w 2"/>
          <p:cNvSpPr/>
          <p:nvPr/>
        </p:nvSpPr>
        <p:spPr>
          <a:xfrm>
            <a:off x="777240" y="3035808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Now think again.</a:t>
            </a:r>
            <a:r>
              <a:rPr lang="en-GB" sz="1600" dirty="0">
                <a:solidFill>
                  <a:srgbClr val="232B30"/>
                </a:solidFill>
              </a:rPr>
              <a:t>  Which app is hard to use? Why?</a:t>
            </a:r>
          </a:p>
        </p:txBody>
      </p:sp>
      <p:sp>
        <p:nvSpPr>
          <p:cNvPr id="8" name="Circle 2"/>
          <p:cNvSpPr/>
          <p:nvPr/>
        </p:nvSpPr>
        <p:spPr>
          <a:xfrm>
            <a:off x="914400" y="321411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Menti 2 box"/>
          <p:cNvSpPr/>
          <p:nvPr/>
        </p:nvSpPr>
        <p:spPr>
          <a:xfrm>
            <a:off x="777240" y="4297680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2  |  Open text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Name one app or website that is hard to use. What is the problem?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6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What is HCI?</a:t>
            </a:r>
          </a:p>
        </p:txBody>
      </p:sp>
      <p:sp>
        <p:nvSpPr>
          <p:cNvPr id="3" name="Definition"/>
          <p:cNvSpPr/>
          <p:nvPr/>
        </p:nvSpPr>
        <p:spPr>
          <a:xfrm>
            <a:off x="777240" y="1417320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200" b="1" dirty="0">
                <a:solidFill>
                  <a:srgbClr val="006772"/>
                </a:solidFill>
              </a:rPr>
              <a:t>HCI</a:t>
            </a:r>
            <a:r>
              <a:rPr lang="en-GB" sz="2200" b="1" dirty="0">
                <a:solidFill>
                  <a:srgbClr val="232B30"/>
                </a:solidFill>
              </a:rPr>
              <a:t> = Human-Computer Interaction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How people use computers, apps and websites. We want them to be easy, safe and pleasant.</a:t>
            </a:r>
          </a:p>
        </p:txBody>
      </p:sp>
      <p:sp>
        <p:nvSpPr>
          <p:cNvPr id="4" name="Person head"/>
          <p:cNvSpPr/>
          <p:nvPr/>
        </p:nvSpPr>
        <p:spPr>
          <a:xfrm>
            <a:off x="1453896" y="3063240"/>
            <a:ext cx="475488" cy="475488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5" name="Person body"/>
          <p:cNvSpPr/>
          <p:nvPr/>
        </p:nvSpPr>
        <p:spPr>
          <a:xfrm>
            <a:off x="1216152" y="3633826"/>
            <a:ext cx="950976" cy="61813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6" name="Text"/>
          <p:cNvSpPr txBox="1"/>
          <p:nvPr/>
        </p:nvSpPr>
        <p:spPr>
          <a:xfrm>
            <a:off x="777240" y="43434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The user</a:t>
            </a:r>
          </a:p>
        </p:txBody>
      </p:sp>
      <p:sp>
        <p:nvSpPr>
          <p:cNvPr id="7" name="Input arrow"/>
          <p:cNvSpPr/>
          <p:nvPr/>
        </p:nvSpPr>
        <p:spPr>
          <a:xfrm>
            <a:off x="2926080" y="2926080"/>
            <a:ext cx="2377440" cy="685800"/>
          </a:xfrm>
          <a:prstGeom prst="rightArrow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926080" y="36118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touch, type, speak</a:t>
            </a:r>
          </a:p>
        </p:txBody>
      </p:sp>
      <p:sp>
        <p:nvSpPr>
          <p:cNvPr id="9" name="Output arrow"/>
          <p:cNvSpPr/>
          <p:nvPr/>
        </p:nvSpPr>
        <p:spPr>
          <a:xfrm>
            <a:off x="2926080" y="4023360"/>
            <a:ext cx="2377440" cy="685800"/>
          </a:xfrm>
          <a:prstGeom prst="leftArrow">
            <a:avLst/>
          </a:prstGeom>
          <a:solidFill>
            <a:srgbClr val="00677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2926080" y="47091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screen, sound, vibration</a:t>
            </a:r>
          </a:p>
        </p:txBody>
      </p:sp>
      <p:sp>
        <p:nvSpPr>
          <p:cNvPr id="11" name="Computer screen"/>
          <p:cNvSpPr/>
          <p:nvPr/>
        </p:nvSpPr>
        <p:spPr>
          <a:xfrm>
            <a:off x="5852160" y="29718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00677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2" name="Screen content"/>
          <p:cNvSpPr/>
          <p:nvPr/>
        </p:nvSpPr>
        <p:spPr>
          <a:xfrm>
            <a:off x="5989320" y="3108960"/>
            <a:ext cx="1737360" cy="1097280"/>
          </a:xfrm>
          <a:prstGeom prst="rect">
            <a:avLst/>
          </a:prstGeom>
          <a:solidFill>
            <a:srgbClr val="DCF0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App</a:t>
            </a:r>
          </a:p>
        </p:txBody>
      </p:sp>
      <p:sp>
        <p:nvSpPr>
          <p:cNvPr id="13" name="Stand neck"/>
          <p:cNvSpPr/>
          <p:nvPr/>
        </p:nvSpPr>
        <p:spPr>
          <a:xfrm>
            <a:off x="6492240" y="4343400"/>
            <a:ext cx="731520" cy="274320"/>
          </a:xfrm>
          <a:prstGeom prst="rect">
            <a:avLst/>
          </a:prstGeom>
          <a:solidFill>
            <a:srgbClr val="00677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4" name="Stand base"/>
          <p:cNvSpPr/>
          <p:nvPr/>
        </p:nvSpPr>
        <p:spPr>
          <a:xfrm>
            <a:off x="6126480" y="4617720"/>
            <a:ext cx="1463040" cy="128016"/>
          </a:xfrm>
          <a:prstGeom prst="roundRect">
            <a:avLst/>
          </a:prstGeom>
          <a:solidFill>
            <a:srgbClr val="00677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5" name="Text"/>
          <p:cNvSpPr txBox="1"/>
          <p:nvPr/>
        </p:nvSpPr>
        <p:spPr>
          <a:xfrm>
            <a:off x="5852160" y="4846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The computer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7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Key words</a:t>
            </a:r>
          </a:p>
        </p:txBody>
      </p:sp>
      <p:sp>
        <p:nvSpPr>
          <p:cNvPr id="3" name="Label chip"/>
          <p:cNvSpPr/>
          <p:nvPr/>
        </p:nvSpPr>
        <p:spPr>
          <a:xfrm>
            <a:off x="777240" y="146304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3063240" y="146304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The person who uses the system.</a:t>
            </a:r>
          </a:p>
        </p:txBody>
      </p:sp>
      <p:sp>
        <p:nvSpPr>
          <p:cNvPr id="5" name="Label chip"/>
          <p:cNvSpPr/>
          <p:nvPr/>
        </p:nvSpPr>
        <p:spPr>
          <a:xfrm>
            <a:off x="777240" y="224028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</a:rPr>
              <a:t>Interface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063240" y="22402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What you see and touch: screen, buttons, menus.</a:t>
            </a:r>
          </a:p>
        </p:txBody>
      </p:sp>
      <p:sp>
        <p:nvSpPr>
          <p:cNvPr id="7" name="Label chip"/>
          <p:cNvSpPr/>
          <p:nvPr/>
        </p:nvSpPr>
        <p:spPr>
          <a:xfrm>
            <a:off x="777240" y="301752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</a:rPr>
              <a:t>Usability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063240" y="30175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How easy and fast it is to use.</a:t>
            </a:r>
          </a:p>
        </p:txBody>
      </p:sp>
      <p:sp>
        <p:nvSpPr>
          <p:cNvPr id="9" name="Label chip"/>
          <p:cNvSpPr/>
          <p:nvPr/>
        </p:nvSpPr>
        <p:spPr>
          <a:xfrm>
            <a:off x="777240" y="379476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</a:rPr>
              <a:t>UX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063240" y="379476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User experience: how the user feels.</a:t>
            </a:r>
          </a:p>
        </p:txBody>
      </p:sp>
      <p:sp>
        <p:nvSpPr>
          <p:cNvPr id="11" name="Label chip"/>
          <p:cNvSpPr/>
          <p:nvPr/>
        </p:nvSpPr>
        <p:spPr>
          <a:xfrm>
            <a:off x="777240" y="457200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</a:rPr>
              <a:t>Accessibility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063240" y="457200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Everyone can use it, also people with disabilities.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8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 check: HCI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232B30"/>
                </a:solidFill>
              </a:rPr>
              <a:t>Look at the question on your phone. Choose one answer.</a:t>
            </a:r>
          </a:p>
        </p:txBody>
      </p:sp>
      <p:sp>
        <p:nvSpPr>
          <p:cNvPr id="4" name="Option A"/>
          <p:cNvSpPr/>
          <p:nvPr/>
        </p:nvSpPr>
        <p:spPr>
          <a:xfrm>
            <a:off x="777240" y="228600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Human-Computer Interaction</a:t>
            </a:r>
          </a:p>
        </p:txBody>
      </p:sp>
      <p:sp>
        <p:nvSpPr>
          <p:cNvPr id="5" name="Circle A"/>
          <p:cNvSpPr/>
          <p:nvPr/>
        </p:nvSpPr>
        <p:spPr>
          <a:xfrm>
            <a:off x="868680" y="243230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Option B"/>
          <p:cNvSpPr/>
          <p:nvPr/>
        </p:nvSpPr>
        <p:spPr>
          <a:xfrm>
            <a:off x="4526280" y="228600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High Computer Integration</a:t>
            </a:r>
          </a:p>
        </p:txBody>
      </p:sp>
      <p:sp>
        <p:nvSpPr>
          <p:cNvPr id="7" name="Circle B"/>
          <p:cNvSpPr/>
          <p:nvPr/>
        </p:nvSpPr>
        <p:spPr>
          <a:xfrm>
            <a:off x="4617720" y="243230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Option C"/>
          <p:cNvSpPr/>
          <p:nvPr/>
        </p:nvSpPr>
        <p:spPr>
          <a:xfrm>
            <a:off x="777240" y="30632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Home Computer Internet</a:t>
            </a:r>
          </a:p>
        </p:txBody>
      </p:sp>
      <p:sp>
        <p:nvSpPr>
          <p:cNvPr id="9" name="Circle C"/>
          <p:cNvSpPr/>
          <p:nvPr/>
        </p:nvSpPr>
        <p:spPr>
          <a:xfrm>
            <a:off x="868680" y="320954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Option D"/>
          <p:cNvSpPr/>
          <p:nvPr/>
        </p:nvSpPr>
        <p:spPr>
          <a:xfrm>
            <a:off x="4526280" y="30632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Human Control Instructions</a:t>
            </a:r>
          </a:p>
        </p:txBody>
      </p:sp>
      <p:sp>
        <p:nvSpPr>
          <p:cNvPr id="11" name="Circle D"/>
          <p:cNvSpPr/>
          <p:nvPr/>
        </p:nvSpPr>
        <p:spPr>
          <a:xfrm>
            <a:off x="4617720" y="320954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" name="Menti 3 box"/>
          <p:cNvSpPr/>
          <p:nvPr/>
        </p:nvSpPr>
        <p:spPr>
          <a:xfrm>
            <a:off x="777240" y="47548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3  |  Multiple choice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What does HCI mean?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9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Why does HCI matter?</a:t>
            </a:r>
          </a:p>
        </p:txBody>
      </p:sp>
      <p:sp>
        <p:nvSpPr>
          <p:cNvPr id="3" name="Reason 1"/>
          <p:cNvSpPr/>
          <p:nvPr/>
        </p:nvSpPr>
        <p:spPr>
          <a:xfrm>
            <a:off x="777240" y="150876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91440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Saves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Users finish tasks faster.</a:t>
            </a:r>
          </a:p>
        </p:txBody>
      </p:sp>
      <p:sp>
        <p:nvSpPr>
          <p:cNvPr id="4" name="Circle 1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ason 2"/>
          <p:cNvSpPr/>
          <p:nvPr/>
        </p:nvSpPr>
        <p:spPr>
          <a:xfrm>
            <a:off x="4526280" y="150876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91440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Fewer mistakes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Clear design stops errors.</a:t>
            </a:r>
          </a:p>
        </p:txBody>
      </p:sp>
      <p:sp>
        <p:nvSpPr>
          <p:cNvPr id="6" name="Circle 2"/>
          <p:cNvSpPr/>
          <p:nvPr/>
        </p:nvSpPr>
        <p:spPr>
          <a:xfrm>
            <a:off x="4709160" y="2148840"/>
            <a:ext cx="502920" cy="50292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ason 3"/>
          <p:cNvSpPr/>
          <p:nvPr/>
        </p:nvSpPr>
        <p:spPr>
          <a:xfrm>
            <a:off x="777240" y="347472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91440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Safer systems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In health or banking apps, mistakes can be serious.</a:t>
            </a:r>
          </a:p>
        </p:txBody>
      </p:sp>
      <p:sp>
        <p:nvSpPr>
          <p:cNvPr id="8" name="Circle 3"/>
          <p:cNvSpPr/>
          <p:nvPr/>
        </p:nvSpPr>
        <p:spPr>
          <a:xfrm>
            <a:off x="960120" y="4114800"/>
            <a:ext cx="502920" cy="50292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ason 4"/>
          <p:cNvSpPr/>
          <p:nvPr/>
        </p:nvSpPr>
        <p:spPr>
          <a:xfrm>
            <a:off x="4526280" y="347472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91440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Better business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Happy users stay. Support costs go down.</a:t>
            </a:r>
          </a:p>
        </p:txBody>
      </p:sp>
      <p:sp>
        <p:nvSpPr>
          <p:cNvPr id="10" name="Circle 4"/>
          <p:cNvSpPr/>
          <p:nvPr/>
        </p:nvSpPr>
        <p:spPr>
          <a:xfrm>
            <a:off x="4709160" y="4114800"/>
            <a:ext cx="502920" cy="50292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10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Bad message, good message</a:t>
            </a:r>
          </a:p>
        </p:txBody>
      </p:sp>
      <p:sp>
        <p:nvSpPr>
          <p:cNvPr id="3" name="Compare card"/>
          <p:cNvSpPr/>
          <p:nvPr/>
        </p:nvSpPr>
        <p:spPr>
          <a:xfrm>
            <a:off x="777240" y="146304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CE9E7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Label chip"/>
          <p:cNvSpPr/>
          <p:nvPr/>
        </p:nvSpPr>
        <p:spPr>
          <a:xfrm>
            <a:off x="960120" y="164592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Hard to understand</a:t>
            </a:r>
          </a:p>
        </p:txBody>
      </p:sp>
      <p:sp>
        <p:nvSpPr>
          <p:cNvPr id="5" name="Compare text"/>
          <p:cNvSpPr txBox="1"/>
          <p:nvPr/>
        </p:nvSpPr>
        <p:spPr>
          <a:xfrm>
            <a:off x="960120" y="2240280"/>
            <a:ext cx="3154680" cy="2468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endParaRPr lang="en-GB"/>
          </a:p>
        </p:txBody>
      </p:sp>
      <p:sp>
        <p:nvSpPr>
          <p:cNvPr id="6" name="Compare card"/>
          <p:cNvSpPr/>
          <p:nvPr/>
        </p:nvSpPr>
        <p:spPr>
          <a:xfrm>
            <a:off x="4572000" y="146304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7" name="Label chip"/>
          <p:cNvSpPr/>
          <p:nvPr/>
        </p:nvSpPr>
        <p:spPr>
          <a:xfrm>
            <a:off x="4754880" y="164592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Easy to understand</a:t>
            </a:r>
          </a:p>
        </p:txBody>
      </p:sp>
      <p:sp>
        <p:nvSpPr>
          <p:cNvPr id="8" name="Compare text"/>
          <p:cNvSpPr txBox="1"/>
          <p:nvPr/>
        </p:nvSpPr>
        <p:spPr>
          <a:xfrm>
            <a:off x="4754880" y="2240280"/>
            <a:ext cx="3154680" cy="2468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endParaRPr lang="en-GB"/>
          </a:p>
        </p:txBody>
      </p:sp>
      <p:sp>
        <p:nvSpPr>
          <p:cNvPr id="9" name="Bad message box"/>
          <p:cNvSpPr/>
          <p:nvPr/>
        </p:nvSpPr>
        <p:spPr>
          <a:xfrm>
            <a:off x="1051560" y="2331720"/>
            <a:ext cx="2971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3261E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646C70"/>
                </a:solidFill>
              </a:rPr>
              <a:t>Error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Error 0x80070057: Invalid parameter.</a:t>
            </a:r>
          </a:p>
          <a:p>
            <a:pPr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232B30"/>
                </a:solidFill>
              </a:rPr>
              <a:t>[ OK ]</a:t>
            </a:r>
          </a:p>
        </p:txBody>
      </p:sp>
      <p:sp>
        <p:nvSpPr>
          <p:cNvPr id="10" name="Good message box"/>
          <p:cNvSpPr/>
          <p:nvPr/>
        </p:nvSpPr>
        <p:spPr>
          <a:xfrm>
            <a:off x="4846320" y="2331720"/>
            <a:ext cx="2971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772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646C70"/>
                </a:solidFill>
              </a:rPr>
              <a:t>Could not save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We could not save your file. Please check your internet and try again.</a:t>
            </a:r>
          </a:p>
        </p:txBody>
      </p:sp>
      <p:sp>
        <p:nvSpPr>
          <p:cNvPr id="11" name="Label chip"/>
          <p:cNvSpPr/>
          <p:nvPr/>
        </p:nvSpPr>
        <p:spPr>
          <a:xfrm>
            <a:off x="6080760" y="342900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Try again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846320" y="41605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"/>
          <p:cNvSpPr txBox="1"/>
          <p:nvPr/>
        </p:nvSpPr>
        <p:spPr>
          <a:xfrm>
            <a:off x="777240" y="5074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Good messages use simple words and say what to do next.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11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HCI in system development</a:t>
            </a:r>
          </a:p>
        </p:txBody>
      </p:sp>
      <p:sp>
        <p:nvSpPr>
          <p:cNvPr id="3" name="Stage 1"/>
          <p:cNvSpPr/>
          <p:nvPr/>
        </p:nvSpPr>
        <p:spPr>
          <a:xfrm>
            <a:off x="777240" y="1508760"/>
            <a:ext cx="2286000" cy="594360"/>
          </a:xfrm>
          <a:prstGeom prst="homePlate">
            <a:avLst/>
          </a:prstGeom>
          <a:solidFill>
            <a:srgbClr val="199DAC"/>
          </a:solidFill>
          <a:ln>
            <a:noFill/>
          </a:ln>
        </p:spPr>
        <p:txBody>
          <a:bodyPr wrap="square" lIns="182880" tIns="36576" rIns="27432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  Plan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77240" y="2194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Who are the users?</a:t>
            </a:r>
          </a:p>
        </p:txBody>
      </p:sp>
      <p:sp>
        <p:nvSpPr>
          <p:cNvPr id="5" name="Stage 2"/>
          <p:cNvSpPr/>
          <p:nvPr/>
        </p:nvSpPr>
        <p:spPr>
          <a:xfrm>
            <a:off x="3246120" y="1508760"/>
            <a:ext cx="2286000" cy="594360"/>
          </a:xfrm>
          <a:prstGeom prst="homePlate">
            <a:avLst/>
          </a:prstGeom>
          <a:solidFill>
            <a:srgbClr val="199DAC"/>
          </a:solidFill>
          <a:ln>
            <a:noFill/>
          </a:ln>
        </p:spPr>
        <p:txBody>
          <a:bodyPr wrap="square" lIns="182880" tIns="36576" rIns="27432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  Analyse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246120" y="2194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What do they need?</a:t>
            </a:r>
          </a:p>
        </p:txBody>
      </p:sp>
      <p:sp>
        <p:nvSpPr>
          <p:cNvPr id="7" name="Stage 3"/>
          <p:cNvSpPr/>
          <p:nvPr/>
        </p:nvSpPr>
        <p:spPr>
          <a:xfrm>
            <a:off x="5715000" y="1508760"/>
            <a:ext cx="2286000" cy="594360"/>
          </a:xfrm>
          <a:prstGeom prst="homePlate">
            <a:avLst/>
          </a:prstGeom>
          <a:solidFill>
            <a:srgbClr val="199DAC"/>
          </a:solidFill>
          <a:ln>
            <a:noFill/>
          </a:ln>
        </p:spPr>
        <p:txBody>
          <a:bodyPr wrap="square" lIns="182880" tIns="36576" rIns="27432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  Design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715000" y="2194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What will the screens look like?</a:t>
            </a:r>
          </a:p>
        </p:txBody>
      </p:sp>
      <p:sp>
        <p:nvSpPr>
          <p:cNvPr id="9" name="Stage 4"/>
          <p:cNvSpPr/>
          <p:nvPr/>
        </p:nvSpPr>
        <p:spPr>
          <a:xfrm>
            <a:off x="777240" y="3337560"/>
            <a:ext cx="2286000" cy="594360"/>
          </a:xfrm>
          <a:prstGeom prst="homePlate">
            <a:avLst/>
          </a:prstGeom>
          <a:solidFill>
            <a:srgbClr val="006772"/>
          </a:solidFill>
          <a:ln>
            <a:noFill/>
          </a:ln>
        </p:spPr>
        <p:txBody>
          <a:bodyPr wrap="square" lIns="182880" tIns="36576" rIns="27432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  Build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77240" y="4023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Do we follow the design rules?</a:t>
            </a:r>
          </a:p>
        </p:txBody>
      </p:sp>
      <p:sp>
        <p:nvSpPr>
          <p:cNvPr id="11" name="Stage 5"/>
          <p:cNvSpPr/>
          <p:nvPr/>
        </p:nvSpPr>
        <p:spPr>
          <a:xfrm>
            <a:off x="3246120" y="3337560"/>
            <a:ext cx="2286000" cy="594360"/>
          </a:xfrm>
          <a:prstGeom prst="homePlate">
            <a:avLst/>
          </a:prstGeom>
          <a:solidFill>
            <a:srgbClr val="006772"/>
          </a:solidFill>
          <a:ln>
            <a:noFill/>
          </a:ln>
        </p:spPr>
        <p:txBody>
          <a:bodyPr wrap="square" lIns="182880" tIns="36576" rIns="27432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5  Test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246120" y="4023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Can real users do the tasks?</a:t>
            </a:r>
          </a:p>
        </p:txBody>
      </p:sp>
      <p:sp>
        <p:nvSpPr>
          <p:cNvPr id="13" name="Stage 6"/>
          <p:cNvSpPr/>
          <p:nvPr/>
        </p:nvSpPr>
        <p:spPr>
          <a:xfrm>
            <a:off x="5715000" y="3337560"/>
            <a:ext cx="2286000" cy="594360"/>
          </a:xfrm>
          <a:prstGeom prst="homePlate">
            <a:avLst/>
          </a:prstGeom>
          <a:solidFill>
            <a:srgbClr val="006772"/>
          </a:solidFill>
          <a:ln>
            <a:noFill/>
          </a:ln>
        </p:spPr>
        <p:txBody>
          <a:bodyPr wrap="square" lIns="182880" tIns="36576" rIns="27432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6  Release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715000" y="40233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What do users say now?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77240" y="5212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HCI is in every stage, not only at the end.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12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bar"/>
          <p:cNvSpPr/>
          <p:nvPr/>
        </p:nvSpPr>
        <p:spPr>
          <a:xfrm>
            <a:off x="960120" y="1097280"/>
            <a:ext cx="64008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4" name="Divider text"/>
          <p:cNvSpPr txBox="1"/>
          <p:nvPr/>
        </p:nvSpPr>
        <p:spPr>
          <a:xfrm>
            <a:off x="1383374" y="206884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endParaRPr lang="en-GB" sz="1800" dirty="0">
              <a:solidFill>
                <a:srgbClr val="DCF0F2"/>
              </a:solidFill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3400" b="1" dirty="0">
                <a:solidFill>
                  <a:srgbClr val="FFFFFF"/>
                </a:solidFill>
              </a:rPr>
              <a:t>Know your users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DCF0F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70DA36-86A1-AD39-DE4F-68F78E5B246D}"/>
              </a:ext>
            </a:extLst>
          </p:cNvPr>
          <p:cNvGrpSpPr/>
          <p:nvPr/>
        </p:nvGrpSpPr>
        <p:grpSpPr>
          <a:xfrm>
            <a:off x="7031660" y="4665044"/>
            <a:ext cx="621792" cy="777240"/>
            <a:chOff x="7127883" y="4207235"/>
            <a:chExt cx="621792" cy="777240"/>
          </a:xfrm>
        </p:grpSpPr>
        <p:sp>
          <p:nvSpPr>
            <p:cNvPr id="21" name="Person head">
              <a:extLst>
                <a:ext uri="{FF2B5EF4-FFF2-40B4-BE49-F238E27FC236}">
                  <a16:creationId xmlns:a16="http://schemas.microsoft.com/office/drawing/2014/main" id="{8729B671-6695-4ACC-8B21-0F719FA2CE27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23" name="Person body">
              <a:extLst>
                <a:ext uri="{FF2B5EF4-FFF2-40B4-BE49-F238E27FC236}">
                  <a16:creationId xmlns:a16="http://schemas.microsoft.com/office/drawing/2014/main" id="{C836B290-5858-2B68-2BE9-5E790A6E9473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9A7B4B-3D44-3407-D252-6448CFD4E8C0}"/>
              </a:ext>
            </a:extLst>
          </p:cNvPr>
          <p:cNvGrpSpPr/>
          <p:nvPr/>
        </p:nvGrpSpPr>
        <p:grpSpPr>
          <a:xfrm>
            <a:off x="6347606" y="4089887"/>
            <a:ext cx="621792" cy="777240"/>
            <a:chOff x="7127883" y="4207235"/>
            <a:chExt cx="621792" cy="777240"/>
          </a:xfrm>
        </p:grpSpPr>
        <p:sp>
          <p:nvSpPr>
            <p:cNvPr id="34" name="Person head">
              <a:extLst>
                <a:ext uri="{FF2B5EF4-FFF2-40B4-BE49-F238E27FC236}">
                  <a16:creationId xmlns:a16="http://schemas.microsoft.com/office/drawing/2014/main" id="{CDD81CFF-4195-DD6F-DA09-B92B326DEDBB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35" name="Person body">
              <a:extLst>
                <a:ext uri="{FF2B5EF4-FFF2-40B4-BE49-F238E27FC236}">
                  <a16:creationId xmlns:a16="http://schemas.microsoft.com/office/drawing/2014/main" id="{16B4661F-D5C6-3F04-1DEA-DA94865EA05B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AD2A9E-3D6F-CCC7-3DE2-A2EEC268B3E9}"/>
              </a:ext>
            </a:extLst>
          </p:cNvPr>
          <p:cNvGrpSpPr/>
          <p:nvPr/>
        </p:nvGrpSpPr>
        <p:grpSpPr>
          <a:xfrm>
            <a:off x="6260121" y="5097780"/>
            <a:ext cx="621792" cy="777240"/>
            <a:chOff x="7127883" y="4207235"/>
            <a:chExt cx="621792" cy="777240"/>
          </a:xfrm>
        </p:grpSpPr>
        <p:sp>
          <p:nvSpPr>
            <p:cNvPr id="37" name="Person head">
              <a:extLst>
                <a:ext uri="{FF2B5EF4-FFF2-40B4-BE49-F238E27FC236}">
                  <a16:creationId xmlns:a16="http://schemas.microsoft.com/office/drawing/2014/main" id="{593A8EE7-DC27-CBE3-65CB-F993C1C43F92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38" name="Person body">
              <a:extLst>
                <a:ext uri="{FF2B5EF4-FFF2-40B4-BE49-F238E27FC236}">
                  <a16:creationId xmlns:a16="http://schemas.microsoft.com/office/drawing/2014/main" id="{D85D1C7C-2295-DECF-E5ED-ADC66DBB9B35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3E74BB3-CEC7-5F30-FE81-A4EF9AF9D2C9}"/>
              </a:ext>
            </a:extLst>
          </p:cNvPr>
          <p:cNvGrpSpPr/>
          <p:nvPr/>
        </p:nvGrpSpPr>
        <p:grpSpPr>
          <a:xfrm>
            <a:off x="5508104" y="4596858"/>
            <a:ext cx="621792" cy="777240"/>
            <a:chOff x="7127883" y="4207235"/>
            <a:chExt cx="621792" cy="777240"/>
          </a:xfrm>
        </p:grpSpPr>
        <p:sp>
          <p:nvSpPr>
            <p:cNvPr id="40" name="Person head">
              <a:extLst>
                <a:ext uri="{FF2B5EF4-FFF2-40B4-BE49-F238E27FC236}">
                  <a16:creationId xmlns:a16="http://schemas.microsoft.com/office/drawing/2014/main" id="{267ADC2C-7C30-D371-A455-4F0C347A86BB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41" name="Person body">
              <a:extLst>
                <a:ext uri="{FF2B5EF4-FFF2-40B4-BE49-F238E27FC236}">
                  <a16:creationId xmlns:a16="http://schemas.microsoft.com/office/drawing/2014/main" id="{928ED764-342C-2A35-C056-D97737F9C56C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CC08CB-3DDB-DF50-6B25-3EE4CDA48908}"/>
              </a:ext>
            </a:extLst>
          </p:cNvPr>
          <p:cNvGrpSpPr/>
          <p:nvPr/>
        </p:nvGrpSpPr>
        <p:grpSpPr>
          <a:xfrm>
            <a:off x="7616656" y="3974561"/>
            <a:ext cx="621792" cy="777240"/>
            <a:chOff x="7127883" y="4207235"/>
            <a:chExt cx="621792" cy="777240"/>
          </a:xfrm>
        </p:grpSpPr>
        <p:sp>
          <p:nvSpPr>
            <p:cNvPr id="43" name="Person head">
              <a:extLst>
                <a:ext uri="{FF2B5EF4-FFF2-40B4-BE49-F238E27FC236}">
                  <a16:creationId xmlns:a16="http://schemas.microsoft.com/office/drawing/2014/main" id="{A51FAAAD-E6C7-F0A5-944B-0C60A81897C4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44" name="Person body">
              <a:extLst>
                <a:ext uri="{FF2B5EF4-FFF2-40B4-BE49-F238E27FC236}">
                  <a16:creationId xmlns:a16="http://schemas.microsoft.com/office/drawing/2014/main" id="{023D3F71-2173-B0D3-0C93-059C101D02E5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B55B91-3795-8EA8-A226-BA3D372BAE58}"/>
              </a:ext>
            </a:extLst>
          </p:cNvPr>
          <p:cNvGrpSpPr/>
          <p:nvPr/>
        </p:nvGrpSpPr>
        <p:grpSpPr>
          <a:xfrm>
            <a:off x="5579889" y="3570396"/>
            <a:ext cx="621792" cy="777240"/>
            <a:chOff x="7127883" y="4207235"/>
            <a:chExt cx="621792" cy="777240"/>
          </a:xfrm>
        </p:grpSpPr>
        <p:sp>
          <p:nvSpPr>
            <p:cNvPr id="46" name="Person head">
              <a:extLst>
                <a:ext uri="{FF2B5EF4-FFF2-40B4-BE49-F238E27FC236}">
                  <a16:creationId xmlns:a16="http://schemas.microsoft.com/office/drawing/2014/main" id="{A9D7315F-B728-A55C-A8A1-8CDBD8EC3CDF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47" name="Person body">
              <a:extLst>
                <a:ext uri="{FF2B5EF4-FFF2-40B4-BE49-F238E27FC236}">
                  <a16:creationId xmlns:a16="http://schemas.microsoft.com/office/drawing/2014/main" id="{A726CF79-8BCF-5E01-A491-09D7695051AC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EE9416-DAA1-8D09-60C0-C6153CDDFFD3}"/>
              </a:ext>
            </a:extLst>
          </p:cNvPr>
          <p:cNvGrpSpPr/>
          <p:nvPr/>
        </p:nvGrpSpPr>
        <p:grpSpPr>
          <a:xfrm>
            <a:off x="6942137" y="3236823"/>
            <a:ext cx="621792" cy="777240"/>
            <a:chOff x="7127883" y="4207235"/>
            <a:chExt cx="621792" cy="777240"/>
          </a:xfrm>
        </p:grpSpPr>
        <p:sp>
          <p:nvSpPr>
            <p:cNvPr id="49" name="Person head">
              <a:extLst>
                <a:ext uri="{FF2B5EF4-FFF2-40B4-BE49-F238E27FC236}">
                  <a16:creationId xmlns:a16="http://schemas.microsoft.com/office/drawing/2014/main" id="{E8D15594-C840-EA60-F6C5-3B863F290479}"/>
                </a:ext>
              </a:extLst>
            </p:cNvPr>
            <p:cNvSpPr/>
            <p:nvPr/>
          </p:nvSpPr>
          <p:spPr>
            <a:xfrm>
              <a:off x="7283331" y="4207235"/>
              <a:ext cx="310896" cy="310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  <p:sp>
          <p:nvSpPr>
            <p:cNvPr id="50" name="Person body">
              <a:extLst>
                <a:ext uri="{FF2B5EF4-FFF2-40B4-BE49-F238E27FC236}">
                  <a16:creationId xmlns:a16="http://schemas.microsoft.com/office/drawing/2014/main" id="{ED7EE3D3-7991-2A94-4334-EE6952D66347}"/>
                </a:ext>
              </a:extLst>
            </p:cNvPr>
            <p:cNvSpPr/>
            <p:nvPr/>
          </p:nvSpPr>
          <p:spPr>
            <a:xfrm>
              <a:off x="7127883" y="4580310"/>
              <a:ext cx="621792" cy="404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Users are different</a:t>
            </a:r>
          </a:p>
        </p:txBody>
      </p:sp>
      <p:sp>
        <p:nvSpPr>
          <p:cNvPr id="3" name="User card 1"/>
          <p:cNvSpPr/>
          <p:nvPr/>
        </p:nvSpPr>
        <p:spPr>
          <a:xfrm>
            <a:off x="777240" y="14630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73152" rIns="9144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Student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Fast, on a phone, always in a hurry.</a:t>
            </a:r>
          </a:p>
        </p:txBody>
      </p:sp>
      <p:sp>
        <p:nvSpPr>
          <p:cNvPr id="4" name="Person head"/>
          <p:cNvSpPr/>
          <p:nvPr/>
        </p:nvSpPr>
        <p:spPr>
          <a:xfrm>
            <a:off x="1193292" y="1737360"/>
            <a:ext cx="310896" cy="310896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5" name="Person body"/>
          <p:cNvSpPr/>
          <p:nvPr/>
        </p:nvSpPr>
        <p:spPr>
          <a:xfrm>
            <a:off x="1037844" y="2110435"/>
            <a:ext cx="621792" cy="4041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6" name="User card 2"/>
          <p:cNvSpPr/>
          <p:nvPr/>
        </p:nvSpPr>
        <p:spPr>
          <a:xfrm>
            <a:off x="4526280" y="14630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73152" rIns="9144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Older adult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Not sure about technology. Needs big text.</a:t>
            </a:r>
          </a:p>
        </p:txBody>
      </p:sp>
      <p:sp>
        <p:nvSpPr>
          <p:cNvPr id="7" name="Person head"/>
          <p:cNvSpPr/>
          <p:nvPr/>
        </p:nvSpPr>
        <p:spPr>
          <a:xfrm>
            <a:off x="4942332" y="1737360"/>
            <a:ext cx="310896" cy="310896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8" name="Person body"/>
          <p:cNvSpPr/>
          <p:nvPr/>
        </p:nvSpPr>
        <p:spPr>
          <a:xfrm>
            <a:off x="4786884" y="2110435"/>
            <a:ext cx="621792" cy="4041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9" name="User card 3"/>
          <p:cNvSpPr/>
          <p:nvPr/>
        </p:nvSpPr>
        <p:spPr>
          <a:xfrm>
            <a:off x="777240" y="31089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73152" rIns="9144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Busy nurse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Uses one hand. No time to read.</a:t>
            </a:r>
          </a:p>
        </p:txBody>
      </p:sp>
      <p:sp>
        <p:nvSpPr>
          <p:cNvPr id="10" name="Person head"/>
          <p:cNvSpPr/>
          <p:nvPr/>
        </p:nvSpPr>
        <p:spPr>
          <a:xfrm>
            <a:off x="1193292" y="3383280"/>
            <a:ext cx="310896" cy="310896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1" name="Person body"/>
          <p:cNvSpPr/>
          <p:nvPr/>
        </p:nvSpPr>
        <p:spPr>
          <a:xfrm>
            <a:off x="1037844" y="3756355"/>
            <a:ext cx="621792" cy="4041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2" name="User card 4"/>
          <p:cNvSpPr/>
          <p:nvPr/>
        </p:nvSpPr>
        <p:spPr>
          <a:xfrm>
            <a:off x="4526280" y="31089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73152" rIns="9144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Low 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Needs strong contrast and a screen reader.</a:t>
            </a:r>
          </a:p>
        </p:txBody>
      </p:sp>
      <p:sp>
        <p:nvSpPr>
          <p:cNvPr id="13" name="Person head"/>
          <p:cNvSpPr/>
          <p:nvPr/>
        </p:nvSpPr>
        <p:spPr>
          <a:xfrm>
            <a:off x="4942332" y="3383280"/>
            <a:ext cx="310896" cy="310896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4" name="Person body"/>
          <p:cNvSpPr/>
          <p:nvPr/>
        </p:nvSpPr>
        <p:spPr>
          <a:xfrm>
            <a:off x="4786884" y="3756355"/>
            <a:ext cx="621792" cy="4041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5" name="Text"/>
          <p:cNvSpPr txBox="1"/>
          <p:nvPr/>
        </p:nvSpPr>
        <p:spPr>
          <a:xfrm>
            <a:off x="777240" y="4846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Different users have different needs. You are not the user.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14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Menti: who is the user?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006772"/>
                </a:solidFill>
              </a:rPr>
              <a:t>A bus ticket app is for tourists and older people.</a:t>
            </a:r>
          </a:p>
        </p:txBody>
      </p:sp>
      <p:sp>
        <p:nvSpPr>
          <p:cNvPr id="4" name="Option A"/>
          <p:cNvSpPr/>
          <p:nvPr/>
        </p:nvSpPr>
        <p:spPr>
          <a:xfrm>
            <a:off x="777240" y="23774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Many bright colours</a:t>
            </a:r>
          </a:p>
        </p:txBody>
      </p:sp>
      <p:sp>
        <p:nvSpPr>
          <p:cNvPr id="5" name="Circle A"/>
          <p:cNvSpPr/>
          <p:nvPr/>
        </p:nvSpPr>
        <p:spPr>
          <a:xfrm>
            <a:off x="868680" y="252374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Option B"/>
          <p:cNvSpPr/>
          <p:nvPr/>
        </p:nvSpPr>
        <p:spPr>
          <a:xfrm>
            <a:off x="4526280" y="23774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Big text and simple steps</a:t>
            </a:r>
          </a:p>
        </p:txBody>
      </p:sp>
      <p:sp>
        <p:nvSpPr>
          <p:cNvPr id="7" name="Circle B"/>
          <p:cNvSpPr/>
          <p:nvPr/>
        </p:nvSpPr>
        <p:spPr>
          <a:xfrm>
            <a:off x="4617720" y="252374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Option C"/>
          <p:cNvSpPr/>
          <p:nvPr/>
        </p:nvSpPr>
        <p:spPr>
          <a:xfrm>
            <a:off x="777240" y="315468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Many extra features</a:t>
            </a:r>
          </a:p>
        </p:txBody>
      </p:sp>
      <p:sp>
        <p:nvSpPr>
          <p:cNvPr id="9" name="Circle C"/>
          <p:cNvSpPr/>
          <p:nvPr/>
        </p:nvSpPr>
        <p:spPr>
          <a:xfrm>
            <a:off x="868680" y="330098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Option D"/>
          <p:cNvSpPr/>
          <p:nvPr/>
        </p:nvSpPr>
        <p:spPr>
          <a:xfrm>
            <a:off x="4526280" y="315468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Fast animations</a:t>
            </a:r>
          </a:p>
        </p:txBody>
      </p:sp>
      <p:sp>
        <p:nvSpPr>
          <p:cNvPr id="11" name="Circle D"/>
          <p:cNvSpPr/>
          <p:nvPr/>
        </p:nvSpPr>
        <p:spPr>
          <a:xfrm>
            <a:off x="4617720" y="330098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" name="Menti 4 box"/>
          <p:cNvSpPr/>
          <p:nvPr/>
        </p:nvSpPr>
        <p:spPr>
          <a:xfrm>
            <a:off x="777240" y="47548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4  |  Multiple choice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What is most important for this app?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15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Goals, tasks and context</a:t>
            </a:r>
          </a:p>
        </p:txBody>
      </p:sp>
      <p:sp>
        <p:nvSpPr>
          <p:cNvPr id="3" name="Goal card"/>
          <p:cNvSpPr/>
          <p:nvPr/>
        </p:nvSpPr>
        <p:spPr>
          <a:xfrm>
            <a:off x="777240" y="1508760"/>
            <a:ext cx="2377440" cy="3383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Label chip"/>
          <p:cNvSpPr/>
          <p:nvPr/>
        </p:nvSpPr>
        <p:spPr>
          <a:xfrm>
            <a:off x="960120" y="169164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60120" y="24231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646C70"/>
                </a:solidFill>
              </a:rPr>
              <a:t>What the user wants.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60120" y="329184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Example: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Buy a bus ticket.</a:t>
            </a:r>
          </a:p>
        </p:txBody>
      </p:sp>
      <p:sp>
        <p:nvSpPr>
          <p:cNvPr id="7" name="Task card"/>
          <p:cNvSpPr/>
          <p:nvPr/>
        </p:nvSpPr>
        <p:spPr>
          <a:xfrm>
            <a:off x="3246120" y="1508760"/>
            <a:ext cx="2377440" cy="3383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8" name="Label chip"/>
          <p:cNvSpPr/>
          <p:nvPr/>
        </p:nvSpPr>
        <p:spPr>
          <a:xfrm>
            <a:off x="3429000" y="169164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429000" y="24231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646C70"/>
                </a:solidFill>
              </a:rPr>
              <a:t>The steps they do.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429000" y="329184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Example: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Choose route. Pay. Show ticket.</a:t>
            </a:r>
          </a:p>
        </p:txBody>
      </p:sp>
      <p:sp>
        <p:nvSpPr>
          <p:cNvPr id="11" name="Context card"/>
          <p:cNvSpPr/>
          <p:nvPr/>
        </p:nvSpPr>
        <p:spPr>
          <a:xfrm>
            <a:off x="5715000" y="1508760"/>
            <a:ext cx="2377440" cy="3383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2" name="Label chip"/>
          <p:cNvSpPr/>
          <p:nvPr/>
        </p:nvSpPr>
        <p:spPr>
          <a:xfrm>
            <a:off x="5897880" y="169164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897880" y="242316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646C70"/>
                </a:solidFill>
              </a:rPr>
              <a:t>Where and when they use it.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97880" y="329184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Example: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In the rain. In a hurry. One hand.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77240" y="5120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Design for the goal first.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16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How to learn about users</a:t>
            </a:r>
          </a:p>
        </p:txBody>
      </p:sp>
      <p:sp>
        <p:nvSpPr>
          <p:cNvPr id="3" name="Method Ask"/>
          <p:cNvSpPr/>
          <p:nvPr/>
        </p:nvSpPr>
        <p:spPr>
          <a:xfrm>
            <a:off x="777240" y="150876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>
                <a:solidFill>
                  <a:srgbClr val="006772"/>
                </a:solidFill>
              </a:rPr>
              <a:t>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Interviews and surveys.</a:t>
            </a:r>
          </a:p>
        </p:txBody>
      </p:sp>
      <p:sp>
        <p:nvSpPr>
          <p:cNvPr id="4" name="Circle 1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Method Watch"/>
          <p:cNvSpPr/>
          <p:nvPr/>
        </p:nvSpPr>
        <p:spPr>
          <a:xfrm>
            <a:off x="4526280" y="150876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>
                <a:solidFill>
                  <a:srgbClr val="006772"/>
                </a:solidFill>
              </a:rPr>
              <a:t>Watch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See how people really use things.</a:t>
            </a:r>
          </a:p>
        </p:txBody>
      </p:sp>
      <p:sp>
        <p:nvSpPr>
          <p:cNvPr id="6" name="Circle 2"/>
          <p:cNvSpPr/>
          <p:nvPr/>
        </p:nvSpPr>
        <p:spPr>
          <a:xfrm>
            <a:off x="4709160" y="2103120"/>
            <a:ext cx="594360" cy="59436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Method Test"/>
          <p:cNvSpPr/>
          <p:nvPr/>
        </p:nvSpPr>
        <p:spPr>
          <a:xfrm>
            <a:off x="777240" y="3383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>
                <a:solidFill>
                  <a:srgbClr val="006772"/>
                </a:solidFill>
              </a:rPr>
              <a:t>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Let users try your design.</a:t>
            </a:r>
          </a:p>
        </p:txBody>
      </p:sp>
      <p:sp>
        <p:nvSpPr>
          <p:cNvPr id="8" name="Circle 3"/>
          <p:cNvSpPr/>
          <p:nvPr/>
        </p:nvSpPr>
        <p:spPr>
          <a:xfrm>
            <a:off x="960120" y="3977640"/>
            <a:ext cx="594360" cy="59436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Method Read"/>
          <p:cNvSpPr/>
          <p:nvPr/>
        </p:nvSpPr>
        <p:spPr>
          <a:xfrm>
            <a:off x="4526280" y="3383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0972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>
                <a:solidFill>
                  <a:srgbClr val="006772"/>
                </a:solidFill>
              </a:rPr>
              <a:t>Read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Reviews, feedback and data.</a:t>
            </a:r>
          </a:p>
        </p:txBody>
      </p:sp>
      <p:sp>
        <p:nvSpPr>
          <p:cNvPr id="10" name="Circle 4"/>
          <p:cNvSpPr/>
          <p:nvPr/>
        </p:nvSpPr>
        <p:spPr>
          <a:xfrm>
            <a:off x="4709160" y="3977640"/>
            <a:ext cx="594360" cy="59436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77240" y="5349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Best: use more than one way.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17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Ask good questions</a:t>
            </a:r>
          </a:p>
        </p:txBody>
      </p:sp>
      <p:sp>
        <p:nvSpPr>
          <p:cNvPr id="3" name="Compare card"/>
          <p:cNvSpPr/>
          <p:nvPr/>
        </p:nvSpPr>
        <p:spPr>
          <a:xfrm>
            <a:off x="777240" y="1463040"/>
            <a:ext cx="3520440" cy="3474720"/>
          </a:xfrm>
          <a:prstGeom prst="roundRect">
            <a:avLst>
              <a:gd name="adj" fmla="val 8000"/>
            </a:avLst>
          </a:prstGeom>
          <a:solidFill>
            <a:srgbClr val="FCE9E7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Label chip"/>
          <p:cNvSpPr/>
          <p:nvPr/>
        </p:nvSpPr>
        <p:spPr>
          <a:xfrm>
            <a:off x="960120" y="164592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Closed question (weak)</a:t>
            </a:r>
          </a:p>
        </p:txBody>
      </p:sp>
      <p:sp>
        <p:nvSpPr>
          <p:cNvPr id="5" name="Compare text"/>
          <p:cNvSpPr txBox="1"/>
          <p:nvPr/>
        </p:nvSpPr>
        <p:spPr>
          <a:xfrm>
            <a:off x="960120" y="2240280"/>
            <a:ext cx="3154680" cy="2560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500" dirty="0">
                <a:solidFill>
                  <a:srgbClr val="232B30"/>
                </a:solidFill>
              </a:rPr>
              <a:t>"Do you like the app?"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500" dirty="0">
                <a:solidFill>
                  <a:srgbClr val="232B30"/>
                </a:solidFill>
              </a:rPr>
              <a:t>"Is it easy to use?"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500" dirty="0">
                <a:solidFill>
                  <a:srgbClr val="232B30"/>
                </a:solidFill>
              </a:rPr>
              <a:t>The answer is only yes or no.</a:t>
            </a:r>
          </a:p>
        </p:txBody>
      </p:sp>
      <p:sp>
        <p:nvSpPr>
          <p:cNvPr id="6" name="Compare card"/>
          <p:cNvSpPr/>
          <p:nvPr/>
        </p:nvSpPr>
        <p:spPr>
          <a:xfrm>
            <a:off x="4572000" y="1463040"/>
            <a:ext cx="3520440" cy="34747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7" name="Label chip"/>
          <p:cNvSpPr/>
          <p:nvPr/>
        </p:nvSpPr>
        <p:spPr>
          <a:xfrm>
            <a:off x="4754880" y="164592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Open question (strong)</a:t>
            </a:r>
          </a:p>
        </p:txBody>
      </p:sp>
      <p:sp>
        <p:nvSpPr>
          <p:cNvPr id="8" name="Compare text"/>
          <p:cNvSpPr txBox="1"/>
          <p:nvPr/>
        </p:nvSpPr>
        <p:spPr>
          <a:xfrm>
            <a:off x="4754880" y="2240280"/>
            <a:ext cx="3154680" cy="2560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500" dirty="0">
                <a:solidFill>
                  <a:srgbClr val="232B30"/>
                </a:solidFill>
              </a:rPr>
              <a:t>"Tell me about the last time you booked something online."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500" dirty="0">
                <a:solidFill>
                  <a:srgbClr val="232B30"/>
                </a:solidFill>
              </a:rPr>
              <a:t>"What was difficult?"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500" dirty="0">
                <a:solidFill>
                  <a:srgbClr val="232B30"/>
                </a:solidFill>
              </a:rPr>
              <a:t>"Why?"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77240" y="5166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Ask "why" and "how". Listen more than you talk.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18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Activity 2: interview</a:t>
            </a:r>
          </a:p>
        </p:txBody>
      </p:sp>
      <p:sp>
        <p:nvSpPr>
          <p:cNvPr id="3" name="Activity banner"/>
          <p:cNvSpPr/>
          <p:nvPr/>
        </p:nvSpPr>
        <p:spPr>
          <a:xfrm>
            <a:off x="777240" y="1371600"/>
            <a:ext cx="731520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82880" tIns="36576" rIns="137160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ACTIVITY 2</a:t>
            </a:r>
            <a:r>
              <a:rPr lang="en-GB" sz="1600" dirty="0">
                <a:solidFill>
                  <a:srgbClr val="FFFFFF"/>
                </a:solidFill>
              </a:rPr>
              <a:t>   |   PAIR WORK</a:t>
            </a:r>
          </a:p>
        </p:txBody>
      </p:sp>
      <p:sp>
        <p:nvSpPr>
          <p:cNvPr id="4" name="Time badge"/>
          <p:cNvSpPr/>
          <p:nvPr/>
        </p:nvSpPr>
        <p:spPr>
          <a:xfrm>
            <a:off x="6858000" y="1463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F0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7 min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77240" y="2103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6772"/>
                </a:solidFill>
              </a:rPr>
              <a:t>Topic: How do you order or book things online? (food, taxi, tickets)</a:t>
            </a:r>
          </a:p>
        </p:txBody>
      </p:sp>
      <p:sp>
        <p:nvSpPr>
          <p:cNvPr id="6" name="Circle 1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371600" y="274320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Partner A asks 3 open questions. Partner B answers. (3 min)</a:t>
            </a:r>
          </a:p>
        </p:txBody>
      </p:sp>
      <p:sp>
        <p:nvSpPr>
          <p:cNvPr id="8" name="Circle 2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371600" y="347472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A writes short notes.</a:t>
            </a:r>
          </a:p>
        </p:txBody>
      </p:sp>
      <p:sp>
        <p:nvSpPr>
          <p:cNvPr id="10" name="Circle 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371600" y="420624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Swap roles. (3 min)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5029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646C70"/>
                </a:solidFill>
              </a:rPr>
              <a:t>Sentence starters:</a:t>
            </a:r>
          </a:p>
        </p:txBody>
      </p:sp>
      <p:sp>
        <p:nvSpPr>
          <p:cNvPr id="13" name="Label chip"/>
          <p:cNvSpPr/>
          <p:nvPr/>
        </p:nvSpPr>
        <p:spPr>
          <a:xfrm>
            <a:off x="777240" y="539496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Tell me about…</a:t>
            </a:r>
          </a:p>
        </p:txBody>
      </p:sp>
      <p:sp>
        <p:nvSpPr>
          <p:cNvPr id="14" name="Label chip"/>
          <p:cNvSpPr/>
          <p:nvPr/>
        </p:nvSpPr>
        <p:spPr>
          <a:xfrm>
            <a:off x="3154680" y="539496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What was hard?</a:t>
            </a:r>
          </a:p>
        </p:txBody>
      </p:sp>
      <p:sp>
        <p:nvSpPr>
          <p:cNvPr id="15" name="Label chip"/>
          <p:cNvSpPr/>
          <p:nvPr/>
        </p:nvSpPr>
        <p:spPr>
          <a:xfrm>
            <a:off x="5532120" y="539496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Why?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19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Persona: a made-up user</a:t>
            </a:r>
          </a:p>
        </p:txBody>
      </p:sp>
      <p:sp>
        <p:nvSpPr>
          <p:cNvPr id="3" name="Persona card"/>
          <p:cNvSpPr/>
          <p:nvPr/>
        </p:nvSpPr>
        <p:spPr>
          <a:xfrm>
            <a:off x="777240" y="1463040"/>
            <a:ext cx="4023360" cy="39319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199DAC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Circle M"/>
          <p:cNvSpPr/>
          <p:nvPr/>
        </p:nvSpPr>
        <p:spPr>
          <a:xfrm>
            <a:off x="1005840" y="1691640"/>
            <a:ext cx="822960" cy="82296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965960" y="16916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006772"/>
                </a:solidFill>
              </a:rPr>
              <a:t>Maria, 68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Retired teacher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005840" y="2697480"/>
            <a:ext cx="3611880" cy="2651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Device: </a:t>
            </a:r>
            <a:r>
              <a:rPr lang="en-GB" sz="1600" dirty="0">
                <a:solidFill>
                  <a:srgbClr val="232B30"/>
                </a:solidFill>
              </a:rPr>
              <a:t>Old Android phone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Goal: </a:t>
            </a:r>
            <a:r>
              <a:rPr lang="en-GB" sz="1600" dirty="0">
                <a:solidFill>
                  <a:srgbClr val="232B30"/>
                </a:solidFill>
              </a:rPr>
              <a:t>Book a doctor visit online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Problem: </a:t>
            </a:r>
            <a:r>
              <a:rPr lang="en-GB" sz="1600" dirty="0">
                <a:solidFill>
                  <a:srgbClr val="232B30"/>
                </a:solidFill>
              </a:rPr>
              <a:t>Text is too small. She is afraid to press the wrong button.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 dirty="0">
                <a:solidFill>
                  <a:srgbClr val="006772"/>
                </a:solidFill>
              </a:rPr>
              <a:t>"I don't want to break it."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029200" y="1463040"/>
            <a:ext cx="3063240" cy="3931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A persona is a made-up person.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It shows a group of real users.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It is based on research.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Use it to remember who you design for.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20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Activity 3: make a persona</a:t>
            </a:r>
          </a:p>
        </p:txBody>
      </p:sp>
      <p:sp>
        <p:nvSpPr>
          <p:cNvPr id="3" name="Activity banner"/>
          <p:cNvSpPr/>
          <p:nvPr/>
        </p:nvSpPr>
        <p:spPr>
          <a:xfrm>
            <a:off x="777240" y="1371600"/>
            <a:ext cx="731520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82880" tIns="36576" rIns="137160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ACTIVITY 3</a:t>
            </a:r>
            <a:r>
              <a:rPr lang="en-GB" sz="1600" dirty="0">
                <a:solidFill>
                  <a:srgbClr val="FFFFFF"/>
                </a:solidFill>
              </a:rPr>
              <a:t>   |   GROUP WORK (3–4 people)</a:t>
            </a:r>
          </a:p>
        </p:txBody>
      </p:sp>
      <p:sp>
        <p:nvSpPr>
          <p:cNvPr id="4" name="Time badge"/>
          <p:cNvSpPr/>
          <p:nvPr/>
        </p:nvSpPr>
        <p:spPr>
          <a:xfrm>
            <a:off x="6858000" y="1463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F0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7 min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77240" y="2057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Our project: a study room booking app for students.</a:t>
            </a:r>
          </a:p>
        </p:txBody>
      </p:sp>
      <p:sp>
        <p:nvSpPr>
          <p:cNvPr id="6" name="Field Name and age"/>
          <p:cNvSpPr/>
          <p:nvPr/>
        </p:nvSpPr>
        <p:spPr>
          <a:xfrm>
            <a:off x="777240" y="2651760"/>
            <a:ext cx="22860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9DAC"/>
            </a:solidFill>
            <a:prstDash val="dash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Name and age</a:t>
            </a:r>
          </a:p>
        </p:txBody>
      </p:sp>
      <p:sp>
        <p:nvSpPr>
          <p:cNvPr id="7" name="Field Device"/>
          <p:cNvSpPr/>
          <p:nvPr/>
        </p:nvSpPr>
        <p:spPr>
          <a:xfrm>
            <a:off x="3200400" y="2651760"/>
            <a:ext cx="22860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9DAC"/>
            </a:solidFill>
            <a:prstDash val="dash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Device</a:t>
            </a:r>
          </a:p>
        </p:txBody>
      </p:sp>
      <p:sp>
        <p:nvSpPr>
          <p:cNvPr id="8" name="Field Goal"/>
          <p:cNvSpPr/>
          <p:nvPr/>
        </p:nvSpPr>
        <p:spPr>
          <a:xfrm>
            <a:off x="777240" y="3840480"/>
            <a:ext cx="22860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9DAC"/>
            </a:solidFill>
            <a:prstDash val="dash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Goal</a:t>
            </a:r>
          </a:p>
        </p:txBody>
      </p:sp>
      <p:sp>
        <p:nvSpPr>
          <p:cNvPr id="9" name="Field Problem"/>
          <p:cNvSpPr/>
          <p:nvPr/>
        </p:nvSpPr>
        <p:spPr>
          <a:xfrm>
            <a:off x="3200400" y="3840480"/>
            <a:ext cx="22860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9DAC"/>
            </a:solidFill>
            <a:prstDash val="dash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Problem</a:t>
            </a:r>
          </a:p>
        </p:txBody>
      </p:sp>
      <p:sp>
        <p:nvSpPr>
          <p:cNvPr id="10" name="Field quote"/>
          <p:cNvSpPr/>
          <p:nvPr/>
        </p:nvSpPr>
        <p:spPr>
          <a:xfrm>
            <a:off x="5623560" y="2651760"/>
            <a:ext cx="24688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99DAC"/>
            </a:solidFill>
            <a:prstDash val="dash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A quote from your persona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77240" y="5120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646C70"/>
                </a:solidFill>
              </a:rPr>
              <a:t>Draw a face. Give your persona a name.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21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Menti: what do users need?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232B30"/>
                </a:solidFill>
              </a:rPr>
              <a:t>Think about your persona. Put the most important thing at the top.</a:t>
            </a:r>
          </a:p>
        </p:txBody>
      </p:sp>
      <p:sp>
        <p:nvSpPr>
          <p:cNvPr id="4" name="Option A"/>
          <p:cNvSpPr/>
          <p:nvPr/>
        </p:nvSpPr>
        <p:spPr>
          <a:xfrm>
            <a:off x="777240" y="246888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Fast</a:t>
            </a:r>
          </a:p>
        </p:txBody>
      </p:sp>
      <p:sp>
        <p:nvSpPr>
          <p:cNvPr id="5" name="Circle A"/>
          <p:cNvSpPr/>
          <p:nvPr/>
        </p:nvSpPr>
        <p:spPr>
          <a:xfrm>
            <a:off x="868680" y="261518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Option B"/>
          <p:cNvSpPr/>
          <p:nvPr/>
        </p:nvSpPr>
        <p:spPr>
          <a:xfrm>
            <a:off x="4526280" y="246888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Easy to understand</a:t>
            </a:r>
          </a:p>
        </p:txBody>
      </p:sp>
      <p:sp>
        <p:nvSpPr>
          <p:cNvPr id="7" name="Circle B"/>
          <p:cNvSpPr/>
          <p:nvPr/>
        </p:nvSpPr>
        <p:spPr>
          <a:xfrm>
            <a:off x="4617720" y="261518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Option C"/>
          <p:cNvSpPr/>
          <p:nvPr/>
        </p:nvSpPr>
        <p:spPr>
          <a:xfrm>
            <a:off x="777240" y="324612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Safe (private data)</a:t>
            </a:r>
          </a:p>
        </p:txBody>
      </p:sp>
      <p:sp>
        <p:nvSpPr>
          <p:cNvPr id="9" name="Circle C"/>
          <p:cNvSpPr/>
          <p:nvPr/>
        </p:nvSpPr>
        <p:spPr>
          <a:xfrm>
            <a:off x="868680" y="339242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Option D"/>
          <p:cNvSpPr/>
          <p:nvPr/>
        </p:nvSpPr>
        <p:spPr>
          <a:xfrm>
            <a:off x="4526280" y="324612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Looks nice</a:t>
            </a:r>
          </a:p>
        </p:txBody>
      </p:sp>
      <p:sp>
        <p:nvSpPr>
          <p:cNvPr id="11" name="Circle D"/>
          <p:cNvSpPr/>
          <p:nvPr/>
        </p:nvSpPr>
        <p:spPr>
          <a:xfrm>
            <a:off x="4617720" y="339242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" name="Menti 5 box"/>
          <p:cNvSpPr/>
          <p:nvPr/>
        </p:nvSpPr>
        <p:spPr>
          <a:xfrm>
            <a:off x="777240" y="47548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5  |  Ranking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Rank what is most important for a study room booking app.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22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 txBox="1"/>
          <p:nvPr/>
        </p:nvSpPr>
        <p:spPr>
          <a:xfrm>
            <a:off x="914400" y="146304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4000" b="1" dirty="0">
                <a:solidFill>
                  <a:srgbClr val="FFFFFF"/>
                </a:solidFill>
              </a:rPr>
              <a:t>Break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DCF0F2"/>
                </a:solidFill>
              </a:rPr>
              <a:t>Please come back on time.</a:t>
            </a:r>
          </a:p>
        </p:txBody>
      </p:sp>
      <p:sp>
        <p:nvSpPr>
          <p:cNvPr id="4" name="Break timer circle"/>
          <p:cNvSpPr/>
          <p:nvPr/>
        </p:nvSpPr>
        <p:spPr>
          <a:xfrm>
            <a:off x="627467" y="2946429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dirty="0">
                <a:solidFill>
                  <a:srgbClr val="006772"/>
                </a:solidFill>
              </a:rPr>
              <a:t>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006772"/>
                </a:solidFill>
              </a:rPr>
              <a:t>minutes</a:t>
            </a:r>
          </a:p>
        </p:txBody>
      </p:sp>
      <p:pic>
        <p:nvPicPr>
          <p:cNvPr id="5" name="Graphic 4" descr="Coffee with solid fill">
            <a:extLst>
              <a:ext uri="{FF2B5EF4-FFF2-40B4-BE49-F238E27FC236}">
                <a16:creationId xmlns:a16="http://schemas.microsoft.com/office/drawing/2014/main" id="{AEC40F09-45B4-1907-F19F-4DA9C4B1F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8363" y="2980363"/>
            <a:ext cx="1116000" cy="1116000"/>
          </a:xfrm>
          <a:prstGeom prst="rect">
            <a:avLst/>
          </a:prstGeom>
        </p:spPr>
      </p:pic>
      <p:pic>
        <p:nvPicPr>
          <p:cNvPr id="7" name="Graphic 6" descr="Latte Cup with solid fill">
            <a:extLst>
              <a:ext uri="{FF2B5EF4-FFF2-40B4-BE49-F238E27FC236}">
                <a16:creationId xmlns:a16="http://schemas.microsoft.com/office/drawing/2014/main" id="{9669584E-CBC0-B008-CF3E-D63087DD8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536" y="2276640"/>
            <a:ext cx="1116000" cy="1116000"/>
          </a:xfrm>
          <a:prstGeom prst="rect">
            <a:avLst/>
          </a:prstGeom>
        </p:spPr>
      </p:pic>
      <p:pic>
        <p:nvPicPr>
          <p:cNvPr id="9" name="Graphic 8" descr="Frappe Cup with solid fill">
            <a:extLst>
              <a:ext uri="{FF2B5EF4-FFF2-40B4-BE49-F238E27FC236}">
                <a16:creationId xmlns:a16="http://schemas.microsoft.com/office/drawing/2014/main" id="{3906864D-5834-8131-1D7C-B2A8BC7CC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4258" y="3722647"/>
            <a:ext cx="1116000" cy="1116000"/>
          </a:xfrm>
          <a:prstGeom prst="rect">
            <a:avLst/>
          </a:prstGeom>
        </p:spPr>
      </p:pic>
      <p:pic>
        <p:nvPicPr>
          <p:cNvPr id="11" name="Graphic 10" descr="Pizza with solid fill">
            <a:extLst>
              <a:ext uri="{FF2B5EF4-FFF2-40B4-BE49-F238E27FC236}">
                <a16:creationId xmlns:a16="http://schemas.microsoft.com/office/drawing/2014/main" id="{4134FAAA-EC79-437B-C14F-64B67EEF0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8258" y="4437112"/>
            <a:ext cx="1116000" cy="1116000"/>
          </a:xfrm>
          <a:prstGeom prst="rect">
            <a:avLst/>
          </a:prstGeom>
        </p:spPr>
      </p:pic>
      <p:pic>
        <p:nvPicPr>
          <p:cNvPr id="13" name="Graphic 12" descr="Burger and drink with solid fill">
            <a:extLst>
              <a:ext uri="{FF2B5EF4-FFF2-40B4-BE49-F238E27FC236}">
                <a16:creationId xmlns:a16="http://schemas.microsoft.com/office/drawing/2014/main" id="{3BA2442B-FF90-735A-6575-1160FE9CB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3095" y="4765869"/>
            <a:ext cx="1116000" cy="111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bar"/>
          <p:cNvSpPr/>
          <p:nvPr/>
        </p:nvSpPr>
        <p:spPr>
          <a:xfrm>
            <a:off x="960120" y="1097280"/>
            <a:ext cx="64008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4" name="Divider text"/>
          <p:cNvSpPr txBox="1"/>
          <p:nvPr/>
        </p:nvSpPr>
        <p:spPr>
          <a:xfrm>
            <a:off x="1325880" y="210312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endParaRPr lang="en-GB" sz="1800" dirty="0">
              <a:solidFill>
                <a:srgbClr val="DCF0F2"/>
              </a:solidFill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3400" b="1" dirty="0">
                <a:solidFill>
                  <a:srgbClr val="FFFFFF"/>
                </a:solidFill>
              </a:rPr>
              <a:t>Good design rules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Five simple design ideas</a:t>
            </a:r>
          </a:p>
        </p:txBody>
      </p:sp>
      <p:sp>
        <p:nvSpPr>
          <p:cNvPr id="3" name="Row 1"/>
          <p:cNvSpPr/>
          <p:nvPr/>
        </p:nvSpPr>
        <p:spPr>
          <a:xfrm>
            <a:off x="777240" y="1417320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Signifier</a:t>
            </a:r>
            <a:r>
              <a:rPr lang="en-GB" sz="1600" dirty="0">
                <a:solidFill>
                  <a:srgbClr val="232B30"/>
                </a:solidFill>
              </a:rPr>
              <a:t>  shows what to do. A button looks like a button.</a:t>
            </a:r>
          </a:p>
        </p:txBody>
      </p:sp>
      <p:sp>
        <p:nvSpPr>
          <p:cNvPr id="4" name="Circle 1"/>
          <p:cNvSpPr/>
          <p:nvPr/>
        </p:nvSpPr>
        <p:spPr>
          <a:xfrm>
            <a:off x="914400" y="1627632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w 2"/>
          <p:cNvSpPr/>
          <p:nvPr/>
        </p:nvSpPr>
        <p:spPr>
          <a:xfrm>
            <a:off x="777240" y="2368296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Feedback</a:t>
            </a:r>
            <a:r>
              <a:rPr lang="en-GB" sz="1600" dirty="0">
                <a:solidFill>
                  <a:srgbClr val="232B30"/>
                </a:solidFill>
              </a:rPr>
              <a:t>  shows what happened. A sound or message.</a:t>
            </a:r>
          </a:p>
        </p:txBody>
      </p:sp>
      <p:sp>
        <p:nvSpPr>
          <p:cNvPr id="6" name="Circle 2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w 3"/>
          <p:cNvSpPr/>
          <p:nvPr/>
        </p:nvSpPr>
        <p:spPr>
          <a:xfrm>
            <a:off x="777240" y="3319272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Mapping</a:t>
            </a:r>
            <a:r>
              <a:rPr lang="en-GB" sz="1600" dirty="0">
                <a:solidFill>
                  <a:srgbClr val="232B30"/>
                </a:solidFill>
              </a:rPr>
              <a:t>  controls match results. Up arrow moves up.</a:t>
            </a:r>
          </a:p>
        </p:txBody>
      </p:sp>
      <p:sp>
        <p:nvSpPr>
          <p:cNvPr id="8" name="Circle 3"/>
          <p:cNvSpPr/>
          <p:nvPr/>
        </p:nvSpPr>
        <p:spPr>
          <a:xfrm>
            <a:off x="914400" y="3529584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w 4"/>
          <p:cNvSpPr/>
          <p:nvPr/>
        </p:nvSpPr>
        <p:spPr>
          <a:xfrm>
            <a:off x="777240" y="4270248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Constraint</a:t>
            </a:r>
            <a:r>
              <a:rPr lang="en-GB" sz="1600" dirty="0">
                <a:solidFill>
                  <a:srgbClr val="232B30"/>
                </a:solidFill>
              </a:rPr>
              <a:t>  stops wrong actions. A grey button cannot be pressed.</a:t>
            </a:r>
          </a:p>
        </p:txBody>
      </p:sp>
      <p:sp>
        <p:nvSpPr>
          <p:cNvPr id="10" name="Circle 4"/>
          <p:cNvSpPr/>
          <p:nvPr/>
        </p:nvSpPr>
        <p:spPr>
          <a:xfrm>
            <a:off x="914400" y="448056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w 5"/>
          <p:cNvSpPr/>
          <p:nvPr/>
        </p:nvSpPr>
        <p:spPr>
          <a:xfrm>
            <a:off x="777240" y="5221224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Consistency</a:t>
            </a:r>
            <a:r>
              <a:rPr lang="en-GB" sz="1600" dirty="0">
                <a:solidFill>
                  <a:srgbClr val="232B30"/>
                </a:solidFill>
              </a:rPr>
              <a:t>  similar things work the same way.</a:t>
            </a:r>
          </a:p>
        </p:txBody>
      </p:sp>
      <p:sp>
        <p:nvSpPr>
          <p:cNvPr id="12" name="Circle 5"/>
          <p:cNvSpPr/>
          <p:nvPr/>
        </p:nvSpPr>
        <p:spPr>
          <a:xfrm>
            <a:off x="914400" y="543153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25</a:t>
            </a:fld>
            <a:endParaRPr lang="en-GB" sz="900">
              <a:solidFill>
                <a:srgbClr val="646C7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093CCD-398F-404D-0B07-8E048D237868}"/>
              </a:ext>
            </a:extLst>
          </p:cNvPr>
          <p:cNvSpPr txBox="1"/>
          <p:nvPr/>
        </p:nvSpPr>
        <p:spPr>
          <a:xfrm>
            <a:off x="800373" y="617220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3"/>
              </a:rPr>
              <a:t>Norman, D.A. (2013) </a:t>
            </a:r>
            <a:r>
              <a:rPr lang="en-GB" sz="1100" i="1" dirty="0">
                <a:hlinkClick r:id="rId3"/>
              </a:rPr>
              <a:t>The design of everyday things</a:t>
            </a:r>
            <a:r>
              <a:rPr lang="en-GB" sz="1100" dirty="0">
                <a:hlinkClick r:id="rId3"/>
              </a:rPr>
              <a:t>. Revised and expanded edition. Cambridge, Massachusetts: The MIT Press.</a:t>
            </a:r>
            <a:endParaRPr lang="en-GB" sz="1100" i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10 usability rules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325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646C70"/>
                </a:solidFill>
              </a:rPr>
              <a:t>Rules to check a design (by Jakob Nielsen)</a:t>
            </a:r>
          </a:p>
        </p:txBody>
      </p:sp>
      <p:sp>
        <p:nvSpPr>
          <p:cNvPr id="4" name="Rule 1"/>
          <p:cNvSpPr/>
          <p:nvPr/>
        </p:nvSpPr>
        <p:spPr>
          <a:xfrm>
            <a:off x="777240" y="187452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Show what is happening</a:t>
            </a:r>
          </a:p>
        </p:txBody>
      </p:sp>
      <p:sp>
        <p:nvSpPr>
          <p:cNvPr id="5" name="Circle 1"/>
          <p:cNvSpPr/>
          <p:nvPr/>
        </p:nvSpPr>
        <p:spPr>
          <a:xfrm>
            <a:off x="886968" y="198424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ule 2"/>
          <p:cNvSpPr/>
          <p:nvPr/>
        </p:nvSpPr>
        <p:spPr>
          <a:xfrm>
            <a:off x="777240" y="2624328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Use words users know</a:t>
            </a:r>
          </a:p>
        </p:txBody>
      </p:sp>
      <p:sp>
        <p:nvSpPr>
          <p:cNvPr id="7" name="Circle 2"/>
          <p:cNvSpPr/>
          <p:nvPr/>
        </p:nvSpPr>
        <p:spPr>
          <a:xfrm>
            <a:off x="886968" y="273405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ule 3"/>
          <p:cNvSpPr/>
          <p:nvPr/>
        </p:nvSpPr>
        <p:spPr>
          <a:xfrm>
            <a:off x="777240" y="3374136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Let users go back</a:t>
            </a:r>
          </a:p>
        </p:txBody>
      </p:sp>
      <p:sp>
        <p:nvSpPr>
          <p:cNvPr id="9" name="Circle 3"/>
          <p:cNvSpPr/>
          <p:nvPr/>
        </p:nvSpPr>
        <p:spPr>
          <a:xfrm>
            <a:off x="886968" y="3483864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Rule 4"/>
          <p:cNvSpPr/>
          <p:nvPr/>
        </p:nvSpPr>
        <p:spPr>
          <a:xfrm>
            <a:off x="777240" y="4123944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Be consistent</a:t>
            </a:r>
          </a:p>
        </p:txBody>
      </p:sp>
      <p:sp>
        <p:nvSpPr>
          <p:cNvPr id="11" name="Circle 4"/>
          <p:cNvSpPr/>
          <p:nvPr/>
        </p:nvSpPr>
        <p:spPr>
          <a:xfrm>
            <a:off x="886968" y="4233672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Rule 5"/>
          <p:cNvSpPr/>
          <p:nvPr/>
        </p:nvSpPr>
        <p:spPr>
          <a:xfrm>
            <a:off x="777240" y="4873752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Stop errors early</a:t>
            </a:r>
          </a:p>
        </p:txBody>
      </p:sp>
      <p:sp>
        <p:nvSpPr>
          <p:cNvPr id="13" name="Circle 5"/>
          <p:cNvSpPr/>
          <p:nvPr/>
        </p:nvSpPr>
        <p:spPr>
          <a:xfrm>
            <a:off x="886968" y="498348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Rule 6"/>
          <p:cNvSpPr/>
          <p:nvPr/>
        </p:nvSpPr>
        <p:spPr>
          <a:xfrm>
            <a:off x="4526280" y="187452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Show options. No need to remember</a:t>
            </a:r>
          </a:p>
        </p:txBody>
      </p:sp>
      <p:sp>
        <p:nvSpPr>
          <p:cNvPr id="15" name="Circle 6"/>
          <p:cNvSpPr/>
          <p:nvPr/>
        </p:nvSpPr>
        <p:spPr>
          <a:xfrm>
            <a:off x="4636008" y="198424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Rule 7"/>
          <p:cNvSpPr/>
          <p:nvPr/>
        </p:nvSpPr>
        <p:spPr>
          <a:xfrm>
            <a:off x="4526280" y="2624328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Make it fast for experts</a:t>
            </a:r>
          </a:p>
        </p:txBody>
      </p:sp>
      <p:sp>
        <p:nvSpPr>
          <p:cNvPr id="17" name="Circle 7"/>
          <p:cNvSpPr/>
          <p:nvPr/>
        </p:nvSpPr>
        <p:spPr>
          <a:xfrm>
            <a:off x="4636008" y="273405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Rule 8"/>
          <p:cNvSpPr/>
          <p:nvPr/>
        </p:nvSpPr>
        <p:spPr>
          <a:xfrm>
            <a:off x="4526280" y="3374136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Keep it simple</a:t>
            </a:r>
          </a:p>
        </p:txBody>
      </p:sp>
      <p:sp>
        <p:nvSpPr>
          <p:cNvPr id="19" name="Circle 8"/>
          <p:cNvSpPr/>
          <p:nvPr/>
        </p:nvSpPr>
        <p:spPr>
          <a:xfrm>
            <a:off x="4636008" y="3483864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Rule 9"/>
          <p:cNvSpPr/>
          <p:nvPr/>
        </p:nvSpPr>
        <p:spPr>
          <a:xfrm>
            <a:off x="4526280" y="4123944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Help users fix errors</a:t>
            </a:r>
          </a:p>
        </p:txBody>
      </p:sp>
      <p:sp>
        <p:nvSpPr>
          <p:cNvPr id="21" name="Circle 9"/>
          <p:cNvSpPr/>
          <p:nvPr/>
        </p:nvSpPr>
        <p:spPr>
          <a:xfrm>
            <a:off x="4636008" y="4233672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2" name="Rule 10"/>
          <p:cNvSpPr/>
          <p:nvPr/>
        </p:nvSpPr>
        <p:spPr>
          <a:xfrm>
            <a:off x="4526280" y="4873752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40080" tIns="27432" rIns="9144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Give help when needed</a:t>
            </a:r>
          </a:p>
        </p:txBody>
      </p:sp>
      <p:sp>
        <p:nvSpPr>
          <p:cNvPr id="23" name="Circle 10"/>
          <p:cNvSpPr/>
          <p:nvPr/>
        </p:nvSpPr>
        <p:spPr>
          <a:xfrm>
            <a:off x="4636008" y="498348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26</a:t>
            </a:fld>
            <a:endParaRPr lang="en-GB" sz="900">
              <a:solidFill>
                <a:srgbClr val="646C7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87B088-71B1-6250-EF51-9D4247989BF0}"/>
              </a:ext>
            </a:extLst>
          </p:cNvPr>
          <p:cNvSpPr txBox="1"/>
          <p:nvPr/>
        </p:nvSpPr>
        <p:spPr>
          <a:xfrm>
            <a:off x="1307592" y="5680094"/>
            <a:ext cx="6400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i="1" dirty="0"/>
              <a:t>Source </a:t>
            </a:r>
            <a:r>
              <a:rPr lang="en-GB" sz="1100" i="1" dirty="0">
                <a:hlinkClick r:id="rId3"/>
              </a:rPr>
              <a:t>Nielsen, J. (1994a) ‘Ten usability heuristics’, in Nielsen, J. and Mack, R.L. (eds.) Usability Inspection Methods. New York: John Wiley &amp; Sons, pp. 25–41.</a:t>
            </a:r>
            <a:r>
              <a:rPr lang="en-GB" sz="1100" i="1" dirty="0">
                <a:hlinkClick r:id="rId3"/>
              </a:rPr>
              <a:t> 10 Usability Heuristics for User Interface Design - NN/G</a:t>
            </a:r>
            <a:endParaRPr lang="en-GB" sz="1100" i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Rules 1 to 3</a:t>
            </a:r>
          </a:p>
        </p:txBody>
      </p:sp>
      <p:sp>
        <p:nvSpPr>
          <p:cNvPr id="3" name="Rule block 1"/>
          <p:cNvSpPr/>
          <p:nvPr/>
        </p:nvSpPr>
        <p:spPr>
          <a:xfrm>
            <a:off x="777240" y="1417320"/>
            <a:ext cx="7315200" cy="12801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Circle 1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508760" y="1490472"/>
            <a:ext cx="3657600" cy="1133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Show what is happening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Tell users the system status.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4754880" y="1828800"/>
            <a:ext cx="310896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7" name="Progress fill"/>
          <p:cNvSpPr/>
          <p:nvPr/>
        </p:nvSpPr>
        <p:spPr>
          <a:xfrm>
            <a:off x="4754880" y="182880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8" name="Text"/>
          <p:cNvSpPr txBox="1"/>
          <p:nvPr/>
        </p:nvSpPr>
        <p:spPr>
          <a:xfrm>
            <a:off x="4754880" y="21945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Uploading... 60%</a:t>
            </a:r>
          </a:p>
        </p:txBody>
      </p:sp>
      <p:sp>
        <p:nvSpPr>
          <p:cNvPr id="9" name="Rule block 2"/>
          <p:cNvSpPr/>
          <p:nvPr/>
        </p:nvSpPr>
        <p:spPr>
          <a:xfrm>
            <a:off x="777240" y="2880360"/>
            <a:ext cx="7315200" cy="12801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0" name="Circle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508760" y="2953512"/>
            <a:ext cx="3657600" cy="1133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Use words users know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No technical words.</a:t>
            </a:r>
          </a:p>
        </p:txBody>
      </p:sp>
      <p:sp>
        <p:nvSpPr>
          <p:cNvPr id="12" name="Label chip"/>
          <p:cNvSpPr/>
          <p:nvPr/>
        </p:nvSpPr>
        <p:spPr>
          <a:xfrm>
            <a:off x="4754880" y="3063240"/>
            <a:ext cx="3108960" cy="41148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Good: "Delete"</a:t>
            </a:r>
          </a:p>
        </p:txBody>
      </p:sp>
      <p:sp>
        <p:nvSpPr>
          <p:cNvPr id="13" name="Label chip"/>
          <p:cNvSpPr/>
          <p:nvPr/>
        </p:nvSpPr>
        <p:spPr>
          <a:xfrm>
            <a:off x="4754880" y="3611880"/>
            <a:ext cx="3108960" cy="41148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Bad: "Terminate record"</a:t>
            </a:r>
          </a:p>
        </p:txBody>
      </p:sp>
      <p:sp>
        <p:nvSpPr>
          <p:cNvPr id="14" name="Rule block 3"/>
          <p:cNvSpPr/>
          <p:nvPr/>
        </p:nvSpPr>
        <p:spPr>
          <a:xfrm>
            <a:off x="777240" y="4343400"/>
            <a:ext cx="7315200" cy="12801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5" name="Circle 3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508760" y="4416552"/>
            <a:ext cx="3657600" cy="1133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Let users go 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Give an easy way out.</a:t>
            </a:r>
          </a:p>
        </p:txBody>
      </p:sp>
      <p:sp>
        <p:nvSpPr>
          <p:cNvPr id="17" name="Label chip"/>
          <p:cNvSpPr/>
          <p:nvPr/>
        </p:nvSpPr>
        <p:spPr>
          <a:xfrm>
            <a:off x="4754880" y="47548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Undo</a:t>
            </a:r>
          </a:p>
        </p:txBody>
      </p:sp>
      <p:sp>
        <p:nvSpPr>
          <p:cNvPr id="18" name="Label chip"/>
          <p:cNvSpPr/>
          <p:nvPr/>
        </p:nvSpPr>
        <p:spPr>
          <a:xfrm>
            <a:off x="5852160" y="47548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Cancel</a:t>
            </a:r>
          </a:p>
        </p:txBody>
      </p:sp>
      <p:sp>
        <p:nvSpPr>
          <p:cNvPr id="19" name="Label chip"/>
          <p:cNvSpPr/>
          <p:nvPr/>
        </p:nvSpPr>
        <p:spPr>
          <a:xfrm>
            <a:off x="6949440" y="47548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Back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27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Rules 4 to 6</a:t>
            </a:r>
          </a:p>
        </p:txBody>
      </p:sp>
      <p:sp>
        <p:nvSpPr>
          <p:cNvPr id="3" name="Rule block 4"/>
          <p:cNvSpPr/>
          <p:nvPr/>
        </p:nvSpPr>
        <p:spPr>
          <a:xfrm>
            <a:off x="777240" y="1417320"/>
            <a:ext cx="7315200" cy="12801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Circle 4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508760" y="1490472"/>
            <a:ext cx="3657600" cy="1133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Be consistent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Same things look and work the same.</a:t>
            </a:r>
          </a:p>
        </p:txBody>
      </p:sp>
      <p:sp>
        <p:nvSpPr>
          <p:cNvPr id="6" name="Label chip"/>
          <p:cNvSpPr/>
          <p:nvPr/>
        </p:nvSpPr>
        <p:spPr>
          <a:xfrm>
            <a:off x="4754880" y="169164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7" name="Label chip"/>
          <p:cNvSpPr/>
          <p:nvPr/>
        </p:nvSpPr>
        <p:spPr>
          <a:xfrm>
            <a:off x="5852160" y="169164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8" name="Label chip"/>
          <p:cNvSpPr/>
          <p:nvPr/>
        </p:nvSpPr>
        <p:spPr>
          <a:xfrm>
            <a:off x="6949440" y="169164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754880" y="22402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Same word. Same colour.</a:t>
            </a:r>
          </a:p>
        </p:txBody>
      </p:sp>
      <p:sp>
        <p:nvSpPr>
          <p:cNvPr id="10" name="Rule block 5"/>
          <p:cNvSpPr/>
          <p:nvPr/>
        </p:nvSpPr>
        <p:spPr>
          <a:xfrm>
            <a:off x="777240" y="2880360"/>
            <a:ext cx="7315200" cy="12801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1" name="Circle 5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508760" y="2953512"/>
            <a:ext cx="3657600" cy="1133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Stop errors early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Ask before a big action.</a:t>
            </a:r>
          </a:p>
        </p:txBody>
      </p:sp>
      <p:sp>
        <p:nvSpPr>
          <p:cNvPr id="13" name="Confirm box"/>
          <p:cNvSpPr/>
          <p:nvPr/>
        </p:nvSpPr>
        <p:spPr>
          <a:xfrm>
            <a:off x="4754880" y="2971800"/>
            <a:ext cx="3108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77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Delete this file?</a:t>
            </a:r>
          </a:p>
        </p:txBody>
      </p:sp>
      <p:sp>
        <p:nvSpPr>
          <p:cNvPr id="14" name="Label chip"/>
          <p:cNvSpPr/>
          <p:nvPr/>
        </p:nvSpPr>
        <p:spPr>
          <a:xfrm>
            <a:off x="4937760" y="3566160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006772"/>
                </a:solidFill>
              </a:rPr>
              <a:t>Cancel</a:t>
            </a:r>
          </a:p>
        </p:txBody>
      </p:sp>
      <p:sp>
        <p:nvSpPr>
          <p:cNvPr id="15" name="Label chip"/>
          <p:cNvSpPr/>
          <p:nvPr/>
        </p:nvSpPr>
        <p:spPr>
          <a:xfrm>
            <a:off x="6309360" y="3566160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16" name="Rule block 6"/>
          <p:cNvSpPr/>
          <p:nvPr/>
        </p:nvSpPr>
        <p:spPr>
          <a:xfrm>
            <a:off x="777240" y="4343400"/>
            <a:ext cx="7315200" cy="12801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7" name="Circle 6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08760" y="4416552"/>
            <a:ext cx="3657600" cy="11338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Show options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Do not make users remember.</a:t>
            </a:r>
          </a:p>
        </p:txBody>
      </p:sp>
      <p:sp>
        <p:nvSpPr>
          <p:cNvPr id="19" name="List option 1"/>
          <p:cNvSpPr/>
          <p:nvPr/>
        </p:nvSpPr>
        <p:spPr>
          <a:xfrm>
            <a:off x="4754880" y="443484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Today</a:t>
            </a:r>
          </a:p>
        </p:txBody>
      </p:sp>
      <p:sp>
        <p:nvSpPr>
          <p:cNvPr id="20" name="List option 2"/>
          <p:cNvSpPr/>
          <p:nvPr/>
        </p:nvSpPr>
        <p:spPr>
          <a:xfrm>
            <a:off x="4754880" y="480060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Tomorrow</a:t>
            </a:r>
          </a:p>
        </p:txBody>
      </p:sp>
      <p:sp>
        <p:nvSpPr>
          <p:cNvPr id="21" name="List option 3"/>
          <p:cNvSpPr/>
          <p:nvPr/>
        </p:nvSpPr>
        <p:spPr>
          <a:xfrm>
            <a:off x="4754880" y="516636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Pick a date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28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Rules 7 and 8</a:t>
            </a:r>
          </a:p>
        </p:txBody>
      </p:sp>
      <p:sp>
        <p:nvSpPr>
          <p:cNvPr id="3" name="Rule block 7"/>
          <p:cNvSpPr/>
          <p:nvPr/>
        </p:nvSpPr>
        <p:spPr>
          <a:xfrm>
            <a:off x="777240" y="1463040"/>
            <a:ext cx="731520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Circle 7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508760" y="1536192"/>
            <a:ext cx="3657600" cy="1636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Make it fast for experts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Shortcuts help people who use it a lot.</a:t>
            </a:r>
          </a:p>
        </p:txBody>
      </p:sp>
      <p:sp>
        <p:nvSpPr>
          <p:cNvPr id="6" name="Label chip"/>
          <p:cNvSpPr/>
          <p:nvPr/>
        </p:nvSpPr>
        <p:spPr>
          <a:xfrm>
            <a:off x="4754880" y="21259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Shortcut</a:t>
            </a:r>
          </a:p>
        </p:txBody>
      </p:sp>
      <p:sp>
        <p:nvSpPr>
          <p:cNvPr id="7" name="Label chip"/>
          <p:cNvSpPr/>
          <p:nvPr/>
        </p:nvSpPr>
        <p:spPr>
          <a:xfrm>
            <a:off x="5852160" y="21259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Swipe</a:t>
            </a:r>
          </a:p>
        </p:txBody>
      </p:sp>
      <p:sp>
        <p:nvSpPr>
          <p:cNvPr id="8" name="Label chip"/>
          <p:cNvSpPr/>
          <p:nvPr/>
        </p:nvSpPr>
        <p:spPr>
          <a:xfrm>
            <a:off x="6949440" y="21259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Voice</a:t>
            </a:r>
          </a:p>
        </p:txBody>
      </p:sp>
      <p:sp>
        <p:nvSpPr>
          <p:cNvPr id="9" name="Rule block 8"/>
          <p:cNvSpPr/>
          <p:nvPr/>
        </p:nvSpPr>
        <p:spPr>
          <a:xfrm>
            <a:off x="777240" y="3474720"/>
            <a:ext cx="731520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0" name="Circle 8"/>
          <p:cNvSpPr/>
          <p:nvPr/>
        </p:nvSpPr>
        <p:spPr>
          <a:xfrm>
            <a:off x="914400" y="361188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508760" y="3547872"/>
            <a:ext cx="3657600" cy="1636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Keep it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Show only what the user needs now.</a:t>
            </a:r>
          </a:p>
        </p:txBody>
      </p:sp>
      <p:sp>
        <p:nvSpPr>
          <p:cNvPr id="12" name="Too much box"/>
          <p:cNvSpPr/>
          <p:nvPr/>
        </p:nvSpPr>
        <p:spPr>
          <a:xfrm>
            <a:off x="4754880" y="3657600"/>
            <a:ext cx="1371600" cy="1371600"/>
          </a:xfrm>
          <a:prstGeom prst="rect">
            <a:avLst/>
          </a:prstGeom>
          <a:solidFill>
            <a:srgbClr val="FCE9E7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B3261E"/>
                </a:solidFill>
              </a:rPr>
              <a:t>Too much</a:t>
            </a:r>
          </a:p>
        </p:txBody>
      </p:sp>
      <p:sp>
        <p:nvSpPr>
          <p:cNvPr id="13" name="Clutter line"/>
          <p:cNvSpPr/>
          <p:nvPr/>
        </p:nvSpPr>
        <p:spPr>
          <a:xfrm>
            <a:off x="4846320" y="4114800"/>
            <a:ext cx="1188720" cy="9144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4" name="Clutter line"/>
          <p:cNvSpPr/>
          <p:nvPr/>
        </p:nvSpPr>
        <p:spPr>
          <a:xfrm>
            <a:off x="4846320" y="4270248"/>
            <a:ext cx="1188720" cy="9144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5" name="Clutter line"/>
          <p:cNvSpPr/>
          <p:nvPr/>
        </p:nvSpPr>
        <p:spPr>
          <a:xfrm>
            <a:off x="4846320" y="4425696"/>
            <a:ext cx="1188720" cy="9144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6" name="Clutter line"/>
          <p:cNvSpPr/>
          <p:nvPr/>
        </p:nvSpPr>
        <p:spPr>
          <a:xfrm>
            <a:off x="4846320" y="4581144"/>
            <a:ext cx="1188720" cy="9144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7" name="Clutter line"/>
          <p:cNvSpPr/>
          <p:nvPr/>
        </p:nvSpPr>
        <p:spPr>
          <a:xfrm>
            <a:off x="4846320" y="4736592"/>
            <a:ext cx="1188720" cy="9144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8" name="Just right box"/>
          <p:cNvSpPr/>
          <p:nvPr/>
        </p:nvSpPr>
        <p:spPr>
          <a:xfrm>
            <a:off x="6400800" y="3657600"/>
            <a:ext cx="1371600" cy="1371600"/>
          </a:xfrm>
          <a:prstGeom prst="rect">
            <a:avLst/>
          </a:prstGeom>
          <a:solidFill>
            <a:srgbClr val="E7F4F5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006772"/>
                </a:solidFill>
              </a:rPr>
              <a:t>Just right</a:t>
            </a:r>
          </a:p>
        </p:txBody>
      </p:sp>
      <p:sp>
        <p:nvSpPr>
          <p:cNvPr id="19" name="Label chip"/>
          <p:cNvSpPr/>
          <p:nvPr/>
        </p:nvSpPr>
        <p:spPr>
          <a:xfrm>
            <a:off x="6583680" y="4343400"/>
            <a:ext cx="1005840" cy="41148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Book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29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Rules 9 and 10</a:t>
            </a:r>
          </a:p>
        </p:txBody>
      </p:sp>
      <p:sp>
        <p:nvSpPr>
          <p:cNvPr id="3" name="Rule block 9"/>
          <p:cNvSpPr/>
          <p:nvPr/>
        </p:nvSpPr>
        <p:spPr>
          <a:xfrm>
            <a:off x="777240" y="1463040"/>
            <a:ext cx="731520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Circle 9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508760" y="1536192"/>
            <a:ext cx="3657600" cy="1636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Help users fix errors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Say what is wrong and how to fix it.</a:t>
            </a:r>
          </a:p>
        </p:txBody>
      </p:sp>
      <p:sp>
        <p:nvSpPr>
          <p:cNvPr id="6" name="Label chip"/>
          <p:cNvSpPr/>
          <p:nvPr/>
        </p:nvSpPr>
        <p:spPr>
          <a:xfrm>
            <a:off x="4754880" y="160020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Bad: "Error 500"</a:t>
            </a:r>
          </a:p>
        </p:txBody>
      </p:sp>
      <p:sp>
        <p:nvSpPr>
          <p:cNvPr id="7" name="Label chip"/>
          <p:cNvSpPr/>
          <p:nvPr/>
        </p:nvSpPr>
        <p:spPr>
          <a:xfrm>
            <a:off x="4754880" y="237744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Good: "Sorry, we could not find that page. Go to Home."</a:t>
            </a:r>
          </a:p>
        </p:txBody>
      </p:sp>
      <p:sp>
        <p:nvSpPr>
          <p:cNvPr id="8" name="Rule block 10"/>
          <p:cNvSpPr/>
          <p:nvPr/>
        </p:nvSpPr>
        <p:spPr>
          <a:xfrm>
            <a:off x="777240" y="3474720"/>
            <a:ext cx="7315200" cy="17830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9" name="Circle 10"/>
          <p:cNvSpPr/>
          <p:nvPr/>
        </p:nvSpPr>
        <p:spPr>
          <a:xfrm>
            <a:off x="914400" y="361188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08760" y="3547872"/>
            <a:ext cx="3657600" cy="1636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Give help when needed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Make help easy to find.</a:t>
            </a:r>
          </a:p>
        </p:txBody>
      </p:sp>
      <p:sp>
        <p:nvSpPr>
          <p:cNvPr id="11" name="Circle ?"/>
          <p:cNvSpPr/>
          <p:nvPr/>
        </p:nvSpPr>
        <p:spPr>
          <a:xfrm>
            <a:off x="4846320" y="4000500"/>
            <a:ext cx="731520" cy="73152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715000" y="374904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Search, FAQ, short tips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30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 quiz: which rule?</a:t>
            </a:r>
          </a:p>
        </p:txBody>
      </p:sp>
      <p:sp>
        <p:nvSpPr>
          <p:cNvPr id="3" name="Scenario 1"/>
          <p:cNvSpPr/>
          <p:nvPr/>
        </p:nvSpPr>
        <p:spPr>
          <a:xfrm>
            <a:off x="777240" y="1417320"/>
            <a:ext cx="7315200" cy="5943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1. A big file is uploading. The screen shows nothing for 2 minutes.</a:t>
            </a:r>
          </a:p>
        </p:txBody>
      </p:sp>
      <p:sp>
        <p:nvSpPr>
          <p:cNvPr id="4" name="Scenario 2"/>
          <p:cNvSpPr/>
          <p:nvPr/>
        </p:nvSpPr>
        <p:spPr>
          <a:xfrm>
            <a:off x="777240" y="2130552"/>
            <a:ext cx="7315200" cy="5943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2. A website says: "Authenticate your credentials."</a:t>
            </a:r>
          </a:p>
        </p:txBody>
      </p:sp>
      <p:sp>
        <p:nvSpPr>
          <p:cNvPr id="5" name="Scenario 3"/>
          <p:cNvSpPr/>
          <p:nvPr/>
        </p:nvSpPr>
        <p:spPr>
          <a:xfrm>
            <a:off x="777240" y="2843784"/>
            <a:ext cx="7315200" cy="5943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3. You press Pay by mistake. You cannot cancel.</a:t>
            </a:r>
          </a:p>
        </p:txBody>
      </p:sp>
      <p:sp>
        <p:nvSpPr>
          <p:cNvPr id="6" name="Option A"/>
          <p:cNvSpPr/>
          <p:nvPr/>
        </p:nvSpPr>
        <p:spPr>
          <a:xfrm>
            <a:off x="777240" y="361188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Show what is happening</a:t>
            </a:r>
          </a:p>
        </p:txBody>
      </p:sp>
      <p:sp>
        <p:nvSpPr>
          <p:cNvPr id="7" name="Circle A"/>
          <p:cNvSpPr/>
          <p:nvPr/>
        </p:nvSpPr>
        <p:spPr>
          <a:xfrm>
            <a:off x="868680" y="368960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Option B"/>
          <p:cNvSpPr/>
          <p:nvPr/>
        </p:nvSpPr>
        <p:spPr>
          <a:xfrm>
            <a:off x="4526280" y="361188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Use words users know</a:t>
            </a:r>
          </a:p>
        </p:txBody>
      </p:sp>
      <p:sp>
        <p:nvSpPr>
          <p:cNvPr id="9" name="Circle B"/>
          <p:cNvSpPr/>
          <p:nvPr/>
        </p:nvSpPr>
        <p:spPr>
          <a:xfrm>
            <a:off x="4617720" y="368960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Option C"/>
          <p:cNvSpPr/>
          <p:nvPr/>
        </p:nvSpPr>
        <p:spPr>
          <a:xfrm>
            <a:off x="777240" y="425196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Let users go back</a:t>
            </a:r>
          </a:p>
        </p:txBody>
      </p:sp>
      <p:sp>
        <p:nvSpPr>
          <p:cNvPr id="11" name="Circle C"/>
          <p:cNvSpPr/>
          <p:nvPr/>
        </p:nvSpPr>
        <p:spPr>
          <a:xfrm>
            <a:off x="868680" y="432968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" name="Option D"/>
          <p:cNvSpPr/>
          <p:nvPr/>
        </p:nvSpPr>
        <p:spPr>
          <a:xfrm>
            <a:off x="4526280" y="425196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Be consistent</a:t>
            </a:r>
          </a:p>
        </p:txBody>
      </p:sp>
      <p:sp>
        <p:nvSpPr>
          <p:cNvPr id="13" name="Circle D"/>
          <p:cNvSpPr/>
          <p:nvPr/>
        </p:nvSpPr>
        <p:spPr>
          <a:xfrm>
            <a:off x="4617720" y="432968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4" name="Menti 6 box"/>
          <p:cNvSpPr/>
          <p:nvPr/>
        </p:nvSpPr>
        <p:spPr>
          <a:xfrm>
            <a:off x="777240" y="5120640"/>
            <a:ext cx="7315200" cy="8686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6  |  Quiz (3 questions)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Which rule is broken? Choose on your phone.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31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Activity 4: check a website</a:t>
            </a:r>
          </a:p>
        </p:txBody>
      </p:sp>
      <p:sp>
        <p:nvSpPr>
          <p:cNvPr id="3" name="Activity banner"/>
          <p:cNvSpPr/>
          <p:nvPr/>
        </p:nvSpPr>
        <p:spPr>
          <a:xfrm>
            <a:off x="777240" y="1371600"/>
            <a:ext cx="731520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82880" tIns="36576" rIns="137160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ACTIVITY 4</a:t>
            </a:r>
            <a:r>
              <a:rPr lang="en-GB" sz="1600" dirty="0">
                <a:solidFill>
                  <a:srgbClr val="FFFFFF"/>
                </a:solidFill>
              </a:rPr>
              <a:t>   |   GROUP WORK</a:t>
            </a:r>
          </a:p>
        </p:txBody>
      </p:sp>
      <p:sp>
        <p:nvSpPr>
          <p:cNvPr id="4" name="Time badge"/>
          <p:cNvSpPr/>
          <p:nvPr/>
        </p:nvSpPr>
        <p:spPr>
          <a:xfrm>
            <a:off x="6858000" y="1463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F0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10 min</a:t>
            </a:r>
          </a:p>
        </p:txBody>
      </p:sp>
      <p:sp>
        <p:nvSpPr>
          <p:cNvPr id="5" name="Circle 1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25880" y="210312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Pick one booking website or app.</a:t>
            </a:r>
          </a:p>
        </p:txBody>
      </p:sp>
      <p:sp>
        <p:nvSpPr>
          <p:cNvPr id="7" name="Circle 2"/>
          <p:cNvSpPr/>
          <p:nvPr/>
        </p:nvSpPr>
        <p:spPr>
          <a:xfrm>
            <a:off x="777240" y="2670048"/>
            <a:ext cx="411480" cy="4114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325880" y="2670048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Try to book something for tomorrow. (Do not pay.)</a:t>
            </a:r>
          </a:p>
        </p:txBody>
      </p:sp>
      <p:sp>
        <p:nvSpPr>
          <p:cNvPr id="9" name="Circle 3"/>
          <p:cNvSpPr/>
          <p:nvPr/>
        </p:nvSpPr>
        <p:spPr>
          <a:xfrm>
            <a:off x="777240" y="3236976"/>
            <a:ext cx="411480" cy="41148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325880" y="3236976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Check 3 rules. Fill in the table.</a:t>
            </a:r>
          </a:p>
        </p:txBody>
      </p:sp>
      <p:graphicFrame>
        <p:nvGraphicFramePr>
          <p:cNvPr id="11" name="Notes table"/>
          <p:cNvGraphicFramePr>
            <a:graphicFrameLocks noGrp="1"/>
          </p:cNvGraphicFramePr>
          <p:nvPr/>
        </p:nvGraphicFramePr>
        <p:xfrm>
          <a:off x="777240" y="3931920"/>
          <a:ext cx="7315200" cy="1831086"/>
        </p:xfrm>
        <a:graphic>
          <a:graphicData uri="http://schemas.openxmlformats.org/drawingml/2006/table">
            <a:tbl>
              <a:tblPr firstRow="1"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anchor="ctr">
                    <a:lnL w="12700">
                      <a:solidFill>
                        <a:srgbClr val="006772"/>
                      </a:solidFill>
                    </a:lnL>
                    <a:lnR w="12700">
                      <a:solidFill>
                        <a:srgbClr val="006772"/>
                      </a:solidFill>
                    </a:lnR>
                    <a:lnT w="12700">
                      <a:solidFill>
                        <a:srgbClr val="006772"/>
                      </a:solidFill>
                    </a:lnT>
                    <a:lnB w="12700">
                      <a:solidFill>
                        <a:srgbClr val="006772"/>
                      </a:solidFill>
                    </a:lnB>
                    <a:solidFill>
                      <a:srgbClr val="00677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What did you see?</a:t>
                      </a:r>
                    </a:p>
                  </a:txBody>
                  <a:tcPr anchor="ctr">
                    <a:lnL w="12700">
                      <a:solidFill>
                        <a:srgbClr val="006772"/>
                      </a:solidFill>
                    </a:lnL>
                    <a:lnR w="12700">
                      <a:solidFill>
                        <a:srgbClr val="006772"/>
                      </a:solidFill>
                    </a:lnR>
                    <a:lnT w="12700">
                      <a:solidFill>
                        <a:srgbClr val="006772"/>
                      </a:solidFill>
                    </a:lnT>
                    <a:lnB w="12700">
                      <a:solidFill>
                        <a:srgbClr val="006772"/>
                      </a:solidFill>
                    </a:lnB>
                    <a:solidFill>
                      <a:srgbClr val="00677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Score 1–5</a:t>
                      </a:r>
                    </a:p>
                  </a:txBody>
                  <a:tcPr anchor="ctr">
                    <a:lnL w="12700">
                      <a:solidFill>
                        <a:srgbClr val="006772"/>
                      </a:solidFill>
                    </a:lnL>
                    <a:lnR w="12700">
                      <a:solidFill>
                        <a:srgbClr val="006772"/>
                      </a:solidFill>
                    </a:lnR>
                    <a:lnT w="12700">
                      <a:solidFill>
                        <a:srgbClr val="006772"/>
                      </a:solidFill>
                    </a:lnT>
                    <a:lnB w="12700">
                      <a:solidFill>
                        <a:srgbClr val="006772"/>
                      </a:solidFill>
                    </a:lnB>
                    <a:solidFill>
                      <a:srgbClr val="0067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 cap="flat" cmpd="sng" algn="ctr">
                      <a:solidFill>
                        <a:srgbClr val="00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 cap="flat" cmpd="sng" algn="ctr">
                      <a:solidFill>
                        <a:srgbClr val="00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 cap="flat" cmpd="sng" algn="ctr">
                      <a:solidFill>
                        <a:srgbClr val="00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32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Share your results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dirty="0">
                <a:solidFill>
                  <a:srgbClr val="232B30"/>
                </a:solidFill>
              </a:rPr>
              <a:t>Each group: tell us 1 problem you found.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646C70"/>
                </a:solidFill>
              </a:rPr>
              <a:t>Speak for 30 seconds.</a:t>
            </a:r>
          </a:p>
        </p:txBody>
      </p:sp>
      <p:sp>
        <p:nvSpPr>
          <p:cNvPr id="4" name="Option A"/>
          <p:cNvSpPr/>
          <p:nvPr/>
        </p:nvSpPr>
        <p:spPr>
          <a:xfrm>
            <a:off x="777240" y="2743200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Show what is happening</a:t>
            </a:r>
          </a:p>
        </p:txBody>
      </p:sp>
      <p:sp>
        <p:nvSpPr>
          <p:cNvPr id="5" name="Circle A"/>
          <p:cNvSpPr/>
          <p:nvPr/>
        </p:nvSpPr>
        <p:spPr>
          <a:xfrm>
            <a:off x="868680" y="286664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Option B"/>
          <p:cNvSpPr/>
          <p:nvPr/>
        </p:nvSpPr>
        <p:spPr>
          <a:xfrm>
            <a:off x="4526280" y="2743200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Keep it simple</a:t>
            </a:r>
          </a:p>
        </p:txBody>
      </p:sp>
      <p:sp>
        <p:nvSpPr>
          <p:cNvPr id="7" name="Circle B"/>
          <p:cNvSpPr/>
          <p:nvPr/>
        </p:nvSpPr>
        <p:spPr>
          <a:xfrm>
            <a:off x="4617720" y="286664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Option C"/>
          <p:cNvSpPr/>
          <p:nvPr/>
        </p:nvSpPr>
        <p:spPr>
          <a:xfrm>
            <a:off x="777240" y="3474720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Help users fix errors</a:t>
            </a:r>
          </a:p>
        </p:txBody>
      </p:sp>
      <p:sp>
        <p:nvSpPr>
          <p:cNvPr id="9" name="Circle C"/>
          <p:cNvSpPr/>
          <p:nvPr/>
        </p:nvSpPr>
        <p:spPr>
          <a:xfrm>
            <a:off x="868680" y="359816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Option D"/>
          <p:cNvSpPr/>
          <p:nvPr/>
        </p:nvSpPr>
        <p:spPr>
          <a:xfrm>
            <a:off x="4526280" y="3474720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9DAC"/>
            </a:solidFill>
          </a:ln>
        </p:spPr>
        <p:txBody>
          <a:bodyPr wrap="square" lIns="548640" tIns="36576" rIns="9144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Other</a:t>
            </a:r>
          </a:p>
        </p:txBody>
      </p:sp>
      <p:sp>
        <p:nvSpPr>
          <p:cNvPr id="11" name="Circle D"/>
          <p:cNvSpPr/>
          <p:nvPr/>
        </p:nvSpPr>
        <p:spPr>
          <a:xfrm>
            <a:off x="4617720" y="3598164"/>
            <a:ext cx="347472" cy="347472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" name="Menti 7 box"/>
          <p:cNvSpPr/>
          <p:nvPr/>
        </p:nvSpPr>
        <p:spPr>
          <a:xfrm>
            <a:off x="777240" y="47548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7  |  Multiple choice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Which rule did your website break most?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33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Design for everyone</a:t>
            </a:r>
          </a:p>
        </p:txBody>
      </p:sp>
      <p:sp>
        <p:nvSpPr>
          <p:cNvPr id="3" name="Access card 1"/>
          <p:cNvSpPr/>
          <p:nvPr/>
        </p:nvSpPr>
        <p:spPr>
          <a:xfrm>
            <a:off x="777240" y="146304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Seeing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Strong contrast. Big text. Screen reader.</a:t>
            </a:r>
          </a:p>
        </p:txBody>
      </p:sp>
      <p:sp>
        <p:nvSpPr>
          <p:cNvPr id="4" name="Access card 2"/>
          <p:cNvSpPr/>
          <p:nvPr/>
        </p:nvSpPr>
        <p:spPr>
          <a:xfrm>
            <a:off x="4526280" y="146304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Hearing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Captions for video and sound.</a:t>
            </a:r>
          </a:p>
        </p:txBody>
      </p:sp>
      <p:sp>
        <p:nvSpPr>
          <p:cNvPr id="5" name="Access card 3"/>
          <p:cNvSpPr/>
          <p:nvPr/>
        </p:nvSpPr>
        <p:spPr>
          <a:xfrm>
            <a:off x="777240" y="315468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Moving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Big buttons. Keyboard use.</a:t>
            </a:r>
          </a:p>
        </p:txBody>
      </p:sp>
      <p:sp>
        <p:nvSpPr>
          <p:cNvPr id="6" name="Access card 4"/>
          <p:cNvSpPr/>
          <p:nvPr/>
        </p:nvSpPr>
        <p:spPr>
          <a:xfrm>
            <a:off x="4526280" y="315468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Thinking and language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232B30"/>
                </a:solidFill>
              </a:rPr>
              <a:t>Simple words. Clear steps.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77240" y="49377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Accessible design helps everyone, also in bright sun or on a noisy bus.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34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Menti: easy to read?</a:t>
            </a:r>
          </a:p>
        </p:txBody>
      </p:sp>
      <p:sp>
        <p:nvSpPr>
          <p:cNvPr id="3" name="Button A"/>
          <p:cNvSpPr/>
          <p:nvPr/>
        </p:nvSpPr>
        <p:spPr>
          <a:xfrm>
            <a:off x="777240" y="160020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25400">
            <a:solidFill>
              <a:srgbClr val="C8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C8C8C8"/>
                </a:solidFill>
              </a:rPr>
              <a:t>Book a room</a:t>
            </a:r>
          </a:p>
        </p:txBody>
      </p:sp>
      <p:sp>
        <p:nvSpPr>
          <p:cNvPr id="4" name="Circle A"/>
          <p:cNvSpPr/>
          <p:nvPr/>
        </p:nvSpPr>
        <p:spPr>
          <a:xfrm>
            <a:off x="1737360" y="28803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" name="Button B"/>
          <p:cNvSpPr/>
          <p:nvPr/>
        </p:nvSpPr>
        <p:spPr>
          <a:xfrm>
            <a:off x="3246120" y="160020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32B3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232B30"/>
                </a:solidFill>
              </a:rPr>
              <a:t>Book a room</a:t>
            </a:r>
          </a:p>
        </p:txBody>
      </p:sp>
      <p:sp>
        <p:nvSpPr>
          <p:cNvPr id="6" name="Circle B"/>
          <p:cNvSpPr/>
          <p:nvPr/>
        </p:nvSpPr>
        <p:spPr>
          <a:xfrm>
            <a:off x="4206240" y="28803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" name="Button C"/>
          <p:cNvSpPr/>
          <p:nvPr/>
        </p:nvSpPr>
        <p:spPr>
          <a:xfrm>
            <a:off x="5715000" y="160020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5D90A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5D90A"/>
                </a:solidFill>
              </a:rPr>
              <a:t>Book a room</a:t>
            </a:r>
          </a:p>
        </p:txBody>
      </p:sp>
      <p:sp>
        <p:nvSpPr>
          <p:cNvPr id="8" name="Circle C"/>
          <p:cNvSpPr/>
          <p:nvPr/>
        </p:nvSpPr>
        <p:spPr>
          <a:xfrm>
            <a:off x="6675120" y="28803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Menti 8 box"/>
          <p:cNvSpPr/>
          <p:nvPr/>
        </p:nvSpPr>
        <p:spPr>
          <a:xfrm>
            <a:off x="777240" y="402336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8  |  Multiple choice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Which button is easiest to read?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35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Tips for readable design</a:t>
            </a:r>
          </a:p>
        </p:txBody>
      </p:sp>
      <p:sp>
        <p:nvSpPr>
          <p:cNvPr id="3" name="Row 1"/>
          <p:cNvSpPr/>
          <p:nvPr/>
        </p:nvSpPr>
        <p:spPr>
          <a:xfrm>
            <a:off x="777240" y="1417320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Contrast</a:t>
            </a:r>
            <a:r>
              <a:rPr lang="en-GB" sz="1600" dirty="0">
                <a:solidFill>
                  <a:srgbClr val="232B30"/>
                </a:solidFill>
              </a:rPr>
              <a:t>  Dark text on a light background.</a:t>
            </a:r>
          </a:p>
        </p:txBody>
      </p:sp>
      <p:sp>
        <p:nvSpPr>
          <p:cNvPr id="4" name="Circle 1"/>
          <p:cNvSpPr/>
          <p:nvPr/>
        </p:nvSpPr>
        <p:spPr>
          <a:xfrm>
            <a:off x="914400" y="1627632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w 2"/>
          <p:cNvSpPr/>
          <p:nvPr/>
        </p:nvSpPr>
        <p:spPr>
          <a:xfrm>
            <a:off x="777240" y="2368296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Text size</a:t>
            </a:r>
            <a:r>
              <a:rPr lang="en-GB" sz="1600" dirty="0">
                <a:solidFill>
                  <a:srgbClr val="232B30"/>
                </a:solidFill>
              </a:rPr>
              <a:t>  Big enough to read on a phone.</a:t>
            </a:r>
          </a:p>
        </p:txBody>
      </p:sp>
      <p:sp>
        <p:nvSpPr>
          <p:cNvPr id="6" name="Circle 2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w 3"/>
          <p:cNvSpPr/>
          <p:nvPr/>
        </p:nvSpPr>
        <p:spPr>
          <a:xfrm>
            <a:off x="777240" y="3319272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Not only colour</a:t>
            </a:r>
            <a:r>
              <a:rPr lang="en-GB" sz="1600" dirty="0">
                <a:solidFill>
                  <a:srgbClr val="232B30"/>
                </a:solidFill>
              </a:rPr>
              <a:t>  Add text or an icon, not only red or green.</a:t>
            </a:r>
          </a:p>
        </p:txBody>
      </p:sp>
      <p:sp>
        <p:nvSpPr>
          <p:cNvPr id="8" name="Circle 3"/>
          <p:cNvSpPr/>
          <p:nvPr/>
        </p:nvSpPr>
        <p:spPr>
          <a:xfrm>
            <a:off x="914400" y="3529584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w 4"/>
          <p:cNvSpPr/>
          <p:nvPr/>
        </p:nvSpPr>
        <p:spPr>
          <a:xfrm>
            <a:off x="777240" y="4270248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Simple words</a:t>
            </a:r>
            <a:r>
              <a:rPr lang="en-GB" sz="1600" dirty="0">
                <a:solidFill>
                  <a:srgbClr val="232B30"/>
                </a:solidFill>
              </a:rPr>
              <a:t>  Short sentences. No hard words.</a:t>
            </a:r>
          </a:p>
        </p:txBody>
      </p:sp>
      <p:sp>
        <p:nvSpPr>
          <p:cNvPr id="10" name="Circle 4"/>
          <p:cNvSpPr/>
          <p:nvPr/>
        </p:nvSpPr>
        <p:spPr>
          <a:xfrm>
            <a:off x="914400" y="448056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w 5"/>
          <p:cNvSpPr/>
          <p:nvPr/>
        </p:nvSpPr>
        <p:spPr>
          <a:xfrm>
            <a:off x="777240" y="5221224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Picture text</a:t>
            </a:r>
            <a:r>
              <a:rPr lang="en-GB" sz="1600" dirty="0">
                <a:solidFill>
                  <a:srgbClr val="232B30"/>
                </a:solidFill>
              </a:rPr>
              <a:t>  Describe pictures with words (alt text).</a:t>
            </a:r>
          </a:p>
        </p:txBody>
      </p:sp>
      <p:sp>
        <p:nvSpPr>
          <p:cNvPr id="12" name="Circle 5"/>
          <p:cNvSpPr/>
          <p:nvPr/>
        </p:nvSpPr>
        <p:spPr>
          <a:xfrm>
            <a:off x="914400" y="543153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36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bar"/>
          <p:cNvSpPr/>
          <p:nvPr/>
        </p:nvSpPr>
        <p:spPr>
          <a:xfrm>
            <a:off x="960120" y="1097280"/>
            <a:ext cx="64008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4" name="Divider text"/>
          <p:cNvSpPr txBox="1"/>
          <p:nvPr/>
        </p:nvSpPr>
        <p:spPr>
          <a:xfrm>
            <a:off x="1325880" y="210312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endParaRPr lang="en-GB" sz="1800" dirty="0">
              <a:solidFill>
                <a:srgbClr val="DCF0F2"/>
              </a:solidFill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3400" b="1" dirty="0">
                <a:solidFill>
                  <a:srgbClr val="FFFFFF"/>
                </a:solidFill>
              </a:rPr>
              <a:t>Make and test a prototype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DCF0F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What is a prototype?</a:t>
            </a:r>
          </a:p>
        </p:txBody>
      </p:sp>
      <p:sp>
        <p:nvSpPr>
          <p:cNvPr id="3" name="Bullet list"/>
          <p:cNvSpPr txBox="1"/>
          <p:nvPr/>
        </p:nvSpPr>
        <p:spPr>
          <a:xfrm>
            <a:off x="777240" y="13716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800" dirty="0">
                <a:solidFill>
                  <a:srgbClr val="232B30"/>
                </a:solidFill>
              </a:rPr>
              <a:t>A prototype is an early model of your design.</a:t>
            </a:r>
          </a:p>
          <a:p>
            <a:pPr marL="342900" indent="-342900" algn="l">
              <a:spcBef>
                <a:spcPts val="0"/>
              </a:spcBef>
              <a:spcAft>
                <a:spcPts val="600"/>
              </a:spcAft>
              <a:buClr>
                <a:srgbClr val="199DAC"/>
              </a:buClr>
              <a:buFont typeface="Arial"/>
              <a:buChar char="•"/>
            </a:pPr>
            <a:r>
              <a:rPr lang="en-GB" sz="1800" dirty="0">
                <a:solidFill>
                  <a:srgbClr val="232B30"/>
                </a:solidFill>
              </a:rPr>
              <a:t>We test ideas before we write code.</a:t>
            </a:r>
          </a:p>
        </p:txBody>
      </p:sp>
      <p:sp>
        <p:nvSpPr>
          <p:cNvPr id="4" name="Step Sketch"/>
          <p:cNvSpPr/>
          <p:nvPr/>
        </p:nvSpPr>
        <p:spPr>
          <a:xfrm>
            <a:off x="777240" y="4206240"/>
            <a:ext cx="1737360" cy="822960"/>
          </a:xfrm>
          <a:prstGeom prst="rect">
            <a:avLst/>
          </a:prstGeom>
          <a:solidFill>
            <a:srgbClr val="199DA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Sketch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5" name="Step Wireframe"/>
          <p:cNvSpPr/>
          <p:nvPr/>
        </p:nvSpPr>
        <p:spPr>
          <a:xfrm>
            <a:off x="2606040" y="3749040"/>
            <a:ext cx="1737360" cy="1280160"/>
          </a:xfrm>
          <a:prstGeom prst="rect">
            <a:avLst/>
          </a:prstGeom>
          <a:solidFill>
            <a:srgbClr val="199DA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Wireframe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</a:rPr>
              <a:t>boxes</a:t>
            </a:r>
          </a:p>
        </p:txBody>
      </p:sp>
      <p:sp>
        <p:nvSpPr>
          <p:cNvPr id="6" name="Step Clickable"/>
          <p:cNvSpPr/>
          <p:nvPr/>
        </p:nvSpPr>
        <p:spPr>
          <a:xfrm>
            <a:off x="4434840" y="3291840"/>
            <a:ext cx="1737360" cy="1737360"/>
          </a:xfrm>
          <a:prstGeom prst="rect">
            <a:avLst/>
          </a:prstGeom>
          <a:solidFill>
            <a:srgbClr val="199DAC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Clickable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</a:rPr>
              <a:t>in a tool</a:t>
            </a:r>
          </a:p>
        </p:txBody>
      </p:sp>
      <p:sp>
        <p:nvSpPr>
          <p:cNvPr id="7" name="Step Real app"/>
          <p:cNvSpPr/>
          <p:nvPr/>
        </p:nvSpPr>
        <p:spPr>
          <a:xfrm>
            <a:off x="6263640" y="2834640"/>
            <a:ext cx="1737360" cy="2194560"/>
          </a:xfrm>
          <a:prstGeom prst="rect">
            <a:avLst/>
          </a:prstGeom>
          <a:solidFill>
            <a:srgbClr val="006772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Real app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</a:rPr>
              <a:t>with code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77240" y="5166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Start simple. Change often. Spend more time as you learn more.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38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Parts of a wireframe</a:t>
            </a:r>
          </a:p>
        </p:txBody>
      </p:sp>
      <p:sp>
        <p:nvSpPr>
          <p:cNvPr id="3" name="Phone frame"/>
          <p:cNvSpPr/>
          <p:nvPr/>
        </p:nvSpPr>
        <p:spPr>
          <a:xfrm>
            <a:off x="1097280" y="1325880"/>
            <a:ext cx="2377440" cy="4389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00677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4" name="Wire header"/>
          <p:cNvSpPr/>
          <p:nvPr/>
        </p:nvSpPr>
        <p:spPr>
          <a:xfrm>
            <a:off x="1287475" y="1545336"/>
            <a:ext cx="1997050" cy="395021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5" name="Wire search box"/>
          <p:cNvSpPr/>
          <p:nvPr/>
        </p:nvSpPr>
        <p:spPr>
          <a:xfrm>
            <a:off x="1287475" y="2072030"/>
            <a:ext cx="1997050" cy="307238"/>
          </a:xfrm>
          <a:prstGeom prst="rect">
            <a:avLst/>
          </a:prstGeom>
          <a:solidFill>
            <a:srgbClr val="FFFFFF"/>
          </a:solidFill>
          <a:ln w="12700">
            <a:solidFill>
              <a:srgbClr val="646C7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6" name="Wire list item"/>
          <p:cNvSpPr/>
          <p:nvPr/>
        </p:nvSpPr>
        <p:spPr>
          <a:xfrm>
            <a:off x="1287475" y="2510942"/>
            <a:ext cx="1997050" cy="504749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7" name="Wire list item"/>
          <p:cNvSpPr/>
          <p:nvPr/>
        </p:nvSpPr>
        <p:spPr>
          <a:xfrm>
            <a:off x="1287475" y="3125419"/>
            <a:ext cx="1997050" cy="504749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8" name="Wire list item"/>
          <p:cNvSpPr/>
          <p:nvPr/>
        </p:nvSpPr>
        <p:spPr>
          <a:xfrm>
            <a:off x="1287475" y="3739896"/>
            <a:ext cx="1997050" cy="504749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9" name="Wire main button"/>
          <p:cNvSpPr/>
          <p:nvPr/>
        </p:nvSpPr>
        <p:spPr>
          <a:xfrm>
            <a:off x="1287475" y="4398264"/>
            <a:ext cx="1997050" cy="351130"/>
          </a:xfrm>
          <a:prstGeom prst="roundRect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0" name="Wire menu bar"/>
          <p:cNvSpPr/>
          <p:nvPr/>
        </p:nvSpPr>
        <p:spPr>
          <a:xfrm>
            <a:off x="1287475" y="5188306"/>
            <a:ext cx="1997050" cy="307238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1" name="Circle 1"/>
          <p:cNvSpPr/>
          <p:nvPr/>
        </p:nvSpPr>
        <p:spPr>
          <a:xfrm>
            <a:off x="4023360" y="155448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617720" y="1481328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Header: </a:t>
            </a:r>
            <a:r>
              <a:rPr lang="en-GB" sz="1600" dirty="0">
                <a:solidFill>
                  <a:srgbClr val="232B30"/>
                </a:solidFill>
              </a:rPr>
              <a:t>The page name.</a:t>
            </a:r>
          </a:p>
        </p:txBody>
      </p:sp>
      <p:sp>
        <p:nvSpPr>
          <p:cNvPr id="13" name="Circle 2"/>
          <p:cNvSpPr/>
          <p:nvPr/>
        </p:nvSpPr>
        <p:spPr>
          <a:xfrm>
            <a:off x="4023360" y="214884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17720" y="2075688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Search box: </a:t>
            </a:r>
            <a:r>
              <a:rPr lang="en-GB" sz="1600" dirty="0">
                <a:solidFill>
                  <a:srgbClr val="232B30"/>
                </a:solidFill>
              </a:rPr>
              <a:t>Find things fast.</a:t>
            </a:r>
          </a:p>
        </p:txBody>
      </p:sp>
      <p:sp>
        <p:nvSpPr>
          <p:cNvPr id="15" name="Circle 3"/>
          <p:cNvSpPr/>
          <p:nvPr/>
        </p:nvSpPr>
        <p:spPr>
          <a:xfrm>
            <a:off x="4023360" y="292608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617720" y="2852928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List: </a:t>
            </a:r>
            <a:r>
              <a:rPr lang="en-GB" sz="1600" dirty="0">
                <a:solidFill>
                  <a:srgbClr val="232B30"/>
                </a:solidFill>
              </a:rPr>
              <a:t>Rooms, times or items.</a:t>
            </a:r>
          </a:p>
        </p:txBody>
      </p:sp>
      <p:sp>
        <p:nvSpPr>
          <p:cNvPr id="17" name="Circle 4"/>
          <p:cNvSpPr/>
          <p:nvPr/>
        </p:nvSpPr>
        <p:spPr>
          <a:xfrm>
            <a:off x="4023360" y="397764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617720" y="3904488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Main button: </a:t>
            </a:r>
            <a:r>
              <a:rPr lang="en-GB" sz="1600" dirty="0">
                <a:solidFill>
                  <a:srgbClr val="232B30"/>
                </a:solidFill>
              </a:rPr>
              <a:t>One clear action.</a:t>
            </a:r>
          </a:p>
        </p:txBody>
      </p:sp>
      <p:sp>
        <p:nvSpPr>
          <p:cNvPr id="19" name="Circle 5"/>
          <p:cNvSpPr/>
          <p:nvPr/>
        </p:nvSpPr>
        <p:spPr>
          <a:xfrm>
            <a:off x="4023360" y="502920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617720" y="4956048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Menu bar: </a:t>
            </a:r>
            <a:r>
              <a:rPr lang="en-GB" sz="1600" dirty="0">
                <a:solidFill>
                  <a:srgbClr val="232B30"/>
                </a:solidFill>
              </a:rPr>
              <a:t>Move around the app.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39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Screen design tips</a:t>
            </a:r>
          </a:p>
        </p:txBody>
      </p:sp>
      <p:sp>
        <p:nvSpPr>
          <p:cNvPr id="3" name="Row 1"/>
          <p:cNvSpPr/>
          <p:nvPr/>
        </p:nvSpPr>
        <p:spPr>
          <a:xfrm>
            <a:off x="777240" y="1417320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One main action</a:t>
            </a:r>
            <a:r>
              <a:rPr lang="en-GB" sz="1600" dirty="0">
                <a:solidFill>
                  <a:srgbClr val="232B30"/>
                </a:solidFill>
              </a:rPr>
              <a:t>  on each screen.</a:t>
            </a:r>
          </a:p>
        </p:txBody>
      </p:sp>
      <p:sp>
        <p:nvSpPr>
          <p:cNvPr id="4" name="Circle 1"/>
          <p:cNvSpPr/>
          <p:nvPr/>
        </p:nvSpPr>
        <p:spPr>
          <a:xfrm>
            <a:off x="914400" y="1627632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w 2"/>
          <p:cNvSpPr/>
          <p:nvPr/>
        </p:nvSpPr>
        <p:spPr>
          <a:xfrm>
            <a:off x="777240" y="2368296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Big buttons</a:t>
            </a:r>
            <a:r>
              <a:rPr lang="en-GB" sz="1600" dirty="0">
                <a:solidFill>
                  <a:srgbClr val="232B30"/>
                </a:solidFill>
              </a:rPr>
              <a:t>  at least 1 cm wide, easy for a thumb.</a:t>
            </a:r>
          </a:p>
        </p:txBody>
      </p:sp>
      <p:sp>
        <p:nvSpPr>
          <p:cNvPr id="6" name="Circle 2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w 3"/>
          <p:cNvSpPr/>
          <p:nvPr/>
        </p:nvSpPr>
        <p:spPr>
          <a:xfrm>
            <a:off x="777240" y="3319272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Clear labels</a:t>
            </a:r>
            <a:r>
              <a:rPr lang="en-GB" sz="1600" dirty="0">
                <a:solidFill>
                  <a:srgbClr val="232B30"/>
                </a:solidFill>
              </a:rPr>
              <a:t>  short, simple words.</a:t>
            </a:r>
          </a:p>
        </p:txBody>
      </p:sp>
      <p:sp>
        <p:nvSpPr>
          <p:cNvPr id="8" name="Circle 3"/>
          <p:cNvSpPr/>
          <p:nvPr/>
        </p:nvSpPr>
        <p:spPr>
          <a:xfrm>
            <a:off x="914400" y="3529584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w 4"/>
          <p:cNvSpPr/>
          <p:nvPr/>
        </p:nvSpPr>
        <p:spPr>
          <a:xfrm>
            <a:off x="777240" y="4270248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Group things</a:t>
            </a:r>
            <a:r>
              <a:rPr lang="en-GB" sz="1600" dirty="0">
                <a:solidFill>
                  <a:srgbClr val="232B30"/>
                </a:solidFill>
              </a:rPr>
              <a:t>  that go together.</a:t>
            </a:r>
          </a:p>
        </p:txBody>
      </p:sp>
      <p:sp>
        <p:nvSpPr>
          <p:cNvPr id="10" name="Circle 4"/>
          <p:cNvSpPr/>
          <p:nvPr/>
        </p:nvSpPr>
        <p:spPr>
          <a:xfrm>
            <a:off x="914400" y="448056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w 5"/>
          <p:cNvSpPr/>
          <p:nvPr/>
        </p:nvSpPr>
        <p:spPr>
          <a:xfrm>
            <a:off x="777240" y="5221224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Same place</a:t>
            </a:r>
            <a:r>
              <a:rPr lang="en-GB" sz="1600" dirty="0">
                <a:solidFill>
                  <a:srgbClr val="232B30"/>
                </a:solidFill>
              </a:rPr>
              <a:t>  for the same things.</a:t>
            </a:r>
          </a:p>
        </p:txBody>
      </p:sp>
      <p:sp>
        <p:nvSpPr>
          <p:cNvPr id="12" name="Circle 5"/>
          <p:cNvSpPr/>
          <p:nvPr/>
        </p:nvSpPr>
        <p:spPr>
          <a:xfrm>
            <a:off x="914400" y="543153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40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Activity 5: sketch your app</a:t>
            </a:r>
          </a:p>
        </p:txBody>
      </p:sp>
      <p:sp>
        <p:nvSpPr>
          <p:cNvPr id="3" name="Activity banner"/>
          <p:cNvSpPr/>
          <p:nvPr/>
        </p:nvSpPr>
        <p:spPr>
          <a:xfrm>
            <a:off x="777240" y="1371600"/>
            <a:ext cx="731520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82880" tIns="36576" rIns="137160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ACTIVITY 5</a:t>
            </a:r>
            <a:r>
              <a:rPr lang="en-GB" sz="1600" dirty="0">
                <a:solidFill>
                  <a:srgbClr val="FFFFFF"/>
                </a:solidFill>
              </a:rPr>
              <a:t>   |   GROUP WORK</a:t>
            </a:r>
          </a:p>
        </p:txBody>
      </p:sp>
      <p:sp>
        <p:nvSpPr>
          <p:cNvPr id="4" name="Time badge"/>
          <p:cNvSpPr/>
          <p:nvPr/>
        </p:nvSpPr>
        <p:spPr>
          <a:xfrm>
            <a:off x="6858000" y="1463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F0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12 min</a:t>
            </a:r>
          </a:p>
        </p:txBody>
      </p:sp>
      <p:sp>
        <p:nvSpPr>
          <p:cNvPr id="5" name="Circle 1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71600" y="21945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Look at your persona.</a:t>
            </a:r>
          </a:p>
        </p:txBody>
      </p:sp>
      <p:sp>
        <p:nvSpPr>
          <p:cNvPr id="7" name="Circle 2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371600" y="294436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Sketch 3 screens.</a:t>
            </a:r>
          </a:p>
        </p:txBody>
      </p:sp>
      <p:sp>
        <p:nvSpPr>
          <p:cNvPr id="9" name="Circle 3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371600" y="3694176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Add short labels.</a:t>
            </a:r>
          </a:p>
        </p:txBody>
      </p:sp>
      <p:sp>
        <p:nvSpPr>
          <p:cNvPr id="11" name="Circle 4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371600" y="4443984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32B30"/>
                </a:solidFill>
              </a:rPr>
              <a:t>Check with 3 rules.</a:t>
            </a:r>
          </a:p>
        </p:txBody>
      </p:sp>
      <p:sp>
        <p:nvSpPr>
          <p:cNvPr id="13" name="Phone frame"/>
          <p:cNvSpPr/>
          <p:nvPr/>
        </p:nvSpPr>
        <p:spPr>
          <a:xfrm>
            <a:off x="4754880" y="2148840"/>
            <a:ext cx="960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00677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4" name="Wire header"/>
          <p:cNvSpPr/>
          <p:nvPr/>
        </p:nvSpPr>
        <p:spPr>
          <a:xfrm>
            <a:off x="4831690" y="2267712"/>
            <a:ext cx="806501" cy="213970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5" name="Wire search box"/>
          <p:cNvSpPr/>
          <p:nvPr/>
        </p:nvSpPr>
        <p:spPr>
          <a:xfrm>
            <a:off x="4831690" y="2553005"/>
            <a:ext cx="806501" cy="166421"/>
          </a:xfrm>
          <a:prstGeom prst="rect">
            <a:avLst/>
          </a:prstGeom>
          <a:solidFill>
            <a:srgbClr val="FFFFFF"/>
          </a:solidFill>
          <a:ln w="12700">
            <a:solidFill>
              <a:srgbClr val="646C7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6" name="Wire list item"/>
          <p:cNvSpPr/>
          <p:nvPr/>
        </p:nvSpPr>
        <p:spPr>
          <a:xfrm>
            <a:off x="4831690" y="2790749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7" name="Wire list item"/>
          <p:cNvSpPr/>
          <p:nvPr/>
        </p:nvSpPr>
        <p:spPr>
          <a:xfrm>
            <a:off x="4831690" y="3123590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8" name="Wire list item"/>
          <p:cNvSpPr/>
          <p:nvPr/>
        </p:nvSpPr>
        <p:spPr>
          <a:xfrm>
            <a:off x="4831690" y="3456432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9" name="Wire main button"/>
          <p:cNvSpPr/>
          <p:nvPr/>
        </p:nvSpPr>
        <p:spPr>
          <a:xfrm>
            <a:off x="4831690" y="3813048"/>
            <a:ext cx="806501" cy="190195"/>
          </a:xfrm>
          <a:prstGeom prst="roundRect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0" name="Wire menu bar"/>
          <p:cNvSpPr/>
          <p:nvPr/>
        </p:nvSpPr>
        <p:spPr>
          <a:xfrm>
            <a:off x="4831690" y="4240987"/>
            <a:ext cx="806501" cy="166421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1" name="Text"/>
          <p:cNvSpPr txBox="1"/>
          <p:nvPr/>
        </p:nvSpPr>
        <p:spPr>
          <a:xfrm>
            <a:off x="4663440" y="461772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Find</a:t>
            </a:r>
          </a:p>
        </p:txBody>
      </p:sp>
      <p:sp>
        <p:nvSpPr>
          <p:cNvPr id="22" name="Phone frame"/>
          <p:cNvSpPr/>
          <p:nvPr/>
        </p:nvSpPr>
        <p:spPr>
          <a:xfrm>
            <a:off x="5852160" y="2148840"/>
            <a:ext cx="960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00677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3" name="Wire header"/>
          <p:cNvSpPr/>
          <p:nvPr/>
        </p:nvSpPr>
        <p:spPr>
          <a:xfrm>
            <a:off x="5928970" y="2267712"/>
            <a:ext cx="806501" cy="213970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4" name="Wire search box"/>
          <p:cNvSpPr/>
          <p:nvPr/>
        </p:nvSpPr>
        <p:spPr>
          <a:xfrm>
            <a:off x="5928970" y="2553005"/>
            <a:ext cx="806501" cy="166421"/>
          </a:xfrm>
          <a:prstGeom prst="rect">
            <a:avLst/>
          </a:prstGeom>
          <a:solidFill>
            <a:srgbClr val="FFFFFF"/>
          </a:solidFill>
          <a:ln w="12700">
            <a:solidFill>
              <a:srgbClr val="646C7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5" name="Wire list item"/>
          <p:cNvSpPr/>
          <p:nvPr/>
        </p:nvSpPr>
        <p:spPr>
          <a:xfrm>
            <a:off x="5928970" y="2790749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6" name="Wire list item"/>
          <p:cNvSpPr/>
          <p:nvPr/>
        </p:nvSpPr>
        <p:spPr>
          <a:xfrm>
            <a:off x="5928970" y="3123590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7" name="Wire list item"/>
          <p:cNvSpPr/>
          <p:nvPr/>
        </p:nvSpPr>
        <p:spPr>
          <a:xfrm>
            <a:off x="5928970" y="3456432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8" name="Wire main button"/>
          <p:cNvSpPr/>
          <p:nvPr/>
        </p:nvSpPr>
        <p:spPr>
          <a:xfrm>
            <a:off x="5928970" y="3813048"/>
            <a:ext cx="806501" cy="190195"/>
          </a:xfrm>
          <a:prstGeom prst="roundRect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29" name="Wire menu bar"/>
          <p:cNvSpPr/>
          <p:nvPr/>
        </p:nvSpPr>
        <p:spPr>
          <a:xfrm>
            <a:off x="5928970" y="4240987"/>
            <a:ext cx="806501" cy="166421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0" name="Text"/>
          <p:cNvSpPr txBox="1"/>
          <p:nvPr/>
        </p:nvSpPr>
        <p:spPr>
          <a:xfrm>
            <a:off x="5760720" y="461772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Time</a:t>
            </a:r>
          </a:p>
        </p:txBody>
      </p:sp>
      <p:sp>
        <p:nvSpPr>
          <p:cNvPr id="31" name="Phone frame"/>
          <p:cNvSpPr/>
          <p:nvPr/>
        </p:nvSpPr>
        <p:spPr>
          <a:xfrm>
            <a:off x="6949440" y="2148840"/>
            <a:ext cx="960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00677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2" name="Wire header"/>
          <p:cNvSpPr/>
          <p:nvPr/>
        </p:nvSpPr>
        <p:spPr>
          <a:xfrm>
            <a:off x="7026250" y="2267712"/>
            <a:ext cx="806501" cy="213970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3" name="Wire search box"/>
          <p:cNvSpPr/>
          <p:nvPr/>
        </p:nvSpPr>
        <p:spPr>
          <a:xfrm>
            <a:off x="7026250" y="2553005"/>
            <a:ext cx="806501" cy="166421"/>
          </a:xfrm>
          <a:prstGeom prst="rect">
            <a:avLst/>
          </a:prstGeom>
          <a:solidFill>
            <a:srgbClr val="FFFFFF"/>
          </a:solidFill>
          <a:ln w="12700">
            <a:solidFill>
              <a:srgbClr val="646C7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4" name="Wire list item"/>
          <p:cNvSpPr/>
          <p:nvPr/>
        </p:nvSpPr>
        <p:spPr>
          <a:xfrm>
            <a:off x="7026250" y="2790749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5" name="Wire list item"/>
          <p:cNvSpPr/>
          <p:nvPr/>
        </p:nvSpPr>
        <p:spPr>
          <a:xfrm>
            <a:off x="7026250" y="3123590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6" name="Wire list item"/>
          <p:cNvSpPr/>
          <p:nvPr/>
        </p:nvSpPr>
        <p:spPr>
          <a:xfrm>
            <a:off x="7026250" y="3456432"/>
            <a:ext cx="806501" cy="273406"/>
          </a:xfrm>
          <a:prstGeom prst="rect">
            <a:avLst/>
          </a:prstGeom>
          <a:solidFill>
            <a:srgbClr val="F3F6F7"/>
          </a:solidFill>
          <a:ln w="12700">
            <a:solidFill>
              <a:srgbClr val="C9D3D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7" name="Wire main button"/>
          <p:cNvSpPr/>
          <p:nvPr/>
        </p:nvSpPr>
        <p:spPr>
          <a:xfrm>
            <a:off x="7026250" y="3813048"/>
            <a:ext cx="806501" cy="190195"/>
          </a:xfrm>
          <a:prstGeom prst="roundRect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8" name="Wire menu bar"/>
          <p:cNvSpPr/>
          <p:nvPr/>
        </p:nvSpPr>
        <p:spPr>
          <a:xfrm>
            <a:off x="7026250" y="4240987"/>
            <a:ext cx="806501" cy="166421"/>
          </a:xfrm>
          <a:prstGeom prst="rect">
            <a:avLst/>
          </a:prstGeom>
          <a:solidFill>
            <a:srgbClr val="C9D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39" name="Text"/>
          <p:cNvSpPr txBox="1"/>
          <p:nvPr/>
        </p:nvSpPr>
        <p:spPr>
          <a:xfrm>
            <a:off x="6858000" y="461772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Confirm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77240" y="5212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Screens: 1 Find a room, 2 Choose a time, 3 Confirm.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41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How to run a usability test</a:t>
            </a:r>
          </a:p>
        </p:txBody>
      </p:sp>
      <p:sp>
        <p:nvSpPr>
          <p:cNvPr id="3" name="Facilitator card"/>
          <p:cNvSpPr/>
          <p:nvPr/>
        </p:nvSpPr>
        <p:spPr>
          <a:xfrm>
            <a:off x="777240" y="146304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4" name="Person head"/>
          <p:cNvSpPr/>
          <p:nvPr/>
        </p:nvSpPr>
        <p:spPr>
          <a:xfrm>
            <a:off x="1801368" y="1645920"/>
            <a:ext cx="329184" cy="32918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5" name="Person body"/>
          <p:cNvSpPr/>
          <p:nvPr/>
        </p:nvSpPr>
        <p:spPr>
          <a:xfrm>
            <a:off x="1636776" y="2040941"/>
            <a:ext cx="658368" cy="4279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6" name="Text"/>
          <p:cNvSpPr txBox="1"/>
          <p:nvPr/>
        </p:nvSpPr>
        <p:spPr>
          <a:xfrm>
            <a:off x="868680" y="269748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Facilitator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Gives the task. Does not help.</a:t>
            </a:r>
          </a:p>
        </p:txBody>
      </p:sp>
      <p:sp>
        <p:nvSpPr>
          <p:cNvPr id="7" name="Participant card"/>
          <p:cNvSpPr/>
          <p:nvPr/>
        </p:nvSpPr>
        <p:spPr>
          <a:xfrm>
            <a:off x="3246120" y="146304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8" name="Person head"/>
          <p:cNvSpPr/>
          <p:nvPr/>
        </p:nvSpPr>
        <p:spPr>
          <a:xfrm>
            <a:off x="4270248" y="1645920"/>
            <a:ext cx="329184" cy="32918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9" name="Person body"/>
          <p:cNvSpPr/>
          <p:nvPr/>
        </p:nvSpPr>
        <p:spPr>
          <a:xfrm>
            <a:off x="4105656" y="2040941"/>
            <a:ext cx="658368" cy="4279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0" name="Text"/>
          <p:cNvSpPr txBox="1"/>
          <p:nvPr/>
        </p:nvSpPr>
        <p:spPr>
          <a:xfrm>
            <a:off x="3337560" y="269748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Participant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Tries the task. Says what they think.</a:t>
            </a:r>
          </a:p>
        </p:txBody>
      </p:sp>
      <p:sp>
        <p:nvSpPr>
          <p:cNvPr id="11" name="Observer card"/>
          <p:cNvSpPr/>
          <p:nvPr/>
        </p:nvSpPr>
        <p:spPr>
          <a:xfrm>
            <a:off x="5715000" y="1463040"/>
            <a:ext cx="2377440" cy="265176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endParaRPr lang="en-GB"/>
          </a:p>
        </p:txBody>
      </p:sp>
      <p:sp>
        <p:nvSpPr>
          <p:cNvPr id="12" name="Person head"/>
          <p:cNvSpPr/>
          <p:nvPr/>
        </p:nvSpPr>
        <p:spPr>
          <a:xfrm>
            <a:off x="6739128" y="1645920"/>
            <a:ext cx="329184" cy="32918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3" name="Person body"/>
          <p:cNvSpPr/>
          <p:nvPr/>
        </p:nvSpPr>
        <p:spPr>
          <a:xfrm>
            <a:off x="6574536" y="2040941"/>
            <a:ext cx="658368" cy="4279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9DA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4" name="Text"/>
          <p:cNvSpPr txBox="1"/>
          <p:nvPr/>
        </p:nvSpPr>
        <p:spPr>
          <a:xfrm>
            <a:off x="5806440" y="269748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700" b="1" dirty="0">
                <a:solidFill>
                  <a:srgbClr val="006772"/>
                </a:solidFill>
              </a:rPr>
              <a:t>Observer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32B30"/>
                </a:solidFill>
              </a:rPr>
              <a:t>Writes notes. Stays quiet.</a:t>
            </a:r>
          </a:p>
        </p:txBody>
      </p:sp>
      <p:sp>
        <p:nvSpPr>
          <p:cNvPr id="15" name="Test sentence"/>
          <p:cNvSpPr/>
          <p:nvPr/>
        </p:nvSpPr>
        <p:spPr>
          <a:xfrm>
            <a:off x="777240" y="4389120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Say: "Please say what you think while you work. We test the design, not you."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42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Activity 6: test a prototype</a:t>
            </a:r>
          </a:p>
        </p:txBody>
      </p:sp>
      <p:sp>
        <p:nvSpPr>
          <p:cNvPr id="3" name="Activity banner"/>
          <p:cNvSpPr/>
          <p:nvPr/>
        </p:nvSpPr>
        <p:spPr>
          <a:xfrm>
            <a:off x="777240" y="1371600"/>
            <a:ext cx="7315200" cy="5486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82880" tIns="36576" rIns="137160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ACTIVITY 6</a:t>
            </a:r>
            <a:r>
              <a:rPr lang="en-GB" sz="1600" dirty="0">
                <a:solidFill>
                  <a:srgbClr val="FFFFFF"/>
                </a:solidFill>
              </a:rPr>
              <a:t>   |   GROUP WORK</a:t>
            </a:r>
          </a:p>
        </p:txBody>
      </p:sp>
      <p:sp>
        <p:nvSpPr>
          <p:cNvPr id="4" name="Time badge"/>
          <p:cNvSpPr/>
          <p:nvPr/>
        </p:nvSpPr>
        <p:spPr>
          <a:xfrm>
            <a:off x="6858000" y="1463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F0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6772"/>
                </a:solidFill>
              </a:rPr>
              <a:t>12 min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77240" y="2057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Task for the user: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"Book a study room for tomorrow at 2 pm."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77240" y="3017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646C70"/>
                </a:solidFill>
              </a:rPr>
              <a:t>Round 1: 5 min.  Swap.  Round 2: 5 min.  Share notes: 2 min.</a:t>
            </a:r>
          </a:p>
        </p:txBody>
      </p:sp>
      <p:graphicFrame>
        <p:nvGraphicFramePr>
          <p:cNvPr id="7" name="Notes table"/>
          <p:cNvGraphicFramePr>
            <a:graphicFrameLocks noGrp="1"/>
          </p:cNvGraphicFramePr>
          <p:nvPr/>
        </p:nvGraphicFramePr>
        <p:xfrm>
          <a:off x="777240" y="3520440"/>
          <a:ext cx="7315200" cy="1831086"/>
        </p:xfrm>
        <a:graphic>
          <a:graphicData uri="http://schemas.openxmlformats.org/drawingml/2006/table">
            <a:tbl>
              <a:tblPr firstRow="1"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Where did they stop?</a:t>
                      </a:r>
                    </a:p>
                  </a:txBody>
                  <a:tcPr anchor="ctr">
                    <a:lnL w="12700">
                      <a:solidFill>
                        <a:srgbClr val="006772"/>
                      </a:solidFill>
                    </a:lnL>
                    <a:lnR w="12700">
                      <a:solidFill>
                        <a:srgbClr val="006772"/>
                      </a:solidFill>
                    </a:lnR>
                    <a:lnT w="12700">
                      <a:solidFill>
                        <a:srgbClr val="006772"/>
                      </a:solidFill>
                    </a:lnT>
                    <a:lnB w="12700">
                      <a:solidFill>
                        <a:srgbClr val="006772"/>
                      </a:solidFill>
                    </a:lnB>
                    <a:solidFill>
                      <a:srgbClr val="00677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What did they say?</a:t>
                      </a:r>
                    </a:p>
                  </a:txBody>
                  <a:tcPr anchor="ctr">
                    <a:lnL w="12700">
                      <a:solidFill>
                        <a:srgbClr val="006772"/>
                      </a:solidFill>
                    </a:lnL>
                    <a:lnR w="12700">
                      <a:solidFill>
                        <a:srgbClr val="006772"/>
                      </a:solidFill>
                    </a:lnR>
                    <a:lnT w="12700">
                      <a:solidFill>
                        <a:srgbClr val="006772"/>
                      </a:solidFill>
                    </a:lnT>
                    <a:lnB w="12700">
                      <a:solidFill>
                        <a:srgbClr val="006772"/>
                      </a:solidFill>
                    </a:lnB>
                    <a:solidFill>
                      <a:srgbClr val="00677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Size 1–3</a:t>
                      </a:r>
                    </a:p>
                  </a:txBody>
                  <a:tcPr anchor="ctr">
                    <a:lnL w="12700">
                      <a:solidFill>
                        <a:srgbClr val="006772"/>
                      </a:solidFill>
                    </a:lnL>
                    <a:lnR w="12700">
                      <a:solidFill>
                        <a:srgbClr val="006772"/>
                      </a:solidFill>
                    </a:lnR>
                    <a:lnT w="12700">
                      <a:solidFill>
                        <a:srgbClr val="006772"/>
                      </a:solidFill>
                    </a:lnT>
                    <a:lnB w="12700">
                      <a:solidFill>
                        <a:srgbClr val="006772"/>
                      </a:solidFill>
                    </a:lnB>
                    <a:solidFill>
                      <a:srgbClr val="0067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 cap="flat" cmpd="sng" algn="ctr">
                      <a:solidFill>
                        <a:srgbClr val="00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 cap="flat" cmpd="sng" algn="ctr">
                      <a:solidFill>
                        <a:srgbClr val="00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 cap="flat" cmpd="sng" algn="ctr">
                      <a:solidFill>
                        <a:srgbClr val="00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 w="12700">
                      <a:solidFill>
                        <a:srgbClr val="C9D3D6"/>
                      </a:solidFill>
                    </a:lnL>
                    <a:lnR w="12700">
                      <a:solidFill>
                        <a:srgbClr val="C9D3D6"/>
                      </a:solidFill>
                    </a:lnR>
                    <a:lnT w="12700">
                      <a:solidFill>
                        <a:srgbClr val="C9D3D6"/>
                      </a:solidFill>
                    </a:lnT>
                    <a:lnB w="12700">
                      <a:solidFill>
                        <a:srgbClr val="C9D3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43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Menti: how did it go?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232B30"/>
                </a:solidFill>
              </a:rPr>
              <a:t>Use your notes from the test.</a:t>
            </a:r>
          </a:p>
        </p:txBody>
      </p:sp>
      <p:sp>
        <p:nvSpPr>
          <p:cNvPr id="4" name="Menti 9 box"/>
          <p:cNvSpPr/>
          <p:nvPr/>
        </p:nvSpPr>
        <p:spPr>
          <a:xfrm>
            <a:off x="777240" y="2377440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9  |  Scales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How easy was the task? 1 = very hard, 5 = very easy.</a:t>
            </a:r>
          </a:p>
        </p:txBody>
      </p:sp>
      <p:sp>
        <p:nvSpPr>
          <p:cNvPr id="5" name="Menti 10 box"/>
          <p:cNvSpPr/>
          <p:nvPr/>
        </p:nvSpPr>
        <p:spPr>
          <a:xfrm>
            <a:off x="777240" y="3749040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10  |  Open text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What is one thing you will change in your design?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44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Fix the big problems first</a:t>
            </a:r>
          </a:p>
        </p:txBody>
      </p:sp>
      <p:sp>
        <p:nvSpPr>
          <p:cNvPr id="3" name="High severity"/>
          <p:cNvSpPr/>
          <p:nvPr/>
        </p:nvSpPr>
        <p:spPr>
          <a:xfrm>
            <a:off x="777240" y="1508760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FCE9E7"/>
          </a:solidFill>
          <a:ln>
            <a:noFill/>
          </a:ln>
        </p:spPr>
        <p:txBody>
          <a:bodyPr wrap="square" lIns="182880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The user cannot finish the task.</a:t>
            </a:r>
            <a:r>
              <a:rPr lang="en-GB" sz="1600" dirty="0">
                <a:solidFill>
                  <a:srgbClr val="232B30"/>
                </a:solidFill>
              </a:rPr>
              <a:t>  Fix first.</a:t>
            </a:r>
          </a:p>
        </p:txBody>
      </p:sp>
      <p:sp>
        <p:nvSpPr>
          <p:cNvPr id="4" name="Label chip"/>
          <p:cNvSpPr/>
          <p:nvPr/>
        </p:nvSpPr>
        <p:spPr>
          <a:xfrm>
            <a:off x="960120" y="178308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" name="Medium severity"/>
          <p:cNvSpPr/>
          <p:nvPr/>
        </p:nvSpPr>
        <p:spPr>
          <a:xfrm>
            <a:off x="777240" y="2834640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</p:spPr>
        <p:txBody>
          <a:bodyPr wrap="square" lIns="182880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The user is slow or confused.</a:t>
            </a:r>
            <a:r>
              <a:rPr lang="en-GB" sz="1600" dirty="0">
                <a:solidFill>
                  <a:srgbClr val="232B30"/>
                </a:solidFill>
              </a:rPr>
              <a:t>  Fix next.</a:t>
            </a:r>
          </a:p>
        </p:txBody>
      </p:sp>
      <p:sp>
        <p:nvSpPr>
          <p:cNvPr id="6" name="Label chip"/>
          <p:cNvSpPr/>
          <p:nvPr/>
        </p:nvSpPr>
        <p:spPr>
          <a:xfrm>
            <a:off x="960120" y="310896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8A5300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7" name="Low severity"/>
          <p:cNvSpPr/>
          <p:nvPr/>
        </p:nvSpPr>
        <p:spPr>
          <a:xfrm>
            <a:off x="777240" y="4160520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182880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A small problem.</a:t>
            </a:r>
            <a:r>
              <a:rPr lang="en-GB" sz="1600" dirty="0">
                <a:solidFill>
                  <a:srgbClr val="232B30"/>
                </a:solidFill>
              </a:rPr>
              <a:t>  Fix if there is time.</a:t>
            </a:r>
          </a:p>
        </p:txBody>
      </p:sp>
      <p:sp>
        <p:nvSpPr>
          <p:cNvPr id="8" name="Label chip"/>
          <p:cNvSpPr/>
          <p:nvPr/>
        </p:nvSpPr>
        <p:spPr>
          <a:xfrm>
            <a:off x="960120" y="443484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45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Design, test, improve, repeat</a:t>
            </a:r>
          </a:p>
        </p:txBody>
      </p:sp>
      <p:sp>
        <p:nvSpPr>
          <p:cNvPr id="3" name="Cycle Design"/>
          <p:cNvSpPr/>
          <p:nvPr/>
        </p:nvSpPr>
        <p:spPr>
          <a:xfrm>
            <a:off x="1234440" y="16459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4" name="Cycle Prototype"/>
          <p:cNvSpPr/>
          <p:nvPr/>
        </p:nvSpPr>
        <p:spPr>
          <a:xfrm>
            <a:off x="4800600" y="16459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Prototype</a:t>
            </a:r>
          </a:p>
        </p:txBody>
      </p:sp>
      <p:sp>
        <p:nvSpPr>
          <p:cNvPr id="5" name="Cycle Test"/>
          <p:cNvSpPr/>
          <p:nvPr/>
        </p:nvSpPr>
        <p:spPr>
          <a:xfrm>
            <a:off x="4800600" y="365760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199DAC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6" name="Cycle Improve"/>
          <p:cNvSpPr/>
          <p:nvPr/>
        </p:nvSpPr>
        <p:spPr>
          <a:xfrm>
            <a:off x="1234440" y="365760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00677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FFFF"/>
                </a:solidFill>
              </a:rPr>
              <a:t>Improve</a:t>
            </a:r>
          </a:p>
        </p:txBody>
      </p:sp>
      <p:sp>
        <p:nvSpPr>
          <p:cNvPr id="7" name="Arrow right"/>
          <p:cNvSpPr/>
          <p:nvPr/>
        </p:nvSpPr>
        <p:spPr>
          <a:xfrm>
            <a:off x="4069080" y="1965960"/>
            <a:ext cx="640080" cy="365760"/>
          </a:xfrm>
          <a:prstGeom prst="rightArrow">
            <a:avLst/>
          </a:prstGeom>
          <a:solidFill>
            <a:srgbClr val="646C7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8" name="Arrow down"/>
          <p:cNvSpPr/>
          <p:nvPr/>
        </p:nvSpPr>
        <p:spPr>
          <a:xfrm>
            <a:off x="6035040" y="2743200"/>
            <a:ext cx="365760" cy="822960"/>
          </a:xfrm>
          <a:prstGeom prst="downArrow">
            <a:avLst/>
          </a:prstGeom>
          <a:solidFill>
            <a:srgbClr val="646C7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9" name="Arrow left"/>
          <p:cNvSpPr/>
          <p:nvPr/>
        </p:nvSpPr>
        <p:spPr>
          <a:xfrm>
            <a:off x="4069080" y="3977640"/>
            <a:ext cx="640080" cy="365760"/>
          </a:xfrm>
          <a:prstGeom prst="leftArrow">
            <a:avLst/>
          </a:prstGeom>
          <a:solidFill>
            <a:srgbClr val="646C7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0" name="Arrow up"/>
          <p:cNvSpPr/>
          <p:nvPr/>
        </p:nvSpPr>
        <p:spPr>
          <a:xfrm>
            <a:off x="2286000" y="2743200"/>
            <a:ext cx="365760" cy="822960"/>
          </a:xfrm>
          <a:prstGeom prst="upArrow">
            <a:avLst/>
          </a:prstGeom>
          <a:solidFill>
            <a:srgbClr val="646C7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11" name="Text"/>
          <p:cNvSpPr txBox="1"/>
          <p:nvPr/>
        </p:nvSpPr>
        <p:spPr>
          <a:xfrm>
            <a:off x="777240" y="5120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6772"/>
                </a:solidFill>
              </a:rPr>
              <a:t>Test early. Test often.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46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Key points</a:t>
            </a:r>
          </a:p>
        </p:txBody>
      </p:sp>
      <p:sp>
        <p:nvSpPr>
          <p:cNvPr id="3" name="Row 1"/>
          <p:cNvSpPr/>
          <p:nvPr/>
        </p:nvSpPr>
        <p:spPr>
          <a:xfrm>
            <a:off x="777240" y="1417320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HCI</a:t>
            </a:r>
            <a:r>
              <a:rPr lang="en-GB" sz="1600" dirty="0">
                <a:solidFill>
                  <a:srgbClr val="232B30"/>
                </a:solidFill>
              </a:rPr>
              <a:t>  makes technology work for people.</a:t>
            </a:r>
          </a:p>
        </p:txBody>
      </p:sp>
      <p:sp>
        <p:nvSpPr>
          <p:cNvPr id="4" name="Circle 1"/>
          <p:cNvSpPr/>
          <p:nvPr/>
        </p:nvSpPr>
        <p:spPr>
          <a:xfrm>
            <a:off x="914400" y="1627632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w 2"/>
          <p:cNvSpPr/>
          <p:nvPr/>
        </p:nvSpPr>
        <p:spPr>
          <a:xfrm>
            <a:off x="777240" y="2368296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Know your users.</a:t>
            </a:r>
            <a:r>
              <a:rPr lang="en-GB" sz="1600" dirty="0">
                <a:solidFill>
                  <a:srgbClr val="232B30"/>
                </a:solidFill>
              </a:rPr>
              <a:t>  Use personas.</a:t>
            </a:r>
          </a:p>
        </p:txBody>
      </p:sp>
      <p:sp>
        <p:nvSpPr>
          <p:cNvPr id="6" name="Circle 2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w 3"/>
          <p:cNvSpPr/>
          <p:nvPr/>
        </p:nvSpPr>
        <p:spPr>
          <a:xfrm>
            <a:off x="777240" y="3319272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Use the 10 rules</a:t>
            </a:r>
            <a:r>
              <a:rPr lang="en-GB" sz="1600" dirty="0">
                <a:solidFill>
                  <a:srgbClr val="232B30"/>
                </a:solidFill>
              </a:rPr>
              <a:t>  to check a design.</a:t>
            </a:r>
          </a:p>
        </p:txBody>
      </p:sp>
      <p:sp>
        <p:nvSpPr>
          <p:cNvPr id="8" name="Circle 3"/>
          <p:cNvSpPr/>
          <p:nvPr/>
        </p:nvSpPr>
        <p:spPr>
          <a:xfrm>
            <a:off x="914400" y="3529584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w 4"/>
          <p:cNvSpPr/>
          <p:nvPr/>
        </p:nvSpPr>
        <p:spPr>
          <a:xfrm>
            <a:off x="777240" y="4270248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Design for everyone.</a:t>
            </a:r>
            <a:r>
              <a:rPr lang="en-GB" sz="1600" dirty="0">
                <a:solidFill>
                  <a:srgbClr val="232B30"/>
                </a:solidFill>
              </a:rPr>
              <a:t>  Accessibility matters.</a:t>
            </a:r>
          </a:p>
        </p:txBody>
      </p:sp>
      <p:sp>
        <p:nvSpPr>
          <p:cNvPr id="10" name="Circle 4"/>
          <p:cNvSpPr/>
          <p:nvPr/>
        </p:nvSpPr>
        <p:spPr>
          <a:xfrm>
            <a:off x="914400" y="4480560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w 5"/>
          <p:cNvSpPr/>
          <p:nvPr/>
        </p:nvSpPr>
        <p:spPr>
          <a:xfrm>
            <a:off x="777240" y="5221224"/>
            <a:ext cx="7315200" cy="841248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Prototype, test, improve.</a:t>
            </a:r>
            <a:r>
              <a:rPr lang="en-GB" sz="1600" dirty="0">
                <a:solidFill>
                  <a:srgbClr val="232B30"/>
                </a:solidFill>
              </a:rPr>
              <a:t>  Do it again.</a:t>
            </a:r>
          </a:p>
        </p:txBody>
      </p:sp>
      <p:sp>
        <p:nvSpPr>
          <p:cNvPr id="12" name="Circle 5"/>
          <p:cNvSpPr/>
          <p:nvPr/>
        </p:nvSpPr>
        <p:spPr>
          <a:xfrm>
            <a:off x="914400" y="5431536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47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Final Menti quiz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200" b="1" dirty="0">
                <a:solidFill>
                  <a:srgbClr val="006772"/>
                </a:solidFill>
              </a:rPr>
              <a:t>5 questions. 20 seconds each.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232B30"/>
                </a:solidFill>
              </a:rPr>
              <a:t>Answer on your phone. Do your best!</a:t>
            </a:r>
          </a:p>
        </p:txBody>
      </p:sp>
      <p:sp>
        <p:nvSpPr>
          <p:cNvPr id="4" name="Label chip"/>
          <p:cNvSpPr/>
          <p:nvPr/>
        </p:nvSpPr>
        <p:spPr>
          <a:xfrm>
            <a:off x="777240" y="27432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HCI</a:t>
            </a:r>
          </a:p>
        </p:txBody>
      </p:sp>
      <p:sp>
        <p:nvSpPr>
          <p:cNvPr id="5" name="Label chip"/>
          <p:cNvSpPr/>
          <p:nvPr/>
        </p:nvSpPr>
        <p:spPr>
          <a:xfrm>
            <a:off x="3246120" y="27432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Personas</a:t>
            </a:r>
          </a:p>
        </p:txBody>
      </p:sp>
      <p:sp>
        <p:nvSpPr>
          <p:cNvPr id="6" name="Label chip"/>
          <p:cNvSpPr/>
          <p:nvPr/>
        </p:nvSpPr>
        <p:spPr>
          <a:xfrm>
            <a:off x="5715000" y="27432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Usability rules</a:t>
            </a:r>
          </a:p>
        </p:txBody>
      </p:sp>
      <p:sp>
        <p:nvSpPr>
          <p:cNvPr id="7" name="Label chip"/>
          <p:cNvSpPr/>
          <p:nvPr/>
        </p:nvSpPr>
        <p:spPr>
          <a:xfrm>
            <a:off x="777240" y="352044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Accessibility</a:t>
            </a:r>
          </a:p>
        </p:txBody>
      </p:sp>
      <p:sp>
        <p:nvSpPr>
          <p:cNvPr id="8" name="Label chip"/>
          <p:cNvSpPr/>
          <p:nvPr/>
        </p:nvSpPr>
        <p:spPr>
          <a:xfrm>
            <a:off x="3246120" y="352044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DCF0F2"/>
          </a:solidFill>
          <a:ln>
            <a:noFill/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Testing</a:t>
            </a:r>
          </a:p>
        </p:txBody>
      </p:sp>
      <p:sp>
        <p:nvSpPr>
          <p:cNvPr id="9" name="Menti 11 box"/>
          <p:cNvSpPr/>
          <p:nvPr/>
        </p:nvSpPr>
        <p:spPr>
          <a:xfrm>
            <a:off x="777240" y="457200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11  |  Quiz (5 questions)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Join with the code on the screen. Choose the best answer.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48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Before the next session</a:t>
            </a:r>
          </a:p>
        </p:txBody>
      </p:sp>
      <p:sp>
        <p:nvSpPr>
          <p:cNvPr id="3" name="Row 1"/>
          <p:cNvSpPr/>
          <p:nvPr/>
        </p:nvSpPr>
        <p:spPr>
          <a:xfrm>
            <a:off x="777240" y="146304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Test one app</a:t>
            </a:r>
            <a:r>
              <a:rPr lang="en-GB" sz="1600" dirty="0">
                <a:solidFill>
                  <a:srgbClr val="232B30"/>
                </a:solidFill>
              </a:rPr>
              <a:t>  with a friend (10 min). Write 3 problems.</a:t>
            </a:r>
          </a:p>
        </p:txBody>
      </p:sp>
      <p:sp>
        <p:nvSpPr>
          <p:cNvPr id="4" name="Circle 1"/>
          <p:cNvSpPr/>
          <p:nvPr/>
        </p:nvSpPr>
        <p:spPr>
          <a:xfrm>
            <a:off x="914400" y="173278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w 2"/>
          <p:cNvSpPr/>
          <p:nvPr/>
        </p:nvSpPr>
        <p:spPr>
          <a:xfrm>
            <a:off x="777240" y="260604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Write 3 fixes</a:t>
            </a:r>
            <a:r>
              <a:rPr lang="en-GB" sz="1600" dirty="0">
                <a:solidFill>
                  <a:srgbClr val="232B30"/>
                </a:solidFill>
              </a:rPr>
              <a:t>  using the 10 usability rules.</a:t>
            </a:r>
          </a:p>
        </p:txBody>
      </p:sp>
      <p:sp>
        <p:nvSpPr>
          <p:cNvPr id="6" name="Circle 2"/>
          <p:cNvSpPr/>
          <p:nvPr/>
        </p:nvSpPr>
        <p:spPr>
          <a:xfrm>
            <a:off x="914400" y="287578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w 3"/>
          <p:cNvSpPr/>
          <p:nvPr/>
        </p:nvSpPr>
        <p:spPr>
          <a:xfrm>
            <a:off x="777240" y="374904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Read</a:t>
            </a:r>
            <a:r>
              <a:rPr lang="en-GB" sz="1600" dirty="0">
                <a:solidFill>
                  <a:srgbClr val="232B30"/>
                </a:solidFill>
              </a:rPr>
              <a:t>  Nielsen: 10 Usability Heuristics (nngroup.com).</a:t>
            </a:r>
          </a:p>
        </p:txBody>
      </p:sp>
      <p:sp>
        <p:nvSpPr>
          <p:cNvPr id="8" name="Circle 3"/>
          <p:cNvSpPr/>
          <p:nvPr/>
        </p:nvSpPr>
        <p:spPr>
          <a:xfrm>
            <a:off x="914400" y="401878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w 4"/>
          <p:cNvSpPr/>
          <p:nvPr/>
        </p:nvSpPr>
        <p:spPr>
          <a:xfrm>
            <a:off x="777240" y="489204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6772"/>
                </a:solidFill>
              </a:rPr>
              <a:t>Keep</a:t>
            </a:r>
            <a:r>
              <a:rPr lang="en-GB" sz="1600" dirty="0">
                <a:solidFill>
                  <a:srgbClr val="232B30"/>
                </a:solidFill>
              </a:rPr>
              <a:t>  your persona and sketches.</a:t>
            </a:r>
          </a:p>
        </p:txBody>
      </p:sp>
      <p:sp>
        <p:nvSpPr>
          <p:cNvPr id="10" name="Circle 4"/>
          <p:cNvSpPr/>
          <p:nvPr/>
        </p:nvSpPr>
        <p:spPr>
          <a:xfrm>
            <a:off x="914400" y="5161788"/>
            <a:ext cx="420624" cy="420624"/>
          </a:xfrm>
          <a:prstGeom prst="ellipse">
            <a:avLst/>
          </a:prstGeom>
          <a:solidFill>
            <a:srgbClr val="199D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49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Menti: exit ticket</a:t>
            </a:r>
          </a:p>
        </p:txBody>
      </p:sp>
      <p:sp>
        <p:nvSpPr>
          <p:cNvPr id="3" name="Menti 12 box"/>
          <p:cNvSpPr/>
          <p:nvPr/>
        </p:nvSpPr>
        <p:spPr>
          <a:xfrm>
            <a:off x="777240" y="1554480"/>
            <a:ext cx="7315200" cy="11887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12  |  Open text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One new thing I learned today.</a:t>
            </a:r>
          </a:p>
        </p:txBody>
      </p:sp>
      <p:sp>
        <p:nvSpPr>
          <p:cNvPr id="4" name="Menti 13 box"/>
          <p:cNvSpPr/>
          <p:nvPr/>
        </p:nvSpPr>
        <p:spPr>
          <a:xfrm>
            <a:off x="777240" y="3017520"/>
            <a:ext cx="7315200" cy="118872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 w="12700">
            <a:solidFill>
              <a:srgbClr val="006772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006772"/>
                </a:solidFill>
              </a:rPr>
              <a:t>MENTI 13  |  Scales</a:t>
            </a:r>
            <a:r>
              <a:rPr lang="en-GB" sz="1200" dirty="0">
                <a:solidFill>
                  <a:srgbClr val="646C70"/>
                </a:solidFill>
              </a:rPr>
              <a:t>   Join: menti.com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32B30"/>
                </a:solidFill>
              </a:rPr>
              <a:t>I feel confident about HCI. 1 = not at all, 5 = very confident.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77240" y="45720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646C70"/>
                </a:solidFill>
              </a:rPr>
              <a:t>Thank you for your answers. They help me to plan the next session.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50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sing bar"/>
          <p:cNvSpPr/>
          <p:nvPr/>
        </p:nvSpPr>
        <p:spPr>
          <a:xfrm>
            <a:off x="960120" y="1097280"/>
            <a:ext cx="64008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/>
          </a:p>
        </p:txBody>
      </p:sp>
      <p:sp>
        <p:nvSpPr>
          <p:cNvPr id="4" name="Text"/>
          <p:cNvSpPr txBox="1"/>
          <p:nvPr/>
        </p:nvSpPr>
        <p:spPr>
          <a:xfrm>
            <a:off x="1325880" y="228600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3600" b="1" dirty="0">
                <a:solidFill>
                  <a:srgbClr val="FFFFFF"/>
                </a:solidFill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DCF0F2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Further reading</a:t>
            </a:r>
          </a:p>
        </p:txBody>
      </p:sp>
      <p:sp>
        <p:nvSpPr>
          <p:cNvPr id="3" name="Row 1"/>
          <p:cNvSpPr/>
          <p:nvPr/>
        </p:nvSpPr>
        <p:spPr>
          <a:xfrm>
            <a:off x="777240" y="1463040"/>
            <a:ext cx="7315200" cy="10058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1A9DAC"/>
                </a:solidFill>
              </a:rPr>
              <a:t>Nielsen, J.</a:t>
            </a:r>
            <a:r>
              <a:rPr lang="en-GB" dirty="0">
                <a:solidFill>
                  <a:srgbClr val="1A9DAC"/>
                </a:solidFill>
              </a:rPr>
              <a:t> </a:t>
            </a:r>
            <a:r>
              <a:rPr lang="en-GB" dirty="0"/>
              <a:t>(2020) </a:t>
            </a:r>
            <a:r>
              <a:rPr lang="en-GB" i="1" dirty="0"/>
              <a:t>10 usability heuristics for user interface design</a:t>
            </a:r>
            <a:r>
              <a:rPr lang="en-GB" dirty="0"/>
              <a:t>. Nielsen Norman Group. Available at: </a:t>
            </a:r>
            <a:r>
              <a:rPr lang="en-GB" dirty="0">
                <a:hlinkClick r:id="rId3"/>
              </a:rPr>
              <a:t>https://www.nngroup.com/articles/ten-usability-heuristics/</a:t>
            </a:r>
            <a:endParaRPr lang="en-GB" sz="1600" dirty="0">
              <a:solidFill>
                <a:srgbClr val="232B30"/>
              </a:solidFill>
            </a:endParaRPr>
          </a:p>
        </p:txBody>
      </p:sp>
      <p:sp>
        <p:nvSpPr>
          <p:cNvPr id="4" name="Row 2"/>
          <p:cNvSpPr/>
          <p:nvPr/>
        </p:nvSpPr>
        <p:spPr>
          <a:xfrm>
            <a:off x="777240" y="2651760"/>
            <a:ext cx="7315200" cy="10058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lvl="0"/>
            <a:r>
              <a:rPr lang="en-GB" b="1" dirty="0">
                <a:solidFill>
                  <a:srgbClr val="1A9DAC"/>
                </a:solidFill>
              </a:rPr>
              <a:t>Norman, D.A.</a:t>
            </a:r>
            <a:r>
              <a:rPr lang="en-GB" dirty="0">
                <a:solidFill>
                  <a:srgbClr val="1A9DAC"/>
                </a:solidFill>
              </a:rPr>
              <a:t> </a:t>
            </a:r>
            <a:r>
              <a:rPr lang="en-GB" dirty="0"/>
              <a:t>(2013) </a:t>
            </a:r>
            <a:r>
              <a:rPr lang="en-GB" i="1" dirty="0">
                <a:hlinkClick r:id="rId4"/>
              </a:rPr>
              <a:t>The design of everyday things</a:t>
            </a:r>
            <a:r>
              <a:rPr lang="en-GB" dirty="0"/>
              <a:t>. Revised and expanded </a:t>
            </a:r>
            <a:r>
              <a:rPr lang="en-GB" dirty="0" err="1"/>
              <a:t>edn</a:t>
            </a:r>
            <a:r>
              <a:rPr lang="en-GB" dirty="0"/>
              <a:t>. New York: Basic Books.</a:t>
            </a:r>
          </a:p>
        </p:txBody>
      </p:sp>
      <p:sp>
        <p:nvSpPr>
          <p:cNvPr id="5" name="Row 3"/>
          <p:cNvSpPr/>
          <p:nvPr/>
        </p:nvSpPr>
        <p:spPr>
          <a:xfrm>
            <a:off x="777240" y="3840480"/>
            <a:ext cx="7315200" cy="10058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1A9DAC"/>
                </a:solidFill>
              </a:rPr>
              <a:t>W3C</a:t>
            </a:r>
            <a:r>
              <a:rPr lang="en-GB" dirty="0"/>
              <a:t> (2023) </a:t>
            </a:r>
            <a:r>
              <a:rPr lang="en-GB" i="1" dirty="0"/>
              <a:t>Web Content Accessibility Guidelines (WCAG) 2.2</a:t>
            </a:r>
            <a:r>
              <a:rPr lang="en-GB" dirty="0"/>
              <a:t>. W3C Recommendation. Available at: </a:t>
            </a:r>
            <a:r>
              <a:rPr lang="en-GB" dirty="0">
                <a:hlinkClick r:id="rId5"/>
              </a:rPr>
              <a:t>https://www.w3.org/TR/WCAG22/</a:t>
            </a:r>
            <a:r>
              <a:rPr lang="en-GB" dirty="0"/>
              <a:t> </a:t>
            </a:r>
            <a:endParaRPr lang="en-GB" sz="1600" dirty="0">
              <a:solidFill>
                <a:srgbClr val="232B30"/>
              </a:solidFill>
            </a:endParaRPr>
          </a:p>
        </p:txBody>
      </p:sp>
      <p:sp>
        <p:nvSpPr>
          <p:cNvPr id="6" name="Row 4"/>
          <p:cNvSpPr/>
          <p:nvPr/>
        </p:nvSpPr>
        <p:spPr>
          <a:xfrm>
            <a:off x="777240" y="5029200"/>
            <a:ext cx="7315200" cy="1005840"/>
          </a:xfrm>
          <a:prstGeom prst="roundRect">
            <a:avLst>
              <a:gd name="adj" fmla="val 8000"/>
            </a:avLst>
          </a:prstGeom>
          <a:solidFill>
            <a:srgbClr val="E7F4F5"/>
          </a:solidFill>
          <a:ln>
            <a:noFill/>
          </a:ln>
        </p:spPr>
        <p:txBody>
          <a:bodyPr wrap="square" lIns="685800" tIns="36576" rIns="137160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6772"/>
                </a:solidFill>
              </a:rPr>
              <a:t>Tools</a:t>
            </a:r>
            <a:r>
              <a:rPr lang="en-GB" dirty="0">
                <a:solidFill>
                  <a:srgbClr val="232B30"/>
                </a:solidFill>
              </a:rPr>
              <a:t>  </a:t>
            </a:r>
            <a:r>
              <a:rPr lang="en-GB" dirty="0">
                <a:solidFill>
                  <a:srgbClr val="232B30"/>
                </a:solidFill>
                <a:hlinkClick r:id="rId6"/>
              </a:rPr>
              <a:t>Figma</a:t>
            </a:r>
            <a:r>
              <a:rPr lang="en-GB" dirty="0">
                <a:solidFill>
                  <a:srgbClr val="232B30"/>
                </a:solidFill>
              </a:rPr>
              <a:t>, </a:t>
            </a:r>
            <a:r>
              <a:rPr lang="en-GB" dirty="0">
                <a:solidFill>
                  <a:srgbClr val="232B30"/>
                </a:solidFill>
                <a:hlinkClick r:id="rId7"/>
              </a:rPr>
              <a:t>Canva</a:t>
            </a:r>
            <a:r>
              <a:rPr lang="en-GB" dirty="0">
                <a:solidFill>
                  <a:srgbClr val="232B30"/>
                </a:solidFill>
              </a:rPr>
              <a:t> or PowerPoint for prototypes.</a:t>
            </a:r>
          </a:p>
        </p:txBody>
      </p:sp>
      <p:sp>
        <p:nvSpPr>
          <p:cNvPr id="900" name="Footer text"/>
          <p:cNvSpPr txBox="1"/>
          <p:nvPr/>
        </p:nvSpPr>
        <p:spPr>
          <a:xfrm>
            <a:off x="594360" y="6446520"/>
            <a:ext cx="640080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646C70"/>
                </a:solidFill>
              </a:rPr>
              <a:t>Advanced Information Systems Development | Human-Computer Interaction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7498080" y="6446520"/>
            <a:ext cx="731520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646C70"/>
                </a:solidFill>
              </a:rPr>
              <a:t>52</a:t>
            </a:fld>
            <a:endParaRPr lang="en-GB" sz="900">
              <a:solidFill>
                <a:srgbClr val="646C7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52560AC1-BBE7-DA4F-9F42-B907461B0F24}" vid="{5E483FDD-D17B-7F42-8614-BB348032E13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3a4ab234-afbc-41ab-b2db-358d80304e46"/>
    <ds:schemaRef ds:uri="037ba92a-5764-4297-b5f7-6ea117412624"/>
  </ds:schemaRefs>
</ds:datastoreItem>
</file>

<file path=customXml/itemProps3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383</TotalTime>
  <Words>3132</Words>
  <Application>Microsoft Office PowerPoint</Application>
  <PresentationFormat>On-screen Show (4:3)</PresentationFormat>
  <Paragraphs>625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Courier New</vt:lpstr>
      <vt:lpstr>Tahoma</vt:lpstr>
      <vt:lpstr>Custom Design</vt:lpstr>
      <vt:lpstr>Advanced Information Systems Development Human-Computer Interaction (HCI) </vt:lpstr>
      <vt:lpstr>What you will learn</vt:lpstr>
      <vt:lpstr>How we work today</vt:lpstr>
      <vt:lpstr>Menti warm-up: join now</vt:lpstr>
      <vt:lpstr>PowerPoint Presentation</vt:lpstr>
      <vt:lpstr>Think, pair, share</vt:lpstr>
      <vt:lpstr>What is HCI?</vt:lpstr>
      <vt:lpstr>Key words</vt:lpstr>
      <vt:lpstr>Menti check: HCI</vt:lpstr>
      <vt:lpstr>Why does HCI matter?</vt:lpstr>
      <vt:lpstr>Bad message, good message</vt:lpstr>
      <vt:lpstr>HCI in system development</vt:lpstr>
      <vt:lpstr>PowerPoint Presentation</vt:lpstr>
      <vt:lpstr>Users are different</vt:lpstr>
      <vt:lpstr>Menti: who is the user?</vt:lpstr>
      <vt:lpstr>Goals, tasks and context</vt:lpstr>
      <vt:lpstr>How to learn about users</vt:lpstr>
      <vt:lpstr>Ask good questions</vt:lpstr>
      <vt:lpstr>Activity 2: interview</vt:lpstr>
      <vt:lpstr>Persona: a made-up user</vt:lpstr>
      <vt:lpstr>Activity 3: make a persona</vt:lpstr>
      <vt:lpstr>Menti: what do users need?</vt:lpstr>
      <vt:lpstr>PowerPoint Presentation</vt:lpstr>
      <vt:lpstr>PowerPoint Presentation</vt:lpstr>
      <vt:lpstr>Five simple design ideas</vt:lpstr>
      <vt:lpstr>10 usability rules</vt:lpstr>
      <vt:lpstr>Rules 1 to 3</vt:lpstr>
      <vt:lpstr>Rules 4 to 6</vt:lpstr>
      <vt:lpstr>Rules 7 and 8</vt:lpstr>
      <vt:lpstr>Rules 9 and 10</vt:lpstr>
      <vt:lpstr>Menti quiz: which rule?</vt:lpstr>
      <vt:lpstr>Activity 4: check a website</vt:lpstr>
      <vt:lpstr>Share your results</vt:lpstr>
      <vt:lpstr>Design for everyone</vt:lpstr>
      <vt:lpstr>Menti: easy to read?</vt:lpstr>
      <vt:lpstr>Tips for readable design</vt:lpstr>
      <vt:lpstr>PowerPoint Presentation</vt:lpstr>
      <vt:lpstr>What is a prototype?</vt:lpstr>
      <vt:lpstr>Parts of a wireframe</vt:lpstr>
      <vt:lpstr>Screen design tips</vt:lpstr>
      <vt:lpstr>Activity 5: sketch your app</vt:lpstr>
      <vt:lpstr>How to run a usability test</vt:lpstr>
      <vt:lpstr>Activity 6: test a prototype</vt:lpstr>
      <vt:lpstr>Menti: how did it go?</vt:lpstr>
      <vt:lpstr>Fix the big problems first</vt:lpstr>
      <vt:lpstr>Design, test, improve, repeat</vt:lpstr>
      <vt:lpstr>Key points</vt:lpstr>
      <vt:lpstr>Final Menti quiz</vt:lpstr>
      <vt:lpstr>Before the next session</vt:lpstr>
      <vt:lpstr>Menti: exit ticket</vt:lpstr>
      <vt:lpstr>PowerPoint Presentation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UFCFAF-30-3  Development of Information Systems Projects   BPMN Strategic Process Models  </dc:title>
  <dc:creator>Dilshan Jayatilake</dc:creator>
  <cp:lastModifiedBy>FRANGLIN CHAND J S</cp:lastModifiedBy>
  <cp:revision>60</cp:revision>
  <cp:lastPrinted>2016-09-22T10:08:48Z</cp:lastPrinted>
  <dcterms:created xsi:type="dcterms:W3CDTF">2022-11-13T09:36:03Z</dcterms:created>
  <dcterms:modified xsi:type="dcterms:W3CDTF">2026-10-09T22:47:00Z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