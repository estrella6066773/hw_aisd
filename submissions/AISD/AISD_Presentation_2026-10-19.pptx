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1564bdaa9ec4244" Type="http://schemas.openxmlformats.org/package/2006/relationships/metadata/core-properties" Target="docProps/core.xml"/><Relationship Id="R0ef6403c3f394905" Type="http://schemas.openxmlformats.org/officeDocument/2006/relationships/extended-properties" Target="docProps/app.xml"/><Relationship Id="Rd5898164a27543c1"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838668c21d5b485f"/>
  </p:sldMasterIdLst>
  <p:notesMasterIdLst>
    <p:notesMasterId xmlns:r="http://schemas.openxmlformats.org/officeDocument/2006/relationships" r:id="R4a3b2af5b99b4223"/>
  </p:notesMasterIdLst>
  <p:sldIdLst>
    <p:sldId xmlns:ns0="http://schemas.openxmlformats.org/officeDocument/2006/relationships" id="256" ns0:id="rId6"/>
    <p:sldId xmlns:ns0="http://schemas.openxmlformats.org/officeDocument/2006/relationships" id="257" ns0:id="rId7"/>
    <p:sldId xmlns:ns0="http://schemas.openxmlformats.org/officeDocument/2006/relationships" id="258" ns0:id="rId8"/>
    <p:sldId xmlns:ns0="http://schemas.openxmlformats.org/officeDocument/2006/relationships" id="259" ns0:id="rId9"/>
    <p:sldId xmlns:ns0="http://schemas.openxmlformats.org/officeDocument/2006/relationships" id="260" ns0:id="rId10"/>
    <p:sldId xmlns:ns0="http://schemas.openxmlformats.org/officeDocument/2006/relationships" id="261" ns0:id="rId11"/>
    <p:sldId xmlns:ns0="http://schemas.openxmlformats.org/officeDocument/2006/relationships" id="262" ns0:id="rId12"/>
    <p:sldId xmlns:ns0="http://schemas.openxmlformats.org/officeDocument/2006/relationships" id="268" ns0:id="rId18"/>
    <p:sldId xmlns:ns0="http://schemas.openxmlformats.org/officeDocument/2006/relationships" id="263" ns0:id="rId13"/>
    <p:sldId xmlns:ns0="http://schemas.openxmlformats.org/officeDocument/2006/relationships" id="264" ns0:id="rId14"/>
    <p:sldId xmlns:ns0="http://schemas.openxmlformats.org/officeDocument/2006/relationships" id="265" ns0:id="rId15"/>
    <p:sldId xmlns:ns0="http://schemas.openxmlformats.org/officeDocument/2006/relationships" id="266" ns0:id="rId16"/>
    <p:sldId xmlns:ns0="http://schemas.openxmlformats.org/officeDocument/2006/relationships" id="267"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23d38751b3d0479a" Type="http://schemas.openxmlformats.org/officeDocument/2006/relationships/tableStyles" Target="tableStyles.xml"/><Relationship Id="R4a3b2af5b99b4223" Type="http://schemas.openxmlformats.org/officeDocument/2006/relationships/notesMaster" Target="notesMasters/notesMaster1.xml"/><Relationship Id="R838668c21d5b485f" Type="http://schemas.openxmlformats.org/officeDocument/2006/relationships/slideMaster" Target="slideMasters/slideMaster1.xml"/><Relationship Id="R9a9eff65ddd54f31" Type="http://schemas.openxmlformats.org/officeDocument/2006/relationships/presProps" Target="presProps.xml"/><Relationship Id="R9f781e547c2643f2" Type="http://schemas.openxmlformats.org/officeDocument/2006/relationships/theme" Target="theme/theme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7d070e52ded441a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Ruby (Hao Zheng)</a:t>
            </a:r>
          </a:p>
          <a:p/>
          <a:p>
            <a:r>
              <a:t>Open the deck and name the two release tags on screen: the initial release is submission-2026-09-29 at f6fec99, and everything in this deck is read against the revised release, tagged submission-2026-10-20 (resolve it with git rev-parse submission-2026-10-20^{commit}).</a:t>
            </a:r>
          </a:p>
          <a:p>
            <a:r>
              <a:t>Say plainly that this is the second release, that the deck carries both releases, and that it is a draft for second-owner review, not a group-approved version.</a:t>
            </a:r>
          </a:p>
          <a:p>
            <a:r>
              <a:t>Thirty seconds on the claim the deck will defend: the process improved, the coverage profile barely moved, and the evidence boundary is stated rather than implied.</a:t>
            </a:r>
          </a:p>
          <a:p>
            <a:r>
              <a:t>Do not open with a summary of features; open with the two tags, because they are what makes the comparison checkable.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Ruby (Hao Zheng)</a:t>
            </a:r>
          </a:p>
          <a:p/>
          <a:p>
            <a:r>
              <a:t>Keep this to a factual delta; do not let it become a victory lap.</a:t>
            </a:r>
          </a:p>
          <a:p>
            <a:r>
              <a:t>Row one: V2 was the modelling change; V3 renamed the process and added five pass-through merges. The count of gateways went up, the number of rules they carry did not.</a:t>
            </a:r>
          </a:p>
          <a:p>
            <a:r>
              <a:t>Row two: the visit split is the one change the audience should remember; slide 3 explains why.</a:t>
            </a:r>
          </a:p>
          <a:p>
            <a:r>
              <a:t>Row three: 12 forms, all rewritten on 19 October; name await_attendance and attendedOn.</a:t>
            </a:r>
          </a:p>
          <a:p>
            <a:r>
              <a:t>Land the amber band deliberately: the strategic model is unchanged, all 22 tasks are still assignee="demo", there are no timers, and the acceptance cases were re-run on 19 October without moving the profile. That sentence sets up slides 5 to 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Estrella (Geping Chen)</a:t>
            </a:r>
          </a:p>
          <a:p/>
          <a:p>
            <a:r>
              <a:t>This is the most substantive modelling change; give it time.</a:t>
            </a:r>
          </a:p>
          <a:p>
            <a:r>
              <a:t>Walk the six chips left to right and say which three skip the slot check: patient cancelled, declined, did not attend.</a:t>
            </a:r>
          </a:p>
          <a:p>
            <a:r>
              <a:t>Explain the old failure in one sentence: booking and attendance shared one value, so the process could not tell a cancellation from a visit that still needed a slot.</a:t>
            </a:r>
          </a:p>
          <a:p>
            <a:r>
              <a:t>State the limit before anyone asks: the split is modelled and the forms offer the outcomes, but no acceptance case drives DNA through to Finance, and reschedule is still a re-booking. That is why BR-36 stays Partial.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Ruby (Hao Zheng)</a:t>
            </a:r>
          </a:p>
          <a:p/>
          <a:p>
            <a:r>
              <a:t>Ruby owns the form set, so this is a contribution slide rather than a summary.</a:t>
            </a:r>
          </a:p>
          <a:p>
            <a:r>
              <a:t>Name the passing and failing examples that the funding form itself states: 10.01 succeeds, 10.00 fails; a missing amount is rejected.</a:t>
            </a:r>
          </a:p>
          <a:p>
            <a:r>
              <a:t>Do not call these rules “validation” without qualification: they are format checks. The leading-letter pattern stops a numeric ID, not an unauthorised user.</a:t>
            </a:r>
          </a:p>
          <a:p>
            <a:r>
              <a:t>Say the limit out loud: staffRole is free text, so BR-37 remains Unsupported and AT-03 still fails.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Estrella (Geping Chen)</a:t>
            </a:r>
          </a:p>
          <a:p/>
          <a:p>
            <a:r>
              <a:t>Estrella owns PB-39, the traceability refresh.</a:t>
            </a:r>
          </a:p>
          <a:p>
            <a:r>
              <a:t>Give the three numbers, then the direction of travel: 12/26/4 became 13/25/4. One rule moved; three narrowed; 26 did not move.</a:t>
            </a:r>
          </a:p>
          <a:p>
            <a:r>
              <a:t>Do not describe 13 as a score. It is 13 of 42 under a strict artefact-level test, where a rule that works only because the operator behaves correctly is Partial.</a:t>
            </a:r>
          </a:p>
          <a:p>
            <a:r>
              <a:t>For BR-20, be precise about why it counts as Supported even without a test: the form and the worker both changed, and the missing test is listed rather than hidden. Role enforcement is still carried by BR-37.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Estrella (Geping Chen)</a:t>
            </a:r>
          </a:p>
          <a:p/>
          <a:p>
            <a:r>
              <a:t>This is the honest centre of the deck; slow down here.</a:t>
            </a:r>
          </a:p>
          <a:p>
            <a:r>
              <a:t>Explain the method: rules are grouped by the artefact that has to change first, so the counts overlap in the narrative but not in the table.</a:t>
            </a:r>
          </a:p>
          <a:p>
            <a:r>
              <a:t>Point at C1 and C2 as the dominant causes: five plus four is nine of the 26, waiting on two pieces of work, not 26 separate failures.</a:t>
            </a:r>
          </a:p>
          <a:p>
            <a:r>
              <a:t>C3 is the cheapest group and the release already showed it can do this work (BR-13, BR-20).</a:t>
            </a:r>
          </a:p>
          <a:p>
            <a:r>
              <a:t>Correct one likely misreading: BR-37 appears in C6 because the capability was never built, but delivering it is also what unlocks C1.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Estrella (Geping Chen)</a:t>
            </a:r>
          </a:p>
          <a:p/>
          <a:p>
            <a:r>
              <a:t>Estrella owns the feedback response record (A-3).</a:t>
            </a:r>
          </a:p>
          <a:p>
            <a:r>
              <a:t>Count the sources before the rows: four items from Group 10, three from the whole-class sheet, seven in total.</a:t>
            </a:r>
          </a:p>
          <a:p>
            <a:r>
              <a:t>Explain the six rows: Group 10 items 1 and 2 are recorded separately as F-08a and F-08b, and shown on one row here because one change answers both.</a:t>
            </a:r>
          </a:p>
          <a:p>
            <a:r>
              <a:t>Do not blur implemented and unimplemented. F-09 and F-10 are done; F-11 is not, and AT-03 still fails. Say that the feedback was peer feedback and that no tutor point has been received.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Ryan (Guanyan He)</a:t>
            </a:r>
          </a:p>
          <a:p/>
          <a:p>
            <a:r>
              <a:t>This slide is the boundary of the previous one; do not let a pass on slide 8 become a claim here.</a:t>
            </a:r>
          </a:p>
          <a:p>
            <a:r>
              <a:t>Top left: the pass is real — G07 COMPLETED with nine human tasks and no active incident, plus the clean build and the form-binding audit.</a:t>
            </a:r>
          </a:p>
          <a:p>
            <a:r>
              <a:t>Top right: the drivers post values through REST /v2, so nothing the browser enforces was tested. A form's disallowPassedDates, a required field or a pattern is not exercised by a REST submission, and the run should not be read as if it were.</a:t>
            </a:r>
          </a:p>
          <a:p>
            <a:r>
              <a:t>Bottom left: AT-03, the same failure as 29 September. Four gates of this kind keep the count at 13 / 25 / 4.</a:t>
            </a:r>
          </a:p>
          <a:p>
            <a:r>
              <a:t>Bottom right: the branches no case enters — the formal change path, DNA to payment, urgent authorisation, the refund adjustment, letter escalation. They are modelled and they are not excused; they are simply not evidenced.</a:t>
            </a:r>
          </a:p>
          <a:p>
            <a:r>
              <a:t>The environment event belongs here too: the first c8run start was shut down at 21:38 by the bundled connectors health check, and the failed G07 JSON from that session is retained so the record distinguishes a failed criterion from an environment that died mid-run.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Ender (Minghao Qin)</a:t>
            </a:r>
          </a:p>
          <a:p/>
          <a:p>
            <a:r>
              <a:t>Ender owns the planned-versus-actual evaluation.</a:t>
            </a:r>
          </a:p>
          <a:p>
            <a:r>
              <a:t>Compare like with like: the plan’s product rows (PB-30, PB-31, PB-34, PB-39) and its part B process rows.</a:t>
            </a:r>
          </a:p>
          <a:p>
            <a:r>
              <a:t>Say what finished: PB-34, PB-39, the model, both readable exports, and both second-owner reviews (PB-12 on 19 October, PB-16 on 20 October).</a:t>
            </a:r>
          </a:p>
          <a:p>
            <a:r>
              <a:t>Say what did not: AT-03 is unchanged even after the V3 re-run.</a:t>
            </a:r>
          </a:p>
          <a:p>
            <a:r>
              <a:t>Name the cause the plan itself predicted: the first C8 start failed its connector health check. It was restarted without connectors, and the acceptance evidence moved with the model.</a:t>
            </a:r>
          </a:p>
          <a:p>
            <a:r>
              <a:t>Be candid that the process records were scheduled last and were only closed at the 20 October session; name the gaps that remain rather than claiming a review said something the record does not contain.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Ruby (Hao Zheng)</a:t>
            </a:r>
          </a:p>
          <a:p/>
          <a:p>
            <a:r>
              <a:t>Ruby holds PB-22, the role-model item, so she can explain why it is first.</a:t>
            </a:r>
          </a:p>
          <a:p>
            <a:r>
              <a:t>Give the ordering rule once: rules moved per unit of work, not ease and not preference.</a:t>
            </a:r>
          </a:p>
          <a:p>
            <a:r>
              <a:t>BR-37 is first because it unlocks five rules and converts AT-03 into a pass condition. BR-38 and BR-08 are the other P0s.</a:t>
            </a:r>
          </a:p>
          <a:p>
            <a:r>
              <a:t>The timer pattern is fourth because one implementation covers four rules; BR-22 is last because the behaviour already exists and only cases are missing.</a:t>
            </a:r>
          </a:p>
          <a:p>
            <a:r>
              <a:t>Close with what not to do: more pass-through gateways moved no rule in V3, and more fields without tests do not change a grade.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Ryan (Guanyan He)</a:t>
            </a:r>
          </a:p>
          <a:p/>
          <a:p>
            <a:r>
              <a:t>Ryan runs the practical demonstration.</a:t>
            </a:r>
          </a:p>
          <a:p>
            <a:r>
              <a:t>Before the audience arrives: start Camunda (Operate and Tasklist on demo/demo), then mvn spring-boot:run from Week3 Coursework/hospital-pathway, and keep both running.</a:t>
            </a:r>
          </a:p>
          <a:p>
            <a:r>
              <a:t>Use a fresh fictional case ID. Start Hospital_All_Processes_V3_C8 and follow the three cards.</a:t>
            </a:r>
          </a:p>
          <a:p>
            <a:r>
              <a:t>Name the variables as they appear: visitOutcome, payment_status, booking_slot_status, and the final COMPLETED state.</a:t>
            </a:r>
          </a:p>
          <a:p>
            <a:r>
              <a:t>Show the detour if time allows: a decline or DNA goes past CheckVisitSlot. Then repeat the caution: this is a demonstration, not a V3 acceptance re-run.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Ender (Minghao Qin)</a:t>
            </a:r>
          </a:p>
          <a:p/>
          <a:p>
            <a:r>
              <a:t>Ender closes the deck with the evidence map.</a:t>
            </a:r>
          </a:p>
          <a:p>
            <a:r>
              <a:t>Say that every path on this slide opens at the revised release, tagged submission-2026-10-20, and that the two tags make the before-and-after checkable without trusting the slides.</a:t>
            </a:r>
          </a:p>
          <a:p>
            <a:r>
              <a:t>Point at the three sources a tutor is most likely to open: the written evaluation, the traceability matrix, the feedback record.</a:t>
            </a:r>
          </a:p>
          <a:p>
            <a:r>
              <a:t>Acknowledge what is not here: no tutor feedback, no second-owner signatures, and a V3 run that covers one path per case rather than every branch. Then hand back to Ruby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Ryan (Guanyan He)</a:t>
            </a:r>
          </a:p>
          <a:p/>
          <a:p>
            <a:r>
              <a:t>Ryan owns PB-31, the verification item, and this is the slide where it stops being open.</a:t>
            </a:r>
          </a:p>
          <a:p>
            <a:r>
              <a:t>Give the deployment first: Hospital_All_Processes_V3_C8, deployment key 2251799813928657, definition key 2251799813928658, version 1, on Camunda 8.10.0-alpha5 started with --disable-connectors.</a:t>
            </a:r>
          </a:p>
          <a:p>
            <a:r>
              <a:t>Read the table by column, not by row: the 29 September column is the baseline, the V3 column is 19 October, and six of seven match.</a:t>
            </a:r>
          </a:p>
          <a:p>
            <a:r>
              <a:t>Be precise about what a PASS is: the driver asserted the process variables and the task sequence for that one path, not every branch behind it.</a:t>
            </a:r>
          </a:p>
          <a:p>
            <a:r>
              <a:t>AT-03 is the exception and it is unchanged. A Medical Secretary completed Accept and the process still created BookVisit. Say why it is not a regression: the role model was never built, so the criterion was never fixed.</a:t>
            </a:r>
          </a:p>
          <a:p>
            <a:r>
              <a:t>Mention the environment event without drama: the first start was shut down at 21:38 by the connectors health check, one attempt died on a connection reset, and every case was re-run from 21:40. The failed JSON is kept; the limits slide explains why.</a:t>
            </a:r>
          </a:p>
          <a:p>
            <a:r>
              <a:t>If asked for a single sentence: the model runs the path the cases drive, and the one thing the model cannot do is tell who is driving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727d73f472841b6"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aecb4ea23ce4814" Type="http://schemas.openxmlformats.org/officeDocument/2006/relationships/slideLayout" Target="../slideLayouts/slideLayout1.xml"/><Relationship Id="Red217759bb5347ee"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ecb4ea23ce481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Estrella6066773/HW_AISD/blob/submission-2026-10-20/submissions/BPMEA/BPMEA_Written_Evaluation.pdf" TargetMode="External"/><Relationship Id="rId3" Type="http://schemas.openxmlformats.org/officeDocument/2006/relationships/hyperlink" Target="https://github.com/Estrella6066773/HW_AISD/blob/submission-2026-10-20/docs/requirements-traceability-matrix.md" TargetMode="External"/><Relationship Id="rId4" Type="http://schemas.openxmlformats.org/officeDocument/2006/relationships/hyperlink" Target="https://github.com/Estrella6066773/HW_AISD/blob/submission-2026-10-20/Week6%20Coursework/feedback/feedback-response_2026-10-16.md" TargetMode="External"/><Relationship Id="rId5" Type="http://schemas.openxmlformats.org/officeDocument/2006/relationships/hyperlink" Target="https://github.com/Estrella6066773/HW_AISD/blob/submission-2026-10-20/Week6%20Coursework/bpmn/Hospital_All_Processes_V3.bpmn" TargetMode="External"/><Relationship Id="rId6" Type="http://schemas.openxmlformats.org/officeDocument/2006/relationships/hyperlink" Target="https://github.com/Estrella6066773/HW_AISD/blob/submission-2026-10-20/Week6%20Coursework/forms/" TargetMode="External"/><Relationship Id="rId7" Type="http://schemas.openxmlformats.org/officeDocument/2006/relationships/hyperlink" Target="https://github.com/Estrella6066773/HW_AISD/blob/submission-2026-10-20/Week3%20Coursework/hospital-pathway/evidence/Camunda_V3_Acceptance_2026-10-19.txt" TargetMode="External"/><Relationship Id="rId8" Type="http://schemas.openxmlformats.org/officeDocument/2006/relationships/hyperlink" Target="https://github.com/Estrella6066773/HW_AISD/blob/submission-2026-10-20/submissions/AISD/Group_Acceptance_Test_Plan_and_Results_2026-09-29.pdf" TargetMode="External"/><Relationship Id="rId9" Type="http://schemas.openxmlformats.org/officeDocument/2006/relationships/hyperlink" Target="https://github.com/Estrella6066773/HW_AISD/blob/submission-2026-10-20/submissions/BPMEA/Hospital_Pathway_BPMEA_Presentation_2026-09-29.pptx" TargetMode="External"/><Relationship Id="rId10" Type="http://schemas.openxmlformats.org/officeDocument/2006/relationships/hyperlink" Target="https://github.com/Estrella6066773/HW_AISD/blob/submission-2026-10-20/Week6%20Coursework/plan/sprint3-4-plan_2026-10-16.md" TargetMode="External"/><Relationship Id="rId11" Type="http://schemas.openxmlformats.org/officeDocument/2006/relationships/hyperlink" Target="https://github.com/Estrella6066773/HW_AISD/blob/submission-2026-10-20/Week6%20Coursework/process/" TargetMode="External"/><Relationship Id="rId12" Type="http://schemas.openxmlformats.org/officeDocument/2006/relationships/hyperlink" Target="https://github.com/Estrella6066773/HW_AISD" TargetMode="External"/><Relationship Id="rId13" Type="http://schemas.openxmlformats.org/officeDocument/2006/relationships/hyperlink" Target="https://github.com/Estrella6066773/HW_AISD/compare/f6fec99...submission-2026-10-20" TargetMode="External"/><Relationship Id="rId1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3047"/>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38175" y="838200"/>
            <a:ext cx="66675" cy="4543425"/>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895350" y="838200"/>
            <a:ext cx="9800000" cy="240000"/>
          </a:xfrm>
          <a:prstGeom prst="rect">
            <a:avLst/>
          </a:prstGeom>
          <a:noFill/>
        </p:spPr>
        <p:txBody>
          <a:bodyPr wrap="square" lIns="0" rIns="0" tIns="0" bIns="0" anchor="t">
            <a:noAutofit/>
          </a:bodyPr>
          <a:lstStyle/>
          <a:p>
            <a:pPr algn="l">
              <a:spcAft>
                <a:spcPts val="0"/>
              </a:spcAft>
            </a:pPr>
            <a:r>
              <a:rPr sz="1275" b="1" i="0">
                <a:solidFill>
                  <a:srgbClr val="B9DBD1"/>
                </a:solidFill>
                <a:latin typeface="Arial"/>
              </a:rPr>
              <a:t>AISD  |  UFCEP6-0-3   ·   SECOND RELEASE</a:t>
            </a:r>
          </a:p>
        </p:txBody>
      </p:sp>
      <p:sp>
        <p:nvSpPr>
          <p:cNvPr id="5" name="TextBox 4"/>
          <p:cNvSpPr txBox="1"/>
          <p:nvPr/>
        </p:nvSpPr>
        <p:spPr>
          <a:xfrm>
            <a:off x="895350" y="1295400"/>
            <a:ext cx="10000000" cy="1650000"/>
          </a:xfrm>
          <a:prstGeom prst="rect">
            <a:avLst/>
          </a:prstGeom>
          <a:noFill/>
        </p:spPr>
        <p:txBody>
          <a:bodyPr wrap="square" lIns="0" rIns="0" tIns="0" bIns="0" anchor="t">
            <a:noAutofit/>
          </a:bodyPr>
          <a:lstStyle/>
          <a:p>
            <a:pPr algn="l">
              <a:lnSpc>
                <a:spcPct val="95000"/>
              </a:lnSpc>
              <a:spcAft>
                <a:spcPts val="0"/>
              </a:spcAft>
            </a:pPr>
            <a:r>
              <a:rPr sz="4350" b="1" i="0">
                <a:solidFill>
                  <a:srgbClr val="FFFFFF"/>
                </a:solidFill>
                <a:latin typeface="Arial"/>
              </a:rPr>
              <a:t>Hospital Patient</a:t>
            </a:r>
          </a:p>
          <a:p>
            <a:pPr algn="l">
              <a:lnSpc>
                <a:spcPct val="95000"/>
              </a:lnSpc>
              <a:spcAft>
                <a:spcPts val="0"/>
              </a:spcAft>
            </a:pPr>
            <a:r>
              <a:rPr sz="4350" b="1" i="0">
                <a:solidFill>
                  <a:srgbClr val="FFFFFF"/>
                </a:solidFill>
                <a:latin typeface="Arial"/>
              </a:rPr>
              <a:t>Pathway</a:t>
            </a:r>
          </a:p>
        </p:txBody>
      </p:sp>
      <p:sp>
        <p:nvSpPr>
          <p:cNvPr id="6" name="Rectangle 5"/>
          <p:cNvSpPr/>
          <p:nvPr/>
        </p:nvSpPr>
        <p:spPr>
          <a:xfrm>
            <a:off x="895350" y="3020000"/>
            <a:ext cx="4230000" cy="315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5000" y="3070000"/>
            <a:ext cx="4100000" cy="220000"/>
          </a:xfrm>
          <a:prstGeom prst="rect">
            <a:avLst/>
          </a:prstGeom>
          <a:noFill/>
        </p:spPr>
        <p:txBody>
          <a:bodyPr wrap="square" lIns="0" rIns="0" tIns="0" bIns="0" anchor="t">
            <a:noAutofit/>
          </a:bodyPr>
          <a:lstStyle/>
          <a:p>
            <a:pPr algn="l">
              <a:spcAft>
                <a:spcPts val="0"/>
              </a:spcAft>
            </a:pPr>
            <a:r>
              <a:rPr sz="1050" b="1" i="0">
                <a:solidFill>
                  <a:srgbClr val="FFFFFF"/>
                </a:solidFill>
                <a:latin typeface="Arial"/>
              </a:rPr>
              <a:t>SECOND RELEASE  ·  19 OCTOBER 2026</a:t>
            </a:r>
          </a:p>
        </p:txBody>
      </p:sp>
      <p:sp>
        <p:nvSpPr>
          <p:cNvPr id="8" name="TextBox 7"/>
          <p:cNvSpPr txBox="1"/>
          <p:nvPr/>
        </p:nvSpPr>
        <p:spPr>
          <a:xfrm>
            <a:off x="895350" y="3500000"/>
            <a:ext cx="9300000" cy="700000"/>
          </a:xfrm>
          <a:prstGeom prst="rect">
            <a:avLst/>
          </a:prstGeom>
          <a:noFill/>
        </p:spPr>
        <p:txBody>
          <a:bodyPr wrap="square" lIns="0" rIns="0" tIns="0" bIns="0" anchor="t">
            <a:noAutofit/>
          </a:bodyPr>
          <a:lstStyle/>
          <a:p>
            <a:pPr algn="l">
              <a:spcAft>
                <a:spcPts val="200"/>
              </a:spcAft>
            </a:pPr>
            <a:r>
              <a:rPr sz="1875" b="0" i="0">
                <a:solidFill>
                  <a:srgbClr val="DFE9EE"/>
                </a:solidFill>
                <a:latin typeface="Arial"/>
              </a:rPr>
              <a:t>One executable Camunda 8 process across referral, care, funding and change —</a:t>
            </a:r>
          </a:p>
          <a:p>
            <a:pPr algn="l">
              <a:spcAft>
                <a:spcPts val="0"/>
              </a:spcAft>
            </a:pPr>
            <a:r>
              <a:rPr sz="1875" b="0" i="0">
                <a:solidFill>
                  <a:srgbClr val="DFE9EE"/>
                </a:solidFill>
                <a:latin typeface="Arial"/>
              </a:rPr>
              <a:t>revised after peer feedback, with the gaps that remain stated openly.</a:t>
            </a:r>
          </a:p>
        </p:txBody>
      </p:sp>
      <p:sp>
        <p:nvSpPr>
          <p:cNvPr id="9" name="TextBox 8"/>
          <p:cNvSpPr txBox="1"/>
          <p:nvPr/>
        </p:nvSpPr>
        <p:spPr>
          <a:xfrm>
            <a:off x="895350" y="4420000"/>
            <a:ext cx="10300000" cy="620000"/>
          </a:xfrm>
          <a:prstGeom prst="rect">
            <a:avLst/>
          </a:prstGeom>
          <a:noFill/>
        </p:spPr>
        <p:txBody>
          <a:bodyPr wrap="square" lIns="0" rIns="0" tIns="0" bIns="0" anchor="t">
            <a:noAutofit/>
          </a:bodyPr>
          <a:lstStyle/>
          <a:p>
            <a:pPr algn="l">
              <a:spcAft>
                <a:spcPts val="300"/>
              </a:spcAft>
            </a:pPr>
            <a:r>
              <a:rPr sz="1275" b="1" i="0">
                <a:solidFill>
                  <a:srgbClr val="FFFFFF"/>
                </a:solidFill>
                <a:latin typeface="Arial"/>
              </a:rPr>
              <a:t>Hao Zheng (Ruby) 23084382   ·   Geping Chen (Estrella) 23084393</a:t>
            </a:r>
          </a:p>
          <a:p>
            <a:pPr algn="l">
              <a:spcAft>
                <a:spcPts val="0"/>
              </a:spcAft>
            </a:pPr>
            <a:r>
              <a:rPr sz="1275" b="1" i="0">
                <a:solidFill>
                  <a:srgbClr val="FFFFFF"/>
                </a:solidFill>
                <a:latin typeface="Arial"/>
              </a:rPr>
              <a:t>Minghao Qin (Ender) 23084402   ·   Guanyan He (Ryan) 23084395</a:t>
            </a:r>
          </a:p>
        </p:txBody>
      </p:sp>
      <p:sp>
        <p:nvSpPr>
          <p:cNvPr id="10" name="Rectangle 9"/>
          <p:cNvSpPr/>
          <p:nvPr/>
        </p:nvSpPr>
        <p:spPr>
          <a:xfrm>
            <a:off x="895350" y="5230000"/>
            <a:ext cx="10300000" cy="9525"/>
          </a:xfrm>
          <a:prstGeom prst="rect">
            <a:avLst/>
          </a:prstGeom>
          <a:solidFill>
            <a:srgbClr val="2C4A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95350" y="5400000"/>
            <a:ext cx="10300000" cy="700000"/>
          </a:xfrm>
          <a:prstGeom prst="rect">
            <a:avLst/>
          </a:prstGeom>
          <a:noFill/>
        </p:spPr>
        <p:txBody>
          <a:bodyPr wrap="square" lIns="0" rIns="0" tIns="0" bIns="0" anchor="t">
            <a:noAutofit/>
          </a:bodyPr>
          <a:lstStyle/>
          <a:p>
            <a:pPr algn="l">
              <a:spcAft>
                <a:spcPts val="300"/>
              </a:spcAft>
            </a:pPr>
            <a:r>
              <a:rPr sz="1050" b="0" i="0">
                <a:solidFill>
                  <a:srgbClr val="B9CFD8"/>
                </a:solidFill>
                <a:latin typeface="Arial"/>
              </a:rPr>
              <a:t>Initial release   submission-2026-09-29  (f6fec99)</a:t>
            </a:r>
          </a:p>
          <a:p>
            <a:pPr algn="l">
              <a:spcAft>
                <a:spcPts val="0"/>
              </a:spcAft>
            </a:pPr>
            <a:r>
              <a:rPr sz="1050" b="0" i="0">
                <a:solidFill>
                  <a:srgbClr val="B9CFD8"/>
                </a:solidFill>
                <a:latin typeface="Arial"/>
              </a:rPr>
              <a:t>Revised release   submission-2026-10-20  ·  resolve: git rev-parse submission-2026-10-20^{commit}  ·  group 10  ·  reviewed by Ruby 2026-10-19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WHAT CHANGED BETWEEN RELEASES</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Two releases, one process: a short, factual delta</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The second release changed the model’s vocabulary and the forms. It did not change assignment, timers, or the coverage profile.</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02 / 13</a:t>
            </a:r>
          </a:p>
        </p:txBody>
      </p:sp>
      <p:sp>
        <p:nvSpPr>
          <p:cNvPr id="9" name="TextBox 8"/>
          <p:cNvSpPr txBox="1"/>
          <p:nvPr/>
        </p:nvSpPr>
        <p:spPr>
          <a:xfrm>
            <a:off x="552450" y="1730000"/>
            <a:ext cx="20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AREA</a:t>
            </a:r>
          </a:p>
        </p:txBody>
      </p:sp>
      <p:sp>
        <p:nvSpPr>
          <p:cNvPr id="10" name="TextBox 9"/>
          <p:cNvSpPr txBox="1"/>
          <p:nvPr/>
        </p:nvSpPr>
        <p:spPr>
          <a:xfrm>
            <a:off x="2600000" y="1730000"/>
            <a:ext cx="425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29 SEPTEMBER  ·  INITIAL RELEASE</a:t>
            </a:r>
          </a:p>
        </p:txBody>
      </p:sp>
      <p:sp>
        <p:nvSpPr>
          <p:cNvPr id="11" name="TextBox 10"/>
          <p:cNvSpPr txBox="1"/>
          <p:nvPr/>
        </p:nvSpPr>
        <p:spPr>
          <a:xfrm>
            <a:off x="6950000" y="1730000"/>
            <a:ext cx="47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19 OCTOBER  ·  SECOND RELEASE</a:t>
            </a:r>
          </a:p>
        </p:txBody>
      </p:sp>
      <p:sp>
        <p:nvSpPr>
          <p:cNvPr id="12" name="Rectangle 11"/>
          <p:cNvSpPr/>
          <p:nvPr/>
        </p:nvSpPr>
        <p:spPr>
          <a:xfrm>
            <a:off x="552450" y="1955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552450" y="2726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52450" y="2060000"/>
            <a:ext cx="1950000" cy="62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Operational model</a:t>
            </a:r>
          </a:p>
        </p:txBody>
      </p:sp>
      <p:sp>
        <p:nvSpPr>
          <p:cNvPr id="15" name="TextBox 14"/>
          <p:cNvSpPr txBox="1"/>
          <p:nvPr/>
        </p:nvSpPr>
        <p:spPr>
          <a:xfrm>
            <a:off x="2600000" y="2060000"/>
            <a:ext cx="415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597185"/>
                </a:solidFill>
                <a:latin typeface="Arial"/>
              </a:rPr>
              <a:t>Hospital_All_Processes_Simple_C8. One model, one release tag.</a:t>
            </a:r>
          </a:p>
        </p:txBody>
      </p:sp>
      <p:sp>
        <p:nvSpPr>
          <p:cNvPr id="16" name="TextBox 15"/>
          <p:cNvSpPr txBox="1"/>
          <p:nvPr/>
        </p:nvSpPr>
        <p:spPr>
          <a:xfrm>
            <a:off x="6950000" y="2060000"/>
            <a:ext cx="465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New file, Hospital_All_Processes_V3_C8. The substantive change from the first release is the visit split and the slot-skip gateway; twelve pass-through Join_* merges were added for readability. The initial-release file is untouched.</a:t>
            </a:r>
          </a:p>
        </p:txBody>
      </p:sp>
      <p:sp>
        <p:nvSpPr>
          <p:cNvPr id="17" name="Rectangle 16"/>
          <p:cNvSpPr/>
          <p:nvPr/>
        </p:nvSpPr>
        <p:spPr>
          <a:xfrm>
            <a:off x="552450" y="3441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2450" y="2775000"/>
            <a:ext cx="1950000" cy="62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Visit outcome</a:t>
            </a:r>
          </a:p>
        </p:txBody>
      </p:sp>
      <p:sp>
        <p:nvSpPr>
          <p:cNvPr id="19" name="TextBox 18"/>
          <p:cNvSpPr txBox="1"/>
          <p:nvPr/>
        </p:nvSpPr>
        <p:spPr>
          <a:xfrm>
            <a:off x="2600000" y="2775000"/>
            <a:ext cx="415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597185"/>
                </a:solidFill>
                <a:latin typeface="Arial"/>
              </a:rPr>
              <a:t>One outcome value carried booking and attendance. Cancellation, decline and DNA had no separate path.</a:t>
            </a:r>
          </a:p>
        </p:txBody>
      </p:sp>
      <p:sp>
        <p:nvSpPr>
          <p:cNvPr id="20" name="TextBox 19"/>
          <p:cNvSpPr txBox="1"/>
          <p:nvPr/>
        </p:nvSpPr>
        <p:spPr>
          <a:xfrm>
            <a:off x="6950000" y="2775000"/>
            <a:ext cx="465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Six-way VisitOutcome, with AwaitAttendance, RecordDecline and RecordDna; VisitNeedsSlot skips the slot check.</a:t>
            </a:r>
          </a:p>
        </p:txBody>
      </p:sp>
      <p:sp>
        <p:nvSpPr>
          <p:cNvPr id="21" name="Rectangle 20"/>
          <p:cNvSpPr/>
          <p:nvPr/>
        </p:nvSpPr>
        <p:spPr>
          <a:xfrm>
            <a:off x="552450" y="4156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2450" y="3490000"/>
            <a:ext cx="1950000" cy="62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Forms</a:t>
            </a:r>
          </a:p>
        </p:txBody>
      </p:sp>
      <p:sp>
        <p:nvSpPr>
          <p:cNvPr id="23" name="TextBox 22"/>
          <p:cNvSpPr txBox="1"/>
          <p:nvPr/>
        </p:nvSpPr>
        <p:spPr>
          <a:xfrm>
            <a:off x="2600000" y="3490000"/>
            <a:ext cx="415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597185"/>
                </a:solidFill>
                <a:latin typeface="Arial"/>
              </a:rPr>
              <a:t>11 forms. Dates and amounts were entered as free text or loose controls.</a:t>
            </a:r>
          </a:p>
        </p:txBody>
      </p:sp>
      <p:sp>
        <p:nvSpPr>
          <p:cNvPr id="24" name="TextBox 23"/>
          <p:cNvSpPr txBox="1"/>
          <p:nvPr/>
        </p:nvSpPr>
        <p:spPr>
          <a:xfrm>
            <a:off x="6950000" y="3490000"/>
            <a:ext cx="465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12 forms: await_attendance is new; all 12 were rewritten with input validation on 19 October. book_visit gains attendedOn.</a:t>
            </a:r>
          </a:p>
        </p:txBody>
      </p:sp>
      <p:sp>
        <p:nvSpPr>
          <p:cNvPr id="25" name="Rectangle 24"/>
          <p:cNvSpPr/>
          <p:nvPr/>
        </p:nvSpPr>
        <p:spPr>
          <a:xfrm>
            <a:off x="552450" y="4871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52450" y="4205000"/>
            <a:ext cx="1950000" cy="62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Finance rules</a:t>
            </a:r>
          </a:p>
        </p:txBody>
      </p:sp>
      <p:sp>
        <p:nvSpPr>
          <p:cNvPr id="27" name="TextBox 26"/>
          <p:cNvSpPr txBox="1"/>
          <p:nvPr/>
        </p:nvSpPr>
        <p:spPr>
          <a:xfrm>
            <a:off x="2600000" y="4205000"/>
            <a:ext cx="415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597185"/>
                </a:solidFill>
                <a:latin typeface="Arial"/>
              </a:rPr>
              <a:t>Refund decision was coarse: resolved or pending. No full-versus-partial amount control.</a:t>
            </a:r>
          </a:p>
        </p:txBody>
      </p:sp>
      <p:sp>
        <p:nvSpPr>
          <p:cNvPr id="28" name="TextBox 27"/>
          <p:cNvSpPr txBox="1"/>
          <p:nvPr/>
        </p:nvSpPr>
        <p:spPr>
          <a:xfrm>
            <a:off x="6950000" y="4205000"/>
            <a:ext cx="465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Full, partial, transfer, retain or pending; adjustmentAmount is mandatory; an invalid amount fails the job once.</a:t>
            </a:r>
          </a:p>
        </p:txBody>
      </p:sp>
      <p:sp>
        <p:nvSpPr>
          <p:cNvPr id="29" name="Rectangle 28"/>
          <p:cNvSpPr/>
          <p:nvPr/>
        </p:nvSpPr>
        <p:spPr>
          <a:xfrm>
            <a:off x="552450" y="5060000"/>
            <a:ext cx="11100000" cy="800000"/>
          </a:xfrm>
          <a:prstGeom prst="rect">
            <a:avLst/>
          </a:prstGeom>
          <a:solidFill>
            <a:srgbClr val="FFF1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52450" y="5060000"/>
            <a:ext cx="38000" cy="800000"/>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0000" y="5160000"/>
            <a:ext cx="10650000" cy="620000"/>
          </a:xfrm>
          <a:prstGeom prst="rect">
            <a:avLst/>
          </a:prstGeom>
          <a:noFill/>
        </p:spPr>
        <p:txBody>
          <a:bodyPr wrap="square" lIns="0" rIns="0" tIns="0" bIns="0" anchor="t">
            <a:noAutofit/>
          </a:bodyPr>
          <a:lstStyle/>
          <a:p>
            <a:pPr algn="l">
              <a:spcAft>
                <a:spcPts val="400"/>
              </a:spcAft>
            </a:pPr>
            <a:r>
              <a:rPr sz="850" b="1" i="0">
                <a:solidFill>
                  <a:srgbClr val="8A5A10"/>
                </a:solidFill>
                <a:latin typeface="Arial"/>
              </a:rPr>
              <a:t>WHAT DID NOT CHANGE</a:t>
            </a:r>
          </a:p>
          <a:p>
            <a:pPr algn="l">
              <a:lnSpc>
                <a:spcPct val="105000"/>
              </a:lnSpc>
              <a:spcAft>
                <a:spcPts val="0"/>
              </a:spcAft>
            </a:pPr>
            <a:r>
              <a:rPr sz="1050" b="0" i="0">
                <a:solidFill>
                  <a:srgbClr val="1A344B"/>
                </a:solidFill>
                <a:latin typeface="Arial"/>
              </a:rPr>
              <a:t>The strategic model is byte-identical to 29 September. All 22 user tasks are still assignee="demo", with zero candidate groups. The model has no timer event of any kind. The cases were re-run on 19 October and the profile did not move.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THE VISIT-OUTCOME SPLIT</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Six outcomes where the first release had one path</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Cancellation, decline and did-not-attend now have their own outcomes — the reason the pathway decision can be made correctly.</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03 / 13</a:t>
            </a:r>
          </a:p>
        </p:txBody>
      </p:sp>
      <p:sp>
        <p:nvSpPr>
          <p:cNvPr id="9" name="Rectangle 8"/>
          <p:cNvSpPr/>
          <p:nvPr/>
        </p:nvSpPr>
        <p:spPr>
          <a:xfrm>
            <a:off x="552450" y="1760000"/>
            <a:ext cx="1770000" cy="69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52450" y="1760000"/>
            <a:ext cx="1770000" cy="38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450" y="1855000"/>
            <a:ext cx="1590000" cy="25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Attended</a:t>
            </a:r>
          </a:p>
        </p:txBody>
      </p:sp>
      <p:sp>
        <p:nvSpPr>
          <p:cNvPr id="12" name="TextBox 11"/>
          <p:cNvSpPr txBox="1"/>
          <p:nvPr/>
        </p:nvSpPr>
        <p:spPr>
          <a:xfrm>
            <a:off x="642450" y="2120000"/>
            <a:ext cx="1590000" cy="230000"/>
          </a:xfrm>
          <a:prstGeom prst="rect">
            <a:avLst/>
          </a:prstGeom>
          <a:noFill/>
        </p:spPr>
        <p:txBody>
          <a:bodyPr wrap="square" lIns="0" rIns="0" tIns="0" bIns="0" anchor="t">
            <a:noAutofit/>
          </a:bodyPr>
          <a:lstStyle/>
          <a:p>
            <a:pPr algn="l">
              <a:spcAft>
                <a:spcPts val="0"/>
              </a:spcAft>
            </a:pPr>
            <a:r>
              <a:rPr sz="800" b="0" i="0">
                <a:solidFill>
                  <a:srgbClr val="597185"/>
                </a:solidFill>
                <a:latin typeface="Arial"/>
              </a:rPr>
              <a:t>patient came</a:t>
            </a:r>
          </a:p>
        </p:txBody>
      </p:sp>
      <p:sp>
        <p:nvSpPr>
          <p:cNvPr id="13" name="Rectangle 12"/>
          <p:cNvSpPr/>
          <p:nvPr/>
        </p:nvSpPr>
        <p:spPr>
          <a:xfrm>
            <a:off x="2419450" y="1760000"/>
            <a:ext cx="1770000" cy="69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419450" y="1760000"/>
            <a:ext cx="1770000" cy="38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509450" y="1855000"/>
            <a:ext cx="1590000" cy="25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Booked</a:t>
            </a:r>
          </a:p>
        </p:txBody>
      </p:sp>
      <p:sp>
        <p:nvSpPr>
          <p:cNvPr id="16" name="TextBox 15"/>
          <p:cNvSpPr txBox="1"/>
          <p:nvPr/>
        </p:nvSpPr>
        <p:spPr>
          <a:xfrm>
            <a:off x="2509450" y="2120000"/>
            <a:ext cx="1590000" cy="230000"/>
          </a:xfrm>
          <a:prstGeom prst="rect">
            <a:avLst/>
          </a:prstGeom>
          <a:noFill/>
        </p:spPr>
        <p:txBody>
          <a:bodyPr wrap="square" lIns="0" rIns="0" tIns="0" bIns="0" anchor="t">
            <a:noAutofit/>
          </a:bodyPr>
          <a:lstStyle/>
          <a:p>
            <a:pPr algn="l">
              <a:spcAft>
                <a:spcPts val="0"/>
              </a:spcAft>
            </a:pPr>
            <a:r>
              <a:rPr sz="800" b="0" i="0">
                <a:solidFill>
                  <a:srgbClr val="597185"/>
                </a:solidFill>
                <a:latin typeface="Arial"/>
              </a:rPr>
              <a:t>awaiting the visit</a:t>
            </a:r>
          </a:p>
        </p:txBody>
      </p:sp>
      <p:sp>
        <p:nvSpPr>
          <p:cNvPr id="17" name="Rectangle 16"/>
          <p:cNvSpPr/>
          <p:nvPr/>
        </p:nvSpPr>
        <p:spPr>
          <a:xfrm>
            <a:off x="4286450" y="1760000"/>
            <a:ext cx="1770000" cy="69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286450" y="1760000"/>
            <a:ext cx="1770000" cy="38000"/>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76450" y="1855000"/>
            <a:ext cx="1590000" cy="25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Pending / retry</a:t>
            </a:r>
          </a:p>
        </p:txBody>
      </p:sp>
      <p:sp>
        <p:nvSpPr>
          <p:cNvPr id="20" name="TextBox 19"/>
          <p:cNvSpPr txBox="1"/>
          <p:nvPr/>
        </p:nvSpPr>
        <p:spPr>
          <a:xfrm>
            <a:off x="4376450" y="2120000"/>
            <a:ext cx="1590000" cy="230000"/>
          </a:xfrm>
          <a:prstGeom prst="rect">
            <a:avLst/>
          </a:prstGeom>
          <a:noFill/>
        </p:spPr>
        <p:txBody>
          <a:bodyPr wrap="square" lIns="0" rIns="0" tIns="0" bIns="0" anchor="t">
            <a:noAutofit/>
          </a:bodyPr>
          <a:lstStyle/>
          <a:p>
            <a:pPr algn="l">
              <a:spcAft>
                <a:spcPts val="0"/>
              </a:spcAft>
            </a:pPr>
            <a:r>
              <a:rPr sz="800" b="0" i="0">
                <a:solidFill>
                  <a:srgbClr val="597185"/>
                </a:solidFill>
                <a:latin typeface="Arial"/>
              </a:rPr>
              <a:t>gateway default</a:t>
            </a:r>
          </a:p>
        </p:txBody>
      </p:sp>
      <p:sp>
        <p:nvSpPr>
          <p:cNvPr id="21" name="Rectangle 20"/>
          <p:cNvSpPr/>
          <p:nvPr/>
        </p:nvSpPr>
        <p:spPr>
          <a:xfrm>
            <a:off x="6153450" y="1760000"/>
            <a:ext cx="1770000" cy="69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153450" y="1760000"/>
            <a:ext cx="1770000" cy="38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43450" y="1855000"/>
            <a:ext cx="1590000" cy="25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Patient cancelled</a:t>
            </a:r>
          </a:p>
        </p:txBody>
      </p:sp>
      <p:sp>
        <p:nvSpPr>
          <p:cNvPr id="24" name="TextBox 23"/>
          <p:cNvSpPr txBox="1"/>
          <p:nvPr/>
        </p:nvSpPr>
        <p:spPr>
          <a:xfrm>
            <a:off x="6243450" y="2120000"/>
            <a:ext cx="1590000" cy="230000"/>
          </a:xfrm>
          <a:prstGeom prst="rect">
            <a:avLst/>
          </a:prstGeom>
          <a:noFill/>
        </p:spPr>
        <p:txBody>
          <a:bodyPr wrap="square" lIns="0" rIns="0" tIns="0" bIns="0" anchor="t">
            <a:noAutofit/>
          </a:bodyPr>
          <a:lstStyle/>
          <a:p>
            <a:pPr algn="l">
              <a:spcAft>
                <a:spcPts val="0"/>
              </a:spcAft>
            </a:pPr>
            <a:r>
              <a:rPr sz="800" b="0" i="0">
                <a:solidFill>
                  <a:srgbClr val="597185"/>
                </a:solidFill>
                <a:latin typeface="Arial"/>
              </a:rPr>
              <a:t>no slot needed</a:t>
            </a:r>
          </a:p>
        </p:txBody>
      </p:sp>
      <p:sp>
        <p:nvSpPr>
          <p:cNvPr id="25" name="Rectangle 24"/>
          <p:cNvSpPr/>
          <p:nvPr/>
        </p:nvSpPr>
        <p:spPr>
          <a:xfrm>
            <a:off x="8020450" y="1760000"/>
            <a:ext cx="1770000" cy="69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020450" y="1760000"/>
            <a:ext cx="1770000" cy="38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10450" y="1855000"/>
            <a:ext cx="1590000" cy="25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Declined</a:t>
            </a:r>
          </a:p>
        </p:txBody>
      </p:sp>
      <p:sp>
        <p:nvSpPr>
          <p:cNvPr id="28" name="TextBox 27"/>
          <p:cNvSpPr txBox="1"/>
          <p:nvPr/>
        </p:nvSpPr>
        <p:spPr>
          <a:xfrm>
            <a:off x="8110450" y="2120000"/>
            <a:ext cx="1590000" cy="230000"/>
          </a:xfrm>
          <a:prstGeom prst="rect">
            <a:avLst/>
          </a:prstGeom>
          <a:noFill/>
        </p:spPr>
        <p:txBody>
          <a:bodyPr wrap="square" lIns="0" rIns="0" tIns="0" bIns="0" anchor="t">
            <a:noAutofit/>
          </a:bodyPr>
          <a:lstStyle/>
          <a:p>
            <a:pPr algn="l">
              <a:spcAft>
                <a:spcPts val="0"/>
              </a:spcAft>
            </a:pPr>
            <a:r>
              <a:rPr sz="800" b="0" i="0">
                <a:solidFill>
                  <a:srgbClr val="597185"/>
                </a:solidFill>
                <a:latin typeface="Arial"/>
              </a:rPr>
              <a:t>no slot needed</a:t>
            </a:r>
          </a:p>
        </p:txBody>
      </p:sp>
      <p:sp>
        <p:nvSpPr>
          <p:cNvPr id="29" name="Rectangle 28"/>
          <p:cNvSpPr/>
          <p:nvPr/>
        </p:nvSpPr>
        <p:spPr>
          <a:xfrm>
            <a:off x="9887450" y="1760000"/>
            <a:ext cx="1770000" cy="69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887450" y="1760000"/>
            <a:ext cx="1770000" cy="38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977450" y="1855000"/>
            <a:ext cx="1590000" cy="25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Did not attend</a:t>
            </a:r>
          </a:p>
        </p:txBody>
      </p:sp>
      <p:sp>
        <p:nvSpPr>
          <p:cNvPr id="32" name="TextBox 31"/>
          <p:cNvSpPr txBox="1"/>
          <p:nvPr/>
        </p:nvSpPr>
        <p:spPr>
          <a:xfrm>
            <a:off x="9977450" y="2120000"/>
            <a:ext cx="1590000" cy="230000"/>
          </a:xfrm>
          <a:prstGeom prst="rect">
            <a:avLst/>
          </a:prstGeom>
          <a:noFill/>
        </p:spPr>
        <p:txBody>
          <a:bodyPr wrap="square" lIns="0" rIns="0" tIns="0" bIns="0" anchor="t">
            <a:noAutofit/>
          </a:bodyPr>
          <a:lstStyle/>
          <a:p>
            <a:pPr algn="l">
              <a:spcAft>
                <a:spcPts val="0"/>
              </a:spcAft>
            </a:pPr>
            <a:r>
              <a:rPr sz="800" b="0" i="0">
                <a:solidFill>
                  <a:srgbClr val="597185"/>
                </a:solidFill>
                <a:latin typeface="Arial"/>
              </a:rPr>
              <a:t>no slot needed</a:t>
            </a:r>
          </a:p>
        </p:txBody>
      </p:sp>
      <p:sp>
        <p:nvSpPr>
          <p:cNvPr id="33" name="Rectangle 32"/>
          <p:cNvSpPr/>
          <p:nvPr/>
        </p:nvSpPr>
        <p:spPr>
          <a:xfrm>
            <a:off x="552450" y="2620000"/>
            <a:ext cx="5350000" cy="228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52450" y="2620000"/>
            <a:ext cx="38000" cy="2280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0000" y="2740000"/>
            <a:ext cx="4950000" cy="25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WHAT THE MODEL NOW DOES</a:t>
            </a:r>
          </a:p>
        </p:txBody>
      </p:sp>
      <p:sp>
        <p:nvSpPr>
          <p:cNvPr id="36" name="TextBox 35"/>
          <p:cNvSpPr txBox="1"/>
          <p:nvPr/>
        </p:nvSpPr>
        <p:spPr>
          <a:xfrm>
            <a:off x="760000" y="3060000"/>
            <a:ext cx="4920000" cy="1750000"/>
          </a:xfrm>
          <a:prstGeom prst="rect">
            <a:avLst/>
          </a:prstGeom>
          <a:noFill/>
        </p:spPr>
        <p:txBody>
          <a:bodyPr wrap="square" lIns="0" rIns="0" tIns="0" bIns="0" anchor="t">
            <a:noAutofit/>
          </a:bodyPr>
          <a:lstStyle/>
          <a:p>
            <a:pPr algn="l">
              <a:lnSpc>
                <a:spcPct val="105000"/>
              </a:lnSpc>
              <a:spcAft>
                <a:spcPts val="900"/>
              </a:spcAft>
            </a:pPr>
            <a:r>
              <a:rPr sz="1050" b="0" i="0">
                <a:solidFill>
                  <a:srgbClr val="1A344B"/>
                </a:solidFill>
                <a:latin typeface="Arial"/>
              </a:rPr>
              <a:t>VisitOutcome routes on six conditions; pending / retry is the default.</a:t>
            </a:r>
          </a:p>
          <a:p>
            <a:pPr algn="l">
              <a:lnSpc>
                <a:spcPct val="105000"/>
              </a:lnSpc>
              <a:spcAft>
                <a:spcPts val="900"/>
              </a:spcAft>
            </a:pPr>
            <a:r>
              <a:rPr sz="1050" b="0" i="0">
                <a:solidFill>
                  <a:srgbClr val="1A344B"/>
                </a:solidFill>
                <a:latin typeface="Arial"/>
              </a:rPr>
              <a:t>AwaitAttendance holds a booked visit and returns to the same decision when attendance is recorded.</a:t>
            </a:r>
          </a:p>
          <a:p>
            <a:pPr algn="l">
              <a:lnSpc>
                <a:spcPct val="105000"/>
              </a:lnSpc>
              <a:spcAft>
                <a:spcPts val="900"/>
              </a:spcAft>
            </a:pPr>
            <a:r>
              <a:rPr sz="1050" b="0" i="0">
                <a:solidFill>
                  <a:srgbClr val="1A344B"/>
                </a:solidFill>
                <a:latin typeface="Arial"/>
              </a:rPr>
              <a:t>RecordDecline and RecordDna record the outcome before the pathway decision.</a:t>
            </a:r>
          </a:p>
          <a:p>
            <a:pPr algn="l">
              <a:lnSpc>
                <a:spcPct val="105000"/>
              </a:lnSpc>
              <a:spcAft>
                <a:spcPts val="0"/>
              </a:spcAft>
            </a:pPr>
            <a:r>
              <a:rPr sz="1050" b="0" i="0">
                <a:solidFill>
                  <a:srgbClr val="1A344B"/>
                </a:solidFill>
                <a:latin typeface="Arial"/>
              </a:rPr>
              <a:t>VisitNeedsSlot sends decline, cancellation and DNA past CheckVisitSlot.</a:t>
            </a:r>
          </a:p>
        </p:txBody>
      </p:sp>
      <p:sp>
        <p:nvSpPr>
          <p:cNvPr id="37" name="Rectangle 36"/>
          <p:cNvSpPr/>
          <p:nvPr/>
        </p:nvSpPr>
        <p:spPr>
          <a:xfrm>
            <a:off x="6180000" y="2620000"/>
            <a:ext cx="5470000" cy="228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180000" y="2620000"/>
            <a:ext cx="38000" cy="2280000"/>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385000" y="2740000"/>
            <a:ext cx="5050000" cy="250000"/>
          </a:xfrm>
          <a:prstGeom prst="rect">
            <a:avLst/>
          </a:prstGeom>
          <a:noFill/>
        </p:spPr>
        <p:txBody>
          <a:bodyPr wrap="square" lIns="0" rIns="0" tIns="0" bIns="0" anchor="t">
            <a:noAutofit/>
          </a:bodyPr>
          <a:lstStyle/>
          <a:p>
            <a:pPr algn="l">
              <a:spcAft>
                <a:spcPts val="0"/>
              </a:spcAft>
            </a:pPr>
            <a:r>
              <a:rPr sz="850" b="1" i="0">
                <a:solidFill>
                  <a:srgbClr val="8A5A10"/>
                </a:solidFill>
                <a:latin typeface="Arial"/>
              </a:rPr>
              <a:t>WHY THE OLD MODEL COULD NOT ANSWER THE QUESTION</a:t>
            </a:r>
          </a:p>
        </p:txBody>
      </p:sp>
      <p:sp>
        <p:nvSpPr>
          <p:cNvPr id="40" name="TextBox 39"/>
          <p:cNvSpPr txBox="1"/>
          <p:nvPr/>
        </p:nvSpPr>
        <p:spPr>
          <a:xfrm>
            <a:off x="6385000" y="3060000"/>
            <a:ext cx="5030000" cy="1750000"/>
          </a:xfrm>
          <a:prstGeom prst="rect">
            <a:avLst/>
          </a:prstGeom>
          <a:noFill/>
        </p:spPr>
        <p:txBody>
          <a:bodyPr wrap="square" lIns="0" rIns="0" tIns="0" bIns="0" anchor="t">
            <a:noAutofit/>
          </a:bodyPr>
          <a:lstStyle/>
          <a:p>
            <a:pPr algn="l">
              <a:lnSpc>
                <a:spcPct val="105000"/>
              </a:lnSpc>
              <a:spcAft>
                <a:spcPts val="900"/>
              </a:spcAft>
            </a:pPr>
            <a:r>
              <a:rPr sz="1050" b="0" i="0">
                <a:solidFill>
                  <a:srgbClr val="1A344B"/>
                </a:solidFill>
                <a:latin typeface="Arial"/>
              </a:rPr>
              <a:t>One outcome value carried both booking and attendance, so a cancellation looked like a visit that still needed a slot.</a:t>
            </a:r>
          </a:p>
          <a:p>
            <a:pPr algn="l">
              <a:lnSpc>
                <a:spcPct val="105000"/>
              </a:lnSpc>
              <a:spcAft>
                <a:spcPts val="900"/>
              </a:spcAft>
            </a:pPr>
            <a:r>
              <a:rPr sz="1050" b="0" i="0">
                <a:solidFill>
                  <a:srgbClr val="1A344B"/>
                </a:solidFill>
                <a:latin typeface="Arial"/>
              </a:rPr>
              <a:t>That forced a slot reservation on paths where no slot was wanted, and left the pathway decision with no distinct event to route on.</a:t>
            </a:r>
          </a:p>
          <a:p>
            <a:pPr algn="l">
              <a:lnSpc>
                <a:spcPct val="105000"/>
              </a:lnSpc>
              <a:spcAft>
                <a:spcPts val="0"/>
              </a:spcAft>
            </a:pPr>
            <a:r>
              <a:rPr sz="1050" b="0" i="0">
                <a:solidFill>
                  <a:srgbClr val="1A344B"/>
                </a:solidFill>
                <a:latin typeface="Arial"/>
              </a:rPr>
              <a:t>The split is modelled, but no acceptance case yet runs DNA → pathway decision → Finance, and reschedule is still a re-booking rather than an outcome of its own.</a:t>
            </a:r>
          </a:p>
        </p:txBody>
      </p:sp>
      <p:sp>
        <p:nvSpPr>
          <p:cNvPr id="41" name="TextBox 40"/>
          <p:cNvSpPr txBox="1"/>
          <p:nvPr/>
        </p:nvSpPr>
        <p:spPr>
          <a:xfrm>
            <a:off x="552450" y="5060000"/>
            <a:ext cx="11100000" cy="50000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Delivered in V2 (e4b2159, 305fccb) and carried into V3 unchanged in 357528e. Source: written evaluation, sections 2.2 and 3.3; feedback record F-02.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FORMS AND VALIDATION</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Twelve forms, and what the validation enforces</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Constraints sit on the form each task opens. They are format checks, not identity or role checks.</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04 / 13</a:t>
            </a:r>
          </a:p>
        </p:txBody>
      </p:sp>
      <p:sp>
        <p:nvSpPr>
          <p:cNvPr id="9" name="TextBox 8"/>
          <p:cNvSpPr txBox="1"/>
          <p:nvPr/>
        </p:nvSpPr>
        <p:spPr>
          <a:xfrm>
            <a:off x="552450" y="1790000"/>
            <a:ext cx="2400000" cy="1350000"/>
          </a:xfrm>
          <a:prstGeom prst="rect">
            <a:avLst/>
          </a:prstGeom>
          <a:noFill/>
        </p:spPr>
        <p:txBody>
          <a:bodyPr wrap="square" lIns="0" rIns="0" tIns="0" bIns="0" anchor="t">
            <a:noAutofit/>
          </a:bodyPr>
          <a:lstStyle/>
          <a:p>
            <a:pPr algn="l">
              <a:lnSpc>
                <a:spcPct val="90000"/>
              </a:lnSpc>
              <a:spcAft>
                <a:spcPts val="0"/>
              </a:spcAft>
            </a:pPr>
            <a:r>
              <a:rPr sz="9600" b="1" i="0">
                <a:solidFill>
                  <a:srgbClr val="127B76"/>
                </a:solidFill>
                <a:latin typeface="Arial"/>
              </a:rPr>
              <a:t>12</a:t>
            </a:r>
          </a:p>
        </p:txBody>
      </p:sp>
      <p:sp>
        <p:nvSpPr>
          <p:cNvPr id="10" name="TextBox 9"/>
          <p:cNvSpPr txBox="1"/>
          <p:nvPr/>
        </p:nvSpPr>
        <p:spPr>
          <a:xfrm>
            <a:off x="552450" y="2980000"/>
            <a:ext cx="2450000" cy="32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deployed forms</a:t>
            </a:r>
          </a:p>
        </p:txBody>
      </p:sp>
      <p:sp>
        <p:nvSpPr>
          <p:cNvPr id="11" name="TextBox 10"/>
          <p:cNvSpPr txBox="1"/>
          <p:nvPr/>
        </p:nvSpPr>
        <p:spPr>
          <a:xfrm>
            <a:off x="552450" y="3300000"/>
            <a:ext cx="2450000" cy="900000"/>
          </a:xfrm>
          <a:prstGeom prst="rect">
            <a:avLst/>
          </a:prstGeom>
          <a:noFill/>
        </p:spPr>
        <p:txBody>
          <a:bodyPr wrap="square" lIns="0" rIns="0" tIns="0" bIns="0" anchor="t">
            <a:noAutofit/>
          </a:bodyPr>
          <a:lstStyle/>
          <a:p>
            <a:pPr algn="l">
              <a:lnSpc>
                <a:spcPct val="105000"/>
              </a:lnSpc>
              <a:spcAft>
                <a:spcPts val="500"/>
              </a:spcAft>
            </a:pPr>
            <a:r>
              <a:rPr sz="950" b="0" i="0">
                <a:solidFill>
                  <a:srgbClr val="597185"/>
                </a:solidFill>
                <a:latin typeface="Arial"/>
              </a:rPr>
              <a:t>11 at the 29 September baseline.</a:t>
            </a:r>
          </a:p>
          <a:p>
            <a:pPr algn="l">
              <a:lnSpc>
                <a:spcPct val="105000"/>
              </a:lnSpc>
              <a:spcAft>
                <a:spcPts val="500"/>
              </a:spcAft>
            </a:pPr>
            <a:r>
              <a:rPr sz="950" b="0" i="0">
                <a:solidFill>
                  <a:srgbClr val="597185"/>
                </a:solidFill>
                <a:latin typeface="Arial"/>
              </a:rPr>
              <a:t>await_attendance was added with the visit split.</a:t>
            </a:r>
          </a:p>
          <a:p>
            <a:pPr algn="l">
              <a:lnSpc>
                <a:spcPct val="105000"/>
              </a:lnSpc>
              <a:spcAft>
                <a:spcPts val="0"/>
              </a:spcAft>
            </a:pPr>
            <a:r>
              <a:rPr sz="950" b="0" i="0">
                <a:solidFill>
                  <a:srgbClr val="597185"/>
                </a:solidFill>
                <a:latin typeface="Arial"/>
              </a:rPr>
              <a:t>All 12 were rewritten in the 19 October validation pass.</a:t>
            </a:r>
          </a:p>
        </p:txBody>
      </p:sp>
      <p:sp>
        <p:nvSpPr>
          <p:cNvPr id="12" name="TextBox 11"/>
          <p:cNvSpPr txBox="1"/>
          <p:nvPr/>
        </p:nvSpPr>
        <p:spPr>
          <a:xfrm>
            <a:off x="552450" y="4350000"/>
            <a:ext cx="2400000" cy="900000"/>
          </a:xfrm>
          <a:prstGeom prst="rect">
            <a:avLst/>
          </a:prstGeom>
          <a:noFill/>
        </p:spPr>
        <p:txBody>
          <a:bodyPr wrap="square" lIns="0" rIns="0" tIns="0" bIns="0" anchor="t">
            <a:noAutofit/>
          </a:bodyPr>
          <a:lstStyle/>
          <a:p>
            <a:pPr algn="l">
              <a:lnSpc>
                <a:spcPct val="105000"/>
              </a:lnSpc>
              <a:spcAft>
                <a:spcPts val="0"/>
              </a:spcAft>
            </a:pPr>
            <a:r>
              <a:rPr sz="850" b="0" i="0">
                <a:solidFill>
                  <a:srgbClr val="597185"/>
                </a:solidFill>
                <a:latin typeface="Arial"/>
              </a:rPr>
              <a:t>Deployed set: Week6 Coursework/forms/. The pre-validation copy remains at Week3 Coursework/hospital-pathway/forms/; every file differs.</a:t>
            </a:r>
          </a:p>
        </p:txBody>
      </p:sp>
      <p:sp>
        <p:nvSpPr>
          <p:cNvPr id="13" name="Rectangle 12"/>
          <p:cNvSpPr/>
          <p:nvPr/>
        </p:nvSpPr>
        <p:spPr>
          <a:xfrm>
            <a:off x="3350000" y="2460000"/>
            <a:ext cx="83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50000" y="1790000"/>
            <a:ext cx="1450000" cy="26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DATE</a:t>
            </a:r>
          </a:p>
        </p:txBody>
      </p:sp>
      <p:sp>
        <p:nvSpPr>
          <p:cNvPr id="15" name="TextBox 14"/>
          <p:cNvSpPr txBox="1"/>
          <p:nvPr/>
        </p:nvSpPr>
        <p:spPr>
          <a:xfrm>
            <a:off x="4900000" y="1780000"/>
            <a:ext cx="672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appointmentDate rejects a past date (disallowPassedDates). attendedOn is a separate field and deliberately allows a past date.</a:t>
            </a:r>
          </a:p>
        </p:txBody>
      </p:sp>
      <p:sp>
        <p:nvSpPr>
          <p:cNvPr id="16" name="Rectangle 15"/>
          <p:cNvSpPr/>
          <p:nvPr/>
        </p:nvSpPr>
        <p:spPr>
          <a:xfrm>
            <a:off x="3350000" y="3175000"/>
            <a:ext cx="83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50000" y="2505000"/>
            <a:ext cx="1450000" cy="26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WAITING</a:t>
            </a:r>
          </a:p>
        </p:txBody>
      </p:sp>
      <p:sp>
        <p:nvSpPr>
          <p:cNvPr id="18" name="TextBox 17"/>
          <p:cNvSpPr txBox="1"/>
          <p:nvPr/>
        </p:nvSpPr>
        <p:spPr>
          <a:xfrm>
            <a:off x="4900000" y="2495000"/>
            <a:ext cx="672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waitReason is mandatory when the outcome is pending: no_slot, contact_incomplete or external_waiting.</a:t>
            </a:r>
          </a:p>
        </p:txBody>
      </p:sp>
      <p:sp>
        <p:nvSpPr>
          <p:cNvPr id="19" name="Rectangle 18"/>
          <p:cNvSpPr/>
          <p:nvPr/>
        </p:nvSpPr>
        <p:spPr>
          <a:xfrm>
            <a:off x="3350000" y="3890000"/>
            <a:ext cx="83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50000" y="3220000"/>
            <a:ext cx="1450000" cy="26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CHARGE</a:t>
            </a:r>
          </a:p>
        </p:txBody>
      </p:sp>
      <p:sp>
        <p:nvSpPr>
          <p:cNvPr id="21" name="TextBox 20"/>
          <p:cNvSpPr txBox="1"/>
          <p:nvPr/>
        </p:nvSpPr>
        <p:spPr>
          <a:xfrm>
            <a:off x="4900000" y="3210000"/>
            <a:ext cx="672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charge_amount is a two-decimal number from 0.01 to 99999.99, required on the patient-payment path.</a:t>
            </a:r>
          </a:p>
        </p:txBody>
      </p:sp>
      <p:sp>
        <p:nvSpPr>
          <p:cNvPr id="22" name="Rectangle 21"/>
          <p:cNvSpPr/>
          <p:nvPr/>
        </p:nvSpPr>
        <p:spPr>
          <a:xfrm>
            <a:off x="3350000" y="4605000"/>
            <a:ext cx="83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350000" y="3935000"/>
            <a:ext cx="1450000" cy="26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INSURANCE</a:t>
            </a:r>
          </a:p>
        </p:txBody>
      </p:sp>
      <p:sp>
        <p:nvSpPr>
          <p:cNvPr id="24" name="TextBox 23"/>
          <p:cNvSpPr txBox="1"/>
          <p:nvPr/>
        </p:nvSpPr>
        <p:spPr>
          <a:xfrm>
            <a:off x="4900000" y="3925000"/>
            <a:ext cx="672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insurerReference is required on the insurer path; its pattern allows letters, digits, hyphen, underscore or slash.</a:t>
            </a:r>
          </a:p>
        </p:txBody>
      </p:sp>
      <p:sp>
        <p:nvSpPr>
          <p:cNvPr id="25" name="Rectangle 24"/>
          <p:cNvSpPr/>
          <p:nvPr/>
        </p:nvSpPr>
        <p:spPr>
          <a:xfrm>
            <a:off x="3350000" y="5320000"/>
            <a:ext cx="83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50000" y="4650000"/>
            <a:ext cx="1450000" cy="26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REFUND</a:t>
            </a:r>
          </a:p>
        </p:txBody>
      </p:sp>
      <p:sp>
        <p:nvSpPr>
          <p:cNvPr id="27" name="TextBox 26"/>
          <p:cNvSpPr txBox="1"/>
          <p:nvPr/>
        </p:nvSpPr>
        <p:spPr>
          <a:xfrm>
            <a:off x="4900000" y="4640000"/>
            <a:ext cx="6720000" cy="620000"/>
          </a:xfrm>
          <a:prstGeom prst="rect">
            <a:avLst/>
          </a:prstGeom>
          <a:noFill/>
        </p:spPr>
        <p:txBody>
          <a:bodyPr wrap="square" lIns="0" rIns="0" tIns="0" bIns="0" anchor="t">
            <a:noAutofit/>
          </a:bodyPr>
          <a:lstStyle/>
          <a:p>
            <a:pPr algn="l">
              <a:lnSpc>
                <a:spcPct val="105000"/>
              </a:lnSpc>
              <a:spcAft>
                <a:spcPts val="0"/>
              </a:spcAft>
            </a:pPr>
            <a:r>
              <a:rPr sz="1050" b="0" i="0">
                <a:solidFill>
                  <a:srgbClr val="1A344B"/>
                </a:solidFill>
                <a:latin typeface="Arial"/>
              </a:rPr>
              <a:t>adjustmentAmount is required unless the decision is pending: 0.01 to 99999.99, and a partial refund must be below the original charge.</a:t>
            </a:r>
          </a:p>
        </p:txBody>
      </p:sp>
      <p:sp>
        <p:nvSpPr>
          <p:cNvPr id="28" name="Rectangle 27"/>
          <p:cNvSpPr/>
          <p:nvPr/>
        </p:nvSpPr>
        <p:spPr>
          <a:xfrm>
            <a:off x="3350000" y="5390000"/>
            <a:ext cx="8300000" cy="720000"/>
          </a:xfrm>
          <a:prstGeom prst="rect">
            <a:avLst/>
          </a:prstGeom>
          <a:solidFill>
            <a:srgbClr val="FFF1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350000" y="5390000"/>
            <a:ext cx="38000" cy="720000"/>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40000" y="5465000"/>
            <a:ext cx="7950000" cy="600000"/>
          </a:xfrm>
          <a:prstGeom prst="rect">
            <a:avLst/>
          </a:prstGeom>
          <a:noFill/>
        </p:spPr>
        <p:txBody>
          <a:bodyPr wrap="square" lIns="0" rIns="0" tIns="0" bIns="0" anchor="t">
            <a:noAutofit/>
          </a:bodyPr>
          <a:lstStyle/>
          <a:p>
            <a:pPr algn="l">
              <a:lnSpc>
                <a:spcPct val="105000"/>
              </a:lnSpc>
              <a:spcAft>
                <a:spcPts val="0"/>
              </a:spcAft>
            </a:pPr>
            <a:r>
              <a:rPr sz="950" b="0" i="0">
                <a:solidFill>
                  <a:srgbClr val="1A344B"/>
                </a:solidFill>
                <a:latin typeface="Arial"/>
              </a:rPr>
              <a:t>A format check is not an access check. patientId, staffRole and clinicianId require a leading letter, which rejects a numeric-only value. staffRole is still free text, so the form cannot prove who the user is — the reason BR-37 stays Unsupported.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TRACEABILITY: DID THE GAPS CLOSE?</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The gaps narrowed; the coverage barely moved</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42 business rules graded against V3 on 19 October: 13 Supported, 25 Partial, 4 Unsupported. One grade changed.</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05 / 13</a:t>
            </a:r>
          </a:p>
        </p:txBody>
      </p:sp>
      <p:sp>
        <p:nvSpPr>
          <p:cNvPr id="9" name="Rectangle 8"/>
          <p:cNvSpPr/>
          <p:nvPr/>
        </p:nvSpPr>
        <p:spPr>
          <a:xfrm>
            <a:off x="552450" y="1750000"/>
            <a:ext cx="3580000" cy="1380000"/>
          </a:xfrm>
          <a:prstGeom prst="rect">
            <a:avLst/>
          </a:prstGeom>
          <a:solidFill>
            <a:srgbClr val="E2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52450" y="1750000"/>
            <a:ext cx="38000" cy="1380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2450" y="1820000"/>
            <a:ext cx="1300000" cy="900000"/>
          </a:xfrm>
          <a:prstGeom prst="rect">
            <a:avLst/>
          </a:prstGeom>
          <a:noFill/>
        </p:spPr>
        <p:txBody>
          <a:bodyPr wrap="square" lIns="0" rIns="0" tIns="0" bIns="0" anchor="t">
            <a:noAutofit/>
          </a:bodyPr>
          <a:lstStyle/>
          <a:p>
            <a:pPr algn="l">
              <a:lnSpc>
                <a:spcPct val="90000"/>
              </a:lnSpc>
              <a:spcAft>
                <a:spcPts val="0"/>
              </a:spcAft>
            </a:pPr>
            <a:r>
              <a:rPr sz="5400" b="1" i="0">
                <a:solidFill>
                  <a:srgbClr val="127B76"/>
                </a:solidFill>
                <a:latin typeface="Arial"/>
              </a:rPr>
              <a:t>13</a:t>
            </a:r>
          </a:p>
        </p:txBody>
      </p:sp>
      <p:sp>
        <p:nvSpPr>
          <p:cNvPr id="12" name="TextBox 11"/>
          <p:cNvSpPr txBox="1"/>
          <p:nvPr/>
        </p:nvSpPr>
        <p:spPr>
          <a:xfrm>
            <a:off x="2002450" y="1930000"/>
            <a:ext cx="1950000" cy="260000"/>
          </a:xfrm>
          <a:prstGeom prst="rect">
            <a:avLst/>
          </a:prstGeom>
          <a:noFill/>
        </p:spPr>
        <p:txBody>
          <a:bodyPr wrap="square" lIns="0" rIns="0" tIns="0" bIns="0" anchor="t">
            <a:noAutofit/>
          </a:bodyPr>
          <a:lstStyle/>
          <a:p>
            <a:pPr algn="l">
              <a:spcAft>
                <a:spcPts val="0"/>
              </a:spcAft>
            </a:pPr>
            <a:r>
              <a:rPr sz="900" b="1" i="0">
                <a:solidFill>
                  <a:srgbClr val="223047"/>
                </a:solidFill>
                <a:latin typeface="Arial"/>
              </a:rPr>
              <a:t>SUPPORTED</a:t>
            </a:r>
          </a:p>
        </p:txBody>
      </p:sp>
      <p:sp>
        <p:nvSpPr>
          <p:cNvPr id="13" name="TextBox 12"/>
          <p:cNvSpPr txBox="1"/>
          <p:nvPr/>
        </p:nvSpPr>
        <p:spPr>
          <a:xfrm>
            <a:off x="2002450" y="2220000"/>
            <a:ext cx="1950000" cy="26000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was 12  ·  +1</a:t>
            </a:r>
          </a:p>
        </p:txBody>
      </p:sp>
      <p:sp>
        <p:nvSpPr>
          <p:cNvPr id="14" name="Rectangle 13"/>
          <p:cNvSpPr/>
          <p:nvPr/>
        </p:nvSpPr>
        <p:spPr>
          <a:xfrm>
            <a:off x="4222450" y="1750000"/>
            <a:ext cx="3580000" cy="138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222450" y="1750000"/>
            <a:ext cx="38000" cy="1380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422450" y="1820000"/>
            <a:ext cx="1300000" cy="900000"/>
          </a:xfrm>
          <a:prstGeom prst="rect">
            <a:avLst/>
          </a:prstGeom>
          <a:noFill/>
        </p:spPr>
        <p:txBody>
          <a:bodyPr wrap="square" lIns="0" rIns="0" tIns="0" bIns="0" anchor="t">
            <a:noAutofit/>
          </a:bodyPr>
          <a:lstStyle/>
          <a:p>
            <a:pPr algn="l">
              <a:lnSpc>
                <a:spcPct val="90000"/>
              </a:lnSpc>
              <a:spcAft>
                <a:spcPts val="0"/>
              </a:spcAft>
            </a:pPr>
            <a:r>
              <a:rPr sz="5400" b="1" i="0">
                <a:solidFill>
                  <a:srgbClr val="127B76"/>
                </a:solidFill>
                <a:latin typeface="Arial"/>
              </a:rPr>
              <a:t>25</a:t>
            </a:r>
          </a:p>
        </p:txBody>
      </p:sp>
      <p:sp>
        <p:nvSpPr>
          <p:cNvPr id="17" name="TextBox 16"/>
          <p:cNvSpPr txBox="1"/>
          <p:nvPr/>
        </p:nvSpPr>
        <p:spPr>
          <a:xfrm>
            <a:off x="5672450" y="1930000"/>
            <a:ext cx="1950000" cy="260000"/>
          </a:xfrm>
          <a:prstGeom prst="rect">
            <a:avLst/>
          </a:prstGeom>
          <a:noFill/>
        </p:spPr>
        <p:txBody>
          <a:bodyPr wrap="square" lIns="0" rIns="0" tIns="0" bIns="0" anchor="t">
            <a:noAutofit/>
          </a:bodyPr>
          <a:lstStyle/>
          <a:p>
            <a:pPr algn="l">
              <a:spcAft>
                <a:spcPts val="0"/>
              </a:spcAft>
            </a:pPr>
            <a:r>
              <a:rPr sz="900" b="1" i="0">
                <a:solidFill>
                  <a:srgbClr val="223047"/>
                </a:solidFill>
                <a:latin typeface="Arial"/>
              </a:rPr>
              <a:t>PARTIAL</a:t>
            </a:r>
          </a:p>
        </p:txBody>
      </p:sp>
      <p:sp>
        <p:nvSpPr>
          <p:cNvPr id="18" name="TextBox 17"/>
          <p:cNvSpPr txBox="1"/>
          <p:nvPr/>
        </p:nvSpPr>
        <p:spPr>
          <a:xfrm>
            <a:off x="5672450" y="2220000"/>
            <a:ext cx="1950000" cy="26000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was 26  ·  −1</a:t>
            </a:r>
          </a:p>
        </p:txBody>
      </p:sp>
      <p:sp>
        <p:nvSpPr>
          <p:cNvPr id="19" name="Rectangle 18"/>
          <p:cNvSpPr/>
          <p:nvPr/>
        </p:nvSpPr>
        <p:spPr>
          <a:xfrm>
            <a:off x="7892450" y="1750000"/>
            <a:ext cx="3580000" cy="1380000"/>
          </a:xfrm>
          <a:prstGeom prst="rect">
            <a:avLst/>
          </a:prstGeom>
          <a:solidFill>
            <a:srgbClr val="FB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892450" y="1750000"/>
            <a:ext cx="38000" cy="1380000"/>
          </a:xfrm>
          <a:prstGeom prst="rect">
            <a:avLst/>
          </a:prstGeom>
          <a:solidFill>
            <a:srgbClr val="B641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92450" y="1820000"/>
            <a:ext cx="1300000" cy="900000"/>
          </a:xfrm>
          <a:prstGeom prst="rect">
            <a:avLst/>
          </a:prstGeom>
          <a:noFill/>
        </p:spPr>
        <p:txBody>
          <a:bodyPr wrap="square" lIns="0" rIns="0" tIns="0" bIns="0" anchor="t">
            <a:noAutofit/>
          </a:bodyPr>
          <a:lstStyle/>
          <a:p>
            <a:pPr algn="l">
              <a:lnSpc>
                <a:spcPct val="90000"/>
              </a:lnSpc>
              <a:spcAft>
                <a:spcPts val="0"/>
              </a:spcAft>
            </a:pPr>
            <a:r>
              <a:rPr sz="5400" b="1" i="0">
                <a:solidFill>
                  <a:srgbClr val="B64145"/>
                </a:solidFill>
                <a:latin typeface="Arial"/>
              </a:rPr>
              <a:t>4</a:t>
            </a:r>
          </a:p>
        </p:txBody>
      </p:sp>
      <p:sp>
        <p:nvSpPr>
          <p:cNvPr id="22" name="TextBox 21"/>
          <p:cNvSpPr txBox="1"/>
          <p:nvPr/>
        </p:nvSpPr>
        <p:spPr>
          <a:xfrm>
            <a:off x="9342450" y="1930000"/>
            <a:ext cx="1950000" cy="260000"/>
          </a:xfrm>
          <a:prstGeom prst="rect">
            <a:avLst/>
          </a:prstGeom>
          <a:noFill/>
        </p:spPr>
        <p:txBody>
          <a:bodyPr wrap="square" lIns="0" rIns="0" tIns="0" bIns="0" anchor="t">
            <a:noAutofit/>
          </a:bodyPr>
          <a:lstStyle/>
          <a:p>
            <a:pPr algn="l">
              <a:spcAft>
                <a:spcPts val="0"/>
              </a:spcAft>
            </a:pPr>
            <a:r>
              <a:rPr sz="900" b="1" i="0">
                <a:solidFill>
                  <a:srgbClr val="223047"/>
                </a:solidFill>
                <a:latin typeface="Arial"/>
              </a:rPr>
              <a:t>UNSUPPORTED</a:t>
            </a:r>
          </a:p>
        </p:txBody>
      </p:sp>
      <p:sp>
        <p:nvSpPr>
          <p:cNvPr id="23" name="TextBox 22"/>
          <p:cNvSpPr txBox="1"/>
          <p:nvPr/>
        </p:nvSpPr>
        <p:spPr>
          <a:xfrm>
            <a:off x="9342450" y="2220000"/>
            <a:ext cx="1950000" cy="26000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unchanged</a:t>
            </a:r>
          </a:p>
        </p:txBody>
      </p:sp>
      <p:sp>
        <p:nvSpPr>
          <p:cNvPr id="24" name="Rectangle 23"/>
          <p:cNvSpPr/>
          <p:nvPr/>
        </p:nvSpPr>
        <p:spPr>
          <a:xfrm>
            <a:off x="552450" y="3300000"/>
            <a:ext cx="5250000" cy="208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52450" y="3300000"/>
            <a:ext cx="38000" cy="2080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30000" y="3400000"/>
            <a:ext cx="4900000" cy="25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THE ONE RULE THAT MOVED · BR-20</a:t>
            </a:r>
          </a:p>
        </p:txBody>
      </p:sp>
      <p:sp>
        <p:nvSpPr>
          <p:cNvPr id="27" name="TextBox 26"/>
          <p:cNvSpPr txBox="1"/>
          <p:nvPr/>
        </p:nvSpPr>
        <p:spPr>
          <a:xfrm>
            <a:off x="730000" y="3680000"/>
            <a:ext cx="4870000" cy="1600000"/>
          </a:xfrm>
          <a:prstGeom prst="rect">
            <a:avLst/>
          </a:prstGeom>
          <a:noFill/>
        </p:spPr>
        <p:txBody>
          <a:bodyPr wrap="square" lIns="0" rIns="0" tIns="0" bIns="0" anchor="t">
            <a:noAutofit/>
          </a:bodyPr>
          <a:lstStyle/>
          <a:p>
            <a:pPr algn="l">
              <a:lnSpc>
                <a:spcPct val="105000"/>
              </a:lnSpc>
              <a:spcAft>
                <a:spcPts val="700"/>
              </a:spcAft>
            </a:pPr>
            <a:r>
              <a:rPr sz="1050" b="0" i="0">
                <a:solidFill>
                  <a:srgbClr val="1A344B"/>
                </a:solidFill>
                <a:latin typeface="Arial"/>
              </a:rPr>
              <a:t>Refund decision is now full, partial, transfer, retain or pending, with a mandatory amount.</a:t>
            </a:r>
          </a:p>
          <a:p>
            <a:pPr algn="l">
              <a:lnSpc>
                <a:spcPct val="105000"/>
              </a:lnSpc>
              <a:spcAft>
                <a:spcPts val="700"/>
              </a:spcAft>
            </a:pPr>
            <a:r>
              <a:rPr sz="1050" b="0" i="0">
                <a:solidFill>
                  <a:srgbClr val="1A344B"/>
                </a:solidFill>
                <a:latin typeface="Arial"/>
              </a:rPr>
              <a:t>The form and the worker both changed, so the gap the matrix named is closed.</a:t>
            </a:r>
          </a:p>
          <a:p>
            <a:pPr algn="l">
              <a:lnSpc>
                <a:spcPct val="105000"/>
              </a:lnSpc>
              <a:spcAft>
                <a:spcPts val="0"/>
              </a:spcAft>
            </a:pPr>
            <a:r>
              <a:rPr sz="1050" b="0" i="0">
                <a:solidFill>
                  <a:srgbClr val="1A344B"/>
                </a:solidFill>
                <a:latin typeface="Arial"/>
              </a:rPr>
              <a:t>Limits kept in view: no acceptance case reaches FinanceAdjustment — none of the seven on 19 October did — and “authorised Finance member” is still graded under BR-37.</a:t>
            </a:r>
          </a:p>
        </p:txBody>
      </p:sp>
      <p:sp>
        <p:nvSpPr>
          <p:cNvPr id="28" name="Rectangle 27"/>
          <p:cNvSpPr/>
          <p:nvPr/>
        </p:nvSpPr>
        <p:spPr>
          <a:xfrm>
            <a:off x="6050000" y="3300000"/>
            <a:ext cx="5600000" cy="208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050000" y="3300000"/>
            <a:ext cx="38000" cy="2080000"/>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30000" y="3400000"/>
            <a:ext cx="5250000" cy="250000"/>
          </a:xfrm>
          <a:prstGeom prst="rect">
            <a:avLst/>
          </a:prstGeom>
          <a:noFill/>
        </p:spPr>
        <p:txBody>
          <a:bodyPr wrap="square" lIns="0" rIns="0" tIns="0" bIns="0" anchor="t">
            <a:noAutofit/>
          </a:bodyPr>
          <a:lstStyle/>
          <a:p>
            <a:pPr algn="l">
              <a:spcAft>
                <a:spcPts val="0"/>
              </a:spcAft>
            </a:pPr>
            <a:r>
              <a:rPr sz="850" b="1" i="0">
                <a:solidFill>
                  <a:srgbClr val="8A5A10"/>
                </a:solidFill>
                <a:latin typeface="Arial"/>
              </a:rPr>
              <a:t>THREE NARROWED, SAME GRADE</a:t>
            </a:r>
          </a:p>
        </p:txBody>
      </p:sp>
      <p:sp>
        <p:nvSpPr>
          <p:cNvPr id="31" name="TextBox 30"/>
          <p:cNvSpPr txBox="1"/>
          <p:nvPr/>
        </p:nvSpPr>
        <p:spPr>
          <a:xfrm>
            <a:off x="6230000" y="3680000"/>
            <a:ext cx="5220000" cy="1600000"/>
          </a:xfrm>
          <a:prstGeom prst="rect">
            <a:avLst/>
          </a:prstGeom>
          <a:noFill/>
        </p:spPr>
        <p:txBody>
          <a:bodyPr wrap="square" lIns="0" rIns="0" tIns="0" bIns="0" anchor="t">
            <a:noAutofit/>
          </a:bodyPr>
          <a:lstStyle/>
          <a:p>
            <a:pPr algn="l">
              <a:lnSpc>
                <a:spcPct val="105000"/>
              </a:lnSpc>
              <a:spcAft>
                <a:spcPts val="700"/>
              </a:spcAft>
            </a:pPr>
            <a:r>
              <a:rPr sz="1050" b="1" i="0">
                <a:solidFill>
                  <a:srgbClr val="223047"/>
                </a:solidFill>
                <a:latin typeface="Arial"/>
              </a:rPr>
              <a:t>BR-36  </a:t>
            </a:r>
            <a:r>
              <a:rPr sz="1050" b="0" i="0">
                <a:solidFill>
                  <a:srgbClr val="1A344B"/>
                </a:solidFill>
                <a:latin typeface="Arial"/>
              </a:rPr>
              <a:t>visit split delivered; no DNA → Finance case, and reschedule is still not its own outcome.</a:t>
            </a:r>
          </a:p>
          <a:p>
            <a:pPr algn="l">
              <a:lnSpc>
                <a:spcPct val="105000"/>
              </a:lnSpc>
              <a:spcAft>
                <a:spcPts val="700"/>
              </a:spcAft>
            </a:pPr>
            <a:r>
              <a:rPr sz="1050" b="1" i="0">
                <a:solidFill>
                  <a:srgbClr val="223047"/>
                </a:solidFill>
                <a:latin typeface="Arial"/>
              </a:rPr>
              <a:t>BR-35  </a:t>
            </a:r>
            <a:r>
              <a:rPr sz="1050" b="0" i="0">
                <a:solidFill>
                  <a:srgbClr val="1A344B"/>
                </a:solidFill>
                <a:latin typeface="Arial"/>
              </a:rPr>
              <a:t>booking structured; no out-of-timeframe flag or pathway notification.</a:t>
            </a:r>
          </a:p>
          <a:p>
            <a:pPr algn="l">
              <a:lnSpc>
                <a:spcPct val="105000"/>
              </a:lnSpc>
              <a:spcAft>
                <a:spcPts val="0"/>
              </a:spcAft>
            </a:pPr>
            <a:r>
              <a:rPr sz="1050" b="1" i="0">
                <a:solidFill>
                  <a:srgbClr val="223047"/>
                </a:solidFill>
                <a:latin typeface="Arial"/>
              </a:rPr>
              <a:t>BR-13  </a:t>
            </a:r>
            <a:r>
              <a:rPr sz="1050" b="0" i="0">
                <a:solidFill>
                  <a:srgbClr val="1A344B"/>
                </a:solidFill>
                <a:latin typeface="Arial"/>
              </a:rPr>
              <a:t>amount and reference structured; limitations are still free text in notes.</a:t>
            </a:r>
          </a:p>
        </p:txBody>
      </p:sp>
      <p:sp>
        <p:nvSpPr>
          <p:cNvPr id="32" name="TextBox 31"/>
          <p:cNvSpPr txBox="1"/>
          <p:nvPr/>
        </p:nvSpPr>
        <p:spPr>
          <a:xfrm>
            <a:off x="552450" y="5540000"/>
            <a:ext cx="11100000" cy="42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The release improved the process. It did not improve its alignment profile: 26 of the 42 rules are untouched.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WHY 26 RULES DID NOT MOVE</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Two missing capabilities carry nine of 26 rules</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Grouped by the cause that has to be removed first, not by symptom.</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06 / 13</a:t>
            </a:r>
          </a:p>
        </p:txBody>
      </p:sp>
      <p:sp>
        <p:nvSpPr>
          <p:cNvPr id="9" name="TextBox 8"/>
          <p:cNvSpPr txBox="1"/>
          <p:nvPr/>
        </p:nvSpPr>
        <p:spPr>
          <a:xfrm>
            <a:off x="582450" y="1700000"/>
            <a:ext cx="26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CAUSE</a:t>
            </a:r>
          </a:p>
        </p:txBody>
      </p:sp>
      <p:sp>
        <p:nvSpPr>
          <p:cNvPr id="10" name="TextBox 9"/>
          <p:cNvSpPr txBox="1"/>
          <p:nvPr/>
        </p:nvSpPr>
        <p:spPr>
          <a:xfrm>
            <a:off x="3230000" y="1700000"/>
            <a:ext cx="7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RULES</a:t>
            </a:r>
          </a:p>
        </p:txBody>
      </p:sp>
      <p:sp>
        <p:nvSpPr>
          <p:cNvPr id="11" name="TextBox 10"/>
          <p:cNvSpPr txBox="1"/>
          <p:nvPr/>
        </p:nvSpPr>
        <p:spPr>
          <a:xfrm>
            <a:off x="3970000" y="1700000"/>
            <a:ext cx="345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RULE IDS</a:t>
            </a:r>
          </a:p>
        </p:txBody>
      </p:sp>
      <p:sp>
        <p:nvSpPr>
          <p:cNvPr id="12" name="TextBox 11"/>
          <p:cNvSpPr txBox="1"/>
          <p:nvPr/>
        </p:nvSpPr>
        <p:spPr>
          <a:xfrm>
            <a:off x="7510000" y="1700000"/>
            <a:ext cx="416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WHAT THE CAUSE IS</a:t>
            </a:r>
          </a:p>
        </p:txBody>
      </p:sp>
      <p:sp>
        <p:nvSpPr>
          <p:cNvPr id="13" name="Rectangle 12"/>
          <p:cNvSpPr/>
          <p:nvPr/>
        </p:nvSpPr>
        <p:spPr>
          <a:xfrm>
            <a:off x="552450" y="1930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52450" y="1990000"/>
            <a:ext cx="11100000" cy="590000"/>
          </a:xfrm>
          <a:prstGeom prst="rect">
            <a:avLst/>
          </a:prstGeom>
          <a:solidFill>
            <a:srgbClr val="FFF1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82450" y="2050000"/>
            <a:ext cx="2500000" cy="48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C1 · No role model</a:t>
            </a:r>
          </a:p>
        </p:txBody>
      </p:sp>
      <p:sp>
        <p:nvSpPr>
          <p:cNvPr id="16" name="TextBox 15"/>
          <p:cNvSpPr txBox="1"/>
          <p:nvPr/>
        </p:nvSpPr>
        <p:spPr>
          <a:xfrm>
            <a:off x="3230000" y="2040000"/>
            <a:ext cx="650000" cy="300000"/>
          </a:xfrm>
          <a:prstGeom prst="rect">
            <a:avLst/>
          </a:prstGeom>
          <a:noFill/>
        </p:spPr>
        <p:txBody>
          <a:bodyPr wrap="square" lIns="0" rIns="0" tIns="0" bIns="0" anchor="t">
            <a:noAutofit/>
          </a:bodyPr>
          <a:lstStyle/>
          <a:p>
            <a:pPr algn="l">
              <a:spcAft>
                <a:spcPts val="0"/>
              </a:spcAft>
            </a:pPr>
            <a:r>
              <a:rPr sz="1425" b="1" i="0">
                <a:solidFill>
                  <a:srgbClr val="E8A23A"/>
                </a:solidFill>
                <a:latin typeface="Arial"/>
              </a:rPr>
              <a:t>5</a:t>
            </a:r>
          </a:p>
        </p:txBody>
      </p:sp>
      <p:sp>
        <p:nvSpPr>
          <p:cNvPr id="17" name="TextBox 16"/>
          <p:cNvSpPr txBox="1"/>
          <p:nvPr/>
        </p:nvSpPr>
        <p:spPr>
          <a:xfrm>
            <a:off x="3970000" y="2050000"/>
            <a:ext cx="34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BR-09, 19, 21, 27, 31</a:t>
            </a:r>
          </a:p>
        </p:txBody>
      </p:sp>
      <p:sp>
        <p:nvSpPr>
          <p:cNvPr id="18" name="TextBox 17"/>
          <p:cNvSpPr txBox="1"/>
          <p:nvPr/>
        </p:nvSpPr>
        <p:spPr>
          <a:xfrm>
            <a:off x="7510000" y="2050000"/>
            <a:ext cx="41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All 22 user tasks are assignee="demo"; no candidate groups, claims or login.</a:t>
            </a:r>
          </a:p>
        </p:txBody>
      </p:sp>
      <p:sp>
        <p:nvSpPr>
          <p:cNvPr id="19" name="Rectangle 18"/>
          <p:cNvSpPr/>
          <p:nvPr/>
        </p:nvSpPr>
        <p:spPr>
          <a:xfrm>
            <a:off x="552450" y="2572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52450" y="2582000"/>
            <a:ext cx="11100000" cy="590000"/>
          </a:xfrm>
          <a:prstGeom prst="rect">
            <a:avLst/>
          </a:prstGeom>
          <a:solidFill>
            <a:srgbClr val="FFF1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82450" y="2642000"/>
            <a:ext cx="2500000" cy="48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C2 · No timers</a:t>
            </a:r>
          </a:p>
        </p:txBody>
      </p:sp>
      <p:sp>
        <p:nvSpPr>
          <p:cNvPr id="22" name="TextBox 21"/>
          <p:cNvSpPr txBox="1"/>
          <p:nvPr/>
        </p:nvSpPr>
        <p:spPr>
          <a:xfrm>
            <a:off x="3230000" y="2632000"/>
            <a:ext cx="650000" cy="300000"/>
          </a:xfrm>
          <a:prstGeom prst="rect">
            <a:avLst/>
          </a:prstGeom>
          <a:noFill/>
        </p:spPr>
        <p:txBody>
          <a:bodyPr wrap="square" lIns="0" rIns="0" tIns="0" bIns="0" anchor="t">
            <a:noAutofit/>
          </a:bodyPr>
          <a:lstStyle/>
          <a:p>
            <a:pPr algn="l">
              <a:spcAft>
                <a:spcPts val="0"/>
              </a:spcAft>
            </a:pPr>
            <a:r>
              <a:rPr sz="1425" b="1" i="0">
                <a:solidFill>
                  <a:srgbClr val="E8A23A"/>
                </a:solidFill>
                <a:latin typeface="Arial"/>
              </a:rPr>
              <a:t>4</a:t>
            </a:r>
          </a:p>
        </p:txBody>
      </p:sp>
      <p:sp>
        <p:nvSpPr>
          <p:cNvPr id="23" name="TextBox 22"/>
          <p:cNvSpPr txBox="1"/>
          <p:nvPr/>
        </p:nvSpPr>
        <p:spPr>
          <a:xfrm>
            <a:off x="3970000" y="2642000"/>
            <a:ext cx="34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BR-06, 32, 33, 34</a:t>
            </a:r>
          </a:p>
        </p:txBody>
      </p:sp>
      <p:sp>
        <p:nvSpPr>
          <p:cNvPr id="24" name="TextBox 23"/>
          <p:cNvSpPr txBox="1"/>
          <p:nvPr/>
        </p:nvSpPr>
        <p:spPr>
          <a:xfrm>
            <a:off x="7510000" y="2642000"/>
            <a:ext cx="41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Zero timer events, so no rule about “within seven days” can be enforced.</a:t>
            </a:r>
          </a:p>
        </p:txBody>
      </p:sp>
      <p:sp>
        <p:nvSpPr>
          <p:cNvPr id="25" name="Rectangle 24"/>
          <p:cNvSpPr/>
          <p:nvPr/>
        </p:nvSpPr>
        <p:spPr>
          <a:xfrm>
            <a:off x="552450" y="3164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82450" y="3234000"/>
            <a:ext cx="2500000" cy="48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C3 · Records unstructured</a:t>
            </a:r>
          </a:p>
        </p:txBody>
      </p:sp>
      <p:sp>
        <p:nvSpPr>
          <p:cNvPr id="27" name="TextBox 26"/>
          <p:cNvSpPr txBox="1"/>
          <p:nvPr/>
        </p:nvSpPr>
        <p:spPr>
          <a:xfrm>
            <a:off x="3230000" y="3224000"/>
            <a:ext cx="650000" cy="300000"/>
          </a:xfrm>
          <a:prstGeom prst="rect">
            <a:avLst/>
          </a:prstGeom>
          <a:noFill/>
        </p:spPr>
        <p:txBody>
          <a:bodyPr wrap="square" lIns="0" rIns="0" tIns="0" bIns="0" anchor="t">
            <a:noAutofit/>
          </a:bodyPr>
          <a:lstStyle/>
          <a:p>
            <a:pPr algn="l">
              <a:spcAft>
                <a:spcPts val="0"/>
              </a:spcAft>
            </a:pPr>
            <a:r>
              <a:rPr sz="1425" b="1" i="0">
                <a:solidFill>
                  <a:srgbClr val="597185"/>
                </a:solidFill>
                <a:latin typeface="Arial"/>
              </a:rPr>
              <a:t>8</a:t>
            </a:r>
          </a:p>
        </p:txBody>
      </p:sp>
      <p:sp>
        <p:nvSpPr>
          <p:cNvPr id="28" name="TextBox 27"/>
          <p:cNvSpPr txBox="1"/>
          <p:nvPr/>
        </p:nvSpPr>
        <p:spPr>
          <a:xfrm>
            <a:off x="3970000" y="3234000"/>
            <a:ext cx="34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BR-01, 04, 05, 08, 23, 25, 28, 30</a:t>
            </a:r>
          </a:p>
        </p:txBody>
      </p:sp>
      <p:sp>
        <p:nvSpPr>
          <p:cNvPr id="29" name="TextBox 28"/>
          <p:cNvSpPr txBox="1"/>
          <p:nvPr/>
        </p:nvSpPr>
        <p:spPr>
          <a:xfrm>
            <a:off x="7510000" y="3234000"/>
            <a:ext cx="41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Records are still free text in notes, or have no field at all.</a:t>
            </a:r>
          </a:p>
        </p:txBody>
      </p:sp>
      <p:sp>
        <p:nvSpPr>
          <p:cNvPr id="30" name="Rectangle 29"/>
          <p:cNvSpPr/>
          <p:nvPr/>
        </p:nvSpPr>
        <p:spPr>
          <a:xfrm>
            <a:off x="552450" y="3756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82450" y="3826000"/>
            <a:ext cx="2500000" cy="48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C4 · Never exercised</a:t>
            </a:r>
          </a:p>
        </p:txBody>
      </p:sp>
      <p:sp>
        <p:nvSpPr>
          <p:cNvPr id="32" name="TextBox 31"/>
          <p:cNvSpPr txBox="1"/>
          <p:nvPr/>
        </p:nvSpPr>
        <p:spPr>
          <a:xfrm>
            <a:off x="3230000" y="3816000"/>
            <a:ext cx="650000" cy="300000"/>
          </a:xfrm>
          <a:prstGeom prst="rect">
            <a:avLst/>
          </a:prstGeom>
          <a:noFill/>
        </p:spPr>
        <p:txBody>
          <a:bodyPr wrap="square" lIns="0" rIns="0" tIns="0" bIns="0" anchor="t">
            <a:noAutofit/>
          </a:bodyPr>
          <a:lstStyle/>
          <a:p>
            <a:pPr algn="l">
              <a:spcAft>
                <a:spcPts val="0"/>
              </a:spcAft>
            </a:pPr>
            <a:r>
              <a:rPr sz="1425" b="1" i="0">
                <a:solidFill>
                  <a:srgbClr val="597185"/>
                </a:solidFill>
                <a:latin typeface="Arial"/>
              </a:rPr>
              <a:t>1</a:t>
            </a:r>
          </a:p>
        </p:txBody>
      </p:sp>
      <p:sp>
        <p:nvSpPr>
          <p:cNvPr id="33" name="TextBox 32"/>
          <p:cNvSpPr txBox="1"/>
          <p:nvPr/>
        </p:nvSpPr>
        <p:spPr>
          <a:xfrm>
            <a:off x="3970000" y="3826000"/>
            <a:ext cx="34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BR-22</a:t>
            </a:r>
          </a:p>
        </p:txBody>
      </p:sp>
      <p:sp>
        <p:nvSpPr>
          <p:cNvPr id="34" name="TextBox 33"/>
          <p:cNvSpPr txBox="1"/>
          <p:nvPr/>
        </p:nvSpPr>
        <p:spPr>
          <a:xfrm>
            <a:off x="7510000" y="3826000"/>
            <a:ext cx="41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Change path, unauthorised skip and Finance routing exist; no case drives them.</a:t>
            </a:r>
          </a:p>
        </p:txBody>
      </p:sp>
      <p:sp>
        <p:nvSpPr>
          <p:cNvPr id="35" name="Rectangle 34"/>
          <p:cNvSpPr/>
          <p:nvPr/>
        </p:nvSpPr>
        <p:spPr>
          <a:xfrm>
            <a:off x="552450" y="4348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82450" y="4418000"/>
            <a:ext cx="2500000" cy="48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C5 · Rule undecided</a:t>
            </a:r>
          </a:p>
        </p:txBody>
      </p:sp>
      <p:sp>
        <p:nvSpPr>
          <p:cNvPr id="37" name="TextBox 36"/>
          <p:cNvSpPr txBox="1"/>
          <p:nvPr/>
        </p:nvSpPr>
        <p:spPr>
          <a:xfrm>
            <a:off x="3230000" y="4408000"/>
            <a:ext cx="650000" cy="300000"/>
          </a:xfrm>
          <a:prstGeom prst="rect">
            <a:avLst/>
          </a:prstGeom>
          <a:noFill/>
        </p:spPr>
        <p:txBody>
          <a:bodyPr wrap="square" lIns="0" rIns="0" tIns="0" bIns="0" anchor="t">
            <a:noAutofit/>
          </a:bodyPr>
          <a:lstStyle/>
          <a:p>
            <a:pPr algn="l">
              <a:spcAft>
                <a:spcPts val="0"/>
              </a:spcAft>
            </a:pPr>
            <a:r>
              <a:rPr sz="1425" b="1" i="0">
                <a:solidFill>
                  <a:srgbClr val="597185"/>
                </a:solidFill>
                <a:latin typeface="Arial"/>
              </a:rPr>
              <a:t>1</a:t>
            </a:r>
          </a:p>
        </p:txBody>
      </p:sp>
      <p:sp>
        <p:nvSpPr>
          <p:cNvPr id="38" name="TextBox 37"/>
          <p:cNvSpPr txBox="1"/>
          <p:nvPr/>
        </p:nvSpPr>
        <p:spPr>
          <a:xfrm>
            <a:off x="3970000" y="4418000"/>
            <a:ext cx="34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BR-29</a:t>
            </a:r>
          </a:p>
        </p:txBody>
      </p:sp>
      <p:sp>
        <p:nvSpPr>
          <p:cNvPr id="39" name="TextBox 38"/>
          <p:cNvSpPr txBox="1"/>
          <p:nvPr/>
        </p:nvSpPr>
        <p:spPr>
          <a:xfrm>
            <a:off x="7510000" y="4418000"/>
            <a:ext cx="41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Urgency highlight rules are still a stakeholder decision; only manual priority exists.</a:t>
            </a:r>
          </a:p>
        </p:txBody>
      </p:sp>
      <p:sp>
        <p:nvSpPr>
          <p:cNvPr id="40" name="Rectangle 39"/>
          <p:cNvSpPr/>
          <p:nvPr/>
        </p:nvSpPr>
        <p:spPr>
          <a:xfrm>
            <a:off x="552450" y="4940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82450" y="5010000"/>
            <a:ext cx="2500000" cy="480000"/>
          </a:xfrm>
          <a:prstGeom prst="rect">
            <a:avLst/>
          </a:prstGeom>
          <a:noFill/>
        </p:spPr>
        <p:txBody>
          <a:bodyPr wrap="square" lIns="0" rIns="0" tIns="0" bIns="0" anchor="t">
            <a:noAutofit/>
          </a:bodyPr>
          <a:lstStyle/>
          <a:p>
            <a:pPr algn="l">
              <a:spcAft>
                <a:spcPts val="0"/>
              </a:spcAft>
            </a:pPr>
            <a:r>
              <a:rPr sz="1050" b="1" i="0">
                <a:solidFill>
                  <a:srgbClr val="223047"/>
                </a:solidFill>
                <a:latin typeface="Arial"/>
              </a:rPr>
              <a:t>C6 · Never built</a:t>
            </a:r>
          </a:p>
        </p:txBody>
      </p:sp>
      <p:sp>
        <p:nvSpPr>
          <p:cNvPr id="42" name="TextBox 41"/>
          <p:cNvSpPr txBox="1"/>
          <p:nvPr/>
        </p:nvSpPr>
        <p:spPr>
          <a:xfrm>
            <a:off x="3230000" y="5000000"/>
            <a:ext cx="650000" cy="300000"/>
          </a:xfrm>
          <a:prstGeom prst="rect">
            <a:avLst/>
          </a:prstGeom>
          <a:noFill/>
        </p:spPr>
        <p:txBody>
          <a:bodyPr wrap="square" lIns="0" rIns="0" tIns="0" bIns="0" anchor="t">
            <a:noAutofit/>
          </a:bodyPr>
          <a:lstStyle/>
          <a:p>
            <a:pPr algn="l">
              <a:spcAft>
                <a:spcPts val="0"/>
              </a:spcAft>
            </a:pPr>
            <a:r>
              <a:rPr sz="1425" b="1" i="0">
                <a:solidFill>
                  <a:srgbClr val="597185"/>
                </a:solidFill>
                <a:latin typeface="Arial"/>
              </a:rPr>
              <a:t>7</a:t>
            </a:r>
          </a:p>
        </p:txBody>
      </p:sp>
      <p:sp>
        <p:nvSpPr>
          <p:cNvPr id="43" name="TextBox 42"/>
          <p:cNvSpPr txBox="1"/>
          <p:nvPr/>
        </p:nvSpPr>
        <p:spPr>
          <a:xfrm>
            <a:off x="3970000" y="5010000"/>
            <a:ext cx="34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BR-10, 37, 38, 39, 40, 41, 42</a:t>
            </a:r>
          </a:p>
        </p:txBody>
      </p:sp>
      <p:sp>
        <p:nvSpPr>
          <p:cNvPr id="44" name="TextBox 43"/>
          <p:cNvSpPr txBox="1"/>
          <p:nvPr/>
        </p:nvSpPr>
        <p:spPr>
          <a:xfrm>
            <a:off x="7510000" y="5010000"/>
            <a:ext cx="4100000" cy="48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Each is a new capability, not a refinement of an existing one.</a:t>
            </a:r>
          </a:p>
        </p:txBody>
      </p:sp>
      <p:sp>
        <p:nvSpPr>
          <p:cNvPr id="45" name="Rectangle 44"/>
          <p:cNvSpPr/>
          <p:nvPr/>
        </p:nvSpPr>
        <p:spPr>
          <a:xfrm>
            <a:off x="552450" y="5532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52450" y="5600000"/>
            <a:ext cx="11100000" cy="600000"/>
          </a:xfrm>
          <a:prstGeom prst="rect">
            <a:avLst/>
          </a:prstGeom>
          <a:noFill/>
        </p:spPr>
        <p:txBody>
          <a:bodyPr wrap="square" lIns="0" rIns="0" tIns="0" bIns="0" anchor="t">
            <a:noAutofit/>
          </a:bodyPr>
          <a:lstStyle/>
          <a:p>
            <a:pPr algn="l">
              <a:lnSpc>
                <a:spcPct val="105000"/>
              </a:lnSpc>
              <a:spcAft>
                <a:spcPts val="0"/>
              </a:spcAft>
            </a:pPr>
            <a:r>
              <a:rPr sz="900" b="0" i="0">
                <a:solidFill>
                  <a:srgbClr val="597185"/>
                </a:solidFill>
                <a:latin typeface="Arial"/>
              </a:rPr>
              <a:t>C1 and C2 are one capability each with several dependants: one role model unlocks five rules; one timer pattern unlocks four. C3 is the largest group and the cheapest — eight rules need a form field and a check, not a redesign. Only BR-22 is blocked on test coverage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RESPONSE TO FEEDBACK</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Seven received points, six rows, one left open</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Peer feedback only: four items from Group 10, three from the whole-class sheet. No tutor feedback has been received.</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07 / 13</a:t>
            </a:r>
          </a:p>
        </p:txBody>
      </p:sp>
      <p:sp>
        <p:nvSpPr>
          <p:cNvPr id="9" name="TextBox 8"/>
          <p:cNvSpPr txBox="1"/>
          <p:nvPr/>
        </p:nvSpPr>
        <p:spPr>
          <a:xfrm>
            <a:off x="582450" y="1710000"/>
            <a:ext cx="85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ID</a:t>
            </a:r>
          </a:p>
        </p:txBody>
      </p:sp>
      <p:sp>
        <p:nvSpPr>
          <p:cNvPr id="10" name="TextBox 9"/>
          <p:cNvSpPr txBox="1"/>
          <p:nvPr/>
        </p:nvSpPr>
        <p:spPr>
          <a:xfrm>
            <a:off x="1480000" y="1710000"/>
            <a:ext cx="40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POINT RAISED</a:t>
            </a:r>
          </a:p>
        </p:txBody>
      </p:sp>
      <p:sp>
        <p:nvSpPr>
          <p:cNvPr id="11" name="TextBox 10"/>
          <p:cNvSpPr txBox="1"/>
          <p:nvPr/>
        </p:nvSpPr>
        <p:spPr>
          <a:xfrm>
            <a:off x="5650000" y="1710000"/>
            <a:ext cx="462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DECISION AND ACTION</a:t>
            </a:r>
          </a:p>
        </p:txBody>
      </p:sp>
      <p:sp>
        <p:nvSpPr>
          <p:cNvPr id="12" name="TextBox 11"/>
          <p:cNvSpPr txBox="1"/>
          <p:nvPr/>
        </p:nvSpPr>
        <p:spPr>
          <a:xfrm>
            <a:off x="10450000" y="1710000"/>
            <a:ext cx="145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EVIDENCE</a:t>
            </a:r>
          </a:p>
        </p:txBody>
      </p:sp>
      <p:sp>
        <p:nvSpPr>
          <p:cNvPr id="13" name="Rectangle 12"/>
          <p:cNvSpPr/>
          <p:nvPr/>
        </p:nvSpPr>
        <p:spPr>
          <a:xfrm>
            <a:off x="552450" y="1935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82450" y="2070000"/>
            <a:ext cx="800000" cy="300000"/>
          </a:xfrm>
          <a:prstGeom prst="rect">
            <a:avLst/>
          </a:prstGeom>
          <a:noFill/>
        </p:spPr>
        <p:txBody>
          <a:bodyPr wrap="square" lIns="0" rIns="0" tIns="0" bIns="0" anchor="t">
            <a:noAutofit/>
          </a:bodyPr>
          <a:lstStyle/>
          <a:p>
            <a:pPr algn="l">
              <a:spcAft>
                <a:spcPts val="0"/>
              </a:spcAft>
            </a:pPr>
            <a:r>
              <a:rPr sz="950" b="1" i="0">
                <a:solidFill>
                  <a:srgbClr val="127B76"/>
                </a:solidFill>
                <a:latin typeface="Arial"/>
              </a:rPr>
              <a:t>F-01</a:t>
            </a:r>
          </a:p>
        </p:txBody>
      </p:sp>
      <p:sp>
        <p:nvSpPr>
          <p:cNvPr id="15" name="TextBox 14"/>
          <p:cNvSpPr txBox="1"/>
          <p:nvPr/>
        </p:nvSpPr>
        <p:spPr>
          <a:xfrm>
            <a:off x="1480000" y="2060000"/>
            <a:ext cx="39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Alternative paths met informally; add explicit merges</a:t>
            </a:r>
          </a:p>
        </p:txBody>
      </p:sp>
      <p:sp>
        <p:nvSpPr>
          <p:cNvPr id="16" name="TextBox 15"/>
          <p:cNvSpPr txBox="1"/>
          <p:nvPr/>
        </p:nvSpPr>
        <p:spPr>
          <a:xfrm>
            <a:off x="5650000" y="2060000"/>
            <a:ext cx="45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Kept the split paths; added 12 pass-through Join_* gateways, seven in V2 and five more in V3.</a:t>
            </a:r>
          </a:p>
        </p:txBody>
      </p:sp>
      <p:sp>
        <p:nvSpPr>
          <p:cNvPr id="17" name="TextBox 16"/>
          <p:cNvSpPr txBox="1"/>
          <p:nvPr/>
        </p:nvSpPr>
        <p:spPr>
          <a:xfrm>
            <a:off x="10450000" y="2060000"/>
            <a:ext cx="1350000" cy="460000"/>
          </a:xfrm>
          <a:prstGeom prst="rect">
            <a:avLst/>
          </a:prstGeom>
          <a:noFill/>
        </p:spPr>
        <p:txBody>
          <a:bodyPr wrap="square" lIns="0" rIns="0" tIns="0" bIns="0" anchor="t">
            <a:noAutofit/>
          </a:bodyPr>
          <a:lstStyle/>
          <a:p>
            <a:pPr algn="l">
              <a:lnSpc>
                <a:spcPct val="100000"/>
              </a:lnSpc>
              <a:spcAft>
                <a:spcPts val="0"/>
              </a:spcAft>
            </a:pPr>
            <a:r>
              <a:rPr sz="850" b="0" i="0">
                <a:solidFill>
                  <a:srgbClr val="597185"/>
                </a:solidFill>
                <a:latin typeface="Arial"/>
              </a:rPr>
              <a:t>V3 model</a:t>
            </a:r>
          </a:p>
        </p:txBody>
      </p:sp>
      <p:sp>
        <p:nvSpPr>
          <p:cNvPr id="18" name="Rectangle 17"/>
          <p:cNvSpPr/>
          <p:nvPr/>
        </p:nvSpPr>
        <p:spPr>
          <a:xfrm>
            <a:off x="552450" y="2540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82450" y="2618000"/>
            <a:ext cx="800000" cy="300000"/>
          </a:xfrm>
          <a:prstGeom prst="rect">
            <a:avLst/>
          </a:prstGeom>
          <a:noFill/>
        </p:spPr>
        <p:txBody>
          <a:bodyPr wrap="square" lIns="0" rIns="0" tIns="0" bIns="0" anchor="t">
            <a:noAutofit/>
          </a:bodyPr>
          <a:lstStyle/>
          <a:p>
            <a:pPr algn="l">
              <a:spcAft>
                <a:spcPts val="0"/>
              </a:spcAft>
            </a:pPr>
            <a:r>
              <a:rPr sz="950" b="1" i="0">
                <a:solidFill>
                  <a:srgbClr val="127B76"/>
                </a:solidFill>
                <a:latin typeface="Arial"/>
              </a:rPr>
              <a:t>F-02</a:t>
            </a:r>
          </a:p>
        </p:txBody>
      </p:sp>
      <p:sp>
        <p:nvSpPr>
          <p:cNvPr id="20" name="TextBox 19"/>
          <p:cNvSpPr txBox="1"/>
          <p:nvPr/>
        </p:nvSpPr>
        <p:spPr>
          <a:xfrm>
            <a:off x="1480000" y="2608000"/>
            <a:ext cx="39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Decline, cancellation and DNA treated as slot bookings</a:t>
            </a:r>
          </a:p>
        </p:txBody>
      </p:sp>
      <p:sp>
        <p:nvSpPr>
          <p:cNvPr id="21" name="TextBox 20"/>
          <p:cNvSpPr txBox="1"/>
          <p:nvPr/>
        </p:nvSpPr>
        <p:spPr>
          <a:xfrm>
            <a:off x="5650000" y="2608000"/>
            <a:ext cx="45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Six-way VisitOutcome; AwaitAttendance, RecordDecline and RecordDna; slot check skipped on those paths.</a:t>
            </a:r>
          </a:p>
        </p:txBody>
      </p:sp>
      <p:sp>
        <p:nvSpPr>
          <p:cNvPr id="22" name="TextBox 21"/>
          <p:cNvSpPr txBox="1"/>
          <p:nvPr/>
        </p:nvSpPr>
        <p:spPr>
          <a:xfrm>
            <a:off x="10450000" y="2608000"/>
            <a:ext cx="1350000" cy="460000"/>
          </a:xfrm>
          <a:prstGeom prst="rect">
            <a:avLst/>
          </a:prstGeom>
          <a:noFill/>
        </p:spPr>
        <p:txBody>
          <a:bodyPr wrap="square" lIns="0" rIns="0" tIns="0" bIns="0" anchor="t">
            <a:noAutofit/>
          </a:bodyPr>
          <a:lstStyle/>
          <a:p>
            <a:pPr algn="l">
              <a:lnSpc>
                <a:spcPct val="100000"/>
              </a:lnSpc>
              <a:spcAft>
                <a:spcPts val="0"/>
              </a:spcAft>
            </a:pPr>
            <a:r>
              <a:rPr sz="850" b="0" i="0">
                <a:solidFill>
                  <a:srgbClr val="597185"/>
                </a:solidFill>
                <a:latin typeface="Arial"/>
              </a:rPr>
              <a:t>V3 model</a:t>
            </a:r>
          </a:p>
        </p:txBody>
      </p:sp>
      <p:sp>
        <p:nvSpPr>
          <p:cNvPr id="23" name="Rectangle 22"/>
          <p:cNvSpPr/>
          <p:nvPr/>
        </p:nvSpPr>
        <p:spPr>
          <a:xfrm>
            <a:off x="552450" y="3088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82450" y="3166000"/>
            <a:ext cx="800000" cy="300000"/>
          </a:xfrm>
          <a:prstGeom prst="rect">
            <a:avLst/>
          </a:prstGeom>
          <a:noFill/>
        </p:spPr>
        <p:txBody>
          <a:bodyPr wrap="square" lIns="0" rIns="0" tIns="0" bIns="0" anchor="t">
            <a:noAutofit/>
          </a:bodyPr>
          <a:lstStyle/>
          <a:p>
            <a:pPr algn="l">
              <a:spcAft>
                <a:spcPts val="0"/>
              </a:spcAft>
            </a:pPr>
            <a:r>
              <a:rPr sz="950" b="1" i="0">
                <a:solidFill>
                  <a:srgbClr val="127B76"/>
                </a:solidFill>
                <a:latin typeface="Arial"/>
              </a:rPr>
              <a:t>F-08a / F-08b</a:t>
            </a:r>
          </a:p>
        </p:txBody>
      </p:sp>
      <p:sp>
        <p:nvSpPr>
          <p:cNvPr id="25" name="TextBox 24"/>
          <p:cNvSpPr txBox="1"/>
          <p:nvPr/>
        </p:nvSpPr>
        <p:spPr>
          <a:xfrm>
            <a:off x="1480000" y="3156000"/>
            <a:ext cx="39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Dates and amounts should use constrained controls</a:t>
            </a:r>
          </a:p>
        </p:txBody>
      </p:sp>
      <p:sp>
        <p:nvSpPr>
          <p:cNvPr id="26" name="TextBox 25"/>
          <p:cNvSpPr txBox="1"/>
          <p:nvPr/>
        </p:nvSpPr>
        <p:spPr>
          <a:xfrm>
            <a:off x="5650000" y="3156000"/>
            <a:ext cx="45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Past dates rejected; mandatory waitReason; bounded charge_amount; insurerReference on the insurer path.</a:t>
            </a:r>
          </a:p>
        </p:txBody>
      </p:sp>
      <p:sp>
        <p:nvSpPr>
          <p:cNvPr id="27" name="TextBox 26"/>
          <p:cNvSpPr txBox="1"/>
          <p:nvPr/>
        </p:nvSpPr>
        <p:spPr>
          <a:xfrm>
            <a:off x="10450000" y="3156000"/>
            <a:ext cx="1350000" cy="460000"/>
          </a:xfrm>
          <a:prstGeom prst="rect">
            <a:avLst/>
          </a:prstGeom>
          <a:noFill/>
        </p:spPr>
        <p:txBody>
          <a:bodyPr wrap="square" lIns="0" rIns="0" tIns="0" bIns="0" anchor="t">
            <a:noAutofit/>
          </a:bodyPr>
          <a:lstStyle/>
          <a:p>
            <a:pPr algn="l">
              <a:lnSpc>
                <a:spcPct val="100000"/>
              </a:lnSpc>
              <a:spcAft>
                <a:spcPts val="0"/>
              </a:spcAft>
            </a:pPr>
            <a:r>
              <a:rPr sz="850" b="0" i="0">
                <a:solidFill>
                  <a:srgbClr val="597185"/>
                </a:solidFill>
                <a:latin typeface="Arial"/>
              </a:rPr>
              <a:t>Forms, 19 Oct</a:t>
            </a:r>
          </a:p>
        </p:txBody>
      </p:sp>
      <p:sp>
        <p:nvSpPr>
          <p:cNvPr id="28" name="Rectangle 27"/>
          <p:cNvSpPr/>
          <p:nvPr/>
        </p:nvSpPr>
        <p:spPr>
          <a:xfrm>
            <a:off x="552450" y="3636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82450" y="3714000"/>
            <a:ext cx="800000" cy="300000"/>
          </a:xfrm>
          <a:prstGeom prst="rect">
            <a:avLst/>
          </a:prstGeom>
          <a:noFill/>
        </p:spPr>
        <p:txBody>
          <a:bodyPr wrap="square" lIns="0" rIns="0" tIns="0" bIns="0" anchor="t">
            <a:noAutofit/>
          </a:bodyPr>
          <a:lstStyle/>
          <a:p>
            <a:pPr algn="l">
              <a:spcAft>
                <a:spcPts val="0"/>
              </a:spcAft>
            </a:pPr>
            <a:r>
              <a:rPr sz="950" b="1" i="0">
                <a:solidFill>
                  <a:srgbClr val="127B76"/>
                </a:solidFill>
                <a:latin typeface="Arial"/>
              </a:rPr>
              <a:t>F-09</a:t>
            </a:r>
          </a:p>
        </p:txBody>
      </p:sp>
      <p:sp>
        <p:nvSpPr>
          <p:cNvPr id="30" name="TextBox 29"/>
          <p:cNvSpPr txBox="1"/>
          <p:nvPr/>
        </p:nvSpPr>
        <p:spPr>
          <a:xfrm>
            <a:off x="1480000" y="3704000"/>
            <a:ext cx="39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Dates must not allow an unreasonable or past date</a:t>
            </a:r>
          </a:p>
        </p:txBody>
      </p:sp>
      <p:sp>
        <p:nvSpPr>
          <p:cNvPr id="31" name="TextBox 30"/>
          <p:cNvSpPr txBox="1"/>
          <p:nvPr/>
        </p:nvSpPr>
        <p:spPr>
          <a:xfrm>
            <a:off x="5650000" y="3704000"/>
            <a:ext cx="45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disallowPassedDates on appointmentDate; requested period bounded to 1–365 days or 1–52 weeks.</a:t>
            </a:r>
          </a:p>
        </p:txBody>
      </p:sp>
      <p:sp>
        <p:nvSpPr>
          <p:cNvPr id="32" name="TextBox 31"/>
          <p:cNvSpPr txBox="1"/>
          <p:nvPr/>
        </p:nvSpPr>
        <p:spPr>
          <a:xfrm>
            <a:off x="10450000" y="3704000"/>
            <a:ext cx="1350000" cy="460000"/>
          </a:xfrm>
          <a:prstGeom prst="rect">
            <a:avLst/>
          </a:prstGeom>
          <a:noFill/>
        </p:spPr>
        <p:txBody>
          <a:bodyPr wrap="square" lIns="0" rIns="0" tIns="0" bIns="0" anchor="t">
            <a:noAutofit/>
          </a:bodyPr>
          <a:lstStyle/>
          <a:p>
            <a:pPr algn="l">
              <a:lnSpc>
                <a:spcPct val="100000"/>
              </a:lnSpc>
              <a:spcAft>
                <a:spcPts val="0"/>
              </a:spcAft>
            </a:pPr>
            <a:r>
              <a:rPr sz="850" b="0" i="0">
                <a:solidFill>
                  <a:srgbClr val="597185"/>
                </a:solidFill>
                <a:latin typeface="Arial"/>
              </a:rPr>
              <a:t>book_visit, register_request</a:t>
            </a:r>
          </a:p>
        </p:txBody>
      </p:sp>
      <p:sp>
        <p:nvSpPr>
          <p:cNvPr id="33" name="Rectangle 32"/>
          <p:cNvSpPr/>
          <p:nvPr/>
        </p:nvSpPr>
        <p:spPr>
          <a:xfrm>
            <a:off x="552450" y="4184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82450" y="4262000"/>
            <a:ext cx="800000" cy="300000"/>
          </a:xfrm>
          <a:prstGeom prst="rect">
            <a:avLst/>
          </a:prstGeom>
          <a:noFill/>
        </p:spPr>
        <p:txBody>
          <a:bodyPr wrap="square" lIns="0" rIns="0" tIns="0" bIns="0" anchor="t">
            <a:noAutofit/>
          </a:bodyPr>
          <a:lstStyle/>
          <a:p>
            <a:pPr algn="l">
              <a:spcAft>
                <a:spcPts val="0"/>
              </a:spcAft>
            </a:pPr>
            <a:r>
              <a:rPr sz="950" b="1" i="0">
                <a:solidFill>
                  <a:srgbClr val="127B76"/>
                </a:solidFill>
                <a:latin typeface="Arial"/>
              </a:rPr>
              <a:t>F-10</a:t>
            </a:r>
          </a:p>
        </p:txBody>
      </p:sp>
      <p:sp>
        <p:nvSpPr>
          <p:cNvPr id="35" name="TextBox 34"/>
          <p:cNvSpPr txBox="1"/>
          <p:nvPr/>
        </p:nvSpPr>
        <p:spPr>
          <a:xfrm>
            <a:off x="1480000" y="4252000"/>
            <a:ext cx="39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Store data in a database, not only process variables</a:t>
            </a:r>
          </a:p>
        </p:txBody>
      </p:sp>
      <p:sp>
        <p:nvSpPr>
          <p:cNvPr id="36" name="TextBox 35"/>
          <p:cNvSpPr txBox="1"/>
          <p:nvPr/>
        </p:nvSpPr>
        <p:spPr>
          <a:xfrm>
            <a:off x="5650000" y="4252000"/>
            <a:ext cx="45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H2 file database with JPA entities and repositories; workers write audit, booking and payment tables.</a:t>
            </a:r>
          </a:p>
        </p:txBody>
      </p:sp>
      <p:sp>
        <p:nvSpPr>
          <p:cNvPr id="37" name="TextBox 36"/>
          <p:cNvSpPr txBox="1"/>
          <p:nvPr/>
        </p:nvSpPr>
        <p:spPr>
          <a:xfrm>
            <a:off x="10450000" y="4252000"/>
            <a:ext cx="1350000" cy="460000"/>
          </a:xfrm>
          <a:prstGeom prst="rect">
            <a:avLst/>
          </a:prstGeom>
          <a:noFill/>
        </p:spPr>
        <p:txBody>
          <a:bodyPr wrap="square" lIns="0" rIns="0" tIns="0" bIns="0" anchor="t">
            <a:noAutofit/>
          </a:bodyPr>
          <a:lstStyle/>
          <a:p>
            <a:pPr algn="l">
              <a:lnSpc>
                <a:spcPct val="100000"/>
              </a:lnSpc>
              <a:spcAft>
                <a:spcPts val="0"/>
              </a:spcAft>
            </a:pPr>
            <a:r>
              <a:rPr sz="850" b="0" i="0">
                <a:solidFill>
                  <a:srgbClr val="597185"/>
                </a:solidFill>
                <a:latin typeface="Arial"/>
              </a:rPr>
              <a:t>application.yaml, domain/</a:t>
            </a:r>
          </a:p>
        </p:txBody>
      </p:sp>
      <p:sp>
        <p:nvSpPr>
          <p:cNvPr id="38" name="Rectangle 37"/>
          <p:cNvSpPr/>
          <p:nvPr/>
        </p:nvSpPr>
        <p:spPr>
          <a:xfrm>
            <a:off x="552450" y="4732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552450" y="4740000"/>
            <a:ext cx="11100000" cy="545000"/>
          </a:xfrm>
          <a:prstGeom prst="rect">
            <a:avLst/>
          </a:prstGeom>
          <a:solidFill>
            <a:srgbClr val="FB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82450" y="4810000"/>
            <a:ext cx="800000" cy="300000"/>
          </a:xfrm>
          <a:prstGeom prst="rect">
            <a:avLst/>
          </a:prstGeom>
          <a:noFill/>
        </p:spPr>
        <p:txBody>
          <a:bodyPr wrap="square" lIns="0" rIns="0" tIns="0" bIns="0" anchor="t">
            <a:noAutofit/>
          </a:bodyPr>
          <a:lstStyle/>
          <a:p>
            <a:pPr algn="l">
              <a:spcAft>
                <a:spcPts val="0"/>
              </a:spcAft>
            </a:pPr>
            <a:r>
              <a:rPr sz="950" b="1" i="0">
                <a:solidFill>
                  <a:srgbClr val="B64145"/>
                </a:solidFill>
                <a:latin typeface="Arial"/>
              </a:rPr>
              <a:t>F-11</a:t>
            </a:r>
          </a:p>
        </p:txBody>
      </p:sp>
      <p:sp>
        <p:nvSpPr>
          <p:cNvPr id="41" name="TextBox 40"/>
          <p:cNvSpPr txBox="1"/>
          <p:nvPr/>
        </p:nvSpPr>
        <p:spPr>
          <a:xfrm>
            <a:off x="1480000" y="4800000"/>
            <a:ext cx="39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Enforce role-based access in Camunda</a:t>
            </a:r>
          </a:p>
        </p:txBody>
      </p:sp>
      <p:sp>
        <p:nvSpPr>
          <p:cNvPr id="42" name="TextBox 41"/>
          <p:cNvSpPr txBox="1"/>
          <p:nvPr/>
        </p:nvSpPr>
        <p:spPr>
          <a:xfrm>
            <a:off x="5650000" y="4800000"/>
            <a:ext cx="4550000" cy="46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Not implemented. No candidate groups or role login; AT-03 is still a recorded failure.</a:t>
            </a:r>
          </a:p>
        </p:txBody>
      </p:sp>
      <p:sp>
        <p:nvSpPr>
          <p:cNvPr id="43" name="TextBox 42"/>
          <p:cNvSpPr txBox="1"/>
          <p:nvPr/>
        </p:nvSpPr>
        <p:spPr>
          <a:xfrm>
            <a:off x="10450000" y="4800000"/>
            <a:ext cx="1350000" cy="460000"/>
          </a:xfrm>
          <a:prstGeom prst="rect">
            <a:avLst/>
          </a:prstGeom>
          <a:noFill/>
        </p:spPr>
        <p:txBody>
          <a:bodyPr wrap="square" lIns="0" rIns="0" tIns="0" bIns="0" anchor="t">
            <a:noAutofit/>
          </a:bodyPr>
          <a:lstStyle/>
          <a:p>
            <a:pPr algn="l">
              <a:lnSpc>
                <a:spcPct val="100000"/>
              </a:lnSpc>
              <a:spcAft>
                <a:spcPts val="0"/>
              </a:spcAft>
            </a:pPr>
            <a:r>
              <a:rPr sz="850" b="0" i="0">
                <a:solidFill>
                  <a:srgbClr val="597185"/>
                </a:solidFill>
                <a:latin typeface="Arial"/>
              </a:rPr>
              <a:t>Record sec. 3</a:t>
            </a:r>
          </a:p>
        </p:txBody>
      </p:sp>
      <p:sp>
        <p:nvSpPr>
          <p:cNvPr id="44" name="Rectangle 43"/>
          <p:cNvSpPr/>
          <p:nvPr/>
        </p:nvSpPr>
        <p:spPr>
          <a:xfrm>
            <a:off x="552450" y="5280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52450" y="5560000"/>
            <a:ext cx="11100000" cy="650000"/>
          </a:xfrm>
          <a:prstGeom prst="rect">
            <a:avLst/>
          </a:prstGeom>
          <a:noFill/>
        </p:spPr>
        <p:txBody>
          <a:bodyPr wrap="square" lIns="0" rIns="0" tIns="0" bIns="0" anchor="t">
            <a:noAutofit/>
          </a:bodyPr>
          <a:lstStyle/>
          <a:p>
            <a:pPr algn="l">
              <a:lnSpc>
                <a:spcPct val="105000"/>
              </a:lnSpc>
              <a:spcAft>
                <a:spcPts val="0"/>
              </a:spcAft>
            </a:pPr>
            <a:r>
              <a:rPr sz="900" b="0" i="0">
                <a:solidFill>
                  <a:srgbClr val="597185"/>
                </a:solidFill>
                <a:latin typeface="Arial"/>
              </a:rPr>
              <a:t>Seven received items map to six rows because Group 10’s items 1 and 2 are recorded as F-08a and F-08b and are shown on one row here: one change answers both. The record’s other five rows (F-03 to F-07) are the group’s own review points, not outside feedback. Tutor rows are blank because no tutor point exists in writing.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88952"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095" y="323697"/>
            <a:ext cx="10671048" cy="210312"/>
          </a:xfrm>
          <a:prstGeom prst="rect">
            <a:avLst/>
          </a:prstGeom>
          <a:noFill/>
        </p:spPr>
        <p:txBody>
          <a:bodyPr wrap="square" lIns="0" rIns="0" tIns="0" bIns="0" anchor="t">
            <a:noAutofit/>
          </a:bodyPr>
          <a:lstStyle/>
          <a:p>
            <a:pPr algn="l">
              <a:spcAft>
                <a:spcPts val="0"/>
              </a:spcAft>
            </a:pPr>
            <a:r>
              <a:rPr sz="975" b="1">
                <a:solidFill>
                  <a:srgbClr val="127B76"/>
                </a:solidFill>
                <a:latin typeface="Arial"/>
              </a:rPr>
              <a:t>ACCEPTANCE RUN  ·  19 OCTOBER 2026</a:t>
            </a:r>
          </a:p>
        </p:txBody>
      </p:sp>
      <p:sp>
        <p:nvSpPr>
          <p:cNvPr id="4" name="TextBox 3"/>
          <p:cNvSpPr txBox="1"/>
          <p:nvPr/>
        </p:nvSpPr>
        <p:spPr>
          <a:xfrm>
            <a:off x="533095" y="585216"/>
            <a:ext cx="11045952" cy="640080"/>
          </a:xfrm>
          <a:prstGeom prst="rect">
            <a:avLst/>
          </a:prstGeom>
          <a:noFill/>
        </p:spPr>
        <p:txBody>
          <a:bodyPr wrap="square" lIns="0" rIns="0" tIns="0" bIns="0" anchor="t">
            <a:noAutofit/>
          </a:bodyPr>
          <a:lstStyle/>
          <a:p>
            <a:pPr algn="l">
              <a:spcAft>
                <a:spcPts val="0"/>
              </a:spcAft>
            </a:pPr>
            <a:r>
              <a:rPr sz="2850" b="1">
                <a:solidFill>
                  <a:srgbClr val="223047"/>
                </a:solidFill>
                <a:latin typeface="Arial"/>
              </a:rPr>
              <a:t>Seven cases on V3: six pass, one fails</a:t>
            </a:r>
          </a:p>
        </p:txBody>
      </p:sp>
      <p:sp>
        <p:nvSpPr>
          <p:cNvPr id="5" name="TextBox 4"/>
          <p:cNvSpPr txBox="1"/>
          <p:nvPr/>
        </p:nvSpPr>
        <p:spPr>
          <a:xfrm>
            <a:off x="548640" y="1243584"/>
            <a:ext cx="10762488" cy="384048"/>
          </a:xfrm>
          <a:prstGeom prst="rect">
            <a:avLst/>
          </a:prstGeom>
          <a:noFill/>
        </p:spPr>
        <p:txBody>
          <a:bodyPr wrap="square" lIns="0" rIns="0" tIns="0" bIns="0" anchor="t">
            <a:noAutofit/>
          </a:bodyPr>
          <a:lstStyle/>
          <a:p>
            <a:pPr algn="l">
              <a:spcAft>
                <a:spcPts val="0"/>
              </a:spcAft>
            </a:pPr>
            <a:r>
              <a:rPr sz="1275" b="0">
                <a:solidFill>
                  <a:srgbClr val="597185"/>
                </a:solidFill>
                <a:latin typeface="Arial"/>
              </a:rPr>
              <a:t>The same seven cases that ran on 29 September ran again against V3_C8. Six pass; AT-03 still fails.</a:t>
            </a:r>
          </a:p>
        </p:txBody>
      </p:sp>
      <p:sp>
        <p:nvSpPr>
          <p:cNvPr id="6" name="Rectangle 5"/>
          <p:cNvSpPr/>
          <p:nvPr/>
        </p:nvSpPr>
        <p:spPr>
          <a:xfrm>
            <a:off x="548640" y="2459736"/>
            <a:ext cx="11100816" cy="429768"/>
          </a:xfrm>
          <a:prstGeom prst="rect">
            <a:avLst/>
          </a:prstGeom>
          <a:solidFill>
            <a:srgbClr val="FBE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28216"/>
            <a:ext cx="960120" cy="228600"/>
          </a:xfrm>
          <a:prstGeom prst="rect">
            <a:avLst/>
          </a:prstGeom>
          <a:noFill/>
        </p:spPr>
        <p:txBody>
          <a:bodyPr wrap="square" lIns="0" rIns="0" tIns="0" bIns="0" anchor="t">
            <a:noAutofit/>
          </a:bodyPr>
          <a:lstStyle/>
          <a:p>
            <a:pPr algn="l">
              <a:spcAft>
                <a:spcPts val="0"/>
              </a:spcAft>
            </a:pPr>
            <a:r>
              <a:rPr sz="850" b="1">
                <a:solidFill>
                  <a:srgbClr val="127B76"/>
                </a:solidFill>
                <a:latin typeface="Arial"/>
              </a:rPr>
              <a:t>CASE</a:t>
            </a:r>
          </a:p>
        </p:txBody>
      </p:sp>
      <p:sp>
        <p:nvSpPr>
          <p:cNvPr id="8" name="TextBox 7"/>
          <p:cNvSpPr txBox="1"/>
          <p:nvPr/>
        </p:nvSpPr>
        <p:spPr>
          <a:xfrm>
            <a:off x="1691640" y="1728216"/>
            <a:ext cx="4114800" cy="228600"/>
          </a:xfrm>
          <a:prstGeom prst="rect">
            <a:avLst/>
          </a:prstGeom>
          <a:noFill/>
        </p:spPr>
        <p:txBody>
          <a:bodyPr wrap="square" lIns="0" rIns="0" tIns="0" bIns="0" anchor="t">
            <a:noAutofit/>
          </a:bodyPr>
          <a:lstStyle/>
          <a:p>
            <a:pPr algn="l">
              <a:spcAft>
                <a:spcPts val="0"/>
              </a:spcAft>
            </a:pPr>
            <a:r>
              <a:rPr sz="850" b="1">
                <a:solidFill>
                  <a:srgbClr val="127B76"/>
                </a:solidFill>
                <a:latin typeface="Arial"/>
              </a:rPr>
              <a:t>WHAT IT DRIVES</a:t>
            </a:r>
          </a:p>
        </p:txBody>
      </p:sp>
      <p:sp>
        <p:nvSpPr>
          <p:cNvPr id="9" name="TextBox 8"/>
          <p:cNvSpPr txBox="1"/>
          <p:nvPr/>
        </p:nvSpPr>
        <p:spPr>
          <a:xfrm>
            <a:off x="5989320" y="1728216"/>
            <a:ext cx="1280160" cy="228600"/>
          </a:xfrm>
          <a:prstGeom prst="rect">
            <a:avLst/>
          </a:prstGeom>
          <a:noFill/>
        </p:spPr>
        <p:txBody>
          <a:bodyPr wrap="square" lIns="0" rIns="0" tIns="0" bIns="0" anchor="t">
            <a:noAutofit/>
          </a:bodyPr>
          <a:lstStyle/>
          <a:p>
            <a:pPr algn="l">
              <a:spcAft>
                <a:spcPts val="0"/>
              </a:spcAft>
            </a:pPr>
            <a:r>
              <a:rPr sz="850" b="1">
                <a:solidFill>
                  <a:srgbClr val="127B76"/>
                </a:solidFill>
                <a:latin typeface="Arial"/>
              </a:rPr>
              <a:t>29 SEPTEMBER</a:t>
            </a:r>
          </a:p>
        </p:txBody>
      </p:sp>
      <p:sp>
        <p:nvSpPr>
          <p:cNvPr id="10" name="TextBox 9"/>
          <p:cNvSpPr txBox="1"/>
          <p:nvPr/>
        </p:nvSpPr>
        <p:spPr>
          <a:xfrm>
            <a:off x="7452360" y="1728216"/>
            <a:ext cx="1554480" cy="228600"/>
          </a:xfrm>
          <a:prstGeom prst="rect">
            <a:avLst/>
          </a:prstGeom>
          <a:noFill/>
        </p:spPr>
        <p:txBody>
          <a:bodyPr wrap="square" lIns="0" rIns="0" tIns="0" bIns="0" anchor="t">
            <a:noAutofit/>
          </a:bodyPr>
          <a:lstStyle/>
          <a:p>
            <a:pPr algn="l">
              <a:spcAft>
                <a:spcPts val="0"/>
              </a:spcAft>
            </a:pPr>
            <a:r>
              <a:rPr sz="850" b="1">
                <a:solidFill>
                  <a:srgbClr val="127B76"/>
                </a:solidFill>
                <a:latin typeface="Arial"/>
              </a:rPr>
              <a:t>19 OCTOBER  ·  V3</a:t>
            </a:r>
          </a:p>
        </p:txBody>
      </p:sp>
      <p:sp>
        <p:nvSpPr>
          <p:cNvPr id="11" name="TextBox 10"/>
          <p:cNvSpPr txBox="1"/>
          <p:nvPr/>
        </p:nvSpPr>
        <p:spPr>
          <a:xfrm>
            <a:off x="9189720" y="1728216"/>
            <a:ext cx="2459736" cy="228600"/>
          </a:xfrm>
          <a:prstGeom prst="rect">
            <a:avLst/>
          </a:prstGeom>
          <a:noFill/>
        </p:spPr>
        <p:txBody>
          <a:bodyPr wrap="square" lIns="0" rIns="0" tIns="0" bIns="0" anchor="t">
            <a:noAutofit/>
          </a:bodyPr>
          <a:lstStyle/>
          <a:p>
            <a:pPr algn="l">
              <a:spcAft>
                <a:spcPts val="0"/>
              </a:spcAft>
            </a:pPr>
            <a:r>
              <a:rPr sz="850" b="1">
                <a:solidFill>
                  <a:srgbClr val="127B76"/>
                </a:solidFill>
                <a:latin typeface="Arial"/>
              </a:rPr>
              <a:t>INSTANCE KEY</a:t>
            </a:r>
          </a:p>
        </p:txBody>
      </p:sp>
      <p:sp>
        <p:nvSpPr>
          <p:cNvPr id="12" name="Rectangle 11"/>
          <p:cNvSpPr/>
          <p:nvPr/>
        </p:nvSpPr>
        <p:spPr>
          <a:xfrm>
            <a:off x="548640" y="1956816"/>
            <a:ext cx="11100816"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75688"/>
            <a:ext cx="960120" cy="347472"/>
          </a:xfrm>
          <a:prstGeom prst="rect">
            <a:avLst/>
          </a:prstGeom>
          <a:noFill/>
        </p:spPr>
        <p:txBody>
          <a:bodyPr wrap="square" lIns="0" rIns="0" tIns="0" bIns="0" anchor="t">
            <a:noAutofit/>
          </a:bodyPr>
          <a:lstStyle/>
          <a:p>
            <a:pPr algn="l">
              <a:spcAft>
                <a:spcPts val="0"/>
              </a:spcAft>
            </a:pPr>
            <a:r>
              <a:rPr sz="1000" b="1">
                <a:solidFill>
                  <a:srgbClr val="223047"/>
                </a:solidFill>
                <a:latin typeface="Arial"/>
              </a:rPr>
              <a:t>AT-01</a:t>
            </a:r>
          </a:p>
        </p:txBody>
      </p:sp>
      <p:sp>
        <p:nvSpPr>
          <p:cNvPr id="14" name="TextBox 13"/>
          <p:cNvSpPr txBox="1"/>
          <p:nvPr/>
        </p:nvSpPr>
        <p:spPr>
          <a:xfrm>
            <a:off x="1691640" y="2075688"/>
            <a:ext cx="4114800" cy="347472"/>
          </a:xfrm>
          <a:prstGeom prst="rect">
            <a:avLst/>
          </a:prstGeom>
          <a:noFill/>
        </p:spPr>
        <p:txBody>
          <a:bodyPr wrap="square" lIns="0" rIns="0" tIns="0" bIns="0" anchor="t">
            <a:noAutofit/>
          </a:bodyPr>
          <a:lstStyle/>
          <a:p>
            <a:pPr algn="l">
              <a:spcAft>
                <a:spcPts val="0"/>
              </a:spcAft>
            </a:pPr>
            <a:r>
              <a:rPr sz="950" b="0">
                <a:solidFill>
                  <a:srgbClr val="1A344B"/>
                </a:solidFill>
                <a:latin typeface="Arial"/>
              </a:rPr>
              <a:t>Main path: accept, book, reach clinical care</a:t>
            </a:r>
          </a:p>
        </p:txBody>
      </p:sp>
      <p:sp>
        <p:nvSpPr>
          <p:cNvPr id="15" name="TextBox 14"/>
          <p:cNvSpPr txBox="1"/>
          <p:nvPr/>
        </p:nvSpPr>
        <p:spPr>
          <a:xfrm>
            <a:off x="5989320" y="2075688"/>
            <a:ext cx="1280160" cy="347472"/>
          </a:xfrm>
          <a:prstGeom prst="rect">
            <a:avLst/>
          </a:prstGeom>
          <a:noFill/>
        </p:spPr>
        <p:txBody>
          <a:bodyPr wrap="square" lIns="0" rIns="0" tIns="0" bIns="0" anchor="t">
            <a:noAutofit/>
          </a:bodyPr>
          <a:lstStyle/>
          <a:p>
            <a:pPr algn="l">
              <a:spcAft>
                <a:spcPts val="0"/>
              </a:spcAft>
            </a:pPr>
            <a:r>
              <a:rPr sz="950" b="0">
                <a:solidFill>
                  <a:srgbClr val="597185"/>
                </a:solidFill>
                <a:latin typeface="Arial"/>
              </a:rPr>
              <a:t>PASS</a:t>
            </a:r>
          </a:p>
        </p:txBody>
      </p:sp>
      <p:sp>
        <p:nvSpPr>
          <p:cNvPr id="16" name="TextBox 15"/>
          <p:cNvSpPr txBox="1"/>
          <p:nvPr/>
        </p:nvSpPr>
        <p:spPr>
          <a:xfrm>
            <a:off x="7452360" y="2075688"/>
            <a:ext cx="1554480" cy="347472"/>
          </a:xfrm>
          <a:prstGeom prst="rect">
            <a:avLst/>
          </a:prstGeom>
          <a:noFill/>
        </p:spPr>
        <p:txBody>
          <a:bodyPr wrap="square" lIns="0" rIns="0" tIns="0" bIns="0" anchor="t">
            <a:noAutofit/>
          </a:bodyPr>
          <a:lstStyle/>
          <a:p>
            <a:pPr algn="l">
              <a:spcAft>
                <a:spcPts val="0"/>
              </a:spcAft>
            </a:pPr>
            <a:r>
              <a:rPr sz="950" b="1">
                <a:solidFill>
                  <a:srgbClr val="127B76"/>
                </a:solidFill>
                <a:latin typeface="Arial"/>
              </a:rPr>
              <a:t>PASS</a:t>
            </a:r>
          </a:p>
        </p:txBody>
      </p:sp>
      <p:sp>
        <p:nvSpPr>
          <p:cNvPr id="17" name="TextBox 16"/>
          <p:cNvSpPr txBox="1"/>
          <p:nvPr/>
        </p:nvSpPr>
        <p:spPr>
          <a:xfrm>
            <a:off x="9189720" y="2075688"/>
            <a:ext cx="2459736" cy="347472"/>
          </a:xfrm>
          <a:prstGeom prst="rect">
            <a:avLst/>
          </a:prstGeom>
          <a:noFill/>
        </p:spPr>
        <p:txBody>
          <a:bodyPr wrap="square" lIns="0" rIns="0" tIns="0" bIns="0" anchor="t">
            <a:noAutofit/>
          </a:bodyPr>
          <a:lstStyle/>
          <a:p>
            <a:pPr algn="l">
              <a:spcAft>
                <a:spcPts val="0"/>
              </a:spcAft>
            </a:pPr>
            <a:r>
              <a:rPr sz="900" b="0">
                <a:solidFill>
                  <a:srgbClr val="597185"/>
                </a:solidFill>
                <a:latin typeface="Arial"/>
              </a:rPr>
              <a:t>2251799813930310</a:t>
            </a:r>
          </a:p>
        </p:txBody>
      </p:sp>
      <p:sp>
        <p:nvSpPr>
          <p:cNvPr id="18" name="Rectangle 17"/>
          <p:cNvSpPr/>
          <p:nvPr/>
        </p:nvSpPr>
        <p:spPr>
          <a:xfrm>
            <a:off x="548640" y="2459736"/>
            <a:ext cx="11100816"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523744"/>
            <a:ext cx="960120" cy="347472"/>
          </a:xfrm>
          <a:prstGeom prst="rect">
            <a:avLst/>
          </a:prstGeom>
          <a:noFill/>
        </p:spPr>
        <p:txBody>
          <a:bodyPr wrap="square" lIns="0" rIns="0" tIns="0" bIns="0" anchor="t">
            <a:noAutofit/>
          </a:bodyPr>
          <a:lstStyle/>
          <a:p>
            <a:pPr algn="l">
              <a:spcAft>
                <a:spcPts val="0"/>
              </a:spcAft>
            </a:pPr>
            <a:r>
              <a:rPr sz="1000" b="1">
                <a:solidFill>
                  <a:srgbClr val="223047"/>
                </a:solidFill>
                <a:latin typeface="Arial"/>
              </a:rPr>
              <a:t>AT-02</a:t>
            </a:r>
          </a:p>
        </p:txBody>
      </p:sp>
      <p:sp>
        <p:nvSpPr>
          <p:cNvPr id="20" name="TextBox 19"/>
          <p:cNvSpPr txBox="1"/>
          <p:nvPr/>
        </p:nvSpPr>
        <p:spPr>
          <a:xfrm>
            <a:off x="1691640" y="2523744"/>
            <a:ext cx="4114800" cy="347472"/>
          </a:xfrm>
          <a:prstGeom prst="rect">
            <a:avLst/>
          </a:prstGeom>
          <a:noFill/>
        </p:spPr>
        <p:txBody>
          <a:bodyPr wrap="square" lIns="0" rIns="0" tIns="0" bIns="0" anchor="t">
            <a:noAutofit/>
          </a:bodyPr>
          <a:lstStyle/>
          <a:p>
            <a:pPr algn="l">
              <a:spcAft>
                <a:spcPts val="0"/>
              </a:spcAft>
            </a:pPr>
            <a:r>
              <a:rPr sz="950" b="0">
                <a:solidFill>
                  <a:srgbClr val="1A344B"/>
                </a:solidFill>
                <a:latin typeface="Arial"/>
              </a:rPr>
              <a:t>Referral rejected by the consultant</a:t>
            </a:r>
          </a:p>
        </p:txBody>
      </p:sp>
      <p:sp>
        <p:nvSpPr>
          <p:cNvPr id="21" name="TextBox 20"/>
          <p:cNvSpPr txBox="1"/>
          <p:nvPr/>
        </p:nvSpPr>
        <p:spPr>
          <a:xfrm>
            <a:off x="5989320" y="2523744"/>
            <a:ext cx="1280160" cy="347472"/>
          </a:xfrm>
          <a:prstGeom prst="rect">
            <a:avLst/>
          </a:prstGeom>
          <a:noFill/>
        </p:spPr>
        <p:txBody>
          <a:bodyPr wrap="square" lIns="0" rIns="0" tIns="0" bIns="0" anchor="t">
            <a:noAutofit/>
          </a:bodyPr>
          <a:lstStyle/>
          <a:p>
            <a:pPr algn="l">
              <a:spcAft>
                <a:spcPts val="0"/>
              </a:spcAft>
            </a:pPr>
            <a:r>
              <a:rPr sz="950" b="0">
                <a:solidFill>
                  <a:srgbClr val="597185"/>
                </a:solidFill>
                <a:latin typeface="Arial"/>
              </a:rPr>
              <a:t>PASS</a:t>
            </a:r>
          </a:p>
        </p:txBody>
      </p:sp>
      <p:sp>
        <p:nvSpPr>
          <p:cNvPr id="22" name="TextBox 21"/>
          <p:cNvSpPr txBox="1"/>
          <p:nvPr/>
        </p:nvSpPr>
        <p:spPr>
          <a:xfrm>
            <a:off x="7452360" y="2523744"/>
            <a:ext cx="1554480" cy="347472"/>
          </a:xfrm>
          <a:prstGeom prst="rect">
            <a:avLst/>
          </a:prstGeom>
          <a:noFill/>
        </p:spPr>
        <p:txBody>
          <a:bodyPr wrap="square" lIns="0" rIns="0" tIns="0" bIns="0" anchor="t">
            <a:noAutofit/>
          </a:bodyPr>
          <a:lstStyle/>
          <a:p>
            <a:pPr algn="l">
              <a:spcAft>
                <a:spcPts val="0"/>
              </a:spcAft>
            </a:pPr>
            <a:r>
              <a:rPr sz="950" b="1">
                <a:solidFill>
                  <a:srgbClr val="127B76"/>
                </a:solidFill>
                <a:latin typeface="Arial"/>
              </a:rPr>
              <a:t>PASS</a:t>
            </a:r>
          </a:p>
        </p:txBody>
      </p:sp>
      <p:sp>
        <p:nvSpPr>
          <p:cNvPr id="23" name="TextBox 22"/>
          <p:cNvSpPr txBox="1"/>
          <p:nvPr/>
        </p:nvSpPr>
        <p:spPr>
          <a:xfrm>
            <a:off x="9189720" y="2523744"/>
            <a:ext cx="2459736" cy="347472"/>
          </a:xfrm>
          <a:prstGeom prst="rect">
            <a:avLst/>
          </a:prstGeom>
          <a:noFill/>
        </p:spPr>
        <p:txBody>
          <a:bodyPr wrap="square" lIns="0" rIns="0" tIns="0" bIns="0" anchor="t">
            <a:noAutofit/>
          </a:bodyPr>
          <a:lstStyle/>
          <a:p>
            <a:pPr algn="l">
              <a:spcAft>
                <a:spcPts val="0"/>
              </a:spcAft>
            </a:pPr>
            <a:r>
              <a:rPr sz="900" b="0">
                <a:solidFill>
                  <a:srgbClr val="597185"/>
                </a:solidFill>
                <a:latin typeface="Arial"/>
              </a:rPr>
              <a:t>2251799813930247</a:t>
            </a:r>
          </a:p>
        </p:txBody>
      </p:sp>
      <p:sp>
        <p:nvSpPr>
          <p:cNvPr id="24" name="Rectangle 23"/>
          <p:cNvSpPr/>
          <p:nvPr/>
        </p:nvSpPr>
        <p:spPr>
          <a:xfrm>
            <a:off x="548640" y="2907792"/>
            <a:ext cx="11100816"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971800"/>
            <a:ext cx="960120" cy="347472"/>
          </a:xfrm>
          <a:prstGeom prst="rect">
            <a:avLst/>
          </a:prstGeom>
          <a:noFill/>
        </p:spPr>
        <p:txBody>
          <a:bodyPr wrap="square" lIns="0" rIns="0" tIns="0" bIns="0" anchor="t">
            <a:noAutofit/>
          </a:bodyPr>
          <a:lstStyle/>
          <a:p>
            <a:pPr algn="l">
              <a:spcAft>
                <a:spcPts val="0"/>
              </a:spcAft>
            </a:pPr>
            <a:r>
              <a:rPr sz="1000" b="1">
                <a:solidFill>
                  <a:srgbClr val="B64145"/>
                </a:solidFill>
                <a:latin typeface="Arial"/>
              </a:rPr>
              <a:t>AT-03</a:t>
            </a:r>
          </a:p>
        </p:txBody>
      </p:sp>
      <p:sp>
        <p:nvSpPr>
          <p:cNvPr id="26" name="TextBox 25"/>
          <p:cNvSpPr txBox="1"/>
          <p:nvPr/>
        </p:nvSpPr>
        <p:spPr>
          <a:xfrm>
            <a:off x="1691640" y="2971800"/>
            <a:ext cx="4114800" cy="347472"/>
          </a:xfrm>
          <a:prstGeom prst="rect">
            <a:avLst/>
          </a:prstGeom>
          <a:noFill/>
        </p:spPr>
        <p:txBody>
          <a:bodyPr wrap="square" lIns="0" rIns="0" tIns="0" bIns="0" anchor="t">
            <a:noAutofit/>
          </a:bodyPr>
          <a:lstStyle/>
          <a:p>
            <a:pPr algn="l">
              <a:spcAft>
                <a:spcPts val="0"/>
              </a:spcAft>
            </a:pPr>
            <a:r>
              <a:rPr sz="950" b="0">
                <a:solidFill>
                  <a:srgbClr val="1A344B"/>
                </a:solidFill>
                <a:latin typeface="Arial"/>
              </a:rPr>
              <a:t>Medical Secretary tries to complete Accept</a:t>
            </a:r>
          </a:p>
        </p:txBody>
      </p:sp>
      <p:sp>
        <p:nvSpPr>
          <p:cNvPr id="27" name="TextBox 26"/>
          <p:cNvSpPr txBox="1"/>
          <p:nvPr/>
        </p:nvSpPr>
        <p:spPr>
          <a:xfrm>
            <a:off x="5989320" y="2971800"/>
            <a:ext cx="1280160" cy="347472"/>
          </a:xfrm>
          <a:prstGeom prst="rect">
            <a:avLst/>
          </a:prstGeom>
          <a:noFill/>
        </p:spPr>
        <p:txBody>
          <a:bodyPr wrap="square" lIns="0" rIns="0" tIns="0" bIns="0" anchor="t">
            <a:noAutofit/>
          </a:bodyPr>
          <a:lstStyle/>
          <a:p>
            <a:pPr algn="l">
              <a:spcAft>
                <a:spcPts val="0"/>
              </a:spcAft>
            </a:pPr>
            <a:r>
              <a:rPr sz="950" b="0">
                <a:solidFill>
                  <a:srgbClr val="597185"/>
                </a:solidFill>
                <a:latin typeface="Arial"/>
              </a:rPr>
              <a:t>FAIL</a:t>
            </a:r>
          </a:p>
        </p:txBody>
      </p:sp>
      <p:sp>
        <p:nvSpPr>
          <p:cNvPr id="28" name="TextBox 27"/>
          <p:cNvSpPr txBox="1"/>
          <p:nvPr/>
        </p:nvSpPr>
        <p:spPr>
          <a:xfrm>
            <a:off x="7452360" y="2971800"/>
            <a:ext cx="1554480" cy="347472"/>
          </a:xfrm>
          <a:prstGeom prst="rect">
            <a:avLst/>
          </a:prstGeom>
          <a:noFill/>
        </p:spPr>
        <p:txBody>
          <a:bodyPr wrap="square" lIns="0" rIns="0" tIns="0" bIns="0" anchor="t">
            <a:noAutofit/>
          </a:bodyPr>
          <a:lstStyle/>
          <a:p>
            <a:pPr algn="l">
              <a:spcAft>
                <a:spcPts val="0"/>
              </a:spcAft>
            </a:pPr>
            <a:r>
              <a:rPr sz="950" b="1">
                <a:solidFill>
                  <a:srgbClr val="B64145"/>
                </a:solidFill>
                <a:latin typeface="Arial"/>
              </a:rPr>
              <a:t>FAIL</a:t>
            </a:r>
          </a:p>
        </p:txBody>
      </p:sp>
      <p:sp>
        <p:nvSpPr>
          <p:cNvPr id="29" name="TextBox 28"/>
          <p:cNvSpPr txBox="1"/>
          <p:nvPr/>
        </p:nvSpPr>
        <p:spPr>
          <a:xfrm>
            <a:off x="9189720" y="2971800"/>
            <a:ext cx="2459736" cy="347472"/>
          </a:xfrm>
          <a:prstGeom prst="rect">
            <a:avLst/>
          </a:prstGeom>
          <a:noFill/>
        </p:spPr>
        <p:txBody>
          <a:bodyPr wrap="square" lIns="0" rIns="0" tIns="0" bIns="0" anchor="t">
            <a:noAutofit/>
          </a:bodyPr>
          <a:lstStyle/>
          <a:p>
            <a:pPr algn="l">
              <a:spcAft>
                <a:spcPts val="0"/>
              </a:spcAft>
            </a:pPr>
            <a:r>
              <a:rPr sz="900" b="0">
                <a:solidFill>
                  <a:srgbClr val="597185"/>
                </a:solidFill>
                <a:latin typeface="Arial"/>
              </a:rPr>
              <a:t>2251799813930421</a:t>
            </a:r>
          </a:p>
        </p:txBody>
      </p:sp>
      <p:sp>
        <p:nvSpPr>
          <p:cNvPr id="30" name="Rectangle 29"/>
          <p:cNvSpPr/>
          <p:nvPr/>
        </p:nvSpPr>
        <p:spPr>
          <a:xfrm>
            <a:off x="548640" y="3355848"/>
            <a:ext cx="11100816"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419856"/>
            <a:ext cx="960120" cy="347472"/>
          </a:xfrm>
          <a:prstGeom prst="rect">
            <a:avLst/>
          </a:prstGeom>
          <a:noFill/>
        </p:spPr>
        <p:txBody>
          <a:bodyPr wrap="square" lIns="0" rIns="0" tIns="0" bIns="0" anchor="t">
            <a:noAutofit/>
          </a:bodyPr>
          <a:lstStyle/>
          <a:p>
            <a:pPr algn="l">
              <a:spcAft>
                <a:spcPts val="0"/>
              </a:spcAft>
            </a:pPr>
            <a:r>
              <a:rPr sz="1000" b="1">
                <a:solidFill>
                  <a:srgbClr val="223047"/>
                </a:solidFill>
                <a:latin typeface="Arial"/>
              </a:rPr>
              <a:t>AT-04</a:t>
            </a:r>
          </a:p>
        </p:txBody>
      </p:sp>
      <p:sp>
        <p:nvSpPr>
          <p:cNvPr id="32" name="TextBox 31"/>
          <p:cNvSpPr txBox="1"/>
          <p:nvPr/>
        </p:nvSpPr>
        <p:spPr>
          <a:xfrm>
            <a:off x="1691640" y="3419856"/>
            <a:ext cx="4114800" cy="347472"/>
          </a:xfrm>
          <a:prstGeom prst="rect">
            <a:avLst/>
          </a:prstGeom>
          <a:noFill/>
        </p:spPr>
        <p:txBody>
          <a:bodyPr wrap="square" lIns="0" rIns="0" tIns="0" bIns="0" anchor="t">
            <a:noAutofit/>
          </a:bodyPr>
          <a:lstStyle/>
          <a:p>
            <a:pPr algn="l">
              <a:spcAft>
                <a:spcPts val="0"/>
              </a:spcAft>
            </a:pPr>
            <a:r>
              <a:rPr sz="950" b="0">
                <a:solidFill>
                  <a:srgbClr val="1A344B"/>
                </a:solidFill>
                <a:latin typeface="Arial"/>
              </a:rPr>
              <a:t>No suitable slot: booking reopens as pending</a:t>
            </a:r>
          </a:p>
        </p:txBody>
      </p:sp>
      <p:sp>
        <p:nvSpPr>
          <p:cNvPr id="33" name="TextBox 32"/>
          <p:cNvSpPr txBox="1"/>
          <p:nvPr/>
        </p:nvSpPr>
        <p:spPr>
          <a:xfrm>
            <a:off x="5989320" y="3419856"/>
            <a:ext cx="1280160" cy="347472"/>
          </a:xfrm>
          <a:prstGeom prst="rect">
            <a:avLst/>
          </a:prstGeom>
          <a:noFill/>
        </p:spPr>
        <p:txBody>
          <a:bodyPr wrap="square" lIns="0" rIns="0" tIns="0" bIns="0" anchor="t">
            <a:noAutofit/>
          </a:bodyPr>
          <a:lstStyle/>
          <a:p>
            <a:pPr algn="l">
              <a:spcAft>
                <a:spcPts val="0"/>
              </a:spcAft>
            </a:pPr>
            <a:r>
              <a:rPr sz="950" b="0">
                <a:solidFill>
                  <a:srgbClr val="597185"/>
                </a:solidFill>
                <a:latin typeface="Arial"/>
              </a:rPr>
              <a:t>PASS</a:t>
            </a:r>
          </a:p>
        </p:txBody>
      </p:sp>
      <p:sp>
        <p:nvSpPr>
          <p:cNvPr id="34" name="TextBox 33"/>
          <p:cNvSpPr txBox="1"/>
          <p:nvPr/>
        </p:nvSpPr>
        <p:spPr>
          <a:xfrm>
            <a:off x="7452360" y="3419856"/>
            <a:ext cx="1554480" cy="347472"/>
          </a:xfrm>
          <a:prstGeom prst="rect">
            <a:avLst/>
          </a:prstGeom>
          <a:noFill/>
        </p:spPr>
        <p:txBody>
          <a:bodyPr wrap="square" lIns="0" rIns="0" tIns="0" bIns="0" anchor="t">
            <a:noAutofit/>
          </a:bodyPr>
          <a:lstStyle/>
          <a:p>
            <a:pPr algn="l">
              <a:spcAft>
                <a:spcPts val="0"/>
              </a:spcAft>
            </a:pPr>
            <a:r>
              <a:rPr sz="950" b="1">
                <a:solidFill>
                  <a:srgbClr val="127B76"/>
                </a:solidFill>
                <a:latin typeface="Arial"/>
              </a:rPr>
              <a:t>PASS</a:t>
            </a:r>
          </a:p>
        </p:txBody>
      </p:sp>
      <p:sp>
        <p:nvSpPr>
          <p:cNvPr id="35" name="TextBox 34"/>
          <p:cNvSpPr txBox="1"/>
          <p:nvPr/>
        </p:nvSpPr>
        <p:spPr>
          <a:xfrm>
            <a:off x="9189720" y="3419856"/>
            <a:ext cx="2459736" cy="347472"/>
          </a:xfrm>
          <a:prstGeom prst="rect">
            <a:avLst/>
          </a:prstGeom>
          <a:noFill/>
        </p:spPr>
        <p:txBody>
          <a:bodyPr wrap="square" lIns="0" rIns="0" tIns="0" bIns="0" anchor="t">
            <a:noAutofit/>
          </a:bodyPr>
          <a:lstStyle/>
          <a:p>
            <a:pPr algn="l">
              <a:spcAft>
                <a:spcPts val="0"/>
              </a:spcAft>
            </a:pPr>
            <a:r>
              <a:rPr sz="900" b="0">
                <a:solidFill>
                  <a:srgbClr val="597185"/>
                </a:solidFill>
                <a:latin typeface="Arial"/>
              </a:rPr>
              <a:t>2251799813930493</a:t>
            </a:r>
          </a:p>
        </p:txBody>
      </p:sp>
      <p:sp>
        <p:nvSpPr>
          <p:cNvPr id="36" name="Rectangle 35"/>
          <p:cNvSpPr/>
          <p:nvPr/>
        </p:nvSpPr>
        <p:spPr>
          <a:xfrm>
            <a:off x="548640" y="3803904"/>
            <a:ext cx="11100816"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867911"/>
            <a:ext cx="960120" cy="347472"/>
          </a:xfrm>
          <a:prstGeom prst="rect">
            <a:avLst/>
          </a:prstGeom>
          <a:noFill/>
        </p:spPr>
        <p:txBody>
          <a:bodyPr wrap="square" lIns="0" rIns="0" tIns="0" bIns="0" anchor="t">
            <a:noAutofit/>
          </a:bodyPr>
          <a:lstStyle/>
          <a:p>
            <a:pPr algn="l">
              <a:spcAft>
                <a:spcPts val="0"/>
              </a:spcAft>
            </a:pPr>
            <a:r>
              <a:rPr sz="1000" b="1">
                <a:solidFill>
                  <a:srgbClr val="223047"/>
                </a:solidFill>
                <a:latin typeface="Arial"/>
              </a:rPr>
              <a:t>AT-05</a:t>
            </a:r>
          </a:p>
        </p:txBody>
      </p:sp>
      <p:sp>
        <p:nvSpPr>
          <p:cNvPr id="38" name="TextBox 37"/>
          <p:cNvSpPr txBox="1"/>
          <p:nvPr/>
        </p:nvSpPr>
        <p:spPr>
          <a:xfrm>
            <a:off x="1691640" y="3867911"/>
            <a:ext cx="4114800" cy="347472"/>
          </a:xfrm>
          <a:prstGeom prst="rect">
            <a:avLst/>
          </a:prstGeom>
          <a:noFill/>
        </p:spPr>
        <p:txBody>
          <a:bodyPr wrap="square" lIns="0" rIns="0" tIns="0" bIns="0" anchor="t">
            <a:noAutofit/>
          </a:bodyPr>
          <a:lstStyle/>
          <a:p>
            <a:pPr algn="l">
              <a:spcAft>
                <a:spcPts val="0"/>
              </a:spcAft>
            </a:pPr>
            <a:r>
              <a:rPr sz="950" b="0">
                <a:solidFill>
                  <a:srgbClr val="1A344B"/>
                </a:solidFill>
                <a:latin typeface="Arial"/>
              </a:rPr>
              <a:t>Payment fails, then is retried</a:t>
            </a:r>
          </a:p>
        </p:txBody>
      </p:sp>
      <p:sp>
        <p:nvSpPr>
          <p:cNvPr id="39" name="TextBox 38"/>
          <p:cNvSpPr txBox="1"/>
          <p:nvPr/>
        </p:nvSpPr>
        <p:spPr>
          <a:xfrm>
            <a:off x="5989320" y="3867911"/>
            <a:ext cx="1280160" cy="347472"/>
          </a:xfrm>
          <a:prstGeom prst="rect">
            <a:avLst/>
          </a:prstGeom>
          <a:noFill/>
        </p:spPr>
        <p:txBody>
          <a:bodyPr wrap="square" lIns="0" rIns="0" tIns="0" bIns="0" anchor="t">
            <a:noAutofit/>
          </a:bodyPr>
          <a:lstStyle/>
          <a:p>
            <a:pPr algn="l">
              <a:spcAft>
                <a:spcPts val="0"/>
              </a:spcAft>
            </a:pPr>
            <a:r>
              <a:rPr sz="950" b="0">
                <a:solidFill>
                  <a:srgbClr val="597185"/>
                </a:solidFill>
                <a:latin typeface="Arial"/>
              </a:rPr>
              <a:t>PASS</a:t>
            </a:r>
          </a:p>
        </p:txBody>
      </p:sp>
      <p:sp>
        <p:nvSpPr>
          <p:cNvPr id="40" name="TextBox 39"/>
          <p:cNvSpPr txBox="1"/>
          <p:nvPr/>
        </p:nvSpPr>
        <p:spPr>
          <a:xfrm>
            <a:off x="7452360" y="3867911"/>
            <a:ext cx="1554480" cy="347472"/>
          </a:xfrm>
          <a:prstGeom prst="rect">
            <a:avLst/>
          </a:prstGeom>
          <a:noFill/>
        </p:spPr>
        <p:txBody>
          <a:bodyPr wrap="square" lIns="0" rIns="0" tIns="0" bIns="0" anchor="t">
            <a:noAutofit/>
          </a:bodyPr>
          <a:lstStyle/>
          <a:p>
            <a:pPr algn="l">
              <a:spcAft>
                <a:spcPts val="0"/>
              </a:spcAft>
            </a:pPr>
            <a:r>
              <a:rPr sz="950" b="1">
                <a:solidFill>
                  <a:srgbClr val="127B76"/>
                </a:solidFill>
                <a:latin typeface="Arial"/>
              </a:rPr>
              <a:t>PASS</a:t>
            </a:r>
          </a:p>
        </p:txBody>
      </p:sp>
      <p:sp>
        <p:nvSpPr>
          <p:cNvPr id="41" name="TextBox 40"/>
          <p:cNvSpPr txBox="1"/>
          <p:nvPr/>
        </p:nvSpPr>
        <p:spPr>
          <a:xfrm>
            <a:off x="9189720" y="3867911"/>
            <a:ext cx="2459736" cy="347472"/>
          </a:xfrm>
          <a:prstGeom prst="rect">
            <a:avLst/>
          </a:prstGeom>
          <a:noFill/>
        </p:spPr>
        <p:txBody>
          <a:bodyPr wrap="square" lIns="0" rIns="0" tIns="0" bIns="0" anchor="t">
            <a:noAutofit/>
          </a:bodyPr>
          <a:lstStyle/>
          <a:p>
            <a:pPr algn="l">
              <a:spcAft>
                <a:spcPts val="0"/>
              </a:spcAft>
            </a:pPr>
            <a:r>
              <a:rPr sz="900" b="0">
                <a:solidFill>
                  <a:srgbClr val="597185"/>
                </a:solidFill>
                <a:latin typeface="Arial"/>
              </a:rPr>
              <a:t>2251799813930607</a:t>
            </a:r>
          </a:p>
        </p:txBody>
      </p:sp>
      <p:sp>
        <p:nvSpPr>
          <p:cNvPr id="42" name="Rectangle 41"/>
          <p:cNvSpPr/>
          <p:nvPr/>
        </p:nvSpPr>
        <p:spPr>
          <a:xfrm>
            <a:off x="548640" y="4251960"/>
            <a:ext cx="11100816"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4315968"/>
            <a:ext cx="960120" cy="347472"/>
          </a:xfrm>
          <a:prstGeom prst="rect">
            <a:avLst/>
          </a:prstGeom>
          <a:noFill/>
        </p:spPr>
        <p:txBody>
          <a:bodyPr wrap="square" lIns="0" rIns="0" tIns="0" bIns="0" anchor="t">
            <a:noAutofit/>
          </a:bodyPr>
          <a:lstStyle/>
          <a:p>
            <a:pPr algn="l">
              <a:spcAft>
                <a:spcPts val="0"/>
              </a:spcAft>
            </a:pPr>
            <a:r>
              <a:rPr sz="1000" b="1">
                <a:solidFill>
                  <a:srgbClr val="223047"/>
                </a:solidFill>
                <a:latin typeface="Arial"/>
              </a:rPr>
              <a:t>AT-06</a:t>
            </a:r>
          </a:p>
        </p:txBody>
      </p:sp>
      <p:sp>
        <p:nvSpPr>
          <p:cNvPr id="44" name="TextBox 43"/>
          <p:cNvSpPr txBox="1"/>
          <p:nvPr/>
        </p:nvSpPr>
        <p:spPr>
          <a:xfrm>
            <a:off x="1691640" y="4315968"/>
            <a:ext cx="4114800" cy="347472"/>
          </a:xfrm>
          <a:prstGeom prst="rect">
            <a:avLst/>
          </a:prstGeom>
          <a:noFill/>
        </p:spPr>
        <p:txBody>
          <a:bodyPr wrap="square" lIns="0" rIns="0" tIns="0" bIns="0" anchor="t">
            <a:noAutofit/>
          </a:bodyPr>
          <a:lstStyle/>
          <a:p>
            <a:pPr algn="l">
              <a:spcAft>
                <a:spcPts val="0"/>
              </a:spcAft>
            </a:pPr>
            <a:r>
              <a:rPr sz="950" b="0">
                <a:solidFill>
                  <a:srgbClr val="1A344B"/>
                </a:solidFill>
                <a:latin typeface="Arial"/>
              </a:rPr>
              <a:t>Payment may be taken; confirmation missing</a:t>
            </a:r>
          </a:p>
        </p:txBody>
      </p:sp>
      <p:sp>
        <p:nvSpPr>
          <p:cNvPr id="45" name="TextBox 44"/>
          <p:cNvSpPr txBox="1"/>
          <p:nvPr/>
        </p:nvSpPr>
        <p:spPr>
          <a:xfrm>
            <a:off x="5989320" y="4315968"/>
            <a:ext cx="1280160" cy="347472"/>
          </a:xfrm>
          <a:prstGeom prst="rect">
            <a:avLst/>
          </a:prstGeom>
          <a:noFill/>
        </p:spPr>
        <p:txBody>
          <a:bodyPr wrap="square" lIns="0" rIns="0" tIns="0" bIns="0" anchor="t">
            <a:noAutofit/>
          </a:bodyPr>
          <a:lstStyle/>
          <a:p>
            <a:pPr algn="l">
              <a:spcAft>
                <a:spcPts val="0"/>
              </a:spcAft>
            </a:pPr>
            <a:r>
              <a:rPr sz="950" b="0">
                <a:solidFill>
                  <a:srgbClr val="597185"/>
                </a:solidFill>
                <a:latin typeface="Arial"/>
              </a:rPr>
              <a:t>PASS</a:t>
            </a:r>
          </a:p>
        </p:txBody>
      </p:sp>
      <p:sp>
        <p:nvSpPr>
          <p:cNvPr id="46" name="TextBox 45"/>
          <p:cNvSpPr txBox="1"/>
          <p:nvPr/>
        </p:nvSpPr>
        <p:spPr>
          <a:xfrm>
            <a:off x="7452360" y="4315968"/>
            <a:ext cx="1554480" cy="347472"/>
          </a:xfrm>
          <a:prstGeom prst="rect">
            <a:avLst/>
          </a:prstGeom>
          <a:noFill/>
        </p:spPr>
        <p:txBody>
          <a:bodyPr wrap="square" lIns="0" rIns="0" tIns="0" bIns="0" anchor="t">
            <a:noAutofit/>
          </a:bodyPr>
          <a:lstStyle/>
          <a:p>
            <a:pPr algn="l">
              <a:spcAft>
                <a:spcPts val="0"/>
              </a:spcAft>
            </a:pPr>
            <a:r>
              <a:rPr sz="950" b="1">
                <a:solidFill>
                  <a:srgbClr val="127B76"/>
                </a:solidFill>
                <a:latin typeface="Arial"/>
              </a:rPr>
              <a:t>PASS</a:t>
            </a:r>
          </a:p>
        </p:txBody>
      </p:sp>
      <p:sp>
        <p:nvSpPr>
          <p:cNvPr id="47" name="TextBox 46"/>
          <p:cNvSpPr txBox="1"/>
          <p:nvPr/>
        </p:nvSpPr>
        <p:spPr>
          <a:xfrm>
            <a:off x="9189720" y="4315968"/>
            <a:ext cx="2459736" cy="347472"/>
          </a:xfrm>
          <a:prstGeom prst="rect">
            <a:avLst/>
          </a:prstGeom>
          <a:noFill/>
        </p:spPr>
        <p:txBody>
          <a:bodyPr wrap="square" lIns="0" rIns="0" tIns="0" bIns="0" anchor="t">
            <a:noAutofit/>
          </a:bodyPr>
          <a:lstStyle/>
          <a:p>
            <a:pPr algn="l">
              <a:spcAft>
                <a:spcPts val="0"/>
              </a:spcAft>
            </a:pPr>
            <a:r>
              <a:rPr sz="900" b="0">
                <a:solidFill>
                  <a:srgbClr val="597185"/>
                </a:solidFill>
                <a:latin typeface="Arial"/>
              </a:rPr>
              <a:t>2251799813930876</a:t>
            </a:r>
          </a:p>
        </p:txBody>
      </p:sp>
      <p:sp>
        <p:nvSpPr>
          <p:cNvPr id="48" name="Rectangle 47"/>
          <p:cNvSpPr/>
          <p:nvPr/>
        </p:nvSpPr>
        <p:spPr>
          <a:xfrm>
            <a:off x="548640" y="4700016"/>
            <a:ext cx="11100816"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 y="4764024"/>
            <a:ext cx="960120" cy="347472"/>
          </a:xfrm>
          <a:prstGeom prst="rect">
            <a:avLst/>
          </a:prstGeom>
          <a:noFill/>
        </p:spPr>
        <p:txBody>
          <a:bodyPr wrap="square" lIns="0" rIns="0" tIns="0" bIns="0" anchor="t">
            <a:noAutofit/>
          </a:bodyPr>
          <a:lstStyle/>
          <a:p>
            <a:pPr algn="l">
              <a:spcAft>
                <a:spcPts val="0"/>
              </a:spcAft>
            </a:pPr>
            <a:r>
              <a:rPr sz="1000" b="1">
                <a:solidFill>
                  <a:srgbClr val="223047"/>
                </a:solidFill>
                <a:latin typeface="Arial"/>
              </a:rPr>
              <a:t>G07</a:t>
            </a:r>
          </a:p>
        </p:txBody>
      </p:sp>
      <p:sp>
        <p:nvSpPr>
          <p:cNvPr id="50" name="TextBox 49"/>
          <p:cNvSpPr txBox="1"/>
          <p:nvPr/>
        </p:nvSpPr>
        <p:spPr>
          <a:xfrm>
            <a:off x="1691640" y="4764024"/>
            <a:ext cx="4114800" cy="347472"/>
          </a:xfrm>
          <a:prstGeom prst="rect">
            <a:avLst/>
          </a:prstGeom>
          <a:noFill/>
        </p:spPr>
        <p:txBody>
          <a:bodyPr wrap="square" lIns="0" rIns="0" tIns="0" bIns="0" anchor="t">
            <a:noAutofit/>
          </a:bodyPr>
          <a:lstStyle/>
          <a:p>
            <a:pPr algn="l">
              <a:spcAft>
                <a:spcPts val="0"/>
              </a:spcAft>
            </a:pPr>
            <a:r>
              <a:rPr sz="950" b="0">
                <a:solidFill>
                  <a:srgbClr val="1A344B"/>
                </a:solidFill>
                <a:latin typeface="Arial"/>
              </a:rPr>
              <a:t>Full route to discharge, nine human tasks</a:t>
            </a:r>
          </a:p>
        </p:txBody>
      </p:sp>
      <p:sp>
        <p:nvSpPr>
          <p:cNvPr id="51" name="TextBox 50"/>
          <p:cNvSpPr txBox="1"/>
          <p:nvPr/>
        </p:nvSpPr>
        <p:spPr>
          <a:xfrm>
            <a:off x="5989320" y="4764024"/>
            <a:ext cx="1280160" cy="347472"/>
          </a:xfrm>
          <a:prstGeom prst="rect">
            <a:avLst/>
          </a:prstGeom>
          <a:noFill/>
        </p:spPr>
        <p:txBody>
          <a:bodyPr wrap="square" lIns="0" rIns="0" tIns="0" bIns="0" anchor="t">
            <a:noAutofit/>
          </a:bodyPr>
          <a:lstStyle/>
          <a:p>
            <a:pPr algn="l">
              <a:spcAft>
                <a:spcPts val="0"/>
              </a:spcAft>
            </a:pPr>
            <a:r>
              <a:rPr sz="950" b="0">
                <a:solidFill>
                  <a:srgbClr val="597185"/>
                </a:solidFill>
                <a:latin typeface="Arial"/>
              </a:rPr>
              <a:t>PASS</a:t>
            </a:r>
          </a:p>
        </p:txBody>
      </p:sp>
      <p:sp>
        <p:nvSpPr>
          <p:cNvPr id="52" name="TextBox 51"/>
          <p:cNvSpPr txBox="1"/>
          <p:nvPr/>
        </p:nvSpPr>
        <p:spPr>
          <a:xfrm>
            <a:off x="7452360" y="4764024"/>
            <a:ext cx="1554480" cy="347472"/>
          </a:xfrm>
          <a:prstGeom prst="rect">
            <a:avLst/>
          </a:prstGeom>
          <a:noFill/>
        </p:spPr>
        <p:txBody>
          <a:bodyPr wrap="square" lIns="0" rIns="0" tIns="0" bIns="0" anchor="t">
            <a:noAutofit/>
          </a:bodyPr>
          <a:lstStyle/>
          <a:p>
            <a:pPr algn="l">
              <a:spcAft>
                <a:spcPts val="0"/>
              </a:spcAft>
            </a:pPr>
            <a:r>
              <a:rPr sz="950" b="1">
                <a:solidFill>
                  <a:srgbClr val="127B76"/>
                </a:solidFill>
                <a:latin typeface="Arial"/>
              </a:rPr>
              <a:t>COMPLETED</a:t>
            </a:r>
          </a:p>
        </p:txBody>
      </p:sp>
      <p:sp>
        <p:nvSpPr>
          <p:cNvPr id="53" name="TextBox 52"/>
          <p:cNvSpPr txBox="1"/>
          <p:nvPr/>
        </p:nvSpPr>
        <p:spPr>
          <a:xfrm>
            <a:off x="9189720" y="4764024"/>
            <a:ext cx="2459736" cy="347472"/>
          </a:xfrm>
          <a:prstGeom prst="rect">
            <a:avLst/>
          </a:prstGeom>
          <a:noFill/>
        </p:spPr>
        <p:txBody>
          <a:bodyPr wrap="square" lIns="0" rIns="0" tIns="0" bIns="0" anchor="t">
            <a:noAutofit/>
          </a:bodyPr>
          <a:lstStyle/>
          <a:p>
            <a:pPr algn="l">
              <a:spcAft>
                <a:spcPts val="0"/>
              </a:spcAft>
            </a:pPr>
            <a:r>
              <a:rPr sz="900" b="0">
                <a:solidFill>
                  <a:srgbClr val="597185"/>
                </a:solidFill>
                <a:latin typeface="Arial"/>
              </a:rPr>
              <a:t>2251799813931091</a:t>
            </a:r>
          </a:p>
        </p:txBody>
      </p:sp>
      <p:sp>
        <p:nvSpPr>
          <p:cNvPr id="54" name="Rectangle 53"/>
          <p:cNvSpPr/>
          <p:nvPr/>
        </p:nvSpPr>
        <p:spPr>
          <a:xfrm>
            <a:off x="548640" y="5148072"/>
            <a:ext cx="11100816"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8640" y="5248656"/>
            <a:ext cx="11100816" cy="786384"/>
          </a:xfrm>
          <a:prstGeom prst="rect">
            <a:avLst/>
          </a:prstGeom>
          <a:solidFill>
            <a:srgbClr val="FFF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8640" y="5248656"/>
            <a:ext cx="36576" cy="786384"/>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0664" y="5321808"/>
            <a:ext cx="10652760" cy="182880"/>
          </a:xfrm>
          <a:prstGeom prst="rect">
            <a:avLst/>
          </a:prstGeom>
          <a:noFill/>
        </p:spPr>
        <p:txBody>
          <a:bodyPr wrap="square" lIns="0" rIns="0" tIns="0" bIns="0" anchor="t">
            <a:noAutofit/>
          </a:bodyPr>
          <a:lstStyle/>
          <a:p>
            <a:pPr algn="l">
              <a:spcAft>
                <a:spcPts val="0"/>
              </a:spcAft>
            </a:pPr>
            <a:r>
              <a:rPr sz="850" b="1">
                <a:solidFill>
                  <a:srgbClr val="8A5A10"/>
                </a:solidFill>
                <a:latin typeface="Arial"/>
              </a:rPr>
              <a:t>WHAT SIX PASSES DO NOT PROVE</a:t>
            </a:r>
          </a:p>
        </p:txBody>
      </p:sp>
      <p:sp>
        <p:nvSpPr>
          <p:cNvPr id="58" name="TextBox 57"/>
          <p:cNvSpPr txBox="1"/>
          <p:nvPr/>
        </p:nvSpPr>
        <p:spPr>
          <a:xfrm>
            <a:off x="740664" y="5532120"/>
            <a:ext cx="10652760" cy="457200"/>
          </a:xfrm>
          <a:prstGeom prst="rect">
            <a:avLst/>
          </a:prstGeom>
          <a:noFill/>
        </p:spPr>
        <p:txBody>
          <a:bodyPr wrap="square" lIns="0" rIns="0" tIns="0" bIns="0" anchor="t">
            <a:noAutofit/>
          </a:bodyPr>
          <a:lstStyle/>
          <a:p>
            <a:pPr algn="l">
              <a:lnSpc>
                <a:spcPct val="105000"/>
              </a:lnSpc>
              <a:spcAft>
                <a:spcPts val="0"/>
              </a:spcAft>
            </a:pPr>
            <a:r>
              <a:rPr sz="1050" b="0">
                <a:solidFill>
                  <a:srgbClr val="1A344B"/>
                </a:solidFill>
                <a:latin typeface="Arial"/>
              </a:rPr>
              <a:t>They prove the model executes the path each case drives, not the branches no case enters. AT-03 fails exactly as it did on 29 September: there are still no candidate groups, so no role is enforced. Underneath it, 19 unit tests pass and 22 user tasks bind to 12 forms.</a:t>
            </a:r>
          </a:p>
        </p:txBody>
      </p:sp>
      <p:sp>
        <p:nvSpPr>
          <p:cNvPr id="59" name="TextBox 58"/>
          <p:cNvSpPr txBox="1"/>
          <p:nvPr/>
        </p:nvSpPr>
        <p:spPr>
          <a:xfrm>
            <a:off x="548640" y="6108192"/>
            <a:ext cx="11100816" cy="182880"/>
          </a:xfrm>
          <a:prstGeom prst="rect">
            <a:avLst/>
          </a:prstGeom>
          <a:noFill/>
        </p:spPr>
        <p:txBody>
          <a:bodyPr wrap="square" lIns="0" rIns="0" tIns="0" bIns="0" anchor="t">
            <a:noAutofit/>
          </a:bodyPr>
          <a:lstStyle/>
          <a:p>
            <a:pPr algn="l">
              <a:spcAft>
                <a:spcPts val="0"/>
              </a:spcAft>
            </a:pPr>
            <a:r>
              <a:rPr sz="850" b="0">
                <a:solidFill>
                  <a:srgbClr val="597185"/>
                </a:solidFill>
                <a:latin typeface="Arial"/>
              </a:rPr>
              <a:t>All results come from the 21:40 session after restarting c8run with --disable-connectors; the 21:38 attempt died on a connection reset and is kept as evidence.</a:t>
            </a:r>
          </a:p>
        </p:txBody>
      </p:sp>
      <p:sp>
        <p:nvSpPr>
          <p:cNvPr id="60" name="Rectangle 59"/>
          <p:cNvSpPr/>
          <p:nvPr/>
        </p:nvSpPr>
        <p:spPr>
          <a:xfrm>
            <a:off x="533095" y="6355080"/>
            <a:ext cx="11128248" cy="9144"/>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3095" y="6455664"/>
            <a:ext cx="7808975" cy="210312"/>
          </a:xfrm>
          <a:prstGeom prst="rect">
            <a:avLst/>
          </a:prstGeom>
          <a:noFill/>
        </p:spPr>
        <p:txBody>
          <a:bodyPr wrap="square" lIns="0" rIns="0" tIns="0" bIns="0" anchor="t">
            <a:noAutofit/>
          </a:bodyPr>
          <a:lstStyle/>
          <a:p>
            <a:pPr algn="l">
              <a:spcAft>
                <a:spcPts val="0"/>
              </a:spcAft>
            </a:pPr>
            <a:r>
              <a:rPr sz="900" b="0">
                <a:solidFill>
                  <a:srgbClr val="597185"/>
                </a:solidFill>
                <a:latin typeface="Arial"/>
              </a:rPr>
              <a:t>Hospital Pathway  |  AISD / UFCEP6-0-3</a:t>
            </a:r>
          </a:p>
        </p:txBody>
      </p:sp>
      <p:sp>
        <p:nvSpPr>
          <p:cNvPr id="62" name="TextBox 61"/>
          <p:cNvSpPr txBox="1"/>
          <p:nvPr/>
        </p:nvSpPr>
        <p:spPr>
          <a:xfrm>
            <a:off x="10497312" y="6455664"/>
            <a:ext cx="1161288" cy="210312"/>
          </a:xfrm>
          <a:prstGeom prst="rect">
            <a:avLst/>
          </a:prstGeom>
          <a:noFill/>
        </p:spPr>
        <p:txBody>
          <a:bodyPr wrap="square" lIns="0" rIns="0" tIns="0" bIns="0" anchor="t">
            <a:noAutofit/>
          </a:bodyPr>
          <a:lstStyle/>
          <a:p>
            <a:pPr algn="r">
              <a:spcAft>
                <a:spcPts val="0"/>
              </a:spcAft>
            </a:pPr>
            <a:r>
              <a:rPr sz="900" b="1">
                <a:solidFill>
                  <a:srgbClr val="597185"/>
                </a:solidFill>
                <a:latin typeface="Arial"/>
              </a:rPr>
              <a:t>08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EVIDENCE AND LIMITS</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What the run proves, and what it does not</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Seven executions, one failure, four boundaries no case crosses.</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09 / 13</a:t>
            </a:r>
          </a:p>
        </p:txBody>
      </p:sp>
      <p:sp>
        <p:nvSpPr>
          <p:cNvPr id="9" name="Rectangle 8"/>
          <p:cNvSpPr/>
          <p:nvPr/>
        </p:nvSpPr>
        <p:spPr>
          <a:xfrm>
            <a:off x="552450" y="1750000"/>
            <a:ext cx="5430000" cy="1830000"/>
          </a:xfrm>
          <a:prstGeom prst="rect">
            <a:avLst/>
          </a:prstGeom>
          <a:solidFill>
            <a:srgbClr val="E2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52450" y="1750000"/>
            <a:ext cx="40000" cy="1830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2450" y="1870000"/>
            <a:ext cx="49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PASS</a:t>
            </a:r>
          </a:p>
        </p:txBody>
      </p:sp>
      <p:sp>
        <p:nvSpPr>
          <p:cNvPr id="12" name="TextBox 11"/>
          <p:cNvSpPr txBox="1"/>
          <p:nvPr/>
        </p:nvSpPr>
        <p:spPr>
          <a:xfrm>
            <a:off x="752450" y="2140000"/>
            <a:ext cx="4900000" cy="30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G07 COMPLETED  ·  six of seven</a:t>
            </a:r>
          </a:p>
        </p:txBody>
      </p:sp>
      <p:sp>
        <p:nvSpPr>
          <p:cNvPr id="13" name="TextBox 12"/>
          <p:cNvSpPr txBox="1"/>
          <p:nvPr/>
        </p:nvSpPr>
        <p:spPr>
          <a:xfrm>
            <a:off x="752450" y="2490000"/>
            <a:ext cx="4950000" cy="1020000"/>
          </a:xfrm>
          <a:prstGeom prst="rect">
            <a:avLst/>
          </a:prstGeom>
          <a:noFill/>
        </p:spPr>
        <p:txBody>
          <a:bodyPr wrap="square" lIns="0" rIns="0" tIns="0" bIns="0" anchor="t">
            <a:noAutofit/>
          </a:bodyPr>
          <a:lstStyle/>
          <a:p>
            <a:pPr algn="l">
              <a:lnSpc>
                <a:spcPct val="108000"/>
              </a:lnSpc>
              <a:spcAft>
                <a:spcPts val="0"/>
              </a:spcAft>
            </a:pPr>
            <a:r>
              <a:rPr sz="1000" b="0" i="0">
                <a:solidFill>
                  <a:srgbClr val="1A344B"/>
                </a:solidFill>
                <a:latin typeface="Arial"/>
              </a:rPr>
              <a:t>Nine human tasks, zero active incidents: instance 2251799813931091 reached COMPLETED on V3.</a:t>
            </a:r>
          </a:p>
          <a:p>
            <a:pPr algn="l">
              <a:lnSpc>
                <a:spcPct val="108000"/>
              </a:lnSpc>
              <a:spcAft>
                <a:spcPts val="0"/>
              </a:spcAft>
            </a:pPr>
            <a:r>
              <a:rPr sz="1000" b="0" i="0">
                <a:solidFill>
                  <a:srgbClr val="1A344B"/>
                </a:solidFill>
                <a:latin typeface="Arial"/>
              </a:rPr>
              <a:t>AT-01, AT-02, AT-04, AT-05 and AT-06 pass, as they did on 29 September.</a:t>
            </a:r>
          </a:p>
          <a:p>
            <a:pPr algn="l">
              <a:lnSpc>
                <a:spcPct val="108000"/>
              </a:lnSpc>
              <a:spcAft>
                <a:spcPts val="0"/>
              </a:spcAft>
            </a:pPr>
            <a:r>
              <a:rPr sz="1000" b="0" i="0">
                <a:solidFill>
                  <a:srgbClr val="1A344B"/>
                </a:solidFill>
                <a:latin typeface="Arial"/>
              </a:rPr>
              <a:t>19 unit tests pass, and 22 user tasks bind to 12 form ids with no orphan.</a:t>
            </a:r>
          </a:p>
        </p:txBody>
      </p:sp>
      <p:sp>
        <p:nvSpPr>
          <p:cNvPr id="14" name="Rectangle 13"/>
          <p:cNvSpPr/>
          <p:nvPr/>
        </p:nvSpPr>
        <p:spPr>
          <a:xfrm>
            <a:off x="6180000" y="1750000"/>
            <a:ext cx="5430000" cy="1830000"/>
          </a:xfrm>
          <a:prstGeom prst="rect">
            <a:avLst/>
          </a:prstGeom>
          <a:solidFill>
            <a:srgbClr val="FFF1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180000" y="1750000"/>
            <a:ext cx="40000" cy="1830000"/>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80000" y="1870000"/>
            <a:ext cx="4900000" cy="230000"/>
          </a:xfrm>
          <a:prstGeom prst="rect">
            <a:avLst/>
          </a:prstGeom>
          <a:noFill/>
        </p:spPr>
        <p:txBody>
          <a:bodyPr wrap="square" lIns="0" rIns="0" tIns="0" bIns="0" anchor="t">
            <a:noAutofit/>
          </a:bodyPr>
          <a:lstStyle/>
          <a:p>
            <a:pPr algn="l">
              <a:spcAft>
                <a:spcPts val="0"/>
              </a:spcAft>
            </a:pPr>
            <a:r>
              <a:rPr sz="850" b="1" i="0">
                <a:solidFill>
                  <a:srgbClr val="E8A23A"/>
                </a:solidFill>
                <a:latin typeface="Arial"/>
              </a:rPr>
              <a:t>NOT COVERED</a:t>
            </a:r>
          </a:p>
        </p:txBody>
      </p:sp>
      <p:sp>
        <p:nvSpPr>
          <p:cNvPr id="17" name="TextBox 16"/>
          <p:cNvSpPr txBox="1"/>
          <p:nvPr/>
        </p:nvSpPr>
        <p:spPr>
          <a:xfrm>
            <a:off x="6380000" y="2140000"/>
            <a:ext cx="4900000" cy="30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What a REST driver cannot test</a:t>
            </a:r>
          </a:p>
        </p:txBody>
      </p:sp>
      <p:sp>
        <p:nvSpPr>
          <p:cNvPr id="18" name="TextBox 17"/>
          <p:cNvSpPr txBox="1"/>
          <p:nvPr/>
        </p:nvSpPr>
        <p:spPr>
          <a:xfrm>
            <a:off x="6380000" y="2490000"/>
            <a:ext cx="4950000" cy="1020000"/>
          </a:xfrm>
          <a:prstGeom prst="rect">
            <a:avLst/>
          </a:prstGeom>
          <a:noFill/>
        </p:spPr>
        <p:txBody>
          <a:bodyPr wrap="square" lIns="0" rIns="0" tIns="0" bIns="0" anchor="t">
            <a:noAutofit/>
          </a:bodyPr>
          <a:lstStyle/>
          <a:p>
            <a:pPr algn="l">
              <a:lnSpc>
                <a:spcPct val="108000"/>
              </a:lnSpc>
              <a:spcAft>
                <a:spcPts val="0"/>
              </a:spcAft>
            </a:pPr>
            <a:r>
              <a:rPr sz="1000" b="0" i="0">
                <a:solidFill>
                  <a:srgbClr val="1A344B"/>
                </a:solidFill>
                <a:latin typeface="Arial"/>
              </a:rPr>
              <a:t>Values are posted through /v2, so browser-side validation is untested: required fields, patterns, disallowPassedDates.</a:t>
            </a:r>
          </a:p>
          <a:p>
            <a:pPr algn="l">
              <a:lnSpc>
                <a:spcPct val="108000"/>
              </a:lnSpc>
              <a:spcAft>
                <a:spcPts val="0"/>
              </a:spcAft>
            </a:pPr>
            <a:r>
              <a:rPr sz="1000" b="0" i="0">
                <a:solidFill>
                  <a:srgbClr val="1A344B"/>
                </a:solidFill>
                <a:latin typeface="Arial"/>
              </a:rPr>
              <a:t>The role layer is untested because it does not exist.</a:t>
            </a:r>
          </a:p>
          <a:p>
            <a:pPr algn="l">
              <a:lnSpc>
                <a:spcPct val="108000"/>
              </a:lnSpc>
              <a:spcAft>
                <a:spcPts val="0"/>
              </a:spcAft>
            </a:pPr>
            <a:r>
              <a:rPr sz="1000" b="0" i="0">
                <a:solidFill>
                  <a:srgbClr val="1A344B"/>
                </a:solidFill>
                <a:latin typeface="Arial"/>
              </a:rPr>
              <a:t>No timer exists in the model, so no timer behaviour is tested.</a:t>
            </a:r>
          </a:p>
        </p:txBody>
      </p:sp>
      <p:sp>
        <p:nvSpPr>
          <p:cNvPr id="19" name="Rectangle 18"/>
          <p:cNvSpPr/>
          <p:nvPr/>
        </p:nvSpPr>
        <p:spPr>
          <a:xfrm>
            <a:off x="552450" y="3760000"/>
            <a:ext cx="5430000" cy="1830000"/>
          </a:xfrm>
          <a:prstGeom prst="rect">
            <a:avLst/>
          </a:prstGeom>
          <a:solidFill>
            <a:srgbClr val="FB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52450" y="3760000"/>
            <a:ext cx="40000" cy="1830000"/>
          </a:xfrm>
          <a:prstGeom prst="rect">
            <a:avLst/>
          </a:prstGeom>
          <a:solidFill>
            <a:srgbClr val="B641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2450" y="3880000"/>
            <a:ext cx="4900000" cy="230000"/>
          </a:xfrm>
          <a:prstGeom prst="rect">
            <a:avLst/>
          </a:prstGeom>
          <a:noFill/>
        </p:spPr>
        <p:txBody>
          <a:bodyPr wrap="square" lIns="0" rIns="0" tIns="0" bIns="0" anchor="t">
            <a:noAutofit/>
          </a:bodyPr>
          <a:lstStyle/>
          <a:p>
            <a:pPr algn="l">
              <a:spcAft>
                <a:spcPts val="0"/>
              </a:spcAft>
            </a:pPr>
            <a:r>
              <a:rPr sz="850" b="1" i="0">
                <a:solidFill>
                  <a:srgbClr val="B64145"/>
                </a:solidFill>
                <a:latin typeface="Arial"/>
              </a:rPr>
              <a:t>FAIL</a:t>
            </a:r>
          </a:p>
        </p:txBody>
      </p:sp>
      <p:sp>
        <p:nvSpPr>
          <p:cNvPr id="22" name="TextBox 21"/>
          <p:cNvSpPr txBox="1"/>
          <p:nvPr/>
        </p:nvSpPr>
        <p:spPr>
          <a:xfrm>
            <a:off x="752450" y="4150000"/>
            <a:ext cx="4900000" cy="30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AT-03  ·  the role boundary</a:t>
            </a:r>
          </a:p>
        </p:txBody>
      </p:sp>
      <p:sp>
        <p:nvSpPr>
          <p:cNvPr id="23" name="TextBox 22"/>
          <p:cNvSpPr txBox="1"/>
          <p:nvPr/>
        </p:nvSpPr>
        <p:spPr>
          <a:xfrm>
            <a:off x="752450" y="4500000"/>
            <a:ext cx="4950000" cy="1020000"/>
          </a:xfrm>
          <a:prstGeom prst="rect">
            <a:avLst/>
          </a:prstGeom>
          <a:noFill/>
        </p:spPr>
        <p:txBody>
          <a:bodyPr wrap="square" lIns="0" rIns="0" tIns="0" bIns="0" anchor="t">
            <a:noAutofit/>
          </a:bodyPr>
          <a:lstStyle/>
          <a:p>
            <a:pPr algn="l">
              <a:lnSpc>
                <a:spcPct val="108000"/>
              </a:lnSpc>
              <a:spcAft>
                <a:spcPts val="0"/>
              </a:spcAft>
            </a:pPr>
            <a:r>
              <a:rPr sz="1000" b="0" i="0">
                <a:solidFill>
                  <a:srgbClr val="1A344B"/>
                </a:solidFill>
                <a:latin typeface="Arial"/>
              </a:rPr>
              <a:t>A Medical Secretary completing Accept still created a BookVisit.</a:t>
            </a:r>
          </a:p>
          <a:p>
            <a:pPr algn="l">
              <a:lnSpc>
                <a:spcPct val="108000"/>
              </a:lnSpc>
              <a:spcAft>
                <a:spcPts val="0"/>
              </a:spcAft>
            </a:pPr>
            <a:r>
              <a:rPr sz="1000" b="0" i="0">
                <a:solidFill>
                  <a:srgbClr val="1A344B"/>
                </a:solidFill>
                <a:latin typeface="Arial"/>
              </a:rPr>
              <a:t>The same defect in both releases, not a regression: no candidate groups exist, so no role can be enforced.</a:t>
            </a:r>
          </a:p>
          <a:p>
            <a:pPr algn="l">
              <a:lnSpc>
                <a:spcPct val="108000"/>
              </a:lnSpc>
              <a:spcAft>
                <a:spcPts val="0"/>
              </a:spcAft>
            </a:pPr>
            <a:r>
              <a:rPr sz="1000" b="0" i="0">
                <a:solidFill>
                  <a:srgbClr val="1A344B"/>
                </a:solidFill>
                <a:latin typeface="Arial"/>
              </a:rPr>
              <a:t>It becomes a pass only when BR-37 is delivered.</a:t>
            </a:r>
          </a:p>
        </p:txBody>
      </p:sp>
      <p:sp>
        <p:nvSpPr>
          <p:cNvPr id="24" name="Rectangle 23"/>
          <p:cNvSpPr/>
          <p:nvPr/>
        </p:nvSpPr>
        <p:spPr>
          <a:xfrm>
            <a:off x="6180000" y="3760000"/>
            <a:ext cx="5430000" cy="183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80000" y="3760000"/>
            <a:ext cx="40000" cy="1830000"/>
          </a:xfrm>
          <a:prstGeom prst="rect">
            <a:avLst/>
          </a:prstGeom>
          <a:solidFill>
            <a:srgbClr val="5971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80000" y="3880000"/>
            <a:ext cx="4900000" cy="230000"/>
          </a:xfrm>
          <a:prstGeom prst="rect">
            <a:avLst/>
          </a:prstGeom>
          <a:noFill/>
        </p:spPr>
        <p:txBody>
          <a:bodyPr wrap="square" lIns="0" rIns="0" tIns="0" bIns="0" anchor="t">
            <a:noAutofit/>
          </a:bodyPr>
          <a:lstStyle/>
          <a:p>
            <a:pPr algn="l">
              <a:spcAft>
                <a:spcPts val="0"/>
              </a:spcAft>
            </a:pPr>
            <a:r>
              <a:rPr sz="850" b="1" i="0">
                <a:solidFill>
                  <a:srgbClr val="597185"/>
                </a:solidFill>
                <a:latin typeface="Arial"/>
              </a:rPr>
              <a:t>OPEN</a:t>
            </a:r>
          </a:p>
        </p:txBody>
      </p:sp>
      <p:sp>
        <p:nvSpPr>
          <p:cNvPr id="27" name="TextBox 26"/>
          <p:cNvSpPr txBox="1"/>
          <p:nvPr/>
        </p:nvSpPr>
        <p:spPr>
          <a:xfrm>
            <a:off x="6380000" y="4150000"/>
            <a:ext cx="4900000" cy="30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Branches no case drives</a:t>
            </a:r>
          </a:p>
        </p:txBody>
      </p:sp>
      <p:sp>
        <p:nvSpPr>
          <p:cNvPr id="28" name="TextBox 27"/>
          <p:cNvSpPr txBox="1"/>
          <p:nvPr/>
        </p:nvSpPr>
        <p:spPr>
          <a:xfrm>
            <a:off x="6380000" y="4500000"/>
            <a:ext cx="4950000" cy="1020000"/>
          </a:xfrm>
          <a:prstGeom prst="rect">
            <a:avLst/>
          </a:prstGeom>
          <a:noFill/>
        </p:spPr>
        <p:txBody>
          <a:bodyPr wrap="square" lIns="0" rIns="0" tIns="0" bIns="0" anchor="t">
            <a:noAutofit/>
          </a:bodyPr>
          <a:lstStyle/>
          <a:p>
            <a:pPr algn="l">
              <a:lnSpc>
                <a:spcPct val="108000"/>
              </a:lnSpc>
              <a:spcAft>
                <a:spcPts val="0"/>
              </a:spcAft>
            </a:pPr>
            <a:r>
              <a:rPr sz="1000" b="0" i="0">
                <a:solidFill>
                  <a:srgbClr val="1A344B"/>
                </a:solidFill>
                <a:latin typeface="Arial"/>
              </a:rPr>
              <a:t>The formal change path, DNA to payment, urgent authorisation, the refund adjustment, letter escalation.</a:t>
            </a:r>
          </a:p>
          <a:p>
            <a:pPr algn="l">
              <a:lnSpc>
                <a:spcPct val="108000"/>
              </a:lnSpc>
              <a:spcAft>
                <a:spcPts val="0"/>
              </a:spcAft>
            </a:pPr>
            <a:r>
              <a:rPr sz="1000" b="0" i="0">
                <a:solidFill>
                  <a:srgbClr val="1A344B"/>
                </a:solidFill>
                <a:latin typeface="Arial"/>
              </a:rPr>
              <a:t>Modelled, not exercised: no V3 result is claimed for any of them.</a:t>
            </a:r>
          </a:p>
        </p:txBody>
      </p:sp>
      <p:sp>
        <p:nvSpPr>
          <p:cNvPr id="29" name="TextBox 28"/>
          <p:cNvSpPr txBox="1"/>
          <p:nvPr/>
        </p:nvSpPr>
        <p:spPr>
          <a:xfrm>
            <a:off x="552450" y="5730000"/>
            <a:ext cx="11100000" cy="38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A pass here means one path executed, not that the rule behind it is satisfied: the coverage profile stays 13 / 25 /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PLAN VERSUS ACTUAL</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What was planned, and what actually shipped</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Read against the 16 October plan; status checked on 20 October.</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10 / 13</a:t>
            </a:r>
          </a:p>
        </p:txBody>
      </p:sp>
      <p:sp>
        <p:nvSpPr>
          <p:cNvPr id="9" name="Rectangle 8"/>
          <p:cNvSpPr/>
          <p:nvPr/>
        </p:nvSpPr>
        <p:spPr>
          <a:xfrm>
            <a:off x="552450" y="1730000"/>
            <a:ext cx="5230000" cy="308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0000" y="1830000"/>
            <a:ext cx="4850000" cy="26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SPRINT 3</a:t>
            </a:r>
          </a:p>
        </p:txBody>
      </p:sp>
      <p:sp>
        <p:nvSpPr>
          <p:cNvPr id="11" name="TextBox 10"/>
          <p:cNvSpPr txBox="1"/>
          <p:nvPr/>
        </p:nvSpPr>
        <p:spPr>
          <a:xfrm>
            <a:off x="750000" y="2090000"/>
            <a:ext cx="4850000" cy="26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Planned</a:t>
            </a:r>
          </a:p>
        </p:txBody>
      </p:sp>
      <p:sp>
        <p:nvSpPr>
          <p:cNvPr id="12" name="TextBox 11"/>
          <p:cNvSpPr txBox="1"/>
          <p:nvPr/>
        </p:nvSpPr>
        <p:spPr>
          <a:xfrm>
            <a:off x="750000" y="2360000"/>
            <a:ext cx="4820000" cy="800000"/>
          </a:xfrm>
          <a:prstGeom prst="rect">
            <a:avLst/>
          </a:prstGeom>
          <a:noFill/>
        </p:spPr>
        <p:txBody>
          <a:bodyPr wrap="square" lIns="0" rIns="0" tIns="0" bIns="0" anchor="t">
            <a:noAutofit/>
          </a:bodyPr>
          <a:lstStyle/>
          <a:p>
            <a:pPr algn="l">
              <a:lnSpc>
                <a:spcPct val="105000"/>
              </a:lnSpc>
              <a:spcAft>
                <a:spcPts val="0"/>
              </a:spcAft>
            </a:pPr>
            <a:r>
              <a:rPr sz="950" b="0" i="0">
                <a:solidFill>
                  <a:srgbClr val="1A344B"/>
                </a:solidFill>
                <a:latin typeface="Arial"/>
              </a:rPr>
              <a:t>PB-30 improved operational BPMN and readable export; PB-16 second-owner sign-off; PB-34 V1-to-V2 change note.</a:t>
            </a:r>
          </a:p>
        </p:txBody>
      </p:sp>
      <p:sp>
        <p:nvSpPr>
          <p:cNvPr id="13" name="TextBox 12"/>
          <p:cNvSpPr txBox="1"/>
          <p:nvPr/>
        </p:nvSpPr>
        <p:spPr>
          <a:xfrm>
            <a:off x="750000" y="3140000"/>
            <a:ext cx="4850000" cy="26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Actual</a:t>
            </a:r>
          </a:p>
        </p:txBody>
      </p:sp>
      <p:sp>
        <p:nvSpPr>
          <p:cNvPr id="14" name="TextBox 13"/>
          <p:cNvSpPr txBox="1"/>
          <p:nvPr/>
        </p:nvSpPr>
        <p:spPr>
          <a:xfrm>
            <a:off x="750000" y="3410000"/>
            <a:ext cx="4820000" cy="1300000"/>
          </a:xfrm>
          <a:prstGeom prst="rect">
            <a:avLst/>
          </a:prstGeom>
          <a:noFill/>
        </p:spPr>
        <p:txBody>
          <a:bodyPr wrap="square" lIns="0" rIns="0" tIns="0" bIns="0" anchor="t">
            <a:noAutofit/>
          </a:bodyPr>
          <a:lstStyle/>
          <a:p>
            <a:pPr algn="l">
              <a:lnSpc>
                <a:spcPct val="105000"/>
              </a:lnSpc>
              <a:spcAft>
                <a:spcPts val="500"/>
              </a:spcAft>
            </a:pPr>
            <a:r>
              <a:rPr sz="950" b="0" i="0">
                <a:solidFill>
                  <a:srgbClr val="1A344B"/>
                </a:solidFill>
                <a:latin typeface="Arial"/>
              </a:rPr>
              <a:t>Model delivered as V2, then renamed and extended as V3.</a:t>
            </a:r>
          </a:p>
          <a:p>
            <a:pPr algn="l">
              <a:lnSpc>
                <a:spcPct val="105000"/>
              </a:lnSpc>
              <a:spcAft>
                <a:spcPts val="500"/>
              </a:spcAft>
            </a:pPr>
            <a:r>
              <a:rPr sz="950" b="0" i="0">
                <a:solidFill>
                  <a:srgbClr val="1A344B"/>
                </a:solidFill>
                <a:latin typeface="Arial"/>
              </a:rPr>
              <a:t>Readable operational export produced on 19 October, after the plan was written.</a:t>
            </a:r>
          </a:p>
          <a:p>
            <a:pPr algn="l">
              <a:lnSpc>
                <a:spcPct val="105000"/>
              </a:lnSpc>
              <a:spcAft>
                <a:spcPts val="0"/>
              </a:spcAft>
            </a:pPr>
            <a:r>
              <a:rPr sz="950" b="0" i="0">
                <a:solidFill>
                  <a:srgbClr val="1A344B"/>
                </a:solidFill>
                <a:latin typeface="Arial"/>
              </a:rPr>
              <a:t>PB-34 done. PB-12’s second-owner review was signed on 19 October and PB-16’s on 20 October, so both reviews are closed.</a:t>
            </a:r>
          </a:p>
        </p:txBody>
      </p:sp>
      <p:sp>
        <p:nvSpPr>
          <p:cNvPr id="15" name="Rectangle 14"/>
          <p:cNvSpPr/>
          <p:nvPr/>
        </p:nvSpPr>
        <p:spPr>
          <a:xfrm>
            <a:off x="5950000" y="1730000"/>
            <a:ext cx="5700000" cy="308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150000" y="1830000"/>
            <a:ext cx="5300000" cy="26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SPRINT 4</a:t>
            </a:r>
          </a:p>
        </p:txBody>
      </p:sp>
      <p:sp>
        <p:nvSpPr>
          <p:cNvPr id="17" name="TextBox 16"/>
          <p:cNvSpPr txBox="1"/>
          <p:nvPr/>
        </p:nvSpPr>
        <p:spPr>
          <a:xfrm>
            <a:off x="6150000" y="2090000"/>
            <a:ext cx="5300000" cy="26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Planned</a:t>
            </a:r>
          </a:p>
        </p:txBody>
      </p:sp>
      <p:sp>
        <p:nvSpPr>
          <p:cNvPr id="18" name="TextBox 17"/>
          <p:cNvSpPr txBox="1"/>
          <p:nvPr/>
        </p:nvSpPr>
        <p:spPr>
          <a:xfrm>
            <a:off x="6150000" y="2360000"/>
            <a:ext cx="5270000" cy="800000"/>
          </a:xfrm>
          <a:prstGeom prst="rect">
            <a:avLst/>
          </a:prstGeom>
          <a:noFill/>
        </p:spPr>
        <p:txBody>
          <a:bodyPr wrap="square" lIns="0" rIns="0" tIns="0" bIns="0" anchor="t">
            <a:noAutofit/>
          </a:bodyPr>
          <a:lstStyle/>
          <a:p>
            <a:pPr algn="l">
              <a:lnSpc>
                <a:spcPct val="105000"/>
              </a:lnSpc>
              <a:spcAft>
                <a:spcPts val="0"/>
              </a:spcAft>
            </a:pPr>
            <a:r>
              <a:rPr sz="950" b="0" i="0">
                <a:solidFill>
                  <a:srgbClr val="1A344B"/>
                </a:solidFill>
                <a:latin typeface="Arial"/>
              </a:rPr>
              <a:t>PB-31 verify the revised solution and name the commit behind every result; PB-39 carry the traceability grades forward.</a:t>
            </a:r>
          </a:p>
        </p:txBody>
      </p:sp>
      <p:sp>
        <p:nvSpPr>
          <p:cNvPr id="19" name="TextBox 18"/>
          <p:cNvSpPr txBox="1"/>
          <p:nvPr/>
        </p:nvSpPr>
        <p:spPr>
          <a:xfrm>
            <a:off x="6150000" y="3140000"/>
            <a:ext cx="5300000" cy="260000"/>
          </a:xfrm>
          <a:prstGeom prst="rect">
            <a:avLst/>
          </a:prstGeom>
          <a:noFill/>
        </p:spPr>
        <p:txBody>
          <a:bodyPr wrap="square" lIns="0" rIns="0" tIns="0" bIns="0" anchor="t">
            <a:noAutofit/>
          </a:bodyPr>
          <a:lstStyle/>
          <a:p>
            <a:pPr algn="l">
              <a:spcAft>
                <a:spcPts val="0"/>
              </a:spcAft>
            </a:pPr>
            <a:r>
              <a:rPr sz="1125" b="1" i="0">
                <a:solidFill>
                  <a:srgbClr val="223047"/>
                </a:solidFill>
                <a:latin typeface="Arial"/>
              </a:rPr>
              <a:t>Actual</a:t>
            </a:r>
          </a:p>
        </p:txBody>
      </p:sp>
      <p:sp>
        <p:nvSpPr>
          <p:cNvPr id="20" name="TextBox 19"/>
          <p:cNvSpPr txBox="1"/>
          <p:nvPr/>
        </p:nvSpPr>
        <p:spPr>
          <a:xfrm>
            <a:off x="6150000" y="3410000"/>
            <a:ext cx="5270000" cy="1300000"/>
          </a:xfrm>
          <a:prstGeom prst="rect">
            <a:avLst/>
          </a:prstGeom>
          <a:noFill/>
        </p:spPr>
        <p:txBody>
          <a:bodyPr wrap="square" lIns="0" rIns="0" tIns="0" bIns="0" anchor="t">
            <a:noAutofit/>
          </a:bodyPr>
          <a:lstStyle/>
          <a:p>
            <a:pPr algn="l">
              <a:lnSpc>
                <a:spcPct val="105000"/>
              </a:lnSpc>
              <a:spcAft>
                <a:spcPts val="500"/>
              </a:spcAft>
            </a:pPr>
            <a:r>
              <a:rPr sz="950" b="0" i="0">
                <a:solidFill>
                  <a:srgbClr val="1A344B"/>
                </a:solidFill>
                <a:latin typeface="Arial"/>
              </a:rPr>
              <a:t>PB-39 done: 13 / 25 / 4 recorded against V3, with the rule-by-rule reason.</a:t>
            </a:r>
          </a:p>
          <a:p>
            <a:pPr algn="l">
              <a:lnSpc>
                <a:spcPct val="105000"/>
              </a:lnSpc>
              <a:spcAft>
                <a:spcPts val="500"/>
              </a:spcAft>
            </a:pPr>
            <a:r>
              <a:rPr sz="950" b="0" i="0">
                <a:solidFill>
                  <a:srgbClr val="1A344B"/>
                </a:solidFill>
                <a:latin typeface="Arial"/>
              </a:rPr>
              <a:t>PB-31 verified: seven cases re-run on V3 on 19 October: six pass, AT-03 fails.</a:t>
            </a:r>
          </a:p>
          <a:p>
            <a:pPr algn="l">
              <a:lnSpc>
                <a:spcPct val="105000"/>
              </a:lnSpc>
              <a:spcAft>
                <a:spcPts val="0"/>
              </a:spcAft>
            </a:pPr>
            <a:r>
              <a:rPr sz="950" b="0" i="0">
                <a:solidFill>
                  <a:srgbClr val="1A344B"/>
                </a:solidFill>
                <a:latin typeface="Arial"/>
              </a:rPr>
              <a:t>The plan’s environment risk showed once: the first c8run start died on the connectors health check; the run was repeated with connectors disabled.</a:t>
            </a:r>
          </a:p>
        </p:txBody>
      </p:sp>
      <p:sp>
        <p:nvSpPr>
          <p:cNvPr id="21" name="Rectangle 20"/>
          <p:cNvSpPr/>
          <p:nvPr/>
        </p:nvSpPr>
        <p:spPr>
          <a:xfrm>
            <a:off x="552450" y="4970000"/>
            <a:ext cx="11100000" cy="1180000"/>
          </a:xfrm>
          <a:prstGeom prst="rect">
            <a:avLst/>
          </a:prstGeom>
          <a:solidFill>
            <a:srgbClr val="FFF1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52450" y="4970000"/>
            <a:ext cx="38000" cy="1180000"/>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40000" y="5050000"/>
            <a:ext cx="10650000" cy="250000"/>
          </a:xfrm>
          <a:prstGeom prst="rect">
            <a:avLst/>
          </a:prstGeom>
          <a:noFill/>
        </p:spPr>
        <p:txBody>
          <a:bodyPr wrap="square" lIns="0" rIns="0" tIns="0" bIns="0" anchor="t">
            <a:noAutofit/>
          </a:bodyPr>
          <a:lstStyle/>
          <a:p>
            <a:pPr algn="l">
              <a:spcAft>
                <a:spcPts val="0"/>
              </a:spcAft>
            </a:pPr>
            <a:r>
              <a:rPr sz="850" b="1" i="0">
                <a:solidFill>
                  <a:srgbClr val="8A5A10"/>
                </a:solidFill>
                <a:latin typeface="Arial"/>
              </a:rPr>
              <a:t>WHAT THE RECORD SHOWS</a:t>
            </a:r>
          </a:p>
        </p:txBody>
      </p:sp>
      <p:sp>
        <p:nvSpPr>
          <p:cNvPr id="24" name="TextBox 23"/>
          <p:cNvSpPr txBox="1"/>
          <p:nvPr/>
        </p:nvSpPr>
        <p:spPr>
          <a:xfrm>
            <a:off x="740000" y="5320000"/>
            <a:ext cx="10650000" cy="760000"/>
          </a:xfrm>
          <a:prstGeom prst="rect">
            <a:avLst/>
          </a:prstGeom>
          <a:noFill/>
        </p:spPr>
        <p:txBody>
          <a:bodyPr wrap="square" lIns="0" rIns="0" tIns="0" bIns="0" anchor="t">
            <a:noAutofit/>
          </a:bodyPr>
          <a:lstStyle/>
          <a:p>
            <a:pPr algn="l">
              <a:lnSpc>
                <a:spcPct val="105000"/>
              </a:lnSpc>
              <a:spcAft>
                <a:spcPts val="500"/>
              </a:spcAft>
            </a:pPr>
            <a:r>
              <a:rPr sz="950" b="0" i="0">
                <a:solidFill>
                  <a:srgbClr val="1A344B"/>
                </a:solidFill>
                <a:latin typeface="Arial"/>
              </a:rPr>
              <a:t>Process records were left to the end and closed only at the 20 October session: Standup 3 stays “Not recorded”, Standup 4 carries one written row and two derived from that day’s commits, SR3 was read back from the increment, and SR4 was recorded on 20 October. The deck itself was still listed as “not started” in the plan.</a:t>
            </a:r>
          </a:p>
          <a:p>
            <a:pPr algn="l">
              <a:lnSpc>
                <a:spcPct val="105000"/>
              </a:lnSpc>
              <a:spcAft>
                <a:spcPts val="0"/>
              </a:spcAft>
            </a:pPr>
            <a:r>
              <a:rPr sz="950" b="0" i="0">
                <a:solidFill>
                  <a:srgbClr val="1A344B"/>
                </a:solidFill>
                <a:latin typeface="Arial"/>
              </a:rPr>
              <a:t>Consequence: the model and the forms moved forward while the evidence and the records stayed at 29 September until that session. That is the gap this deck makes visible.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LEVERAGE ORDER FOR THE NEXT RELEASE</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Five items, ordered by rules moved per unit of work</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Measured by rules moved per unit of work — written evaluation, section 3.7.</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11 / 13</a:t>
            </a:r>
          </a:p>
        </p:txBody>
      </p:sp>
      <p:sp>
        <p:nvSpPr>
          <p:cNvPr id="9" name="Rectangle 8"/>
          <p:cNvSpPr/>
          <p:nvPr/>
        </p:nvSpPr>
        <p:spPr>
          <a:xfrm>
            <a:off x="552450" y="1750000"/>
            <a:ext cx="520000" cy="70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52450" y="1870000"/>
            <a:ext cx="520000" cy="460000"/>
          </a:xfrm>
          <a:prstGeom prst="rect">
            <a:avLst/>
          </a:prstGeom>
          <a:noFill/>
        </p:spPr>
        <p:txBody>
          <a:bodyPr wrap="square" lIns="0" rIns="0" tIns="0" bIns="0" anchor="t">
            <a:noAutofit/>
          </a:bodyPr>
          <a:lstStyle/>
          <a:p>
            <a:pPr algn="ctr">
              <a:spcAft>
                <a:spcPts val="0"/>
              </a:spcAft>
            </a:pPr>
            <a:r>
              <a:rPr sz="2200" b="1" i="0">
                <a:solidFill>
                  <a:srgbClr val="127B76"/>
                </a:solidFill>
                <a:latin typeface="Arial"/>
              </a:rPr>
              <a:t>1</a:t>
            </a:r>
          </a:p>
        </p:txBody>
      </p:sp>
      <p:sp>
        <p:nvSpPr>
          <p:cNvPr id="11" name="TextBox 10"/>
          <p:cNvSpPr txBox="1"/>
          <p:nvPr/>
        </p:nvSpPr>
        <p:spPr>
          <a:xfrm>
            <a:off x="1250000" y="1780000"/>
            <a:ext cx="8000000" cy="28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BR-37 — role model and candidate groups</a:t>
            </a:r>
          </a:p>
        </p:txBody>
      </p:sp>
      <p:sp>
        <p:nvSpPr>
          <p:cNvPr id="12" name="TextBox 11"/>
          <p:cNvSpPr txBox="1"/>
          <p:nvPr/>
        </p:nvSpPr>
        <p:spPr>
          <a:xfrm>
            <a:off x="9350000" y="1800000"/>
            <a:ext cx="2200000" cy="250000"/>
          </a:xfrm>
          <a:prstGeom prst="rect">
            <a:avLst/>
          </a:prstGeom>
          <a:noFill/>
        </p:spPr>
        <p:txBody>
          <a:bodyPr wrap="square" lIns="0" rIns="0" tIns="0" bIns="0" anchor="t">
            <a:noAutofit/>
          </a:bodyPr>
          <a:lstStyle/>
          <a:p>
            <a:pPr algn="r">
              <a:spcAft>
                <a:spcPts val="0"/>
              </a:spcAft>
            </a:pPr>
            <a:r>
              <a:rPr sz="850" b="1" i="0">
                <a:solidFill>
                  <a:srgbClr val="E8A23A"/>
                </a:solidFill>
                <a:latin typeface="Arial"/>
              </a:rPr>
              <a:t>P0</a:t>
            </a:r>
          </a:p>
        </p:txBody>
      </p:sp>
      <p:sp>
        <p:nvSpPr>
          <p:cNvPr id="13" name="TextBox 12"/>
          <p:cNvSpPr txBox="1"/>
          <p:nvPr/>
        </p:nvSpPr>
        <p:spPr>
          <a:xfrm>
            <a:off x="1250000" y="2090000"/>
            <a:ext cx="10280000" cy="33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Unlocks BR-09, BR-19, BR-21, BR-27 and BR-31, and turns AT-03 from a recorded failure into a pass condition. No other item comes close.</a:t>
            </a:r>
          </a:p>
        </p:txBody>
      </p:sp>
      <p:sp>
        <p:nvSpPr>
          <p:cNvPr id="14" name="Rectangle 13"/>
          <p:cNvSpPr/>
          <p:nvPr/>
        </p:nvSpPr>
        <p:spPr>
          <a:xfrm>
            <a:off x="552450" y="2450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52450" y="2466000"/>
            <a:ext cx="520000" cy="70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52450" y="2586000"/>
            <a:ext cx="520000" cy="460000"/>
          </a:xfrm>
          <a:prstGeom prst="rect">
            <a:avLst/>
          </a:prstGeom>
          <a:noFill/>
        </p:spPr>
        <p:txBody>
          <a:bodyPr wrap="square" lIns="0" rIns="0" tIns="0" bIns="0" anchor="t">
            <a:noAutofit/>
          </a:bodyPr>
          <a:lstStyle/>
          <a:p>
            <a:pPr algn="ctr">
              <a:spcAft>
                <a:spcPts val="0"/>
              </a:spcAft>
            </a:pPr>
            <a:r>
              <a:rPr sz="2200" b="1" i="0">
                <a:solidFill>
                  <a:srgbClr val="127B76"/>
                </a:solidFill>
                <a:latin typeface="Arial"/>
              </a:rPr>
              <a:t>2</a:t>
            </a:r>
          </a:p>
        </p:txBody>
      </p:sp>
      <p:sp>
        <p:nvSpPr>
          <p:cNvPr id="17" name="TextBox 16"/>
          <p:cNvSpPr txBox="1"/>
          <p:nvPr/>
        </p:nvSpPr>
        <p:spPr>
          <a:xfrm>
            <a:off x="1250000" y="2496000"/>
            <a:ext cx="8000000" cy="28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BR-38 — audit immutability</a:t>
            </a:r>
          </a:p>
        </p:txBody>
      </p:sp>
      <p:sp>
        <p:nvSpPr>
          <p:cNvPr id="18" name="TextBox 17"/>
          <p:cNvSpPr txBox="1"/>
          <p:nvPr/>
        </p:nvSpPr>
        <p:spPr>
          <a:xfrm>
            <a:off x="9350000" y="2516000"/>
            <a:ext cx="2200000" cy="250000"/>
          </a:xfrm>
          <a:prstGeom prst="rect">
            <a:avLst/>
          </a:prstGeom>
          <a:noFill/>
        </p:spPr>
        <p:txBody>
          <a:bodyPr wrap="square" lIns="0" rIns="0" tIns="0" bIns="0" anchor="t">
            <a:noAutofit/>
          </a:bodyPr>
          <a:lstStyle/>
          <a:p>
            <a:pPr algn="r">
              <a:spcAft>
                <a:spcPts val="0"/>
              </a:spcAft>
            </a:pPr>
            <a:r>
              <a:rPr sz="850" b="1" i="0">
                <a:solidFill>
                  <a:srgbClr val="E8A23A"/>
                </a:solidFill>
                <a:latin typeface="Arial"/>
              </a:rPr>
              <a:t>P0</a:t>
            </a:r>
          </a:p>
        </p:txBody>
      </p:sp>
      <p:sp>
        <p:nvSpPr>
          <p:cNvPr id="19" name="TextBox 18"/>
          <p:cNvSpPr txBox="1"/>
          <p:nvPr/>
        </p:nvSpPr>
        <p:spPr>
          <a:xfrm>
            <a:off x="1250000" y="2806000"/>
            <a:ext cx="10280000" cy="33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The append-only writer exists; a read-only audit API and a refusal test do not. Also underwrites the enquiry trail in BR-28.</a:t>
            </a:r>
          </a:p>
        </p:txBody>
      </p:sp>
      <p:sp>
        <p:nvSpPr>
          <p:cNvPr id="20" name="Rectangle 19"/>
          <p:cNvSpPr/>
          <p:nvPr/>
        </p:nvSpPr>
        <p:spPr>
          <a:xfrm>
            <a:off x="552450" y="3166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52450" y="3182000"/>
            <a:ext cx="520000" cy="70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2450" y="3302000"/>
            <a:ext cx="520000" cy="460000"/>
          </a:xfrm>
          <a:prstGeom prst="rect">
            <a:avLst/>
          </a:prstGeom>
          <a:noFill/>
        </p:spPr>
        <p:txBody>
          <a:bodyPr wrap="square" lIns="0" rIns="0" tIns="0" bIns="0" anchor="t">
            <a:noAutofit/>
          </a:bodyPr>
          <a:lstStyle/>
          <a:p>
            <a:pPr algn="ctr">
              <a:spcAft>
                <a:spcPts val="0"/>
              </a:spcAft>
            </a:pPr>
            <a:r>
              <a:rPr sz="2200" b="1" i="0">
                <a:solidFill>
                  <a:srgbClr val="127B76"/>
                </a:solidFill>
                <a:latin typeface="Arial"/>
              </a:rPr>
              <a:t>3</a:t>
            </a:r>
          </a:p>
        </p:txBody>
      </p:sp>
      <p:sp>
        <p:nvSpPr>
          <p:cNvPr id="23" name="TextBox 22"/>
          <p:cNvSpPr txBox="1"/>
          <p:nvPr/>
        </p:nvSpPr>
        <p:spPr>
          <a:xfrm>
            <a:off x="1250000" y="3212000"/>
            <a:ext cx="8000000" cy="28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BR-08 — consent and a structured treatment request</a:t>
            </a:r>
          </a:p>
        </p:txBody>
      </p:sp>
      <p:sp>
        <p:nvSpPr>
          <p:cNvPr id="24" name="TextBox 23"/>
          <p:cNvSpPr txBox="1"/>
          <p:nvPr/>
        </p:nvSpPr>
        <p:spPr>
          <a:xfrm>
            <a:off x="9350000" y="3232000"/>
            <a:ext cx="2200000" cy="250000"/>
          </a:xfrm>
          <a:prstGeom prst="rect">
            <a:avLst/>
          </a:prstGeom>
          <a:noFill/>
        </p:spPr>
        <p:txBody>
          <a:bodyPr wrap="square" lIns="0" rIns="0" tIns="0" bIns="0" anchor="t">
            <a:noAutofit/>
          </a:bodyPr>
          <a:lstStyle/>
          <a:p>
            <a:pPr algn="r">
              <a:spcAft>
                <a:spcPts val="0"/>
              </a:spcAft>
            </a:pPr>
            <a:r>
              <a:rPr sz="850" b="1" i="0">
                <a:solidFill>
                  <a:srgbClr val="E8A23A"/>
                </a:solidFill>
                <a:latin typeface="Arial"/>
              </a:rPr>
              <a:t>P0</a:t>
            </a:r>
          </a:p>
        </p:txBody>
      </p:sp>
      <p:sp>
        <p:nvSpPr>
          <p:cNvPr id="25" name="TextBox 24"/>
          <p:cNvSpPr txBox="1"/>
          <p:nvPr/>
        </p:nvSpPr>
        <p:spPr>
          <a:xfrm>
            <a:off x="1250000" y="3522000"/>
            <a:ext cx="10280000" cy="33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The artefact did not change at all in this release: the task text asks for fields the form does not have.</a:t>
            </a:r>
          </a:p>
        </p:txBody>
      </p:sp>
      <p:sp>
        <p:nvSpPr>
          <p:cNvPr id="26" name="Rectangle 25"/>
          <p:cNvSpPr/>
          <p:nvPr/>
        </p:nvSpPr>
        <p:spPr>
          <a:xfrm>
            <a:off x="552450" y="3882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52450" y="3898000"/>
            <a:ext cx="520000" cy="70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52450" y="4018000"/>
            <a:ext cx="520000" cy="460000"/>
          </a:xfrm>
          <a:prstGeom prst="rect">
            <a:avLst/>
          </a:prstGeom>
          <a:noFill/>
        </p:spPr>
        <p:txBody>
          <a:bodyPr wrap="square" lIns="0" rIns="0" tIns="0" bIns="0" anchor="t">
            <a:noAutofit/>
          </a:bodyPr>
          <a:lstStyle/>
          <a:p>
            <a:pPr algn="ctr">
              <a:spcAft>
                <a:spcPts val="0"/>
              </a:spcAft>
            </a:pPr>
            <a:r>
              <a:rPr sz="2200" b="1" i="0">
                <a:solidFill>
                  <a:srgbClr val="127B76"/>
                </a:solidFill>
                <a:latin typeface="Arial"/>
              </a:rPr>
              <a:t>4</a:t>
            </a:r>
          </a:p>
        </p:txBody>
      </p:sp>
      <p:sp>
        <p:nvSpPr>
          <p:cNvPr id="29" name="TextBox 28"/>
          <p:cNvSpPr txBox="1"/>
          <p:nvPr/>
        </p:nvSpPr>
        <p:spPr>
          <a:xfrm>
            <a:off x="1250000" y="3928000"/>
            <a:ext cx="8000000" cy="28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The timer pattern — one implementation, four rules</a:t>
            </a:r>
          </a:p>
        </p:txBody>
      </p:sp>
      <p:sp>
        <p:nvSpPr>
          <p:cNvPr id="30" name="TextBox 29"/>
          <p:cNvSpPr txBox="1"/>
          <p:nvPr/>
        </p:nvSpPr>
        <p:spPr>
          <a:xfrm>
            <a:off x="9350000" y="3948000"/>
            <a:ext cx="2200000" cy="250000"/>
          </a:xfrm>
          <a:prstGeom prst="rect">
            <a:avLst/>
          </a:prstGeom>
          <a:noFill/>
        </p:spPr>
        <p:txBody>
          <a:bodyPr wrap="square" lIns="0" rIns="0" tIns="0" bIns="0" anchor="t">
            <a:noAutofit/>
          </a:bodyPr>
          <a:lstStyle/>
          <a:p>
            <a:pPr algn="r">
              <a:spcAft>
                <a:spcPts val="0"/>
              </a:spcAft>
            </a:pPr>
            <a:r>
              <a:rPr sz="850" b="1" i="0">
                <a:solidFill>
                  <a:srgbClr val="E8A23A"/>
                </a:solidFill>
                <a:latin typeface="Arial"/>
              </a:rPr>
              <a:t>C2</a:t>
            </a:r>
          </a:p>
        </p:txBody>
      </p:sp>
      <p:sp>
        <p:nvSpPr>
          <p:cNvPr id="31" name="TextBox 30"/>
          <p:cNvSpPr txBox="1"/>
          <p:nvPr/>
        </p:nvSpPr>
        <p:spPr>
          <a:xfrm>
            <a:off x="1250000" y="4238000"/>
            <a:ext cx="10280000" cy="33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BR-06, BR-32, BR-33 and BR-34 all wait on the same missing capability. One pattern applied at four places.</a:t>
            </a:r>
          </a:p>
        </p:txBody>
      </p:sp>
      <p:sp>
        <p:nvSpPr>
          <p:cNvPr id="32" name="Rectangle 31"/>
          <p:cNvSpPr/>
          <p:nvPr/>
        </p:nvSpPr>
        <p:spPr>
          <a:xfrm>
            <a:off x="552450" y="4598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552450" y="4614000"/>
            <a:ext cx="520000" cy="70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52450" y="4734000"/>
            <a:ext cx="520000" cy="460000"/>
          </a:xfrm>
          <a:prstGeom prst="rect">
            <a:avLst/>
          </a:prstGeom>
          <a:noFill/>
        </p:spPr>
        <p:txBody>
          <a:bodyPr wrap="square" lIns="0" rIns="0" tIns="0" bIns="0" anchor="t">
            <a:noAutofit/>
          </a:bodyPr>
          <a:lstStyle/>
          <a:p>
            <a:pPr algn="ctr">
              <a:spcAft>
                <a:spcPts val="0"/>
              </a:spcAft>
            </a:pPr>
            <a:r>
              <a:rPr sz="2200" b="1" i="0">
                <a:solidFill>
                  <a:srgbClr val="127B76"/>
                </a:solidFill>
                <a:latin typeface="Arial"/>
              </a:rPr>
              <a:t>5</a:t>
            </a:r>
          </a:p>
        </p:txBody>
      </p:sp>
      <p:sp>
        <p:nvSpPr>
          <p:cNvPr id="35" name="TextBox 34"/>
          <p:cNvSpPr txBox="1"/>
          <p:nvPr/>
        </p:nvSpPr>
        <p:spPr>
          <a:xfrm>
            <a:off x="1250000" y="4644000"/>
            <a:ext cx="8000000" cy="280000"/>
          </a:xfrm>
          <a:prstGeom prst="rect">
            <a:avLst/>
          </a:prstGeom>
          <a:noFill/>
        </p:spPr>
        <p:txBody>
          <a:bodyPr wrap="square" lIns="0" rIns="0" tIns="0" bIns="0" anchor="t">
            <a:noAutofit/>
          </a:bodyPr>
          <a:lstStyle/>
          <a:p>
            <a:pPr algn="l">
              <a:spcAft>
                <a:spcPts val="0"/>
              </a:spcAft>
            </a:pPr>
            <a:r>
              <a:rPr sz="1275" b="1" i="0">
                <a:solidFill>
                  <a:srgbClr val="223047"/>
                </a:solidFill>
                <a:latin typeface="Arial"/>
              </a:rPr>
              <a:t>BR-22 — three acceptance cases</a:t>
            </a:r>
          </a:p>
        </p:txBody>
      </p:sp>
      <p:sp>
        <p:nvSpPr>
          <p:cNvPr id="36" name="TextBox 35"/>
          <p:cNvSpPr txBox="1"/>
          <p:nvPr/>
        </p:nvSpPr>
        <p:spPr>
          <a:xfrm>
            <a:off x="9350000" y="4664000"/>
            <a:ext cx="2200000" cy="250000"/>
          </a:xfrm>
          <a:prstGeom prst="rect">
            <a:avLst/>
          </a:prstGeom>
          <a:noFill/>
        </p:spPr>
        <p:txBody>
          <a:bodyPr wrap="square" lIns="0" rIns="0" tIns="0" bIns="0" anchor="t">
            <a:noAutofit/>
          </a:bodyPr>
          <a:lstStyle/>
          <a:p>
            <a:pPr algn="r">
              <a:spcAft>
                <a:spcPts val="0"/>
              </a:spcAft>
            </a:pPr>
            <a:r>
              <a:rPr sz="850" b="1" i="0">
                <a:solidFill>
                  <a:srgbClr val="E8A23A"/>
                </a:solidFill>
                <a:latin typeface="Arial"/>
              </a:rPr>
              <a:t>Cheapest</a:t>
            </a:r>
          </a:p>
        </p:txBody>
      </p:sp>
      <p:sp>
        <p:nvSpPr>
          <p:cNvPr id="37" name="TextBox 36"/>
          <p:cNvSpPr txBox="1"/>
          <p:nvPr/>
        </p:nvSpPr>
        <p:spPr>
          <a:xfrm>
            <a:off x="1250000" y="4954000"/>
            <a:ext cx="10280000" cy="330000"/>
          </a:xfrm>
          <a:prstGeom prst="rect">
            <a:avLst/>
          </a:prstGeom>
          <a:noFill/>
        </p:spPr>
        <p:txBody>
          <a:bodyPr wrap="square" lIns="0" rIns="0" tIns="0" bIns="0" anchor="t">
            <a:noAutofit/>
          </a:bodyPr>
          <a:lstStyle/>
          <a:p>
            <a:pPr algn="l">
              <a:lnSpc>
                <a:spcPct val="100000"/>
              </a:lnSpc>
              <a:spcAft>
                <a:spcPts val="0"/>
              </a:spcAft>
            </a:pPr>
            <a:r>
              <a:rPr sz="950" b="0" i="0">
                <a:solidFill>
                  <a:srgbClr val="1A344B"/>
                </a:solidFill>
                <a:latin typeface="Arial"/>
              </a:rPr>
              <a:t>The formal change path, the unauthorised skip and Finance routing already behave; only the cases are missing.</a:t>
            </a:r>
          </a:p>
        </p:txBody>
      </p:sp>
      <p:sp>
        <p:nvSpPr>
          <p:cNvPr id="38" name="Rectangle 37"/>
          <p:cNvSpPr/>
          <p:nvPr/>
        </p:nvSpPr>
        <p:spPr>
          <a:xfrm>
            <a:off x="552450" y="5314000"/>
            <a:ext cx="111000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LIVE DEMONSTRATION</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A repeatable route through V3_C8</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Start Camunda first, then the workers from Week3 Coursework/hospital-pathway.</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12 / 13</a:t>
            </a:r>
          </a:p>
        </p:txBody>
      </p:sp>
      <p:sp>
        <p:nvSpPr>
          <p:cNvPr id="9" name="Rectangle 8"/>
          <p:cNvSpPr/>
          <p:nvPr/>
        </p:nvSpPr>
        <p:spPr>
          <a:xfrm>
            <a:off x="552450" y="1780000"/>
            <a:ext cx="3550000" cy="290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52450" y="1780000"/>
            <a:ext cx="3550000" cy="40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32450" y="1900000"/>
            <a:ext cx="32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01   REFERRAL AND BOOKING</a:t>
            </a:r>
          </a:p>
        </p:txBody>
      </p:sp>
      <p:sp>
        <p:nvSpPr>
          <p:cNvPr id="12" name="TextBox 11"/>
          <p:cNvSpPr txBox="1"/>
          <p:nvPr/>
        </p:nvSpPr>
        <p:spPr>
          <a:xfrm>
            <a:off x="732450" y="2220000"/>
            <a:ext cx="3200000" cy="700000"/>
          </a:xfrm>
          <a:prstGeom prst="rect">
            <a:avLst/>
          </a:prstGeom>
          <a:noFill/>
        </p:spPr>
        <p:txBody>
          <a:bodyPr wrap="square" lIns="0" rIns="0" tIns="0" bIns="0" anchor="t">
            <a:noAutofit/>
          </a:bodyPr>
          <a:lstStyle/>
          <a:p>
            <a:pPr algn="l">
              <a:lnSpc>
                <a:spcPct val="100000"/>
              </a:lnSpc>
              <a:spcAft>
                <a:spcPts val="0"/>
              </a:spcAft>
            </a:pPr>
            <a:r>
              <a:rPr sz="1500" b="1" i="0">
                <a:solidFill>
                  <a:srgbClr val="223047"/>
                </a:solidFill>
                <a:latin typeface="Arial"/>
              </a:rPr>
              <a:t>Register → accept → book → attend</a:t>
            </a:r>
          </a:p>
        </p:txBody>
      </p:sp>
      <p:sp>
        <p:nvSpPr>
          <p:cNvPr id="13" name="TextBox 12"/>
          <p:cNvSpPr txBox="1"/>
          <p:nvPr/>
        </p:nvSpPr>
        <p:spPr>
          <a:xfrm>
            <a:off x="732450" y="3050000"/>
            <a:ext cx="3200000" cy="1480000"/>
          </a:xfrm>
          <a:prstGeom prst="rect">
            <a:avLst/>
          </a:prstGeom>
          <a:noFill/>
        </p:spPr>
        <p:txBody>
          <a:bodyPr wrap="square" lIns="0" rIns="0" tIns="0" bIns="0" anchor="t">
            <a:noAutofit/>
          </a:bodyPr>
          <a:lstStyle/>
          <a:p>
            <a:pPr algn="l">
              <a:lnSpc>
                <a:spcPct val="108000"/>
              </a:lnSpc>
              <a:spcAft>
                <a:spcPts val="0"/>
              </a:spcAft>
            </a:pPr>
            <a:r>
              <a:rPr sz="900" b="0" i="0">
                <a:solidFill>
                  <a:srgbClr val="1A344B"/>
                </a:solidFill>
                <a:latin typeface="Arial"/>
              </a:rPr>
              <a:t>register_request → review_referral (accept) → book_visit (booked) → await_attendance (attended).
Watch visitOutcome change, then resolve to attended.</a:t>
            </a:r>
          </a:p>
        </p:txBody>
      </p:sp>
      <p:sp>
        <p:nvSpPr>
          <p:cNvPr id="14" name="Rectangle 13"/>
          <p:cNvSpPr/>
          <p:nvPr/>
        </p:nvSpPr>
        <p:spPr>
          <a:xfrm>
            <a:off x="4292450" y="1780000"/>
            <a:ext cx="3550000" cy="290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292450" y="1780000"/>
            <a:ext cx="3550000" cy="40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472450" y="1900000"/>
            <a:ext cx="32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02   CARE AND FUNDING</a:t>
            </a:r>
          </a:p>
        </p:txBody>
      </p:sp>
      <p:sp>
        <p:nvSpPr>
          <p:cNvPr id="17" name="TextBox 16"/>
          <p:cNvSpPr txBox="1"/>
          <p:nvPr/>
        </p:nvSpPr>
        <p:spPr>
          <a:xfrm>
            <a:off x="4472450" y="2220000"/>
            <a:ext cx="3200000" cy="700000"/>
          </a:xfrm>
          <a:prstGeom prst="rect">
            <a:avLst/>
          </a:prstGeom>
          <a:noFill/>
        </p:spPr>
        <p:txBody>
          <a:bodyPr wrap="square" lIns="0" rIns="0" tIns="0" bIns="0" anchor="t">
            <a:noAutofit/>
          </a:bodyPr>
          <a:lstStyle/>
          <a:p>
            <a:pPr algn="l">
              <a:lnSpc>
                <a:spcPct val="100000"/>
              </a:lnSpc>
              <a:spcAft>
                <a:spcPts val="0"/>
              </a:spcAft>
            </a:pPr>
            <a:r>
              <a:rPr sz="1500" b="1" i="0">
                <a:solidFill>
                  <a:srgbClr val="223047"/>
                </a:solidFill>
                <a:latin typeface="Arial"/>
              </a:rPr>
              <a:t>Care → letter → self-pay 10.01</a:t>
            </a:r>
          </a:p>
        </p:txBody>
      </p:sp>
      <p:sp>
        <p:nvSpPr>
          <p:cNvPr id="18" name="TextBox 17"/>
          <p:cNvSpPr txBox="1"/>
          <p:nvPr/>
        </p:nvSpPr>
        <p:spPr>
          <a:xfrm>
            <a:off x="4472450" y="3050000"/>
            <a:ext cx="3200000" cy="1480000"/>
          </a:xfrm>
          <a:prstGeom prst="rect">
            <a:avLst/>
          </a:prstGeom>
          <a:noFill/>
        </p:spPr>
        <p:txBody>
          <a:bodyPr wrap="square" lIns="0" rIns="0" tIns="0" bIns="0" anchor="t">
            <a:noAutofit/>
          </a:bodyPr>
          <a:lstStyle/>
          <a:p>
            <a:pPr algn="l">
              <a:lnSpc>
                <a:spcPct val="108000"/>
              </a:lnSpc>
              <a:spcAft>
                <a:spcPts val="0"/>
              </a:spcAft>
            </a:pPr>
            <a:r>
              <a:rPr sz="900" b="0" i="0">
                <a:solidFill>
                  <a:srgbClr val="1A344B"/>
                </a:solidFill>
                <a:latin typeface="Arial"/>
              </a:rPr>
              <a:t>clinical_care → dispatch_letter (sent) → funding_assessment (patient payment, 10.01) → request-payment publishes payment-result.
Watch payment_status = successful.</a:t>
            </a:r>
          </a:p>
        </p:txBody>
      </p:sp>
      <p:sp>
        <p:nvSpPr>
          <p:cNvPr id="19" name="Rectangle 18"/>
          <p:cNvSpPr/>
          <p:nvPr/>
        </p:nvSpPr>
        <p:spPr>
          <a:xfrm>
            <a:off x="8032450" y="1780000"/>
            <a:ext cx="3550000" cy="2900000"/>
          </a:xfrm>
          <a:prstGeom prst="rect">
            <a:avLst/>
          </a:prstGeom>
          <a:solidFill>
            <a:srgbClr val="FFFFFF"/>
          </a:solidFill>
          <a:ln w="9525">
            <a:solidFill>
              <a:srgbClr val="CAD6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32450" y="1780000"/>
            <a:ext cx="3550000" cy="400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2450" y="1900000"/>
            <a:ext cx="3200000" cy="230000"/>
          </a:xfrm>
          <a:prstGeom prst="rect">
            <a:avLst/>
          </a:prstGeom>
          <a:noFill/>
        </p:spPr>
        <p:txBody>
          <a:bodyPr wrap="square" lIns="0" rIns="0" tIns="0" bIns="0" anchor="t">
            <a:noAutofit/>
          </a:bodyPr>
          <a:lstStyle/>
          <a:p>
            <a:pPr algn="l">
              <a:spcAft>
                <a:spcPts val="0"/>
              </a:spcAft>
            </a:pPr>
            <a:r>
              <a:rPr sz="850" b="1" i="0">
                <a:solidFill>
                  <a:srgbClr val="127B76"/>
                </a:solidFill>
                <a:latin typeface="Arial"/>
              </a:rPr>
              <a:t>03   FINISH</a:t>
            </a:r>
          </a:p>
        </p:txBody>
      </p:sp>
      <p:sp>
        <p:nvSpPr>
          <p:cNvPr id="22" name="TextBox 21"/>
          <p:cNvSpPr txBox="1"/>
          <p:nvPr/>
        </p:nvSpPr>
        <p:spPr>
          <a:xfrm>
            <a:off x="8212450" y="2220000"/>
            <a:ext cx="3200000" cy="700000"/>
          </a:xfrm>
          <a:prstGeom prst="rect">
            <a:avLst/>
          </a:prstGeom>
          <a:noFill/>
        </p:spPr>
        <p:txBody>
          <a:bodyPr wrap="square" lIns="0" rIns="0" tIns="0" bIns="0" anchor="t">
            <a:noAutofit/>
          </a:bodyPr>
          <a:lstStyle/>
          <a:p>
            <a:pPr algn="l">
              <a:lnSpc>
                <a:spcPct val="100000"/>
              </a:lnSpc>
              <a:spcAft>
                <a:spcPts val="0"/>
              </a:spcAft>
            </a:pPr>
            <a:r>
              <a:rPr sz="1500" b="1" i="0">
                <a:solidFill>
                  <a:srgbClr val="223047"/>
                </a:solidFill>
                <a:latin typeface="Arial"/>
              </a:rPr>
              <a:t>Resources → review → discharge</a:t>
            </a:r>
          </a:p>
        </p:txBody>
      </p:sp>
      <p:sp>
        <p:nvSpPr>
          <p:cNvPr id="23" name="TextBox 22"/>
          <p:cNvSpPr txBox="1"/>
          <p:nvPr/>
        </p:nvSpPr>
        <p:spPr>
          <a:xfrm>
            <a:off x="8212450" y="3050000"/>
            <a:ext cx="3200000" cy="1480000"/>
          </a:xfrm>
          <a:prstGeom prst="rect">
            <a:avLst/>
          </a:prstGeom>
          <a:noFill/>
        </p:spPr>
        <p:txBody>
          <a:bodyPr wrap="square" lIns="0" rIns="0" tIns="0" bIns="0" anchor="t">
            <a:noAutofit/>
          </a:bodyPr>
          <a:lstStyle/>
          <a:p>
            <a:pPr algn="l">
              <a:lnSpc>
                <a:spcPct val="108000"/>
              </a:lnSpc>
              <a:spcAft>
                <a:spcPts val="0"/>
              </a:spcAft>
            </a:pPr>
            <a:r>
              <a:rPr sz="900" b="0" i="0">
                <a:solidFill>
                  <a:srgbClr val="1A344B"/>
                </a:solidFill>
                <a:latin typeface="Arial"/>
              </a:rPr>
              <a:t>book_treatment returns resources ready → send-booking-confirmation → back to clinical_care for the post-treatment review.
The care-plan gateway then routes Discharge to EndCare. Watch booking_slot_status = CONFIRMED and the instance reach COMPLETED.</a:t>
            </a:r>
          </a:p>
        </p:txBody>
      </p:sp>
      <p:sp>
        <p:nvSpPr>
          <p:cNvPr id="24" name="Rectangle 23"/>
          <p:cNvSpPr/>
          <p:nvPr/>
        </p:nvSpPr>
        <p:spPr>
          <a:xfrm>
            <a:off x="552450" y="4860000"/>
            <a:ext cx="11100000" cy="980000"/>
          </a:xfrm>
          <a:prstGeom prst="rect">
            <a:avLst/>
          </a:prstGeom>
          <a:solidFill>
            <a:srgbClr val="FFF1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52450" y="4860000"/>
            <a:ext cx="38000" cy="980000"/>
          </a:xfrm>
          <a:prstGeom prst="rect">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0000" y="4940000"/>
            <a:ext cx="10650000" cy="260000"/>
          </a:xfrm>
          <a:prstGeom prst="rect">
            <a:avLst/>
          </a:prstGeom>
          <a:noFill/>
        </p:spPr>
        <p:txBody>
          <a:bodyPr wrap="square" lIns="0" rIns="0" tIns="0" bIns="0" anchor="t">
            <a:noAutofit/>
          </a:bodyPr>
          <a:lstStyle/>
          <a:p>
            <a:pPr algn="l">
              <a:spcAft>
                <a:spcPts val="0"/>
              </a:spcAft>
            </a:pPr>
            <a:r>
              <a:rPr sz="850" b="1" i="0">
                <a:solidFill>
                  <a:srgbClr val="8A5A10"/>
                </a:solidFill>
                <a:latin typeface="Arial"/>
              </a:rPr>
              <a:t>WHAT TO WATCH, AND WHAT NOT TO CLAIM</a:t>
            </a:r>
          </a:p>
        </p:txBody>
      </p:sp>
      <p:sp>
        <p:nvSpPr>
          <p:cNvPr id="27" name="TextBox 26"/>
          <p:cNvSpPr txBox="1"/>
          <p:nvPr/>
        </p:nvSpPr>
        <p:spPr>
          <a:xfrm>
            <a:off x="740000" y="5210000"/>
            <a:ext cx="10650000" cy="560000"/>
          </a:xfrm>
          <a:prstGeom prst="rect">
            <a:avLst/>
          </a:prstGeom>
          <a:noFill/>
        </p:spPr>
        <p:txBody>
          <a:bodyPr wrap="square" lIns="0" rIns="0" tIns="0" bIns="0" anchor="t">
            <a:noAutofit/>
          </a:bodyPr>
          <a:lstStyle/>
          <a:p>
            <a:pPr algn="l">
              <a:lnSpc>
                <a:spcPct val="105000"/>
              </a:lnSpc>
              <a:spcAft>
                <a:spcPts val="0"/>
              </a:spcAft>
            </a:pPr>
            <a:r>
              <a:rPr sz="950" b="0" i="0">
                <a:solidFill>
                  <a:srgbClr val="1A344B"/>
                </a:solidFill>
                <a:latin typeface="Arial"/>
              </a:rPr>
              <a:t>Start Hospital_All_Processes_V3_C8; the build packages the 12 forms from Week6 Coursework/forms/. A decline or DNA takes VisitNeedsSlot past CheckVisitSlot — that is the changed behaviour worth showing. This is a demonstration; the acceptance evidence is the 19 October run, not a walk-through.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7F0"/>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127B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33400" y="323850"/>
            <a:ext cx="10668000" cy="209550"/>
          </a:xfrm>
          <a:prstGeom prst="rect">
            <a:avLst/>
          </a:prstGeom>
          <a:noFill/>
        </p:spPr>
        <p:txBody>
          <a:bodyPr wrap="square" lIns="0" rIns="0" tIns="0" bIns="0" anchor="t">
            <a:noAutofit/>
          </a:bodyPr>
          <a:lstStyle/>
          <a:p>
            <a:pPr algn="l">
              <a:spcAft>
                <a:spcPts val="0"/>
              </a:spcAft>
            </a:pPr>
            <a:r>
              <a:rPr sz="975" b="1" i="0">
                <a:solidFill>
                  <a:srgbClr val="127B76"/>
                </a:solidFill>
                <a:latin typeface="Arial"/>
              </a:rPr>
              <a:t>REFERENCES AND LINKS</a:t>
            </a:r>
          </a:p>
        </p:txBody>
      </p:sp>
      <p:sp>
        <p:nvSpPr>
          <p:cNvPr id="4" name="TextBox 3"/>
          <p:cNvSpPr txBox="1"/>
          <p:nvPr/>
        </p:nvSpPr>
        <p:spPr>
          <a:xfrm>
            <a:off x="533400" y="585000"/>
            <a:ext cx="11049000" cy="640000"/>
          </a:xfrm>
          <a:prstGeom prst="rect">
            <a:avLst/>
          </a:prstGeom>
          <a:noFill/>
        </p:spPr>
        <p:txBody>
          <a:bodyPr wrap="square" lIns="0" rIns="0" tIns="0" bIns="0" anchor="t">
            <a:noAutofit/>
          </a:bodyPr>
          <a:lstStyle/>
          <a:p>
            <a:pPr algn="l">
              <a:spcAft>
                <a:spcPts val="0"/>
              </a:spcAft>
            </a:pPr>
            <a:r>
              <a:rPr sz="2850" b="1" i="0">
                <a:solidFill>
                  <a:srgbClr val="223047"/>
                </a:solidFill>
                <a:latin typeface="Arial"/>
              </a:rPr>
              <a:t>Every claim resolves to an openable path</a:t>
            </a:r>
          </a:p>
        </p:txBody>
      </p:sp>
      <p:sp>
        <p:nvSpPr>
          <p:cNvPr id="5" name="TextBox 4"/>
          <p:cNvSpPr txBox="1"/>
          <p:nvPr/>
        </p:nvSpPr>
        <p:spPr>
          <a:xfrm>
            <a:off x="552450" y="1245000"/>
            <a:ext cx="10763250" cy="381000"/>
          </a:xfrm>
          <a:prstGeom prst="rect">
            <a:avLst/>
          </a:prstGeom>
          <a:noFill/>
        </p:spPr>
        <p:txBody>
          <a:bodyPr wrap="square" lIns="0" rIns="0" tIns="0" bIns="0" anchor="t">
            <a:noAutofit/>
          </a:bodyPr>
          <a:lstStyle/>
          <a:p>
            <a:pPr algn="l">
              <a:spcAft>
                <a:spcPts val="0"/>
              </a:spcAft>
            </a:pPr>
            <a:r>
              <a:rPr sz="1275" b="0" i="0">
                <a:solidFill>
                  <a:srgbClr val="597185"/>
                </a:solidFill>
                <a:latin typeface="Arial"/>
              </a:rPr>
              <a:t>Paths are relative to the root of submission-2026-10-20 (git rev-parse submission-2026-10-20^{commit}); each is linked to the GitHub copy.</a:t>
            </a:r>
          </a:p>
        </p:txBody>
      </p:sp>
      <p:sp>
        <p:nvSpPr>
          <p:cNvPr id="6" name="Rectangle 5"/>
          <p:cNvSpPr/>
          <p:nvPr/>
        </p:nvSpPr>
        <p:spPr>
          <a:xfrm>
            <a:off x="533400" y="6353175"/>
            <a:ext cx="11125200" cy="9525"/>
          </a:xfrm>
          <a:prstGeom prst="rect">
            <a:avLst/>
          </a:prstGeom>
          <a:solidFill>
            <a:srgbClr val="CAD6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3400" y="6457950"/>
            <a:ext cx="7810500" cy="209550"/>
          </a:xfrm>
          <a:prstGeom prst="rect">
            <a:avLst/>
          </a:prstGeom>
          <a:noFill/>
        </p:spPr>
        <p:txBody>
          <a:bodyPr wrap="square" lIns="0" rIns="0" tIns="0" bIns="0" anchor="t">
            <a:noAutofit/>
          </a:bodyPr>
          <a:lstStyle/>
          <a:p>
            <a:pPr algn="l">
              <a:spcAft>
                <a:spcPts val="0"/>
              </a:spcAft>
            </a:pPr>
            <a:r>
              <a:rPr sz="900" b="0" i="0">
                <a:solidFill>
                  <a:srgbClr val="597185"/>
                </a:solidFill>
                <a:latin typeface="Arial"/>
              </a:rPr>
              <a:t>Hospital Pathway  |  AISD / UFCEP6-0-3</a:t>
            </a:r>
          </a:p>
        </p:txBody>
      </p:sp>
      <p:sp>
        <p:nvSpPr>
          <p:cNvPr id="8" name="TextBox 7"/>
          <p:cNvSpPr txBox="1"/>
          <p:nvPr/>
        </p:nvSpPr>
        <p:spPr>
          <a:xfrm>
            <a:off x="10496550" y="6457950"/>
            <a:ext cx="1162050" cy="209550"/>
          </a:xfrm>
          <a:prstGeom prst="rect">
            <a:avLst/>
          </a:prstGeom>
          <a:noFill/>
        </p:spPr>
        <p:txBody>
          <a:bodyPr wrap="square" lIns="0" rIns="0" tIns="0" bIns="0" anchor="t">
            <a:noAutofit/>
          </a:bodyPr>
          <a:lstStyle/>
          <a:p>
            <a:pPr algn="r">
              <a:spcAft>
                <a:spcPts val="0"/>
              </a:spcAft>
            </a:pPr>
            <a:r>
              <a:rPr sz="900" b="1" i="0">
                <a:solidFill>
                  <a:srgbClr val="597185"/>
                </a:solidFill>
                <a:latin typeface="Arial"/>
              </a:rPr>
              <a:t>13 / 13</a:t>
            </a:r>
          </a:p>
        </p:txBody>
      </p:sp>
      <p:sp>
        <p:nvSpPr>
          <p:cNvPr id="9" name="TextBox 8"/>
          <p:cNvSpPr txBox="1"/>
          <p:nvPr/>
        </p:nvSpPr>
        <p:spPr>
          <a:xfrm>
            <a:off x="552450" y="1700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WRITTEN EVALUATION</a:t>
            </a:r>
          </a:p>
        </p:txBody>
      </p:sp>
      <p:sp>
        <p:nvSpPr>
          <p:cNvPr id="10" name="TextBox 9"/>
          <p:cNvSpPr txBox="1"/>
          <p:nvPr/>
        </p:nvSpPr>
        <p:spPr>
          <a:xfrm>
            <a:off x="552450" y="1895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2"/>
              </a:rPr>
              <a:t>submissions/BPMEA/BPMEA_Written_Evaluation.pdf</a:t>
            </a:r>
          </a:p>
        </p:txBody>
      </p:sp>
      <p:sp>
        <p:nvSpPr>
          <p:cNvPr id="11" name="TextBox 10"/>
          <p:cNvSpPr txBox="1"/>
          <p:nvPr/>
        </p:nvSpPr>
        <p:spPr>
          <a:xfrm>
            <a:off x="552450" y="2335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TRACEABILITY MATRIX</a:t>
            </a:r>
          </a:p>
        </p:txBody>
      </p:sp>
      <p:sp>
        <p:nvSpPr>
          <p:cNvPr id="12" name="TextBox 11"/>
          <p:cNvSpPr txBox="1"/>
          <p:nvPr/>
        </p:nvSpPr>
        <p:spPr>
          <a:xfrm>
            <a:off x="552450" y="2530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3"/>
              </a:rPr>
              <a:t>docs/requirements-traceability-matrix.md</a:t>
            </a:r>
          </a:p>
        </p:txBody>
      </p:sp>
      <p:sp>
        <p:nvSpPr>
          <p:cNvPr id="13" name="TextBox 12"/>
          <p:cNvSpPr txBox="1"/>
          <p:nvPr/>
        </p:nvSpPr>
        <p:spPr>
          <a:xfrm>
            <a:off x="552450" y="2970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FEEDBACK RESPONSE RECORD</a:t>
            </a:r>
          </a:p>
        </p:txBody>
      </p:sp>
      <p:sp>
        <p:nvSpPr>
          <p:cNvPr id="14" name="TextBox 13"/>
          <p:cNvSpPr txBox="1"/>
          <p:nvPr/>
        </p:nvSpPr>
        <p:spPr>
          <a:xfrm>
            <a:off x="552450" y="3165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4"/>
              </a:rPr>
              <a:t>Week6 Coursework/feedback/feedback-response_2026-10-16.md</a:t>
            </a:r>
          </a:p>
        </p:txBody>
      </p:sp>
      <p:sp>
        <p:nvSpPr>
          <p:cNvPr id="15" name="TextBox 14"/>
          <p:cNvSpPr txBox="1"/>
          <p:nvPr/>
        </p:nvSpPr>
        <p:spPr>
          <a:xfrm>
            <a:off x="552450" y="3605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OPERATIONAL MODEL V3</a:t>
            </a:r>
          </a:p>
        </p:txBody>
      </p:sp>
      <p:sp>
        <p:nvSpPr>
          <p:cNvPr id="16" name="TextBox 15"/>
          <p:cNvSpPr txBox="1"/>
          <p:nvPr/>
        </p:nvSpPr>
        <p:spPr>
          <a:xfrm>
            <a:off x="552450" y="3800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5"/>
              </a:rPr>
              <a:t>Week6 Coursework/bpmn/Hospital_All_Processes_V3.bpmn</a:t>
            </a:r>
          </a:p>
        </p:txBody>
      </p:sp>
      <p:sp>
        <p:nvSpPr>
          <p:cNvPr id="17" name="TextBox 16"/>
          <p:cNvSpPr txBox="1"/>
          <p:nvPr/>
        </p:nvSpPr>
        <p:spPr>
          <a:xfrm>
            <a:off x="552450" y="4240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DEPLOYED FORM SET</a:t>
            </a:r>
          </a:p>
        </p:txBody>
      </p:sp>
      <p:sp>
        <p:nvSpPr>
          <p:cNvPr id="18" name="TextBox 17"/>
          <p:cNvSpPr txBox="1"/>
          <p:nvPr/>
        </p:nvSpPr>
        <p:spPr>
          <a:xfrm>
            <a:off x="552450" y="4435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6"/>
              </a:rPr>
              <a:t>Week6 Coursework/forms/  (12 files)</a:t>
            </a:r>
          </a:p>
        </p:txBody>
      </p:sp>
      <p:sp>
        <p:nvSpPr>
          <p:cNvPr id="19" name="TextBox 18"/>
          <p:cNvSpPr txBox="1"/>
          <p:nvPr/>
        </p:nvSpPr>
        <p:spPr>
          <a:xfrm>
            <a:off x="552450" y="4875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V3 RUN AND BUILD, 19 OCT</a:t>
            </a:r>
          </a:p>
        </p:txBody>
      </p:sp>
      <p:sp>
        <p:nvSpPr>
          <p:cNvPr id="20" name="TextBox 19"/>
          <p:cNvSpPr txBox="1"/>
          <p:nvPr/>
        </p:nvSpPr>
        <p:spPr>
          <a:xfrm>
            <a:off x="552450" y="5070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7"/>
              </a:rPr>
              <a:t>Week3 Coursework/hospital-pathway/evidence/Camunda_V3_Acceptance_2026-10-19.txt</a:t>
            </a:r>
          </a:p>
        </p:txBody>
      </p:sp>
      <p:sp>
        <p:nvSpPr>
          <p:cNvPr id="21" name="TextBox 20"/>
          <p:cNvSpPr txBox="1"/>
          <p:nvPr/>
        </p:nvSpPr>
        <p:spPr>
          <a:xfrm>
            <a:off x="6150000" y="1700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INITIAL-RELEASE ACCEPTANCE</a:t>
            </a:r>
          </a:p>
        </p:txBody>
      </p:sp>
      <p:sp>
        <p:nvSpPr>
          <p:cNvPr id="22" name="TextBox 21"/>
          <p:cNvSpPr txBox="1"/>
          <p:nvPr/>
        </p:nvSpPr>
        <p:spPr>
          <a:xfrm>
            <a:off x="6150000" y="1895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8"/>
              </a:rPr>
              <a:t>submissions/AISD/Group_Acceptance_Test_Plan_and_Results_2026-09-29.pdf</a:t>
            </a:r>
          </a:p>
        </p:txBody>
      </p:sp>
      <p:sp>
        <p:nvSpPr>
          <p:cNvPr id="23" name="TextBox 22"/>
          <p:cNvSpPr txBox="1"/>
          <p:nvPr/>
        </p:nvSpPr>
        <p:spPr>
          <a:xfrm>
            <a:off x="6150000" y="2335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INITIAL-RELEASE DECK</a:t>
            </a:r>
          </a:p>
        </p:txBody>
      </p:sp>
      <p:sp>
        <p:nvSpPr>
          <p:cNvPr id="24" name="TextBox 23"/>
          <p:cNvSpPr txBox="1"/>
          <p:nvPr/>
        </p:nvSpPr>
        <p:spPr>
          <a:xfrm>
            <a:off x="6150000" y="2530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9"/>
              </a:rPr>
              <a:t>submissions/BPMEA/Hospital_Pathway_BPMEA_Presentation_2026-09-29.pptx</a:t>
            </a:r>
          </a:p>
        </p:txBody>
      </p:sp>
      <p:sp>
        <p:nvSpPr>
          <p:cNvPr id="25" name="TextBox 24"/>
          <p:cNvSpPr txBox="1"/>
          <p:nvPr/>
        </p:nvSpPr>
        <p:spPr>
          <a:xfrm>
            <a:off x="6150000" y="2970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SPRINT 3–4 PLAN</a:t>
            </a:r>
          </a:p>
        </p:txBody>
      </p:sp>
      <p:sp>
        <p:nvSpPr>
          <p:cNvPr id="26" name="TextBox 25"/>
          <p:cNvSpPr txBox="1"/>
          <p:nvPr/>
        </p:nvSpPr>
        <p:spPr>
          <a:xfrm>
            <a:off x="6150000" y="3165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10"/>
              </a:rPr>
              <a:t>Week6 Coursework/plan/sprint3-4-plan_2026-10-16.md</a:t>
            </a:r>
          </a:p>
        </p:txBody>
      </p:sp>
      <p:sp>
        <p:nvSpPr>
          <p:cNvPr id="27" name="TextBox 26"/>
          <p:cNvSpPr txBox="1"/>
          <p:nvPr/>
        </p:nvSpPr>
        <p:spPr>
          <a:xfrm>
            <a:off x="6150000" y="3605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STANDUP AND REVIEW RECORDS</a:t>
            </a:r>
          </a:p>
        </p:txBody>
      </p:sp>
      <p:sp>
        <p:nvSpPr>
          <p:cNvPr id="28" name="TextBox 27"/>
          <p:cNvSpPr txBox="1"/>
          <p:nvPr/>
        </p:nvSpPr>
        <p:spPr>
          <a:xfrm>
            <a:off x="6150000" y="3800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11"/>
              </a:rPr>
              <a:t>Week6 Coursework/process/</a:t>
            </a:r>
          </a:p>
        </p:txBody>
      </p:sp>
      <p:sp>
        <p:nvSpPr>
          <p:cNvPr id="29" name="TextBox 28"/>
          <p:cNvSpPr txBox="1"/>
          <p:nvPr/>
        </p:nvSpPr>
        <p:spPr>
          <a:xfrm>
            <a:off x="6150000" y="4240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REPOSITORY</a:t>
            </a:r>
          </a:p>
        </p:txBody>
      </p:sp>
      <p:sp>
        <p:nvSpPr>
          <p:cNvPr id="30" name="TextBox 29"/>
          <p:cNvSpPr txBox="1"/>
          <p:nvPr/>
        </p:nvSpPr>
        <p:spPr>
          <a:xfrm>
            <a:off x="6150000" y="4435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12"/>
              </a:rPr>
              <a:t>github.com/Estrella6066773/HW_AISD</a:t>
            </a:r>
          </a:p>
        </p:txBody>
      </p:sp>
      <p:sp>
        <p:nvSpPr>
          <p:cNvPr id="31" name="TextBox 30"/>
          <p:cNvSpPr txBox="1"/>
          <p:nvPr/>
        </p:nvSpPr>
        <p:spPr>
          <a:xfrm>
            <a:off x="6150000" y="4875000"/>
            <a:ext cx="5150000" cy="180000"/>
          </a:xfrm>
          <a:prstGeom prst="rect">
            <a:avLst/>
          </a:prstGeom>
          <a:noFill/>
        </p:spPr>
        <p:txBody>
          <a:bodyPr wrap="square" lIns="0" rIns="0" tIns="0" bIns="0" anchor="t">
            <a:noAutofit/>
          </a:bodyPr>
          <a:lstStyle/>
          <a:p>
            <a:pPr algn="l">
              <a:spcAft>
                <a:spcPts val="0"/>
              </a:spcAft>
            </a:pPr>
            <a:r>
              <a:rPr sz="750" b="1" i="0">
                <a:solidFill>
                  <a:srgbClr val="127B76"/>
                </a:solidFill>
                <a:latin typeface="Arial"/>
              </a:rPr>
              <a:t>RELEASE COMPARISON</a:t>
            </a:r>
          </a:p>
        </p:txBody>
      </p:sp>
      <p:sp>
        <p:nvSpPr>
          <p:cNvPr id="32" name="TextBox 31"/>
          <p:cNvSpPr txBox="1"/>
          <p:nvPr/>
        </p:nvSpPr>
        <p:spPr>
          <a:xfrm>
            <a:off x="6150000" y="5070000"/>
            <a:ext cx="5150000" cy="300000"/>
          </a:xfrm>
          <a:prstGeom prst="rect">
            <a:avLst/>
          </a:prstGeom>
          <a:noFill/>
        </p:spPr>
        <p:txBody>
          <a:bodyPr wrap="square" lIns="0" rIns="0" tIns="0" bIns="0" anchor="t">
            <a:noAutofit/>
          </a:bodyPr>
          <a:lstStyle/>
          <a:p>
            <a:pPr algn="l">
              <a:lnSpc>
                <a:spcPct val="100000"/>
              </a:lnSpc>
              <a:spcAft>
                <a:spcPts val="0"/>
              </a:spcAft>
            </a:pPr>
            <a:r>
              <a:rPr sz="800" b="0" i="0">
                <a:solidFill>
                  <a:srgbClr val="223047"/>
                </a:solidFill>
                <a:latin typeface="Arial"/>
                <a:hlinkClick r:id="rId13"/>
              </a:rPr>
              <a:t>github.com/Estrella6066773/HW_AISD/compare/f6fec99...submission-2026-10-20</a:t>
            </a:r>
          </a:p>
        </p:txBody>
      </p:sp>
      <p:sp>
        <p:nvSpPr>
          <p:cNvPr id="33" name="Rectangle 32"/>
          <p:cNvSpPr/>
          <p:nvPr/>
        </p:nvSpPr>
        <p:spPr>
          <a:xfrm>
            <a:off x="552450" y="5560000"/>
            <a:ext cx="11100000" cy="540000"/>
          </a:xfrm>
          <a:prstGeom prst="rect">
            <a:avLst/>
          </a:prstGeom>
          <a:solidFill>
            <a:srgbClr val="E8F1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0000" y="5640000"/>
            <a:ext cx="10650000" cy="400000"/>
          </a:xfrm>
          <a:prstGeom prst="rect">
            <a:avLst/>
          </a:prstGeom>
          <a:noFill/>
        </p:spPr>
        <p:txBody>
          <a:bodyPr wrap="square" lIns="0" rIns="0" tIns="0" bIns="0" anchor="t">
            <a:noAutofit/>
          </a:bodyPr>
          <a:lstStyle/>
          <a:p>
            <a:pPr algn="l">
              <a:spcAft>
                <a:spcPts val="0"/>
              </a:spcAft>
            </a:pPr>
            <a:r>
              <a:rPr sz="950" b="1" i="0">
                <a:solidFill>
                  <a:srgbClr val="223047"/>
                </a:solidFill>
                <a:latin typeface="Arial"/>
              </a:rPr>
              <a:t>Initial release   submission-2026-09-29  =  f6fec99     ·     Revised release  submission-2026-10-20     ·     Group 10, AISD UFCEP6-0-3</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Group 10</dc:creator>
  <lastModifiedBy>Walnut Exporter</lastModifiedBy>
  <dc:title>Hospital Patient Pathway — second release (AISD UFCEP6-0-3)</dc:title>
  <dcterms:created xsi:type="dcterms:W3CDTF">2026-09-29T06:15:58.1000000Z</dcterms:created>
  <dcterms:modified xsi:type="dcterms:W3CDTF">2026-09-29T06:15:58.1000000Z</dcterms:modified>
  <dc:subject>AISD A-1 presentation, 19 October 2026</dc:subject>
  <dc:description>Draft for second-owner review. Initial release tag submission-2026-09-29 (f6fec99); current tree f739982 (tagged submission-2026-10-20).</dc:description>
</coreProperties>
</file>