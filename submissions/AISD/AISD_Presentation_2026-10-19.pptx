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1564bdaa9ec4244" Type="http://schemas.openxmlformats.org/package/2006/relationships/metadata/core-properties" Target="docProps/core.xml"/><Relationship Id="R0ef6403c3f394905" Type="http://schemas.openxmlformats.org/officeDocument/2006/relationships/extended-properties" Target="docProps/app.xml"/><Relationship Id="Rd5898164a27543c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668c21d5b485f"/>
  </p:sldMasterIdLst>
  <p:notesMasterIdLst>
    <p:notesMasterId xmlns:r="http://schemas.openxmlformats.org/officeDocument/2006/relationships" r:id="R4a3b2af5b99b4223"/>
  </p:notesMasterIdLst>
  <p:sldIdLst>
    <p:sldId xmlns:ns0="http://schemas.openxmlformats.org/officeDocument/2006/relationships" id="256" ns0:id="rId6"/>
    <p:sldId xmlns:ns0="http://schemas.openxmlformats.org/officeDocument/2006/relationships" id="257" ns0:id="rId7"/>
    <p:sldId xmlns:ns0="http://schemas.openxmlformats.org/officeDocument/2006/relationships" id="258" ns0:id="rId8"/>
    <p:sldId xmlns:ns0="http://schemas.openxmlformats.org/officeDocument/2006/relationships" id="259" ns0:id="rId9"/>
    <p:sldId xmlns:ns0="http://schemas.openxmlformats.org/officeDocument/2006/relationships" id="260" ns0:id="rId10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8" ns0:id="rId18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  <p:sldId xmlns:ns0="http://schemas.openxmlformats.org/officeDocument/2006/relationships" id="267" ns0:id="rI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3d38751b3d0479a" Type="http://schemas.openxmlformats.org/officeDocument/2006/relationships/tableStyles" Target="tableStyles.xml"/><Relationship Id="R4a3b2af5b99b4223" Type="http://schemas.openxmlformats.org/officeDocument/2006/relationships/notesMaster" Target="notesMasters/notesMaster1.xml"/><Relationship Id="R838668c21d5b485f" Type="http://schemas.openxmlformats.org/officeDocument/2006/relationships/slideMaster" Target="slideMasters/slideMaster1.xml"/><Relationship Id="R9a9eff65ddd54f31" Type="http://schemas.openxmlformats.org/officeDocument/2006/relationships/presProps" Target="presProps.xml"/><Relationship Id="R9f781e547c2643f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7d070e52ded441a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Ruby (Hao Zheng)</a:t>
            </a:r>
          </a:p>
          <a:p/>
          <a:p>
            <a:r>
              <a:t>Open the deck and name the two release tags on screen: the initial release is submission-2026-09-29 at f6fec99, and everything in this deck is read against the tree at f739982, tagged submission-2026-10-20.</a:t>
            </a:r>
          </a:p>
          <a:p>
            <a:r>
              <a:t>Say plainly that this is the second release, that the deck carries both releases, and that it is a draft for second-owner review, not a group-approved version.</a:t>
            </a:r>
          </a:p>
          <a:p>
            <a:r>
              <a:t>Thirty seconds on the claim the deck will defend: the process improved, the coverage profile barely moved, and the evidence boundary is stated rather than implied.</a:t>
            </a:r>
          </a:p>
          <a:p>
            <a:r>
              <a:t>Do not open with a summary of features; open with the two tags, because they are what makes the comparison 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Ruby (Hao Zheng)</a:t>
            </a:r>
          </a:p>
          <a:p/>
          <a:p>
            <a:r>
              <a:t>Keep this to a factual delta; do not let it become a victory lap.</a:t>
            </a:r>
          </a:p>
          <a:p>
            <a:r>
              <a:t>Row one: V2 was the modelling change; V3 renamed the process and added five pass-through merges. The count of gateways went up, the number of rules they carry did not.</a:t>
            </a:r>
          </a:p>
          <a:p>
            <a:r>
              <a:t>Row two: the visit split is the one change the audience should remember; slide 3 explains why.</a:t>
            </a:r>
          </a:p>
          <a:p>
            <a:r>
              <a:t>Row three: 12 forms, all rewritten on 19 October; name await_attendance and attendedOn.</a:t>
            </a:r>
          </a:p>
          <a:p>
            <a:r>
              <a:t>Land the amber band deliberately: the strategic model is unchanged, all 22 tasks are still assignee="demo", there are no timers, and the acceptance cases were re-run on 19 October without moving the profile. That sentence sets up slides 5 to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Estrella (Geping Chen)</a:t>
            </a:r>
          </a:p>
          <a:p/>
          <a:p>
            <a:r>
              <a:t>This is the most substantive modelling change; give it time.</a:t>
            </a:r>
          </a:p>
          <a:p>
            <a:r>
              <a:t>Walk the six chips left to right and say which three skip the slot check: patient cancelled, declined, did not attend.</a:t>
            </a:r>
          </a:p>
          <a:p>
            <a:r>
              <a:t>Explain the old failure in one sentence: booking and attendance shared one value, so the process could not tell a cancellation from a visit that still needed a slot.</a:t>
            </a:r>
          </a:p>
          <a:p>
            <a:r>
              <a:t>State the limit before anyone asks: the split is modelled and the forms offer the outcomes, but no acceptance case drives DNA through to Finance, and reschedule is still a re-booking. That is why BR-36 stays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Ruby (Hao Zheng)</a:t>
            </a:r>
          </a:p>
          <a:p/>
          <a:p>
            <a:r>
              <a:t>Ruby owns the form set, so this is a contribution slide rather than a summary.</a:t>
            </a:r>
          </a:p>
          <a:p>
            <a:r>
              <a:t>Name the passing and failing examples that the funding form itself states: 10.01 succeeds, 10.00 fails; a missing amount is rejected.</a:t>
            </a:r>
          </a:p>
          <a:p>
            <a:r>
              <a:t>Do not call these rules “validation” without qualification: they are format checks. The leading-letter pattern stops a numeric ID, not an unauthorised user.</a:t>
            </a:r>
          </a:p>
          <a:p>
            <a:r>
              <a:t>Say the limit out loud: staffRole is free text, so BR-37 remains Unsupported and AT-03 still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Estrella (Geping Chen)</a:t>
            </a:r>
          </a:p>
          <a:p/>
          <a:p>
            <a:r>
              <a:t>Estrella owns PB-39, the traceability refresh.</a:t>
            </a:r>
          </a:p>
          <a:p>
            <a:r>
              <a:t>Give the three numbers, then the direction of travel: 12/26/4 became 13/25/4. One rule moved; three narrowed; 26 did not move.</a:t>
            </a:r>
          </a:p>
          <a:p>
            <a:r>
              <a:t>Do not describe 13 as a score. It is 13 of 42 under a strict artefact-level test, where a rule that works only because the operator behaves correctly is Partial.</a:t>
            </a:r>
          </a:p>
          <a:p>
            <a:r>
              <a:t>For BR-20, be precise about why it counts as Supported even without a test: the form and the worker both changed, and the missing test is listed rather than hidden. Role enforcement is still carried by BR-37.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Estrella (Geping Chen)</a:t>
            </a:r>
          </a:p>
          <a:p/>
          <a:p>
            <a:r>
              <a:t>This is the honest centre of the deck; slow down here.</a:t>
            </a:r>
          </a:p>
          <a:p>
            <a:r>
              <a:t>Explain the method: rules are grouped by the artefact that has to change first, so the counts overlap in the narrative but not in the table.</a:t>
            </a:r>
          </a:p>
          <a:p>
            <a:r>
              <a:t>Point at C1 and C2 as the dominant causes: five plus four is nine of the 26, waiting on two pieces of work, not 26 separate failures.</a:t>
            </a:r>
          </a:p>
          <a:p>
            <a:r>
              <a:t>C3 is the cheapest group and the release already showed it can do this work (BR-13, BR-20).</a:t>
            </a:r>
          </a:p>
          <a:p>
            <a:r>
              <a:t>Correct one likely misreading: BR-37 appears in C6 because the capability was never built, but delivering it is also what unlocks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Estrella (Geping Chen)</a:t>
            </a:r>
          </a:p>
          <a:p/>
          <a:p>
            <a:r>
              <a:t>Estrella owns the feedback response record (A-3).</a:t>
            </a:r>
          </a:p>
          <a:p>
            <a:r>
              <a:t>Count the sources before the rows: four items from Group 10, three from the whole-class sheet, seven in total.</a:t>
            </a:r>
          </a:p>
          <a:p>
            <a:r>
              <a:t>Explain the six rows: Group 10 items 1 and 2 were recorded together as F-08 because the original wording is not in the repository.</a:t>
            </a:r>
          </a:p>
          <a:p>
            <a:r>
              <a:t>Do not blur implemented and unimplemented. F-09 and F-10 are done; F-11 is not, and AT-03 still fails. Say that the feedback was peer feedback and that no tutor point has been received.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Ryan (Guanyan He)</a:t>
            </a:r>
          </a:p>
          <a:p/>
          <a:p>
            <a:r>
              <a:t>This slide is the boundary of the previous one; do not let a pass on slide 8 become a claim here.</a:t>
            </a:r>
          </a:p>
          <a:p>
            <a:r>
              <a:t>Top left: the pass is real — G07 COMPLETED with nine human tasks and no active incident, plus the clean build and the form-binding audit.</a:t>
            </a:r>
          </a:p>
          <a:p>
            <a:r>
              <a:t>Top right: the drivers post values through REST /v2, so nothing the browser enforces was tested. A form's disallowPassedDates, a required field or a pattern is not exercised by a REST submission, and the run should not be read as if it were.</a:t>
            </a:r>
          </a:p>
          <a:p>
            <a:r>
              <a:t>Bottom left: AT-03, the same failure as 29 September. Four gates of this kind keep the count at 13 / 25 / 4.</a:t>
            </a:r>
          </a:p>
          <a:p>
            <a:r>
              <a:t>Bottom right: the branches no case enters — the formal change path, DNA to payment, urgent authorisation, the refund adjustment, letter escalation. They are modelled and they are not excused; they are simply not evidenced.</a:t>
            </a:r>
          </a:p>
          <a:p>
            <a:r>
              <a:t>The environment event belongs here too: the first c8run start was shut down at 21:38 by the bundled connectors health check, and the failed G07 JSON from that session is retained so the record distinguishes a failed criterion from an environment that died mid-run.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Ender (Minghao Qin)</a:t>
            </a:r>
          </a:p>
          <a:p/>
          <a:p>
            <a:r>
              <a:t>Ender owns the planned-versus-actual evaluation.</a:t>
            </a:r>
          </a:p>
          <a:p>
            <a:r>
              <a:t>Compare like with like: the plan’s product rows (PB-30, PB-31, PB-34, PB-39) and its part B process rows.</a:t>
            </a:r>
          </a:p>
          <a:p>
            <a:r>
              <a:t>Say what finished: PB-34, PB-39, and the model plus both readable exports. Say what did not: PB-16 unsigned, and AT-03 unchanged even after the V3 re-run.</a:t>
            </a:r>
          </a:p>
          <a:p>
            <a:r>
              <a:t>Name the cause the plan itself predicted: the first C8 start failed its connector health check. It was restarted without connectors, and the acceptance evidence moved with the model.</a:t>
            </a:r>
          </a:p>
          <a:p>
            <a:r>
              <a:t>Be candid that the process records were scheduled last and are correspondingly thin; do not claim a review said something the record does not contain.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Ruby (Hao Zheng)</a:t>
            </a:r>
          </a:p>
          <a:p/>
          <a:p>
            <a:r>
              <a:t>Ruby holds PB-22, the role-model item, so she can explain why it is first.</a:t>
            </a:r>
          </a:p>
          <a:p>
            <a:r>
              <a:t>Give the ordering rule once: rules moved per unit of work, not ease and not preference.</a:t>
            </a:r>
          </a:p>
          <a:p>
            <a:r>
              <a:t>BR-37 is first because it unlocks five rules and converts AT-03 into a pass condition. BR-38 and BR-08 are the other P0s.</a:t>
            </a:r>
          </a:p>
          <a:p>
            <a:r>
              <a:t>The timer pattern is fourth because one implementation covers four rules; BR-22 is last because the behaviour already exists and only cases are missing.</a:t>
            </a:r>
          </a:p>
          <a:p>
            <a:r>
              <a:t>Close with what not to do: more pass-through gateways moved no rule in V3, and more fields without tests do not change a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Ryan (Guanyan He)</a:t>
            </a:r>
          </a:p>
          <a:p/>
          <a:p>
            <a:r>
              <a:t>Ryan runs the practical demonstration.</a:t>
            </a:r>
          </a:p>
          <a:p>
            <a:r>
              <a:t>Before the audience arrives: start Camunda (Operate and Tasklist on demo/demo), then mvn spring-boot:run from Week3 Coursework/hospital-pathway, and keep both running.</a:t>
            </a:r>
          </a:p>
          <a:p>
            <a:r>
              <a:t>Use a fresh fictional case ID. Start Hospital_All_Processes_V3_C8 and follow the three cards.</a:t>
            </a:r>
          </a:p>
          <a:p>
            <a:r>
              <a:t>Name the variables as they appear: visitOutcome, payment_status, booking_slot_status, and the final COMPLETED state.</a:t>
            </a:r>
          </a:p>
          <a:p>
            <a:r>
              <a:t>Show the detour if time allows: a decline or DNA goes past CheckVisitSlot. Then repeat the caution: this is a demonstration, not a V3 acceptance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Ender (Minghao Qin)</a:t>
            </a:r>
          </a:p>
          <a:p/>
          <a:p>
            <a:r>
              <a:t>Ender closes the deck with the evidence map.</a:t>
            </a:r>
          </a:p>
          <a:p>
            <a:r>
              <a:t>Say that every path on this slide opens at commit f739982, and that the two tags make the before-and-after checkable without trusting the slides.</a:t>
            </a:r>
          </a:p>
          <a:p>
            <a:r>
              <a:t>Point at the three sources a tutor is most likely to open: the written evaluation, the traceability matrix, the feedback record.</a:t>
            </a:r>
          </a:p>
          <a:p>
            <a:r>
              <a:t>Acknowledge what is not here: no tutor feedback, no second-owner signatures, and a V3 run that covers one path per case rather than every branch. Then hand back to Ruby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Ryan (Guanyan He)</a:t>
            </a:r>
          </a:p>
          <a:p/>
          <a:p>
            <a:r>
              <a:t>Ryan owns PB-31, the verification item, and this is the slide where it stops being open.</a:t>
            </a:r>
          </a:p>
          <a:p>
            <a:r>
              <a:t>Give the deployment first: Hospital_All_Processes_V3_C8, deployment key 2251799813928657, definition key 2251799813928658, version 1, on Camunda 8.10.0-alpha5 started with --disable-connectors.</a:t>
            </a:r>
          </a:p>
          <a:p>
            <a:r>
              <a:t>Read the table by column, not by row: the 29 September column is the baseline, the V3 column is 19 October, and six of seven match.</a:t>
            </a:r>
          </a:p>
          <a:p>
            <a:r>
              <a:t>Be precise about what a PASS is: the driver asserted the process variables and the task sequence for that one path, not every branch behind it.</a:t>
            </a:r>
          </a:p>
          <a:p>
            <a:r>
              <a:t>AT-03 is the exception and it is unchanged. A Medical Secretary completed Accept and the process still created BookVisit. Say why it is not a regression: the role model was never built, so the criterion was never fixed.</a:t>
            </a:r>
          </a:p>
          <a:p>
            <a:r>
              <a:t>Mention the environment event without drama: the first start was shut down at 21:38 by the connectors health check, one attempt died on a connection reset, and every case was re-run from 21:40. The failed JSON is kept; the limits slide explains why.</a:t>
            </a:r>
          </a:p>
          <a:p>
            <a:r>
              <a:t>If asked for a single sentence: the model runs the path the cases drive, and the one thing the model cannot do is tell who is driving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7727d73f472841b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aecb4ea23ce4814" Type="http://schemas.openxmlformats.org/officeDocument/2006/relationships/slideLayout" Target="../slideLayouts/slideLayout1.xml"/><Relationship Id="Red217759bb5347e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ecb4ea23ce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Estrella6066773/HW_AISD/blob/f739982/submissions/BPMEA/BPMEA_Written_Evaluation.md" TargetMode="External"/><Relationship Id="rId3" Type="http://schemas.openxmlformats.org/officeDocument/2006/relationships/hyperlink" Target="https://github.com/Estrella6066773/HW_AISD/blob/f739982/docs/requirements-traceability-matrix.md" TargetMode="External"/><Relationship Id="rId4" Type="http://schemas.openxmlformats.org/officeDocument/2006/relationships/hyperlink" Target="https://github.com/Estrella6066773/HW_AISD/blob/f739982/Week6%20Coursework/feedback/feedback-response_2026-10-16.md" TargetMode="External"/><Relationship Id="rId5" Type="http://schemas.openxmlformats.org/officeDocument/2006/relationships/hyperlink" Target="https://github.com/Estrella6066773/HW_AISD/blob/f739982/Week6%20Coursework/bpmn/Hospital_All_Processes_V3.bpmn" TargetMode="External"/><Relationship Id="rId6" Type="http://schemas.openxmlformats.org/officeDocument/2006/relationships/hyperlink" Target="https://github.com/Estrella6066773/HW_AISD/blob/f739982/Week6%20Coursework/forms/" TargetMode="External"/><Relationship Id="rId7" Type="http://schemas.openxmlformats.org/officeDocument/2006/relationships/hyperlink" Target="https://github.com/Estrella6066773/HW_AISD/blob/f739982/Week3%20Coursework/hospital-pathway/evidence/Camunda_V3_Acceptance_2026-10-19.txt" TargetMode="External"/><Relationship Id="rId8" Type="http://schemas.openxmlformats.org/officeDocument/2006/relationships/hyperlink" Target="https://github.com/Estrella6066773/HW_AISD/blob/f739982/submissions/AISD/Group_Acceptance_Test_Plan_and_Results_2026-09-29.pdf" TargetMode="External"/><Relationship Id="rId9" Type="http://schemas.openxmlformats.org/officeDocument/2006/relationships/hyperlink" Target="https://github.com/Estrella6066773/HW_AISD/blob/f739982/submissions/BPMEA/Hospital_Pathway_BPMEA_Presentation_2026-09-29.pptx" TargetMode="External"/><Relationship Id="rId10" Type="http://schemas.openxmlformats.org/officeDocument/2006/relationships/hyperlink" Target="https://github.com/Estrella6066773/HW_AISD/blob/f739982/Week6%20Coursework/plan/sprint3-4-plan_2026-10-16.md" TargetMode="External"/><Relationship Id="rId11" Type="http://schemas.openxmlformats.org/officeDocument/2006/relationships/hyperlink" Target="https://github.com/Estrella6066773/HW_AISD/blob/f739982/Week6%20Coursework/process/" TargetMode="External"/><Relationship Id="rId12" Type="http://schemas.openxmlformats.org/officeDocument/2006/relationships/hyperlink" Target="https://github.com/Estrella6066773/HW_AISD" TargetMode="External"/><Relationship Id="rId13" Type="http://schemas.openxmlformats.org/officeDocument/2006/relationships/hyperlink" Target="https://github.com/Estrella6066773/HW_AISD/compare/f6fec99...f739982" TargetMode="Externa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8175" y="838200"/>
            <a:ext cx="66675" cy="4543425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83820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B9DBD1"/>
                </a:solidFill>
                <a:latin typeface="Arial"/>
              </a:rPr>
              <a:t>AISD  |  UFCEP6-0-3   ·   SECOND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1295400"/>
            <a:ext cx="10000000" cy="16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350" b="1" i="0">
                <a:solidFill>
                  <a:srgbClr val="FFFFFF"/>
                </a:solidFill>
                <a:latin typeface="Arial"/>
              </a:rPr>
              <a:t>Hospital Patient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350" b="1" i="0">
                <a:solidFill>
                  <a:srgbClr val="FFFFFF"/>
                </a:solidFill>
                <a:latin typeface="Arial"/>
              </a:rPr>
              <a:t>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350" y="3020000"/>
            <a:ext cx="4230000" cy="315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000" y="3070000"/>
            <a:ext cx="4100000" cy="2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SECOND RELEASE  ·  19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500000"/>
            <a:ext cx="9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75" b="0" i="0">
                <a:solidFill>
                  <a:srgbClr val="DFE9EE"/>
                </a:solidFill>
                <a:latin typeface="Arial"/>
              </a:rPr>
              <a:t>One executable Camunda 8 process across referral, care, funding and change —</a:t>
            </a:r>
          </a:p>
          <a:p>
            <a:pPr algn="l">
              <a:spcAft>
                <a:spcPts val="0"/>
              </a:spcAft>
            </a:pPr>
            <a:r>
              <a:rPr sz="1875" b="0" i="0">
                <a:solidFill>
                  <a:srgbClr val="DFE9EE"/>
                </a:solidFill>
                <a:latin typeface="Arial"/>
              </a:rPr>
              <a:t>revised after peer feedback, with the gaps that remain stated openly.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420000"/>
            <a:ext cx="1030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75" b="1" i="0">
                <a:solidFill>
                  <a:srgbClr val="FFFFFF"/>
                </a:solidFill>
                <a:latin typeface="Arial"/>
              </a:rPr>
              <a:t>Hao Zheng (Ruby) 23084382   ·   Geping Chen (Estrella) 23084393</a:t>
            </a:r>
          </a:p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FFFFFF"/>
                </a:solidFill>
                <a:latin typeface="Arial"/>
              </a:rPr>
              <a:t>Minghao Qin (Ender) 23084402   ·   Guanyan He (Ryan) 23084395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5230000"/>
            <a:ext cx="10300000" cy="9525"/>
          </a:xfrm>
          <a:prstGeom prst="rect">
            <a:avLst/>
          </a:prstGeom>
          <a:solidFill>
            <a:srgbClr val="2C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5400000"/>
            <a:ext cx="10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B9CFD8"/>
                </a:solidFill>
                <a:latin typeface="Arial"/>
              </a:rPr>
              <a:t>Initial release   submission-2026-09-29  (f6fec99)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9CFD8"/>
                </a:solidFill>
                <a:latin typeface="Arial"/>
              </a:rPr>
              <a:t>Current tree      f739982  ·  tagged submission-2026-10-20  ·  group 10  ·  draft for second-owner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WHAT CHANGED BETWEEN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Two releases, one process: a short, factual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The second release changed the model’s vocabulary and the forms. It did not change assignment, timers, or the coverage profile.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1730000"/>
            <a:ext cx="2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000" y="1730000"/>
            <a:ext cx="425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29 SEPTEMBER  ·  INITIAL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0000" y="1730000"/>
            <a:ext cx="47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19 OCTOBER  ·  SECOND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450" y="1955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450" y="2726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2060000"/>
            <a:ext cx="19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Operational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0000" y="2060000"/>
            <a:ext cx="41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7185"/>
                </a:solidFill>
                <a:latin typeface="Arial"/>
              </a:rPr>
              <a:t>Hospital_All_Processes_Simple_C8. One model, one release tag.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2060000"/>
            <a:ext cx="46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New file, Hospital_All_Processes_V3_C8. The substantive change from the first release is the visit split and the slot-skip gateway; twelve pass-through Join_* merges were added for readability. The initial-release file is untouched.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450" y="3441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450" y="2775000"/>
            <a:ext cx="19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Visit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0000" y="2775000"/>
            <a:ext cx="41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7185"/>
                </a:solidFill>
                <a:latin typeface="Arial"/>
              </a:rPr>
              <a:t>One outcome value carried booking and attendance. Cancellation, decline and DNA had no separate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0000" y="2775000"/>
            <a:ext cx="46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Six-way VisitOutcome, with AwaitAttendance, RecordDecline and RecordDna; VisitNeedsSlot skips the slot check.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450" y="4156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450" y="3490000"/>
            <a:ext cx="19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0000" y="3490000"/>
            <a:ext cx="41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7185"/>
                </a:solidFill>
                <a:latin typeface="Arial"/>
              </a:rPr>
              <a:t>11 forms. Dates and amounts were entered as free text or loose controls.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0000" y="3490000"/>
            <a:ext cx="46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12 forms: await_attendance is new; all 12 were rewritten with input validation on 19 October. book_visit gains attendedOn.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450" y="4871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450" y="4205000"/>
            <a:ext cx="19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Finance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000" y="4205000"/>
            <a:ext cx="41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7185"/>
                </a:solidFill>
                <a:latin typeface="Arial"/>
              </a:rPr>
              <a:t>Refund decision was coarse: resolved or pending. No full-versus-partial amount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0000" y="4205000"/>
            <a:ext cx="46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Full, partial, transfer, retain or pending; adjustmentAmount is mandatory; an invalid amount fails the job once.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450" y="5060000"/>
            <a:ext cx="11100000" cy="80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450" y="5060000"/>
            <a:ext cx="38000" cy="80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000" y="5160000"/>
            <a:ext cx="1065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8A5A10"/>
                </a:solidFill>
                <a:latin typeface="Arial"/>
              </a:rPr>
              <a:t>WHAT DID NOT CHANGE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The strategic model is byte-identical to 29 September. All 22 user tasks are still assignee="demo", with zero candidate groups. The model has no timer event of any kind. The cases were re-run on 19 October and the profile did not 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THE VISIT-OUTCOME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Six outcomes where the first release had one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Cancellation, decline and did-not-attend now have their own outcomes — the reason the pathway decision can be made correctly.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03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760000"/>
            <a:ext cx="1770000" cy="38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Attended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patient came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9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9450" y="1760000"/>
            <a:ext cx="1770000" cy="38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9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Booked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9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awaiting the visit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6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6450" y="1760000"/>
            <a:ext cx="1770000" cy="3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6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Pending / 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6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gateway default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450" y="1760000"/>
            <a:ext cx="1770000" cy="38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3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Patient cancelled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3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no slot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0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450" y="1760000"/>
            <a:ext cx="1770000" cy="38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Declined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no slot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87450" y="1760000"/>
            <a:ext cx="1770000" cy="6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87450" y="1760000"/>
            <a:ext cx="1770000" cy="38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7450" y="1855000"/>
            <a:ext cx="159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Did not attend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450" y="2120000"/>
            <a:ext cx="159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7185"/>
                </a:solidFill>
                <a:latin typeface="Arial"/>
              </a:rPr>
              <a:t>no slot needed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450" y="2620000"/>
            <a:ext cx="5350000" cy="228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450" y="2620000"/>
            <a:ext cx="38000" cy="228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000" y="2740000"/>
            <a:ext cx="495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WHAT THE MODEL NOW DOES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000" y="3060000"/>
            <a:ext cx="4920000" cy="17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VisitOutcome routes on six conditions; pending / retry is the default.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AwaitAttendance holds a booked visit and returns to the same decision when attendance is recorded.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RecordDecline and RecordDna record the outcome before the pathway decision.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VisitNeedsSlot sends decline, cancellation and DNA past CheckVisitSlot.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0000" y="2620000"/>
            <a:ext cx="5470000" cy="22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0000" y="2620000"/>
            <a:ext cx="38000" cy="228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5000" y="2740000"/>
            <a:ext cx="505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8A5A10"/>
                </a:solidFill>
                <a:latin typeface="Arial"/>
              </a:rPr>
              <a:t>WHY THE OLD MODEL COULD NOT ANSWER THE QUESTION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5000" y="3060000"/>
            <a:ext cx="5030000" cy="17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One outcome value carried both booking and attendance, so a cancellation looked like a visit that still needed a slot.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That forced a slot reservation on paths where no slot was wanted, and left the pathway decision with no distinct event to route on.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The split is modelled, but no acceptance case yet runs DNA → pathway decision → Finance, and reschedule is still a re-booking rather than an outcome of its own.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450" y="5060000"/>
            <a:ext cx="11100000" cy="5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Delivered in V2 (e4b2159, 305fccb) and carried into V3 unchanged in 357528e. Source: written evaluation, sections 2.2 and 3.3; feedback record F-02.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FORMS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Twelve forms, and what the validation enforces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Constraints sit on the form each task opens. They are format checks, not identity or role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1790000"/>
            <a:ext cx="2400000" cy="1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600" b="1" i="0">
                <a:solidFill>
                  <a:srgbClr val="127B76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2980000"/>
            <a:ext cx="2450000" cy="3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deployed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3300000"/>
            <a:ext cx="245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597185"/>
                </a:solidFill>
                <a:latin typeface="Arial"/>
              </a:rPr>
              <a:t>11 at the 29 September baseline.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597185"/>
                </a:solidFill>
                <a:latin typeface="Arial"/>
              </a:rPr>
              <a:t>await_attendance was added with the visit split.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97185"/>
                </a:solidFill>
                <a:latin typeface="Arial"/>
              </a:rPr>
              <a:t>All 12 were rewritten in the 19 October validation pass.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350000"/>
            <a:ext cx="24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Deployed set: Week6 Coursework/forms/. The pre-validation copy remains at Week3 Coursework/hospital-pathway/forms/; every file differs.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0000" y="2460000"/>
            <a:ext cx="83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0000" y="1790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0000" y="1780000"/>
            <a:ext cx="672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appointmentDate rejects a past date (disallowPassedDates). attendedOn is a separate field and deliberately allows a past 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0000" y="3175000"/>
            <a:ext cx="83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0000" y="2505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WAITING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0000" y="2495000"/>
            <a:ext cx="672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waitReason is mandatory when the outcome is pending: no_slot, contact_incomplete or external_waiting.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0000" y="3890000"/>
            <a:ext cx="83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0000" y="3220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CHARGE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0000" y="3210000"/>
            <a:ext cx="672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charge_amount is a two-decimal number from 0.01 to 99999.99, required on the patient-payment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0000" y="4605000"/>
            <a:ext cx="83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0000" y="3935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0000" y="3925000"/>
            <a:ext cx="672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insurerReference is required on the insurer path; its pattern allows letters, digits, hyphen, underscore or slash.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0000" y="5320000"/>
            <a:ext cx="83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0000" y="4650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REFUND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0000" y="4640000"/>
            <a:ext cx="6720000" cy="6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adjustmentAmount is required unless the decision is pending: 0.01 to 99999.99, and a partial refund must be below the original charge.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0000" y="5390000"/>
            <a:ext cx="8300000" cy="72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0000" y="5390000"/>
            <a:ext cx="38000" cy="72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0000" y="5465000"/>
            <a:ext cx="795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A format check is not an access check. patientId, staffRole and clinicianId require a leading letter, which rejects a numeric-only value. staffRole is still free text, so the form cannot prove who the user is — the reason BR-37 stays Unsupported.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TRACEABILITY: DID THE GAPS CLOSE?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The gaps narrowed; the coverage barely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42 business rules graded against V3 on 19 October: 13 Supported, 25 Partial, 4 Unsupported. One grade changed.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05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50000"/>
            <a:ext cx="3580000" cy="1380000"/>
          </a:xfrm>
          <a:prstGeom prst="rect">
            <a:avLst/>
          </a:prstGeom>
          <a:solidFill>
            <a:srgbClr val="E2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750000"/>
            <a:ext cx="38000" cy="138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450" y="1820000"/>
            <a:ext cx="13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127B76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450" y="193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23047"/>
                </a:solidFill>
                <a:latin typeface="Arial"/>
              </a:rPr>
              <a:t>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450" y="222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was 12  ·  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2450" y="1750000"/>
            <a:ext cx="3580000" cy="138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2450" y="1750000"/>
            <a:ext cx="38000" cy="138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2450" y="1820000"/>
            <a:ext cx="13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127B76"/>
                </a:solidFill>
                <a:latin typeface="Arial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2450" y="193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23047"/>
                </a:solidFill>
                <a:latin typeface="Arial"/>
              </a:rP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2450" y="222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was 26  ·  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2450" y="1750000"/>
            <a:ext cx="3580000" cy="1380000"/>
          </a:xfrm>
          <a:prstGeom prst="rect">
            <a:avLst/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2450" y="1750000"/>
            <a:ext cx="38000" cy="1380000"/>
          </a:xfrm>
          <a:prstGeom prst="rect">
            <a:avLst/>
          </a:prstGeom>
          <a:solidFill>
            <a:srgbClr val="B64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50" y="1820000"/>
            <a:ext cx="13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1" i="0">
                <a:solidFill>
                  <a:srgbClr val="B64145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450" y="193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23047"/>
                </a:solidFill>
                <a:latin typeface="Arial"/>
              </a:rPr>
              <a:t>UNSUPPORTED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2450" y="2220000"/>
            <a:ext cx="19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unchanged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450" y="3300000"/>
            <a:ext cx="5250000" cy="2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450" y="3300000"/>
            <a:ext cx="38000" cy="208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000" y="3400000"/>
            <a:ext cx="4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THE ONE RULE THAT MOVED · BR-20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000" y="3680000"/>
            <a:ext cx="4870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Refund decision is now full, partial, transfer, retain or pending, with a mandatory amount.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The form and the worker both changed, so the gap the matrix named is closed.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344B"/>
                </a:solidFill>
                <a:latin typeface="Arial"/>
              </a:rPr>
              <a:t>Limits kept in view: no acceptance case reaches FinanceAdjustment — none of the seven on 19 October did — and “authorised Finance member” is still graded under BR-37.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0000" y="3300000"/>
            <a:ext cx="5600000" cy="2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50000" y="3300000"/>
            <a:ext cx="38000" cy="208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0000" y="3400000"/>
            <a:ext cx="525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8A5A10"/>
                </a:solidFill>
                <a:latin typeface="Arial"/>
              </a:rPr>
              <a:t>THREE NARROWED, SAME 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0000" y="3680000"/>
            <a:ext cx="5220000" cy="1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BR-36  </a:t>
            </a:r>
            <a:r>
              <a:rPr sz="1050" b="0" i="0">
                <a:solidFill>
                  <a:srgbClr val="1A344B"/>
                </a:solidFill>
                <a:latin typeface="Arial"/>
              </a:rPr>
              <a:t>visit split delivered; no DNA → Finance case, and reschedule is still not its own outcome.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BR-35  </a:t>
            </a:r>
            <a:r>
              <a:rPr sz="1050" b="0" i="0">
                <a:solidFill>
                  <a:srgbClr val="1A344B"/>
                </a:solidFill>
                <a:latin typeface="Arial"/>
              </a:rPr>
              <a:t>booking structured; no out-of-timeframe flag or pathway notification.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BR-13  </a:t>
            </a:r>
            <a:r>
              <a:rPr sz="1050" b="0" i="0">
                <a:solidFill>
                  <a:srgbClr val="1A344B"/>
                </a:solidFill>
                <a:latin typeface="Arial"/>
              </a:rPr>
              <a:t>amount and reference structured; limitations are still free text in notes.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50" y="5540000"/>
            <a:ext cx="11100000" cy="4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The release improved the process. It did not improve its alignment profile: 26 of the 42 rules are untouched.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WHY 26 RULES DID NOT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Two missing capabilities carry nine of 26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Grouped by the cause that has to be removed first, not by symptom.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50" y="1700000"/>
            <a:ext cx="26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0000" y="1700000"/>
            <a:ext cx="7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0000" y="1700000"/>
            <a:ext cx="345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RULE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0000" y="1700000"/>
            <a:ext cx="416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WHAT THE CAUSE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450" y="1930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450" y="1990000"/>
            <a:ext cx="11100000" cy="59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50" y="2050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C1 · No role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0000" y="2040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E8A23A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0000" y="2050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BR-09, 19, 21, 27, 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0000" y="2050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All 22 user tasks are assignee="demo"; no candidate groups, claims or login.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450" y="2572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450" y="2582000"/>
            <a:ext cx="11100000" cy="59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50" y="2642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C2 · No timers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0000" y="2632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E8A23A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0000" y="2642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BR-06, 32, 33,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0000" y="2642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Zero timer events, so no rule about “within seven days” can be enforced.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450" y="3164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50" y="3234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C3 · Records unstructured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0000" y="3224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597185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0000" y="3234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BR-01, 04, 05, 08, 23, 25, 28, 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0000" y="3234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Records are still free text in notes, or have no field at all.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450" y="3756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50" y="3826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C4 · Never exercised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0000" y="3816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597185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0000" y="3826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0000" y="3826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Change path, unauthorised skip and Finance routing exist; no case drives them.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450" y="4348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450" y="4418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C5 · Rule undecided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0000" y="4408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597185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0000" y="4418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0000" y="4418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Urgency highlight rules are still a stakeholder decision; only manual priority exists.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2450" y="4940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2450" y="5010000"/>
            <a:ext cx="25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3047"/>
                </a:solidFill>
                <a:latin typeface="Arial"/>
              </a:rPr>
              <a:t>C6 · Never built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0000" y="5000000"/>
            <a:ext cx="6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5" b="1" i="0">
                <a:solidFill>
                  <a:srgbClr val="597185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0000" y="5010000"/>
            <a:ext cx="34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BR-10, 37, 38, 39, 40, 41, 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0000" y="5010000"/>
            <a:ext cx="4100000" cy="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Each is a new capability, not a refinement of an existing one.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450" y="5532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450" y="5600000"/>
            <a:ext cx="1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C1 and C2 are one capability each with several dependants: one role model unlocks five rules; one timer pattern unlocks four. C3 is the largest group and the cheapest — eight rules need a form field and a check, not a redesign. Only BR-22 is blocked on test coverage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RESPONSE TO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Seven received points, six rows, one left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Peer feedback only: four items from Group 10, three from the whole-class sheet. No tutor feedback has been received.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07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50" y="1710000"/>
            <a:ext cx="85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0000" y="1710000"/>
            <a:ext cx="4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POINT RAISED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000" y="1710000"/>
            <a:ext cx="462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DECISION AND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0000" y="1710000"/>
            <a:ext cx="145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450" y="1935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50" y="2070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27B76"/>
                </a:solidFill>
                <a:latin typeface="Arial"/>
              </a:rPr>
              <a:t>F-01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0000" y="2060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Alternative paths met informally; add explicit merges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000" y="2060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Kept the split paths; added 12 pass-through Join_* gateways, seven in V2 and five more in V3.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0000" y="2060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V3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450" y="2540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50" y="2618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27B76"/>
                </a:solidFill>
                <a:latin typeface="Arial"/>
              </a:rPr>
              <a:t>F-02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0000" y="2608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Decline, cancellation and DNA treated as slot 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000" y="2608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Six-way VisitOutcome; AwaitAttendance, RecordDecline and RecordDna; slot check skipped on those paths.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0000" y="2608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V3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450" y="3088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50" y="3166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27B76"/>
                </a:solidFill>
                <a:latin typeface="Arial"/>
              </a:rPr>
              <a:t>F-08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0000" y="3156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Dates and amounts should use constrained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000" y="3156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Past dates rejected; mandatory waitReason; bounded charge_amount; insurerReference on the insurer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0000" y="3156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Forms, 19 Oct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450" y="3636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50" y="3714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27B76"/>
                </a:solidFill>
                <a:latin typeface="Arial"/>
              </a:rPr>
              <a:t>F-09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0000" y="3704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Dates must not allow an unreasonable or past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000" y="3704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disallowPassedDates on appointmentDate; requested period bounded to 1–365 days or 1–52 weeks.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0000" y="3704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book_visit, register_request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450" y="4184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450" y="4262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27B76"/>
                </a:solidFill>
                <a:latin typeface="Arial"/>
              </a:rPr>
              <a:t>F-10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0000" y="4252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Store data in a database, not only process variables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0000" y="4252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H2 file database with JPA entities and repositories; workers write audit, booking and payment tables.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0000" y="4252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application.yaml, domain/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450" y="4732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2450" y="4740000"/>
            <a:ext cx="11100000" cy="545000"/>
          </a:xfrm>
          <a:prstGeom prst="rect">
            <a:avLst/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450" y="4810000"/>
            <a:ext cx="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64145"/>
                </a:solidFill>
                <a:latin typeface="Arial"/>
              </a:rPr>
              <a:t>F-11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0000" y="4800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Enforce role-based access in Camunda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000" y="4800000"/>
            <a:ext cx="45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Not implemented. No candidate groups or role login; AT-03 is still a recorded failure.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0000" y="4800000"/>
            <a:ext cx="135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97185"/>
                </a:solidFill>
                <a:latin typeface="Arial"/>
              </a:rPr>
              <a:t>Record sec.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2450" y="5280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450" y="5560000"/>
            <a:ext cx="11100000" cy="6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Seven received items map to six rows because Group 10’s items 1 and 2 share F-08. The record’s other five rows (F-03 to F-07) are the group’s own review points, not outside feedback. Tutor rows are blank because no tutor point exists in writing.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095" y="323697"/>
            <a:ext cx="1067104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>
                <a:solidFill>
                  <a:srgbClr val="127B76"/>
                </a:solidFill>
                <a:latin typeface="Arial"/>
              </a:rPr>
              <a:t>ACCEPTANCE RUN  ·  19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585216"/>
            <a:ext cx="1104595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>
                <a:solidFill>
                  <a:srgbClr val="223047"/>
                </a:solidFill>
                <a:latin typeface="Arial"/>
              </a:rPr>
              <a:t>Seven cases on V3: six pass, one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07624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>
                <a:solidFill>
                  <a:srgbClr val="597185"/>
                </a:solidFill>
                <a:latin typeface="Arial"/>
              </a:rPr>
              <a:t>The same seven cases that ran on 29 September ran again against V3_C8. Six pass; AT-03 still fails.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59736"/>
            <a:ext cx="11100816" cy="429768"/>
          </a:xfrm>
          <a:prstGeom prst="rect">
            <a:avLst/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2821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27B76"/>
                </a:solidFill>
                <a:latin typeface="Arial"/>
              </a:rP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2821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27B76"/>
                </a:solidFill>
                <a:latin typeface="Arial"/>
              </a:rPr>
              <a:t>WHAT IT DRIVES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282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27B76"/>
                </a:solidFill>
                <a:latin typeface="Arial"/>
              </a:rPr>
              <a:t>29 SEPTEMBER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2821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27B76"/>
                </a:solidFill>
                <a:latin typeface="Arial"/>
              </a:rPr>
              <a:t>19 OCTOBER  · 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728216"/>
            <a:ext cx="245973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27B76"/>
                </a:solidFill>
                <a:latin typeface="Arial"/>
              </a:rPr>
              <a:t>INSTANCE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75688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AT-01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7568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Main path: accept, book, reach clinical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07568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07568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075688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2251799813930310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59736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23744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AT-02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52374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Referral rejected by the consultant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52374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52374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23744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2251799813930247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07792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7180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64145"/>
                </a:solidFill>
                <a:latin typeface="Arial"/>
              </a:rPr>
              <a:t>AT-03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297180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Medical Secretary tries to complete Accept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97180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97180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64145"/>
                </a:solidFill>
                <a:latin typeface="Arial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971800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2251799813930421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55848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19856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AT-04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419856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No suitable slot: booking reopens as 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419856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4198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419856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2251799813930493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03904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867911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AT-05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3867911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Payment fails, then is retried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867911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867911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867911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2251799813930607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51960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15968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AT-06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431596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Payment may be taken; confirmation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431596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31596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4315968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2251799813930876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00016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64024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3047"/>
                </a:solidFill>
                <a:latin typeface="Arial"/>
              </a:rPr>
              <a:t>G07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476402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344B"/>
                </a:solidFill>
                <a:latin typeface="Arial"/>
              </a:rPr>
              <a:t>Full route to discharge, nine human tasks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7640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97185"/>
                </a:solidFill>
                <a:latin typeface="Arial"/>
              </a:rP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76402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7B76"/>
                </a:solidFill>
                <a:latin typeface="Arial"/>
              </a:rPr>
              <a:t>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4764024"/>
            <a:ext cx="245973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2251799813931091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48072"/>
            <a:ext cx="11100816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5248656"/>
            <a:ext cx="11100816" cy="786384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248656"/>
            <a:ext cx="36576" cy="786384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5321808"/>
            <a:ext cx="10652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5A10"/>
                </a:solidFill>
                <a:latin typeface="Arial"/>
              </a:rPr>
              <a:t>WHAT SIX PASSES DO NOT PROVE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3212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A344B"/>
                </a:solidFill>
                <a:latin typeface="Arial"/>
              </a:rPr>
              <a:t>They prove the model executes the path each case drives, not the branches no case enters. AT-03 fails exactly as it did on 29 September: there are still no candidate groups, so no role is enforced. Underneath it, 19 unit tests pass and 22 user tasks bind to 12 forms.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108192"/>
            <a:ext cx="111008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7185"/>
                </a:solidFill>
                <a:latin typeface="Arial"/>
              </a:rPr>
              <a:t>All results come from the 21:40 session after restarting c8run with --disable-connectors; the 21:38 attempt died on a connection reset and is kept as evidence.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3095" y="6355080"/>
            <a:ext cx="11128248" cy="9144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3095" y="6455664"/>
            <a:ext cx="7808975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7312" y="6455664"/>
            <a:ext cx="11612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97185"/>
                </a:solidFill>
                <a:latin typeface="Arial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EVIDENCE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What the run proves, 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Seven executions, one failure, four boundaries no case crosses.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09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50000"/>
            <a:ext cx="5430000" cy="1830000"/>
          </a:xfrm>
          <a:prstGeom prst="rect">
            <a:avLst/>
          </a:prstGeom>
          <a:solidFill>
            <a:srgbClr val="E2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750000"/>
            <a:ext cx="40000" cy="183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450" y="1870000"/>
            <a:ext cx="49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50" y="2140000"/>
            <a:ext cx="4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G07 COMPLETED  ·  six of seven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50" y="2490000"/>
            <a:ext cx="4950000" cy="10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Nine human tasks, zero active incidents: instance 2251799813931091 reached COMPLETED on V3.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AT-01, AT-02, AT-04, AT-05 and AT-06 pass, as they did on 29 September.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19 unit tests pass, and 22 user tasks bind to 12 form ids with no orphan.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0000" y="1750000"/>
            <a:ext cx="5430000" cy="183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0000" y="1750000"/>
            <a:ext cx="40000" cy="183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0000" y="1870000"/>
            <a:ext cx="49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NOT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0000" y="2140000"/>
            <a:ext cx="4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What a REST driver cannot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0000" y="2490000"/>
            <a:ext cx="4950000" cy="10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Values are posted through /v2, so browser-side validation is untested: required fields, patterns, disallowPassedDates.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The role layer is untested because it does not exist.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No timer exists in the model, so no timer behaviour is tested.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450" y="3760000"/>
            <a:ext cx="5430000" cy="1830000"/>
          </a:xfrm>
          <a:prstGeom prst="rect">
            <a:avLst/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450" y="3760000"/>
            <a:ext cx="40000" cy="1830000"/>
          </a:xfrm>
          <a:prstGeom prst="rect">
            <a:avLst/>
          </a:prstGeom>
          <a:solidFill>
            <a:srgbClr val="B64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50" y="3880000"/>
            <a:ext cx="49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B64145"/>
                </a:solidFill>
                <a:latin typeface="Arial"/>
              </a:rPr>
              <a:t>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50" y="4150000"/>
            <a:ext cx="4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AT-03  ·  the role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50" y="4500000"/>
            <a:ext cx="4950000" cy="10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A Medical Secretary completing Accept still created a BookVisit.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The same defect in both releases, not a regression: no candidate groups exist, so no role can be enforced.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It becomes a pass only when BR-37 is delivered.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0000" y="3760000"/>
            <a:ext cx="5430000" cy="183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0000" y="3760000"/>
            <a:ext cx="40000" cy="1830000"/>
          </a:xfrm>
          <a:prstGeom prst="rect">
            <a:avLst/>
          </a:prstGeom>
          <a:solidFill>
            <a:srgbClr val="59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0000" y="3880000"/>
            <a:ext cx="49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597185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0000" y="4150000"/>
            <a:ext cx="4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Branches no case drives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0000" y="4500000"/>
            <a:ext cx="4950000" cy="10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The formal change path, DNA to payment, urgent authorisation, the refund adjustment, letter escalation.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A344B"/>
                </a:solidFill>
                <a:latin typeface="Arial"/>
              </a:rPr>
              <a:t>Modelled, not exercised: no V3 result is claimed for any of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450" y="5730000"/>
            <a:ext cx="11100000" cy="3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A pass here means one path executed, not that the rule behind it is satisfied: the coverage profile stays 13 / 25 /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PLAN VERSUS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What was planned, and what actually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Read against the 16 October plan; status checked on 19 October.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10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30000"/>
            <a:ext cx="5230000" cy="308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" y="1830000"/>
            <a:ext cx="48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SPRINT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2090000"/>
            <a:ext cx="48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2360000"/>
            <a:ext cx="482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PB-30 improved operational BPMN and readable export; PB-16 second-owner sign-off; PB-34 V1-to-V2 change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3140000"/>
            <a:ext cx="48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3410000"/>
            <a:ext cx="4820000" cy="1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Model delivered as V2, then renamed and extended as V3.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Readable operational export produced on 19 October, after the plan was written.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PB-34 done. PB-16 still unsigned: both second-owner reviews are open.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0000" y="1730000"/>
            <a:ext cx="5700000" cy="3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0000" y="1830000"/>
            <a:ext cx="530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SPRINT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0000" y="2090000"/>
            <a:ext cx="530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0000" y="2360000"/>
            <a:ext cx="5270000" cy="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PB-31 verify the revised solution and name the commit behind every result; PB-39 carry the traceability grades forward.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000" y="3140000"/>
            <a:ext cx="530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223047"/>
                </a:solidFill>
                <a:latin typeface="Arial"/>
              </a:rPr>
              <a:t>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0000" y="3410000"/>
            <a:ext cx="5270000" cy="1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PB-39 done: 13 / 25 / 4 recorded against V3, with the rule-by-rule reason.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PB-31 verified: seven cases re-run on V3 on 19 October: six pass, AT-03 fails.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The plan’s environment risk showed once: the first c8run start died on the connectors health check; the run was repeated with connectors disabled.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450" y="4970000"/>
            <a:ext cx="11100000" cy="118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450" y="4970000"/>
            <a:ext cx="38000" cy="118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000" y="5050000"/>
            <a:ext cx="1065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8A5A10"/>
                </a:solidFill>
                <a:latin typeface="Arial"/>
              </a:rPr>
              <a:t>WHAT THE RECORD SHOWS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00" y="5320000"/>
            <a:ext cx="10650000" cy="7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Process records were left to the end: Standup 3 has no record, Standup 4 has one row of four, SR3’s fields are blank and SR4 has no date. The deck itself was still listed as “not started” in the plan.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Consequence: the model and the forms moved forward while the evidence and the records stayed at 29 September. That is the gap this deck has to make visible.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LEVERAGE ORDER FOR THE NEXT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Five items, ordered by rules moved per unit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Measured by rules moved per unit of work — written evaluation, section 3.7.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11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50000"/>
            <a:ext cx="520000" cy="7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450" y="1870000"/>
            <a:ext cx="52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27B76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000" y="1780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BR-37 — role model and candidate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0000" y="1800000"/>
            <a:ext cx="2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000" y="2090000"/>
            <a:ext cx="1028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Unlocks BR-09, BR-19, BR-21, BR-27 and BR-31, and turns AT-03 from a recorded failure into a pass condition. No other item comes close.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450" y="2450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450" y="2466000"/>
            <a:ext cx="520000" cy="7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450" y="2586000"/>
            <a:ext cx="52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27B76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0000" y="2496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BR-38 — audit immutability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0000" y="2516000"/>
            <a:ext cx="2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0000" y="2806000"/>
            <a:ext cx="1028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The append-only writer exists; a read-only audit API and a refusal test do not. Also underwrites the enquiry trail in BR-28.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450" y="3166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450" y="3182000"/>
            <a:ext cx="520000" cy="7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450" y="3302000"/>
            <a:ext cx="52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27B7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000" y="3212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BR-08 — consent and a structured treatment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0000" y="3232000"/>
            <a:ext cx="2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0000" y="3522000"/>
            <a:ext cx="1028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The artefact did not change at all in this release: the task text asks for fields the form does not have.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450" y="3882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450" y="3898000"/>
            <a:ext cx="520000" cy="7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450" y="4018000"/>
            <a:ext cx="52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27B76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0000" y="3928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The timer pattern — one implementation, four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0000" y="3948000"/>
            <a:ext cx="2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C2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0000" y="4238000"/>
            <a:ext cx="1028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BR-06, BR-32, BR-33 and BR-34 all wait on the same missing capability. One pattern applied at four places.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2450" y="4598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450" y="4614000"/>
            <a:ext cx="520000" cy="7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450" y="4734000"/>
            <a:ext cx="520000" cy="4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27B76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0000" y="4644000"/>
            <a:ext cx="8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1" i="0">
                <a:solidFill>
                  <a:srgbClr val="223047"/>
                </a:solidFill>
                <a:latin typeface="Arial"/>
              </a:rPr>
              <a:t>BR-22 — three acceptance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0000" y="4664000"/>
            <a:ext cx="2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E8A23A"/>
                </a:solidFill>
                <a:latin typeface="Arial"/>
              </a:rPr>
              <a:t>Cheapest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0000" y="4954000"/>
            <a:ext cx="1028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The formal change path, the unauthorised skip and Finance routing already behave; only the cases are missing.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450" y="5314000"/>
            <a:ext cx="111000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A repeatable route through V3_C8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Start Camunda first, then the workers from Week3 Coursework/hospital-pathway.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12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1780000"/>
            <a:ext cx="3550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780000"/>
            <a:ext cx="3550000" cy="4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50" y="1900000"/>
            <a:ext cx="32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01   REFERRAL AND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50" y="222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3047"/>
                </a:solidFill>
                <a:latin typeface="Arial"/>
              </a:rPr>
              <a:t>Register → accept → book → attend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50" y="3050000"/>
            <a:ext cx="3200000" cy="1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1A344B"/>
                </a:solidFill>
                <a:latin typeface="Arial"/>
              </a:rPr>
              <a:t>register_request → review_referral (accept) → book_visit (booked) → await_attendance (attended).
Watch visitOutcome change, then resolve to attended.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450" y="1780000"/>
            <a:ext cx="3550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2450" y="1780000"/>
            <a:ext cx="3550000" cy="4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2450" y="1900000"/>
            <a:ext cx="32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02   CARE AND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450" y="222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3047"/>
                </a:solidFill>
                <a:latin typeface="Arial"/>
              </a:rPr>
              <a:t>Care → letter → self-pay 10.01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450" y="3050000"/>
            <a:ext cx="3200000" cy="1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1A344B"/>
                </a:solidFill>
                <a:latin typeface="Arial"/>
              </a:rPr>
              <a:t>clinical_care → dispatch_letter (sent) → funding_assessment (patient payment, 10.01) → request-payment publishes payment-result.
Watch payment_status = successful.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2450" y="1780000"/>
            <a:ext cx="3550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2450" y="1780000"/>
            <a:ext cx="3550000" cy="400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2450" y="1900000"/>
            <a:ext cx="3200000" cy="2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7B76"/>
                </a:solidFill>
                <a:latin typeface="Arial"/>
              </a:rPr>
              <a:t>03   FINISH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2450" y="222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3047"/>
                </a:solidFill>
                <a:latin typeface="Arial"/>
              </a:rPr>
              <a:t>Resources → review → discharge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2450" y="3050000"/>
            <a:ext cx="3200000" cy="14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1A344B"/>
                </a:solidFill>
                <a:latin typeface="Arial"/>
              </a:rPr>
              <a:t>book_treatment returns resources ready → send-booking-confirmation → back to clinical_care for the post-treatment review.
The care-plan gateway then routes Discharge to EndCare. Watch booking_slot_status = CONFIRMED and the instance reach COMPLETED.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450" y="4860000"/>
            <a:ext cx="11100000" cy="980000"/>
          </a:xfrm>
          <a:prstGeom prst="rect">
            <a:avLst/>
          </a:prstGeom>
          <a:solidFill>
            <a:srgbClr val="FF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450" y="4860000"/>
            <a:ext cx="38000" cy="980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000" y="4940000"/>
            <a:ext cx="10650000" cy="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8A5A10"/>
                </a:solidFill>
                <a:latin typeface="Arial"/>
              </a:rPr>
              <a:t>WHAT TO WATCH, AND WHAT NOT TO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000" y="5210000"/>
            <a:ext cx="10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1A344B"/>
                </a:solidFill>
                <a:latin typeface="Arial"/>
              </a:rPr>
              <a:t>Start Hospital_All_Processes_V3_C8; the build packages the 12 forms from Week6 Coursework/forms/. A decline or DNA takes VisitNeedsSlot past CheckVisitSlot — that is the changed behaviour worth showing. This is a demonstration; the acceptance evidence is the 19 October run, not a walk-through.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7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2385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127B76"/>
                </a:solidFill>
                <a:latin typeface="Arial"/>
              </a:rPr>
              <a:t>REFERENCES AND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85000"/>
            <a:ext cx="11049000" cy="6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50" b="1" i="0">
                <a:solidFill>
                  <a:srgbClr val="223047"/>
                </a:solidFill>
                <a:latin typeface="Arial"/>
              </a:rPr>
              <a:t>Every claim resolves to an openable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245000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597185"/>
                </a:solidFill>
                <a:latin typeface="Arial"/>
              </a:rPr>
              <a:t>Repository paths are relative to the root at f739982; each is linked to the GitHub copy.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353175"/>
            <a:ext cx="11125200" cy="9525"/>
          </a:xfrm>
          <a:prstGeom prst="rect">
            <a:avLst/>
          </a:prstGeom>
          <a:solidFill>
            <a:srgbClr val="C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64579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7185"/>
                </a:solidFill>
                <a:latin typeface="Arial"/>
              </a:rPr>
              <a:t>Hospital Pathway  |  AISD / UFCEP6-0-3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6457950"/>
            <a:ext cx="11620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97185"/>
                </a:solidFill>
                <a:latin typeface="Arial"/>
              </a:rP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170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WRITTEN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189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2"/>
              </a:rPr>
              <a:t>submissions/BPMEA/BPMEA_Written_Evaluation.md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233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TRACEABILITY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253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3"/>
              </a:rPr>
              <a:t>docs/requirements-traceability-matrix.md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297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FEEDBACK RESPONSE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316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4"/>
              </a:rPr>
              <a:t>Week6 Coursework/feedback/feedback-response_2026-10-16.md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360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OPERATIONAL MODEL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380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5"/>
              </a:rPr>
              <a:t>Week6 Coursework/bpmn/Hospital_All_Processes_V3.bpmn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424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DEPLOYED FORM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43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6"/>
              </a:rPr>
              <a:t>Week6 Coursework/forms/  (12 files)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487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V3 RUN AND BUILD, 19 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507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7"/>
              </a:rPr>
              <a:t>Week3 Coursework/hospital-pathway/evidence/Camunda_V3_Acceptance_2026-10-19.txt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000" y="170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INITIAL-RELEASE 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000" y="189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8"/>
              </a:rPr>
              <a:t>submissions/AISD/Group_Acceptance_Test_Plan_and_Results_2026-09-29.pdf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0000" y="233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INITIAL-RELEASE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0000" y="253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9"/>
              </a:rPr>
              <a:t>submissions/BPMEA/Hospital_Pathway_BPMEA_Presentation_2026-09-29.pptx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000" y="297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SPRINT 3–4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000" y="316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10"/>
              </a:rPr>
              <a:t>Week6 Coursework/plan/sprint3-4-plan_2026-10-16.md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0000" y="360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STANDUP AND REVIEW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0000" y="380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11"/>
              </a:rPr>
              <a:t>Week6 Coursework/process/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0000" y="4240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0000" y="4435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12"/>
              </a:rPr>
              <a:t>github.com/Estrella6066773/HW_AISD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000" y="4875000"/>
            <a:ext cx="515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27B76"/>
                </a:solidFill>
                <a:latin typeface="Arial"/>
              </a:rPr>
              <a:t>RELEASE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0000" y="5070000"/>
            <a:ext cx="515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23047"/>
                </a:solidFill>
                <a:latin typeface="Arial"/>
                <a:hlinkClick r:id="rId13"/>
              </a:rPr>
              <a:t>github.com/Estrella6066773/HW_AISD/compare/f6fec99...f739982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450" y="5560000"/>
            <a:ext cx="11100000" cy="54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000" y="5640000"/>
            <a:ext cx="10650000" cy="4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23047"/>
                </a:solidFill>
                <a:latin typeface="Arial"/>
              </a:rPr>
              <a:t>Initial release   submission-2026-09-29  =  f6fec99     ·     Second release tree  f739982     ·     Group 10, AISD UFCEP6-0-3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Group 10</dc:creator>
  <lastModifiedBy>Walnut Exporter</lastModifiedBy>
  <dc:title>Hospital Patient Pathway — second release (AISD UFCEP6-0-3)</dc:title>
  <dcterms:created xsi:type="dcterms:W3CDTF">2026-09-29T06:15:58.1000000Z</dcterms:created>
  <dcterms:modified xsi:type="dcterms:W3CDTF">2026-09-29T06:15:58.1000000Z</dcterms:modified>
  <dc:subject>AISD A-1 presentation, 19 October 2026</dc:subject>
  <dc:description>Draft for second-owner review. Initial release tag submission-2026-09-29 (f6fec99); current tree f739982 (tagged submission-2026-10-20).</dc:description>
</coreProperties>
</file>