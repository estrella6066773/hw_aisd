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564bdaa9ec4244" /><Relationship Type="http://schemas.openxmlformats.org/officeDocument/2006/relationships/extended-properties" Target="/docProps/app.xml" Id="R0ef6403c3f394905" /><Relationship Type="http://schemas.openxmlformats.org/officeDocument/2006/relationships/officeDocument" Target="/ppt/presentation.xml" Id="Rd5898164a27543c1" /></Relationships>
</file>

<file path=ppt/presentation.xml><?xml version="1.0" encoding="utf-8"?>
<p:presentation xmlns:p="http://schemas.openxmlformats.org/presentationml/2006/main">
  <p:sldMasterIdLst>
    <p:sldMasterId xmlns:r="http://schemas.openxmlformats.org/officeDocument/2006/relationships" id="2147483648" r:id="R838668c21d5b485f"/>
  </p:sldMasterIdLst>
  <p:notesMasterIdLst>
    <p:notesMasterId xmlns:r="http://schemas.openxmlformats.org/officeDocument/2006/relationships" r:id="R4a3b2af5b99b4223"/>
  </p:notesMasterIdLst>
  <p:sldIdLst>
    <p:sldId xmlns:r="http://schemas.openxmlformats.org/officeDocument/2006/relationships" id="256" r:id="Re475bb6c31904c18"/>
    <p:sldId xmlns:r="http://schemas.openxmlformats.org/officeDocument/2006/relationships" id="257" r:id="Rca744760d6034b1c"/>
    <p:sldId xmlns:r="http://schemas.openxmlformats.org/officeDocument/2006/relationships" id="258" r:id="Rfa45b64035744e15"/>
    <p:sldId xmlns:r="http://schemas.openxmlformats.org/officeDocument/2006/relationships" id="259" r:id="Rae0f001613fb4f58"/>
    <p:sldId xmlns:r="http://schemas.openxmlformats.org/officeDocument/2006/relationships" id="260" r:id="R235e312bd3ae4466"/>
    <p:sldId xmlns:r="http://schemas.openxmlformats.org/officeDocument/2006/relationships" id="261" r:id="R785b689564a24106"/>
    <p:sldId xmlns:r="http://schemas.openxmlformats.org/officeDocument/2006/relationships" id="262" r:id="Rfe14bf6036dd47e6"/>
    <p:sldId xmlns:r="http://schemas.openxmlformats.org/officeDocument/2006/relationships" id="263" r:id="R1b57e7678e4c4f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781e547c2643f2" /><Relationship Type="http://schemas.openxmlformats.org/officeDocument/2006/relationships/slideMaster" Target="/ppt/slideMasters/slideMaster1.xml" Id="R838668c21d5b485f" /><Relationship Type="http://schemas.openxmlformats.org/officeDocument/2006/relationships/notesMaster" Target="/ppt/notesMasters/notesMaster1.xml" Id="R4a3b2af5b99b4223" /><Relationship Type="http://schemas.openxmlformats.org/officeDocument/2006/relationships/presProps" Target="/ppt/presProps.xml" Id="R9a9eff65ddd54f31" /><Relationship Type="http://schemas.openxmlformats.org/officeDocument/2006/relationships/tableStyles" Target="/ppt/tableStyles.xml" Id="R23d38751b3d0479a" /><Relationship Type="http://schemas.openxmlformats.org/officeDocument/2006/relationships/slide" Target="/ppt/slides/slide1.xml" Id="Re475bb6c31904c18" /><Relationship Type="http://schemas.openxmlformats.org/officeDocument/2006/relationships/slide" Target="/ppt/slides/slide2.xml" Id="Rca744760d6034b1c" /><Relationship Type="http://schemas.openxmlformats.org/officeDocument/2006/relationships/slide" Target="/ppt/slides/slide3.xml" Id="Rfa45b64035744e15" /><Relationship Type="http://schemas.openxmlformats.org/officeDocument/2006/relationships/slide" Target="/ppt/slides/slide4.xml" Id="Rae0f001613fb4f58" /><Relationship Type="http://schemas.openxmlformats.org/officeDocument/2006/relationships/slide" Target="/ppt/slides/slide5.xml" Id="R235e312bd3ae4466" /><Relationship Type="http://schemas.openxmlformats.org/officeDocument/2006/relationships/slide" Target="/ppt/slides/slide6.xml" Id="R785b689564a24106" /><Relationship Type="http://schemas.openxmlformats.org/officeDocument/2006/relationships/slide" Target="/ppt/slides/slide7.xml" Id="Rfe14bf6036dd47e6" /><Relationship Type="http://schemas.openxmlformats.org/officeDocument/2006/relationships/slide" Target="/ppt/slides/slide8.xml" Id="R1b57e7678e4c4f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070e52ded441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b60195df8644f7" /><Relationship Type="http://schemas.openxmlformats.org/officeDocument/2006/relationships/notesMaster" Target="/ppt/notesMasters/notesMaster1.xml" Id="Re010ca6a38344b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2233f2329c4ec2" /><Relationship Type="http://schemas.openxmlformats.org/officeDocument/2006/relationships/notesMaster" Target="/ppt/notesMasters/notesMaster1.xml" Id="Rfd9757707e354b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766333df274db3" /><Relationship Type="http://schemas.openxmlformats.org/officeDocument/2006/relationships/notesMaster" Target="/ppt/notesMasters/notesMaster1.xml" Id="Rd9c6d684b38840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8353202e054438" /><Relationship Type="http://schemas.openxmlformats.org/officeDocument/2006/relationships/notesMaster" Target="/ppt/notesMasters/notesMaster1.xml" Id="Rdf40d0ce2ce14a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2a200e5ae84325" /><Relationship Type="http://schemas.openxmlformats.org/officeDocument/2006/relationships/notesMaster" Target="/ppt/notesMasters/notesMaster1.xml" Id="R8b8a2c5e1d7940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3a599b06ee43e4" /><Relationship Type="http://schemas.openxmlformats.org/officeDocument/2006/relationships/notesMaster" Target="/ppt/notesMasters/notesMaster1.xml" Id="R5149b0ce8bd84e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50c161c96d4b3d" /><Relationship Type="http://schemas.openxmlformats.org/officeDocument/2006/relationships/notesMaster" Target="/ppt/notesMasters/notesMaster1.xml" Id="R033e3e8853cf4e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0505dd3a624341" /><Relationship Type="http://schemas.openxmlformats.org/officeDocument/2006/relationships/notesMaster" Target="/ppt/notesMasters/notesMaster1.xml" Id="Rdc450dd34b094f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shared operational model. This deck is the BPM&amp;EA presentation; the editable BPMN, forms and Java module remain shared under Coursework/hospital-pathway. The evidence is local and has not yet been pushed as a final group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operational BPMN is one deployable process with lanes for Administration, Clinical and Finance. The pool around it shows external participants. Explain the four stage headings from left to right, then mention that gateways also route exceptions. Source: the shared Camunda 8 BPMN and the AISD design-decisions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11 editable forms and 10 mapped job types in the formal module. The user-task form values become process variables. The exclusive gateway chooses a route. At a service task, Zeebe creates a job whose type matches Java @JobWorker. The payment worker simulates a provider and publishes payment-result, which resumes the BPMN message catch event. H2 is an application domain store, separate from the Camunda engine store.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cross-member transfer: C accepts a referral, B books a visit, A handles clinical/funding decisions, and D handles later care changes. Only the G07 route was run end to end in this local evidence. It exercises A/B/C work, while D is supported by unit tests and older route records; D live change/enquiry paths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docs/p3-product-backlog.md, p4-work-breakdown.md, p6-sprint-backlog.md and definition-of-done.md. The acceptance tables are course-specific under submissions. We do not label a plan or source file as a passed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G07 evidence is Coursework/hospital-pathway/evidence/Group_Final_E2E_20260929-135729.json. It is a real local Camunda REST run, not a browser Tasklist walkthrough. Worker logs show payment message, booking and letter dispatch. We do not claim real payment or correspondence, a successful payment ledger row, or complete branch coverage. G03 failed on an earlier version and has not been fixed.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a live demonstration, start local c8run and run mvn spring-boot:run from Coursework/hospital-pathway so the relative H2 path is correct. Deploy the final BPMN and all 11 forms. Use a new fictional case ID. The saved G07 run followed the listed nine user tasks using Camunda REST; for browser demonstration, manually enter the same branch choices in Tasklist. Avoid promising every branch has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evidence-bounded conclusion. The final G07 route passed in a local environment, while G03 is a known failure and G08-G11 still need owner-specific integration runs. The submission pack was initially pushed to main in e8a6861 and still needs team review. The earlier assessment materials mention strategic BPMN and i*; confirm against the definitive tutor brief rather than calling the operational Camunda file a strategic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27d73f472841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217759bb5347ee" /><Relationship Type="http://schemas.openxmlformats.org/officeDocument/2006/relationships/slideLayout" Target="/ppt/slideLayouts/slideLayout1.xml" Id="R0aecb4ea23ce48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ecb4ea23ce48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9f0b4c49514e5f" /><Relationship Type="http://schemas.openxmlformats.org/officeDocument/2006/relationships/notesSlide" Target="/ppt/notesSlides/notesSlide1.xml" Id="Rf116efb2e49f46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70e437ec714229" /><Relationship Type="http://schemas.openxmlformats.org/officeDocument/2006/relationships/notesSlide" Target="/ppt/notesSlides/notesSlide2.xml" Id="R4e4933dba77241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f971b7c09b4155" /><Relationship Type="http://schemas.openxmlformats.org/officeDocument/2006/relationships/notesSlide" Target="/ppt/notesSlides/notesSlide3.xml" Id="R989f8dcf1b214c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2d9979b6a524fd8" /><Relationship Type="http://schemas.openxmlformats.org/officeDocument/2006/relationships/notesSlide" Target="/ppt/notesSlides/notesSlide4.xml" Id="R8ddd9df6695448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07142ff73c4c70" /><Relationship Type="http://schemas.openxmlformats.org/officeDocument/2006/relationships/notesSlide" Target="/ppt/notesSlides/notesSlide5.xml" Id="R6500505d44c94d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1a1efcfdc34848" /><Relationship Type="http://schemas.openxmlformats.org/officeDocument/2006/relationships/notesSlide" Target="/ppt/notesSlides/notesSlide6.xml" Id="R4982256d2eb847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bf76417ec54860" /><Relationship Type="http://schemas.openxmlformats.org/officeDocument/2006/relationships/notesSlide" Target="/ppt/notesSlides/notesSlide7.xml" Id="R3631119ad25243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11cd2123f347a4" /><Relationship Type="http://schemas.openxmlformats.org/officeDocument/2006/relationships/notesSlide" Target="/ppt/notesSlides/notesSlide8.xml" Id="R0b39d7c510d54eb0" /></Relationships>
</file>

<file path=ppt/slides/slide1.xml><?xml version="1.0" encoding="utf-8"?>
<p:sld xmlns:p="http://schemas.openxmlformats.org/presentationml/2006/main">
  <p:cSld>
    <p:bg>
      <p:bgPr>
        <a:solidFill xmlns:a="http://schemas.openxmlformats.org/drawingml/2006/main">
          <a:srgbClr val="16304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079355-5F42-47C1-9350-5B409ABBF9A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595F8E-EFE9-4EF8-B86A-2AF78D2C8B7F}"/>
              </a:ext>
            </a:extLst>
          </p:cNvPr>
          <p:cNvSpPr>
            <a:spLocks xmlns:a="http://schemas.openxmlformats.org/drawingml/2006/main" noGrp="1"/>
          </p:cNvSpPr>
          <p:nvPr/>
        </p:nvSpPr>
        <p:spPr>
          <a:xfrm xmlns:a="http://schemas.openxmlformats.org/drawingml/2006/main">
            <a:off x="638175" y="838200"/>
            <a:ext cx="66675" cy="4543425"/>
          </a:xfrm>
          <a:prstGeom xmlns:a="http://schemas.openxmlformats.org/drawingml/2006/main" prst="rect">
            <a:avLst/>
          </a:prstGeom>
          <a:solidFill xmlns:a="http://schemas.openxmlformats.org/drawingml/2006/main">
            <a:srgbClr val="E8A23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0654C6-BA6C-4AFA-A1A9-A69ABDFD2170}"/>
              </a:ext>
            </a:extLst>
          </p:cNvPr>
          <p:cNvSpPr>
            <a:spLocks xmlns:a="http://schemas.openxmlformats.org/drawingml/2006/main" noGrp="1"/>
          </p:cNvSpPr>
          <p:nvPr/>
        </p:nvSpPr>
        <p:spPr>
          <a:xfrm xmlns:a="http://schemas.openxmlformats.org/drawingml/2006/main">
            <a:off x="895350" y="9239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B9DBD1"/>
                </a:solidFill>
                <a:latin typeface="Arial"/>
                <a:ea typeface="Arial"/>
                <a:cs typeface="Arial"/>
              </a:defRPr>
            </a:pPr>
            <a:r>
              <a:rPr sz="1275" b="1">
                <a:solidFill>
                  <a:srgbClr val="B9DBD1"/>
                </a:solidFill>
                <a:latin typeface="Arial"/>
                <a:ea typeface="Arial"/>
                <a:cs typeface="Arial"/>
              </a:rPr>
              <a:t>BPM&amp;EA  |  UFCEP4-0-3</a:t>
            </a:r>
          </a:p>
        </p:txBody>
      </p:sp>
      <p:sp>
        <p:nvSpPr>
          <p:cNvPr id="4" name="">
            <a:extLst xmlns:a="http://schemas.openxmlformats.org/drawingml/2006/main">
              <a:ext uri="{FF2B5EF4-FFF2-40B4-BE49-F238E27FC236}">
                <a16:creationId xmlns:a16="http://schemas.microsoft.com/office/drawing/2014/main" id="{1FD0D0B5-6279-42BF-90EB-3059A0D7D01D}"/>
              </a:ext>
            </a:extLst>
          </p:cNvPr>
          <p:cNvSpPr>
            <a:spLocks xmlns:a="http://schemas.openxmlformats.org/drawingml/2006/main" noGrp="1"/>
          </p:cNvSpPr>
          <p:nvPr/>
        </p:nvSpPr>
        <p:spPr>
          <a:xfrm xmlns:a="http://schemas.openxmlformats.org/drawingml/2006/main">
            <a:off x="895350" y="1543050"/>
            <a:ext cx="1000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Hospital Patient</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Pathway</a:t>
            </a:r>
          </a:p>
        </p:txBody>
      </p:sp>
      <p:sp>
        <p:nvSpPr>
          <p:cNvPr id="5" name="">
            <a:extLst xmlns:a="http://schemas.openxmlformats.org/drawingml/2006/main">
              <a:ext uri="{FF2B5EF4-FFF2-40B4-BE49-F238E27FC236}">
                <a16:creationId xmlns:a16="http://schemas.microsoft.com/office/drawing/2014/main" id="{C7B285BD-6D23-4141-AEB7-DFD2DDF5294A}"/>
              </a:ext>
            </a:extLst>
          </p:cNvPr>
          <p:cNvSpPr>
            <a:spLocks xmlns:a="http://schemas.openxmlformats.org/drawingml/2006/main" noGrp="1"/>
          </p:cNvSpPr>
          <p:nvPr/>
        </p:nvSpPr>
        <p:spPr>
          <a:xfrm xmlns:a="http://schemas.openxmlformats.org/drawingml/2006/main">
            <a:off x="904875" y="36385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DFE9EE"/>
                </a:solidFill>
                <a:latin typeface="Arial"/>
                <a:ea typeface="Arial"/>
                <a:cs typeface="Arial"/>
              </a:defRPr>
            </a:pPr>
            <a:r>
              <a:rPr sz="1875" b="0">
                <a:solidFill>
                  <a:srgbClr val="DFE9EE"/>
                </a:solidFill>
                <a:latin typeface="Arial"/>
                <a:ea typeface="Arial"/>
                <a:cs typeface="Arial"/>
              </a:rPr>
              <a:t>One executable Camunda 8 process across referral, care, funding and change</a:t>
            </a:r>
          </a:p>
        </p:txBody>
      </p:sp>
      <p:sp>
        <p:nvSpPr>
          <p:cNvPr id="6" name="">
            <a:extLst xmlns:a="http://schemas.openxmlformats.org/drawingml/2006/main">
              <a:ext uri="{FF2B5EF4-FFF2-40B4-BE49-F238E27FC236}">
                <a16:creationId xmlns:a16="http://schemas.microsoft.com/office/drawing/2014/main" id="{23E3338B-6AF5-431D-BDE5-9A10BBEFFA84}"/>
              </a:ext>
            </a:extLst>
          </p:cNvPr>
          <p:cNvSpPr>
            <a:spLocks xmlns:a="http://schemas.openxmlformats.org/drawingml/2006/main" noGrp="1"/>
          </p:cNvSpPr>
          <p:nvPr/>
        </p:nvSpPr>
        <p:spPr>
          <a:xfrm xmlns:a="http://schemas.openxmlformats.org/drawingml/2006/main">
            <a:off x="904875" y="512445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Ruby (A)   Estrella (B)   Ender (C)   Ryan (D)</a:t>
            </a:r>
          </a:p>
        </p:txBody>
      </p:sp>
      <p:sp>
        <p:nvSpPr>
          <p:cNvPr id="7" name="">
            <a:extLst xmlns:a="http://schemas.openxmlformats.org/drawingml/2006/main">
              <a:ext uri="{FF2B5EF4-FFF2-40B4-BE49-F238E27FC236}">
                <a16:creationId xmlns:a16="http://schemas.microsoft.com/office/drawing/2014/main" id="{2A63CD40-9EAB-446D-87BA-0357B2CCB099}"/>
              </a:ext>
            </a:extLst>
          </p:cNvPr>
          <p:cNvSpPr>
            <a:spLocks xmlns:a="http://schemas.openxmlformats.org/drawingml/2006/main" noGrp="1"/>
          </p:cNvSpPr>
          <p:nvPr/>
        </p:nvSpPr>
        <p:spPr>
          <a:xfrm xmlns:a="http://schemas.openxmlformats.org/drawingml/2006/main">
            <a:off x="904875" y="55816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B9CFDC"/>
                </a:solidFill>
                <a:latin typeface="Arial"/>
                <a:ea typeface="Arial"/>
                <a:cs typeface="Arial"/>
              </a:defRPr>
            </a:pPr>
            <a:r>
              <a:rPr sz="1125" b="0">
                <a:solidFill>
                  <a:srgbClr val="B9CFDC"/>
                </a:solidFill>
                <a:latin typeface="Arial"/>
                <a:ea typeface="Arial"/>
                <a:cs typeface="Arial"/>
              </a:rPr>
              <a:t>Local evidence prepared 29 September 2026  •  source baseline fc6293e</a:t>
            </a:r>
          </a:p>
        </p:txBody>
      </p:sp>
    </p:spTree>
    <p:extLst>
      <p:ext uri="{BB962C8B-B14F-4D97-AF65-F5344CB8AC3E}">
        <p14:creationId xmlns:p14="http://schemas.microsoft.com/office/powerpoint/2010/main" val="1353421470"/>
      </p:ext>
    </p:extLst>
  </p:cSld>
</p:sld>
</file>

<file path=ppt/slides/slide2.xml><?xml version="1.0" encoding="utf-8"?>
<p:sld xmlns:p="http://schemas.openxmlformats.org/presentationml/2006/main">
  <p:cSld>
    <p:bg>
      <p:bgPr>
        <a:solidFill xmlns:a="http://schemas.openxmlformats.org/drawingml/2006/main">
          <a:srgbClr val="F9F7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9B7B190-A8C5-473A-A56D-1ADAD8F286D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639D33-0C44-48CE-B010-2AC9C8A949AC}"/>
              </a:ext>
            </a:extLst>
          </p:cNvPr>
          <p:cNvSpPr>
            <a:spLocks xmlns:a="http://schemas.openxmlformats.org/drawingml/2006/main" noGrp="1"/>
          </p:cNvSpPr>
          <p:nvPr/>
        </p:nvSpPr>
        <p:spPr>
          <a:xfrm xmlns:a="http://schemas.openxmlformats.org/drawingml/2006/main">
            <a:off x="533400" y="3238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27B76"/>
                </a:solidFill>
                <a:latin typeface="Arial"/>
                <a:ea typeface="Arial"/>
                <a:cs typeface="Arial"/>
              </a:defRPr>
            </a:pPr>
            <a:r>
              <a:rPr sz="975" b="1">
                <a:solidFill>
                  <a:srgbClr val="127B76"/>
                </a:solidFill>
                <a:latin typeface="Arial"/>
                <a:ea typeface="Arial"/>
                <a:cs typeface="Arial"/>
              </a:rPr>
              <a:t>OPERATIONAL MODEL</a:t>
            </a:r>
          </a:p>
        </p:txBody>
      </p:sp>
      <p:sp>
        <p:nvSpPr>
          <p:cNvPr id="3" name="">
            <a:extLst xmlns:a="http://schemas.openxmlformats.org/drawingml/2006/main">
              <a:ext uri="{FF2B5EF4-FFF2-40B4-BE49-F238E27FC236}">
                <a16:creationId xmlns:a16="http://schemas.microsoft.com/office/drawing/2014/main" id="{A4D66D0F-D19D-4ACB-9603-8516EB9D44AD}"/>
              </a:ext>
            </a:extLst>
          </p:cNvPr>
          <p:cNvSpPr>
            <a:spLocks xmlns:a="http://schemas.openxmlformats.org/drawingml/2006/main" noGrp="1"/>
          </p:cNvSpPr>
          <p:nvPr/>
        </p:nvSpPr>
        <p:spPr>
          <a:xfrm xmlns:a="http://schemas.openxmlformats.org/drawingml/2006/main">
            <a:off x="533400" y="59055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163047"/>
                </a:solidFill>
                <a:latin typeface="Arial"/>
                <a:ea typeface="Arial"/>
                <a:cs typeface="Arial"/>
              </a:defRPr>
            </a:pPr>
            <a:r>
              <a:rPr sz="2850" b="1">
                <a:solidFill>
                  <a:srgbClr val="163047"/>
                </a:solidFill>
                <a:latin typeface="Arial"/>
                <a:ea typeface="Arial"/>
                <a:cs typeface="Arial"/>
              </a:rPr>
              <a:t>One process, four connected stages</a:t>
            </a:r>
          </a:p>
        </p:txBody>
      </p:sp>
      <p:sp>
        <p:nvSpPr>
          <p:cNvPr id="4" name="">
            <a:extLst xmlns:a="http://schemas.openxmlformats.org/drawingml/2006/main">
              <a:ext uri="{FF2B5EF4-FFF2-40B4-BE49-F238E27FC236}">
                <a16:creationId xmlns:a16="http://schemas.microsoft.com/office/drawing/2014/main" id="{8DBBD269-FC37-4F4F-9795-46D737D613DA}"/>
              </a:ext>
            </a:extLst>
          </p:cNvPr>
          <p:cNvSpPr>
            <a:spLocks xmlns:a="http://schemas.openxmlformats.org/drawingml/2006/main" noGrp="1"/>
          </p:cNvSpPr>
          <p:nvPr/>
        </p:nvSpPr>
        <p:spPr>
          <a:xfrm xmlns:a="http://schemas.openxmlformats.org/drawingml/2006/main">
            <a:off x="552450" y="1219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97185"/>
                </a:solidFill>
                <a:latin typeface="Arial"/>
                <a:ea typeface="Arial"/>
                <a:cs typeface="Arial"/>
              </a:defRPr>
            </a:pPr>
            <a:r>
              <a:rPr sz="1275" b="0">
                <a:solidFill>
                  <a:srgbClr val="597185"/>
                </a:solidFill>
                <a:latin typeface="Arial"/>
                <a:ea typeface="Arial"/>
                <a:cs typeface="Arial"/>
              </a:rPr>
              <a:t>The BPMN keeps responsibilities visible while one instance moves across the hospital.</a:t>
            </a:r>
          </a:p>
        </p:txBody>
      </p:sp>
      <p:sp>
        <p:nvSpPr>
          <p:cNvPr id="5" name="">
            <a:extLst xmlns:a="http://schemas.openxmlformats.org/drawingml/2006/main">
              <a:ext uri="{FF2B5EF4-FFF2-40B4-BE49-F238E27FC236}">
                <a16:creationId xmlns:a16="http://schemas.microsoft.com/office/drawing/2014/main" id="{CB3FE4A6-90EC-400F-B345-BFCD7A3C3A23}"/>
              </a:ext>
            </a:extLst>
          </p:cNvPr>
          <p:cNvSpPr>
            <a:spLocks xmlns:a="http://schemas.openxmlformats.org/drawingml/2006/main" noGrp="1"/>
          </p:cNvSpPr>
          <p:nvPr/>
        </p:nvSpPr>
        <p:spPr>
          <a:xfrm xmlns:a="http://schemas.openxmlformats.org/drawingml/2006/main">
            <a:off x="533400" y="6353175"/>
            <a:ext cx="11125200" cy="9525"/>
          </a:xfrm>
          <a:prstGeom xmlns:a="http://schemas.openxmlformats.org/drawingml/2006/main" prst="rect">
            <a:avLst/>
          </a:prstGeom>
          <a:solidFill xmlns:a="http://schemas.openxmlformats.org/drawingml/2006/main">
            <a:srgbClr val="CAD6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92708C5-332E-438C-8D3B-56D6500DBF45}"/>
              </a:ext>
            </a:extLst>
          </p:cNvPr>
          <p:cNvSpPr>
            <a:spLocks xmlns:a="http://schemas.openxmlformats.org/drawingml/2006/main" noGrp="1"/>
          </p:cNvSpPr>
          <p:nvPr/>
        </p:nvSpPr>
        <p:spPr>
          <a:xfrm xmlns:a="http://schemas.openxmlformats.org/drawingml/2006/main">
            <a:off x="533400" y="645795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97185"/>
                </a:solidFill>
                <a:latin typeface="Arial"/>
                <a:ea typeface="Arial"/>
                <a:cs typeface="Arial"/>
              </a:defRPr>
            </a:pPr>
            <a:r>
              <a:rPr sz="900" b="0">
                <a:solidFill>
                  <a:srgbClr val="597185"/>
                </a:solidFill>
                <a:latin typeface="Arial"/>
                <a:ea typeface="Arial"/>
                <a:cs typeface="Arial"/>
              </a:rPr>
              <a:t>Hospital Pathway  |  BPM&amp;EA / UFCEP4-0-3</a:t>
            </a:r>
          </a:p>
        </p:txBody>
      </p:sp>
      <p:sp>
        <p:nvSpPr>
          <p:cNvPr id="7" name="">
            <a:extLst xmlns:a="http://schemas.openxmlformats.org/drawingml/2006/main">
              <a:ext uri="{FF2B5EF4-FFF2-40B4-BE49-F238E27FC236}">
                <a16:creationId xmlns:a16="http://schemas.microsoft.com/office/drawing/2014/main" id="{BB461397-4F44-4E7E-B222-C62C4BECC7C3}"/>
              </a:ext>
            </a:extLst>
          </p:cNvPr>
          <p:cNvSpPr>
            <a:spLocks xmlns:a="http://schemas.openxmlformats.org/drawingml/2006/main" noGrp="1"/>
          </p:cNvSpPr>
          <p:nvPr/>
        </p:nvSpPr>
        <p:spPr>
          <a:xfrm xmlns:a="http://schemas.openxmlformats.org/drawingml/2006/main">
            <a:off x="10496550" y="6457950"/>
            <a:ext cx="116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597185"/>
                </a:solidFill>
                <a:latin typeface="Arial"/>
                <a:ea typeface="Arial"/>
                <a:cs typeface="Arial"/>
              </a:defRPr>
            </a:pPr>
            <a:r>
              <a:rPr sz="900" b="1">
                <a:solidFill>
                  <a:srgbClr val="597185"/>
                </a:solidFill>
                <a:latin typeface="Arial"/>
                <a:ea typeface="Arial"/>
                <a:cs typeface="Arial"/>
              </a:rPr>
              <a:t>02 / 08</a:t>
            </a:r>
          </a:p>
        </p:txBody>
      </p:sp>
      <p:sp>
        <p:nvSpPr>
          <p:cNvPr id="8" name="">
            <a:extLst xmlns:a="http://schemas.openxmlformats.org/drawingml/2006/main">
              <a:ext uri="{FF2B5EF4-FFF2-40B4-BE49-F238E27FC236}">
                <a16:creationId xmlns:a16="http://schemas.microsoft.com/office/drawing/2014/main" id="{A2F5B6A2-ADB0-4F07-ACF5-75AB9576AA08}"/>
              </a:ext>
            </a:extLst>
          </p:cNvPr>
          <p:cNvSpPr>
            <a:spLocks xmlns:a="http://schemas.openxmlformats.org/drawingml/2006/main" noGrp="1"/>
          </p:cNvSpPr>
          <p:nvPr/>
        </p:nvSpPr>
        <p:spPr>
          <a:xfrm xmlns:a="http://schemas.openxmlformats.org/drawingml/2006/main">
            <a:off x="552450" y="1952625"/>
            <a:ext cx="5314950" cy="1533525"/>
          </a:xfrm>
          <a:prstGeom xmlns:a="http://schemas.openxmlformats.org/drawingml/2006/main" prst="roundRect">
            <a:avLst>
              <a:gd name="adj" fmla="val 4969"/>
            </a:avLst>
          </a:prstGeom>
          <a:solidFill xmlns:a="http://schemas.openxmlformats.org/drawingml/2006/main">
            <a:srgbClr val="E8F1F8"/>
          </a:solidFill>
          <a:ln xmlns:a="http://schemas.openxmlformats.org/drawingml/2006/main" w="9525">
            <a:solidFill>
              <a:srgbClr val="CAD6DE"/>
            </a:solidFill>
          </a:ln>
        </p:spPr>
      </p:sp>
      <p:sp>
        <p:nvSpPr>
          <p:cNvPr id="9" name="">
            <a:extLst xmlns:a="http://schemas.openxmlformats.org/drawingml/2006/main">
              <a:ext uri="{FF2B5EF4-FFF2-40B4-BE49-F238E27FC236}">
                <a16:creationId xmlns:a16="http://schemas.microsoft.com/office/drawing/2014/main" id="{F4AD7C42-4E45-4B9A-B793-BA5617E8D712}"/>
              </a:ext>
            </a:extLst>
          </p:cNvPr>
          <p:cNvSpPr>
            <a:spLocks xmlns:a="http://schemas.openxmlformats.org/drawingml/2006/main" noGrp="1"/>
          </p:cNvSpPr>
          <p:nvPr/>
        </p:nvSpPr>
        <p:spPr>
          <a:xfrm xmlns:a="http://schemas.openxmlformats.org/drawingml/2006/main">
            <a:off x="552450" y="1952625"/>
            <a:ext cx="57150" cy="1533525"/>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B3F97FD-59B0-4F2C-82A4-C9BDDCB7B774}"/>
              </a:ext>
            </a:extLst>
          </p:cNvPr>
          <p:cNvSpPr>
            <a:spLocks xmlns:a="http://schemas.openxmlformats.org/drawingml/2006/main" noGrp="1"/>
          </p:cNvSpPr>
          <p:nvPr/>
        </p:nvSpPr>
        <p:spPr>
          <a:xfrm xmlns:a="http://schemas.openxmlformats.org/drawingml/2006/main">
            <a:off x="742950" y="2114550"/>
            <a:ext cx="493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01  Referral review</a:t>
            </a:r>
          </a:p>
        </p:txBody>
      </p:sp>
      <p:sp>
        <p:nvSpPr>
          <p:cNvPr id="11" name="">
            <a:extLst xmlns:a="http://schemas.openxmlformats.org/drawingml/2006/main">
              <a:ext uri="{FF2B5EF4-FFF2-40B4-BE49-F238E27FC236}">
                <a16:creationId xmlns:a16="http://schemas.microsoft.com/office/drawing/2014/main" id="{D5622F96-DB6D-45C1-8F8E-3E27FD04FC23}"/>
              </a:ext>
            </a:extLst>
          </p:cNvPr>
          <p:cNvSpPr>
            <a:spLocks xmlns:a="http://schemas.openxmlformats.org/drawingml/2006/main" noGrp="1"/>
          </p:cNvSpPr>
          <p:nvPr/>
        </p:nvSpPr>
        <p:spPr>
          <a:xfrm xmlns:a="http://schemas.openxmlformats.org/drawingml/2006/main">
            <a:off x="742950" y="2466975"/>
            <a:ext cx="4933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Register, check documents, consultant decision</a:t>
            </a:r>
          </a:p>
        </p:txBody>
      </p:sp>
      <p:sp>
        <p:nvSpPr>
          <p:cNvPr id="12" name="">
            <a:extLst xmlns:a="http://schemas.openxmlformats.org/drawingml/2006/main">
              <a:ext uri="{FF2B5EF4-FFF2-40B4-BE49-F238E27FC236}">
                <a16:creationId xmlns:a16="http://schemas.microsoft.com/office/drawing/2014/main" id="{E8ED6484-0119-4D84-A490-7BD0CA255E7A}"/>
              </a:ext>
            </a:extLst>
          </p:cNvPr>
          <p:cNvSpPr>
            <a:spLocks xmlns:a="http://schemas.openxmlformats.org/drawingml/2006/main" noGrp="1"/>
          </p:cNvSpPr>
          <p:nvPr/>
        </p:nvSpPr>
        <p:spPr>
          <a:xfrm xmlns:a="http://schemas.openxmlformats.org/drawingml/2006/main">
            <a:off x="6172200" y="1952625"/>
            <a:ext cx="5314950" cy="1533525"/>
          </a:xfrm>
          <a:prstGeom xmlns:a="http://schemas.openxmlformats.org/drawingml/2006/main" prst="roundRect">
            <a:avLst>
              <a:gd name="adj" fmla="val 4969"/>
            </a:avLst>
          </a:prstGeom>
          <a:solidFill xmlns:a="http://schemas.openxmlformats.org/drawingml/2006/main">
            <a:srgbClr val="FFFFFF"/>
          </a:solidFill>
          <a:ln xmlns:a="http://schemas.openxmlformats.org/drawingml/2006/main" w="9525">
            <a:solidFill>
              <a:srgbClr val="CAD6DE"/>
            </a:solidFill>
          </a:ln>
        </p:spPr>
      </p:sp>
      <p:sp>
        <p:nvSpPr>
          <p:cNvPr id="13" name="">
            <a:extLst xmlns:a="http://schemas.openxmlformats.org/drawingml/2006/main">
              <a:ext uri="{FF2B5EF4-FFF2-40B4-BE49-F238E27FC236}">
                <a16:creationId xmlns:a16="http://schemas.microsoft.com/office/drawing/2014/main" id="{B12F01E4-6FCA-444E-A69F-E80D954BEC42}"/>
              </a:ext>
            </a:extLst>
          </p:cNvPr>
          <p:cNvSpPr>
            <a:spLocks xmlns:a="http://schemas.openxmlformats.org/drawingml/2006/main" noGrp="1"/>
          </p:cNvSpPr>
          <p:nvPr/>
        </p:nvSpPr>
        <p:spPr>
          <a:xfrm xmlns:a="http://schemas.openxmlformats.org/drawingml/2006/main">
            <a:off x="6172200" y="1952625"/>
            <a:ext cx="57150" cy="1533525"/>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B773D93-409F-4645-AB21-2637199DA125}"/>
              </a:ext>
            </a:extLst>
          </p:cNvPr>
          <p:cNvSpPr>
            <a:spLocks xmlns:a="http://schemas.openxmlformats.org/drawingml/2006/main" noGrp="1"/>
          </p:cNvSpPr>
          <p:nvPr/>
        </p:nvSpPr>
        <p:spPr>
          <a:xfrm xmlns:a="http://schemas.openxmlformats.org/drawingml/2006/main">
            <a:off x="6362700" y="2114550"/>
            <a:ext cx="493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02  Visit and care</a:t>
            </a:r>
          </a:p>
        </p:txBody>
      </p:sp>
      <p:sp>
        <p:nvSpPr>
          <p:cNvPr id="15" name="">
            <a:extLst xmlns:a="http://schemas.openxmlformats.org/drawingml/2006/main">
              <a:ext uri="{FF2B5EF4-FFF2-40B4-BE49-F238E27FC236}">
                <a16:creationId xmlns:a16="http://schemas.microsoft.com/office/drawing/2014/main" id="{6907EB64-1370-4DCC-8CFA-DFB1F06A2E20}"/>
              </a:ext>
            </a:extLst>
          </p:cNvPr>
          <p:cNvSpPr>
            <a:spLocks xmlns:a="http://schemas.openxmlformats.org/drawingml/2006/main" noGrp="1"/>
          </p:cNvSpPr>
          <p:nvPr/>
        </p:nvSpPr>
        <p:spPr>
          <a:xfrm xmlns:a="http://schemas.openxmlformats.org/drawingml/2006/main">
            <a:off x="6362700" y="2466975"/>
            <a:ext cx="4933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Book visit, record outcome, clinical plan</a:t>
            </a:r>
          </a:p>
        </p:txBody>
      </p:sp>
      <p:sp>
        <p:nvSpPr>
          <p:cNvPr id="16" name="">
            <a:extLst xmlns:a="http://schemas.openxmlformats.org/drawingml/2006/main">
              <a:ext uri="{FF2B5EF4-FFF2-40B4-BE49-F238E27FC236}">
                <a16:creationId xmlns:a16="http://schemas.microsoft.com/office/drawing/2014/main" id="{4580F688-5860-41AD-997F-A4059822FD28}"/>
              </a:ext>
            </a:extLst>
          </p:cNvPr>
          <p:cNvSpPr>
            <a:spLocks xmlns:a="http://schemas.openxmlformats.org/drawingml/2006/main" noGrp="1"/>
          </p:cNvSpPr>
          <p:nvPr/>
        </p:nvSpPr>
        <p:spPr>
          <a:xfrm xmlns:a="http://schemas.openxmlformats.org/drawingml/2006/main">
            <a:off x="552450" y="3810000"/>
            <a:ext cx="5314950" cy="1533525"/>
          </a:xfrm>
          <a:prstGeom xmlns:a="http://schemas.openxmlformats.org/drawingml/2006/main" prst="roundRect">
            <a:avLst>
              <a:gd name="adj" fmla="val 4969"/>
            </a:avLst>
          </a:prstGeom>
          <a:solidFill xmlns:a="http://schemas.openxmlformats.org/drawingml/2006/main">
            <a:srgbClr val="FFFFFF"/>
          </a:solidFill>
          <a:ln xmlns:a="http://schemas.openxmlformats.org/drawingml/2006/main" w="9525">
            <a:solidFill>
              <a:srgbClr val="CAD6DE"/>
            </a:solidFill>
          </a:ln>
        </p:spPr>
      </p:sp>
      <p:sp>
        <p:nvSpPr>
          <p:cNvPr id="17" name="">
            <a:extLst xmlns:a="http://schemas.openxmlformats.org/drawingml/2006/main">
              <a:ext uri="{FF2B5EF4-FFF2-40B4-BE49-F238E27FC236}">
                <a16:creationId xmlns:a16="http://schemas.microsoft.com/office/drawing/2014/main" id="{2B9358B1-F29A-4437-8EEC-93371EBB3838}"/>
              </a:ext>
            </a:extLst>
          </p:cNvPr>
          <p:cNvSpPr>
            <a:spLocks xmlns:a="http://schemas.openxmlformats.org/drawingml/2006/main" noGrp="1"/>
          </p:cNvSpPr>
          <p:nvPr/>
        </p:nvSpPr>
        <p:spPr>
          <a:xfrm xmlns:a="http://schemas.openxmlformats.org/drawingml/2006/main">
            <a:off x="552450" y="3810000"/>
            <a:ext cx="57150" cy="1533525"/>
          </a:xfrm>
          <a:prstGeom xmlns:a="http://schemas.openxmlformats.org/drawingml/2006/main" prst="rect">
            <a:avLst/>
          </a:prstGeom>
          <a:solidFill xmlns:a="http://schemas.openxmlformats.org/drawingml/2006/main">
            <a:srgbClr val="E8A2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2C485DA-2B5F-4107-867E-B68A33130065}"/>
              </a:ext>
            </a:extLst>
          </p:cNvPr>
          <p:cNvSpPr>
            <a:spLocks xmlns:a="http://schemas.openxmlformats.org/drawingml/2006/main" noGrp="1"/>
          </p:cNvSpPr>
          <p:nvPr/>
        </p:nvSpPr>
        <p:spPr>
          <a:xfrm xmlns:a="http://schemas.openxmlformats.org/drawingml/2006/main">
            <a:off x="742950" y="3971925"/>
            <a:ext cx="493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03  Letter and funding</a:t>
            </a:r>
          </a:p>
        </p:txBody>
      </p:sp>
      <p:sp>
        <p:nvSpPr>
          <p:cNvPr id="19" name="">
            <a:extLst xmlns:a="http://schemas.openxmlformats.org/drawingml/2006/main">
              <a:ext uri="{FF2B5EF4-FFF2-40B4-BE49-F238E27FC236}">
                <a16:creationId xmlns:a16="http://schemas.microsoft.com/office/drawing/2014/main" id="{081C2AE1-30A4-4802-91A4-89F8D23CCAA3}"/>
              </a:ext>
            </a:extLst>
          </p:cNvPr>
          <p:cNvSpPr>
            <a:spLocks xmlns:a="http://schemas.openxmlformats.org/drawingml/2006/main" noGrp="1"/>
          </p:cNvSpPr>
          <p:nvPr/>
        </p:nvSpPr>
        <p:spPr>
          <a:xfrm xmlns:a="http://schemas.openxmlformats.org/drawingml/2006/main">
            <a:off x="742950" y="4324350"/>
            <a:ext cx="4933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Dispatch approved letter, handle payment or insurer</a:t>
            </a:r>
          </a:p>
        </p:txBody>
      </p:sp>
      <p:sp>
        <p:nvSpPr>
          <p:cNvPr id="20" name="">
            <a:extLst xmlns:a="http://schemas.openxmlformats.org/drawingml/2006/main">
              <a:ext uri="{FF2B5EF4-FFF2-40B4-BE49-F238E27FC236}">
                <a16:creationId xmlns:a16="http://schemas.microsoft.com/office/drawing/2014/main" id="{10A3A049-D0EF-443C-B9D1-F05E838A7122}"/>
              </a:ext>
            </a:extLst>
          </p:cNvPr>
          <p:cNvSpPr>
            <a:spLocks xmlns:a="http://schemas.openxmlformats.org/drawingml/2006/main" noGrp="1"/>
          </p:cNvSpPr>
          <p:nvPr/>
        </p:nvSpPr>
        <p:spPr>
          <a:xfrm xmlns:a="http://schemas.openxmlformats.org/drawingml/2006/main">
            <a:off x="6172200" y="3810000"/>
            <a:ext cx="5314950" cy="1533525"/>
          </a:xfrm>
          <a:prstGeom xmlns:a="http://schemas.openxmlformats.org/drawingml/2006/main" prst="roundRect">
            <a:avLst>
              <a:gd name="adj" fmla="val 4969"/>
            </a:avLst>
          </a:prstGeom>
          <a:solidFill xmlns:a="http://schemas.openxmlformats.org/drawingml/2006/main">
            <a:srgbClr val="FFFFFF"/>
          </a:solidFill>
          <a:ln xmlns:a="http://schemas.openxmlformats.org/drawingml/2006/main" w="9525">
            <a:solidFill>
              <a:srgbClr val="CAD6DE"/>
            </a:solidFill>
          </a:ln>
        </p:spPr>
      </p:sp>
      <p:sp>
        <p:nvSpPr>
          <p:cNvPr id="21" name="">
            <a:extLst xmlns:a="http://schemas.openxmlformats.org/drawingml/2006/main">
              <a:ext uri="{FF2B5EF4-FFF2-40B4-BE49-F238E27FC236}">
                <a16:creationId xmlns:a16="http://schemas.microsoft.com/office/drawing/2014/main" id="{54261F08-CC64-4AFA-A3DE-BFE42546EEF0}"/>
              </a:ext>
            </a:extLst>
          </p:cNvPr>
          <p:cNvSpPr>
            <a:spLocks xmlns:a="http://schemas.openxmlformats.org/drawingml/2006/main" noGrp="1"/>
          </p:cNvSpPr>
          <p:nvPr/>
        </p:nvSpPr>
        <p:spPr>
          <a:xfrm xmlns:a="http://schemas.openxmlformats.org/drawingml/2006/main">
            <a:off x="6172200" y="3810000"/>
            <a:ext cx="57150" cy="1533525"/>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2128763-BE32-45A5-809A-7E98FE9F44CD}"/>
              </a:ext>
            </a:extLst>
          </p:cNvPr>
          <p:cNvSpPr>
            <a:spLocks xmlns:a="http://schemas.openxmlformats.org/drawingml/2006/main" noGrp="1"/>
          </p:cNvSpPr>
          <p:nvPr/>
        </p:nvSpPr>
        <p:spPr>
          <a:xfrm xmlns:a="http://schemas.openxmlformats.org/drawingml/2006/main">
            <a:off x="6362700" y="3971925"/>
            <a:ext cx="493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04  Treatment or change</a:t>
            </a:r>
          </a:p>
        </p:txBody>
      </p:sp>
      <p:sp>
        <p:nvSpPr>
          <p:cNvPr id="23" name="">
            <a:extLst xmlns:a="http://schemas.openxmlformats.org/drawingml/2006/main">
              <a:ext uri="{FF2B5EF4-FFF2-40B4-BE49-F238E27FC236}">
                <a16:creationId xmlns:a16="http://schemas.microsoft.com/office/drawing/2014/main" id="{4B3386BC-95E1-4EA5-A149-E89E01B377C0}"/>
              </a:ext>
            </a:extLst>
          </p:cNvPr>
          <p:cNvSpPr>
            <a:spLocks xmlns:a="http://schemas.openxmlformats.org/drawingml/2006/main" noGrp="1"/>
          </p:cNvSpPr>
          <p:nvPr/>
        </p:nvSpPr>
        <p:spPr>
          <a:xfrm xmlns:a="http://schemas.openxmlformats.org/drawingml/2006/main">
            <a:off x="6362700" y="4324350"/>
            <a:ext cx="4933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Confirm resources, treat, discharge or revise</a:t>
            </a:r>
          </a:p>
        </p:txBody>
      </p:sp>
      <p:sp>
        <p:nvSpPr>
          <p:cNvPr id="24" name="">
            <a:extLst xmlns:a="http://schemas.openxmlformats.org/drawingml/2006/main">
              <a:ext uri="{FF2B5EF4-FFF2-40B4-BE49-F238E27FC236}">
                <a16:creationId xmlns:a16="http://schemas.microsoft.com/office/drawing/2014/main" id="{570C69DF-20B6-4748-99A1-A9A9855D753B}"/>
              </a:ext>
            </a:extLst>
          </p:cNvPr>
          <p:cNvSpPr>
            <a:spLocks xmlns:a="http://schemas.openxmlformats.org/drawingml/2006/main" noGrp="1"/>
          </p:cNvSpPr>
          <p:nvPr/>
        </p:nvSpPr>
        <p:spPr>
          <a:xfrm xmlns:a="http://schemas.openxmlformats.org/drawingml/2006/main">
            <a:off x="619125" y="5848350"/>
            <a:ext cx="1095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63047"/>
                </a:solidFill>
                <a:latin typeface="Arial"/>
                <a:ea typeface="Arial"/>
                <a:cs typeface="Arial"/>
              </a:defRPr>
            </a:pPr>
            <a:r>
              <a:rPr sz="1350" b="1">
                <a:solidFill>
                  <a:srgbClr val="163047"/>
                </a:solidFill>
                <a:latin typeface="Arial"/>
                <a:ea typeface="Arial"/>
                <a:cs typeface="Arial"/>
              </a:rPr>
              <a:t>Alternative paths: reject · pending resource · payment investigation · urgent care · change · enquiry</a:t>
            </a:r>
          </a:p>
        </p:txBody>
      </p:sp>
    </p:spTree>
    <p:extLst>
      <p:ext uri="{BB962C8B-B14F-4D97-AF65-F5344CB8AC3E}">
        <p14:creationId xmlns:p14="http://schemas.microsoft.com/office/powerpoint/2010/main" val="1228402632"/>
      </p:ext>
    </p:extLst>
  </p:cSld>
</p:sld>
</file>

<file path=ppt/slides/slide3.xml><?xml version="1.0" encoding="utf-8"?>
<p:sld xmlns:p="http://schemas.openxmlformats.org/presentationml/2006/main">
  <p:cSld>
    <p:bg>
      <p:bgPr>
        <a:solidFill xmlns:a="http://schemas.openxmlformats.org/drawingml/2006/main">
          <a:srgbClr val="F9F7F0"/>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95851EC-C363-4A4C-B520-12BAD271BC8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E445E8-32E8-4B8E-B16E-C474EA23E1A6}"/>
              </a:ext>
            </a:extLst>
          </p:cNvPr>
          <p:cNvSpPr>
            <a:spLocks xmlns:a="http://schemas.openxmlformats.org/drawingml/2006/main" noGrp="1"/>
          </p:cNvSpPr>
          <p:nvPr/>
        </p:nvSpPr>
        <p:spPr>
          <a:xfrm xmlns:a="http://schemas.openxmlformats.org/drawingml/2006/main">
            <a:off x="533400" y="3238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27B76"/>
                </a:solidFill>
                <a:latin typeface="Arial"/>
                <a:ea typeface="Arial"/>
                <a:cs typeface="Arial"/>
              </a:defRPr>
            </a:pPr>
            <a:r>
              <a:rPr sz="975" b="1">
                <a:solidFill>
                  <a:srgbClr val="127B76"/>
                </a:solidFill>
                <a:latin typeface="Arial"/>
                <a:ea typeface="Arial"/>
                <a:cs typeface="Arial"/>
              </a:rPr>
              <a:t>EXECUTABLE ARCHITECTURE</a:t>
            </a:r>
          </a:p>
        </p:txBody>
      </p:sp>
      <p:sp>
        <p:nvSpPr>
          <p:cNvPr id="3" name="">
            <a:extLst xmlns:a="http://schemas.openxmlformats.org/drawingml/2006/main">
              <a:ext uri="{FF2B5EF4-FFF2-40B4-BE49-F238E27FC236}">
                <a16:creationId xmlns:a16="http://schemas.microsoft.com/office/drawing/2014/main" id="{40512BAD-3832-4659-A33A-BC2C4D72249B}"/>
              </a:ext>
            </a:extLst>
          </p:cNvPr>
          <p:cNvSpPr>
            <a:spLocks xmlns:a="http://schemas.openxmlformats.org/drawingml/2006/main" noGrp="1"/>
          </p:cNvSpPr>
          <p:nvPr/>
        </p:nvSpPr>
        <p:spPr>
          <a:xfrm xmlns:a="http://schemas.openxmlformats.org/drawingml/2006/main">
            <a:off x="533400" y="59055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163047"/>
                </a:solidFill>
                <a:latin typeface="Arial"/>
                <a:ea typeface="Arial"/>
                <a:cs typeface="Arial"/>
              </a:defRPr>
            </a:pPr>
            <a:r>
              <a:rPr sz="2850" b="1">
                <a:solidFill>
                  <a:srgbClr val="163047"/>
                </a:solidFill>
                <a:latin typeface="Arial"/>
                <a:ea typeface="Arial"/>
                <a:cs typeface="Arial"/>
              </a:rPr>
              <a:t>How BPMN, forms and Java work together</a:t>
            </a:r>
          </a:p>
        </p:txBody>
      </p:sp>
      <p:sp>
        <p:nvSpPr>
          <p:cNvPr id="4" name="">
            <a:extLst xmlns:a="http://schemas.openxmlformats.org/drawingml/2006/main">
              <a:ext uri="{FF2B5EF4-FFF2-40B4-BE49-F238E27FC236}">
                <a16:creationId xmlns:a16="http://schemas.microsoft.com/office/drawing/2014/main" id="{3A59420C-2B3B-43B8-BAEC-3987080842D3}"/>
              </a:ext>
            </a:extLst>
          </p:cNvPr>
          <p:cNvSpPr>
            <a:spLocks xmlns:a="http://schemas.openxmlformats.org/drawingml/2006/main" noGrp="1"/>
          </p:cNvSpPr>
          <p:nvPr/>
        </p:nvSpPr>
        <p:spPr>
          <a:xfrm xmlns:a="http://schemas.openxmlformats.org/drawingml/2006/main">
            <a:off x="552450" y="1219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97185"/>
                </a:solidFill>
                <a:latin typeface="Arial"/>
                <a:ea typeface="Arial"/>
                <a:cs typeface="Arial"/>
              </a:defRPr>
            </a:pPr>
            <a:r>
              <a:rPr sz="1275" b="0">
                <a:solidFill>
                  <a:srgbClr val="597185"/>
                </a:solidFill>
                <a:latin typeface="Arial"/>
                <a:ea typeface="Arial"/>
                <a:cs typeface="Arial"/>
              </a:rPr>
              <a:t>A user action sets variables; gateways route; service tasks call Java workers.</a:t>
            </a:r>
          </a:p>
        </p:txBody>
      </p:sp>
      <p:sp>
        <p:nvSpPr>
          <p:cNvPr id="5" name="">
            <a:extLst xmlns:a="http://schemas.openxmlformats.org/drawingml/2006/main">
              <a:ext uri="{FF2B5EF4-FFF2-40B4-BE49-F238E27FC236}">
                <a16:creationId xmlns:a16="http://schemas.microsoft.com/office/drawing/2014/main" id="{E9C53EA3-58FA-40A5-9E7F-394307577700}"/>
              </a:ext>
            </a:extLst>
          </p:cNvPr>
          <p:cNvSpPr>
            <a:spLocks xmlns:a="http://schemas.openxmlformats.org/drawingml/2006/main" noGrp="1"/>
          </p:cNvSpPr>
          <p:nvPr/>
        </p:nvSpPr>
        <p:spPr>
          <a:xfrm xmlns:a="http://schemas.openxmlformats.org/drawingml/2006/main">
            <a:off x="533400" y="6353175"/>
            <a:ext cx="11125200" cy="9525"/>
          </a:xfrm>
          <a:prstGeom xmlns:a="http://schemas.openxmlformats.org/drawingml/2006/main" prst="rect">
            <a:avLst/>
          </a:prstGeom>
          <a:solidFill xmlns:a="http://schemas.openxmlformats.org/drawingml/2006/main">
            <a:srgbClr val="CAD6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73CA1F1-8447-4D78-89B7-D80D00798FB7}"/>
              </a:ext>
            </a:extLst>
          </p:cNvPr>
          <p:cNvSpPr>
            <a:spLocks xmlns:a="http://schemas.openxmlformats.org/drawingml/2006/main" noGrp="1"/>
          </p:cNvSpPr>
          <p:nvPr/>
        </p:nvSpPr>
        <p:spPr>
          <a:xfrm xmlns:a="http://schemas.openxmlformats.org/drawingml/2006/main">
            <a:off x="533400" y="645795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97185"/>
                </a:solidFill>
                <a:latin typeface="Arial"/>
                <a:ea typeface="Arial"/>
                <a:cs typeface="Arial"/>
              </a:defRPr>
            </a:pPr>
            <a:r>
              <a:rPr sz="900" b="0">
                <a:solidFill>
                  <a:srgbClr val="597185"/>
                </a:solidFill>
                <a:latin typeface="Arial"/>
                <a:ea typeface="Arial"/>
                <a:cs typeface="Arial"/>
              </a:rPr>
              <a:t>Hospital Pathway  |  BPM&amp;EA / UFCEP4-0-3</a:t>
            </a:r>
          </a:p>
        </p:txBody>
      </p:sp>
      <p:sp>
        <p:nvSpPr>
          <p:cNvPr id="7" name="">
            <a:extLst xmlns:a="http://schemas.openxmlformats.org/drawingml/2006/main">
              <a:ext uri="{FF2B5EF4-FFF2-40B4-BE49-F238E27FC236}">
                <a16:creationId xmlns:a16="http://schemas.microsoft.com/office/drawing/2014/main" id="{56989FA1-415C-4C93-A23E-6034DE917655}"/>
              </a:ext>
            </a:extLst>
          </p:cNvPr>
          <p:cNvSpPr>
            <a:spLocks xmlns:a="http://schemas.openxmlformats.org/drawingml/2006/main" noGrp="1"/>
          </p:cNvSpPr>
          <p:nvPr/>
        </p:nvSpPr>
        <p:spPr>
          <a:xfrm xmlns:a="http://schemas.openxmlformats.org/drawingml/2006/main">
            <a:off x="10496550" y="6457950"/>
            <a:ext cx="116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597185"/>
                </a:solidFill>
                <a:latin typeface="Arial"/>
                <a:ea typeface="Arial"/>
                <a:cs typeface="Arial"/>
              </a:defRPr>
            </a:pPr>
            <a:r>
              <a:rPr sz="900" b="1">
                <a:solidFill>
                  <a:srgbClr val="597185"/>
                </a:solidFill>
                <a:latin typeface="Arial"/>
                <a:ea typeface="Arial"/>
                <a:cs typeface="Arial"/>
              </a:rPr>
              <a:t>03 / 08</a:t>
            </a:r>
          </a:p>
        </p:txBody>
      </p:sp>
      <p:sp>
        <p:nvSpPr>
          <p:cNvPr id="8" name="">
            <a:extLst xmlns:a="http://schemas.openxmlformats.org/drawingml/2006/main">
              <a:ext uri="{FF2B5EF4-FFF2-40B4-BE49-F238E27FC236}">
                <a16:creationId xmlns:a16="http://schemas.microsoft.com/office/drawing/2014/main" id="{F56F7BAB-5F13-40EB-9E30-E1EE73303666}"/>
              </a:ext>
            </a:extLst>
          </p:cNvPr>
          <p:cNvSpPr>
            <a:spLocks xmlns:a="http://schemas.openxmlformats.org/drawingml/2006/main" noGrp="1"/>
          </p:cNvSpPr>
          <p:nvPr/>
        </p:nvSpPr>
        <p:spPr>
          <a:xfrm xmlns:a="http://schemas.openxmlformats.org/drawingml/2006/main">
            <a:off x="542925" y="2038350"/>
            <a:ext cx="2705100" cy="2266950"/>
          </a:xfrm>
          <a:prstGeom xmlns:a="http://schemas.openxmlformats.org/drawingml/2006/main" prst="roundRect">
            <a:avLst>
              <a:gd name="adj" fmla="val 3361"/>
            </a:avLst>
          </a:prstGeom>
          <a:solidFill xmlns:a="http://schemas.openxmlformats.org/drawingml/2006/main">
            <a:srgbClr val="E8F1F8"/>
          </a:solidFill>
          <a:ln xmlns:a="http://schemas.openxmlformats.org/drawingml/2006/main" w="9525">
            <a:solidFill>
              <a:srgbClr val="CAD6DE"/>
            </a:solidFill>
          </a:ln>
        </p:spPr>
      </p:sp>
      <p:sp>
        <p:nvSpPr>
          <p:cNvPr id="9" name="">
            <a:extLst xmlns:a="http://schemas.openxmlformats.org/drawingml/2006/main">
              <a:ext uri="{FF2B5EF4-FFF2-40B4-BE49-F238E27FC236}">
                <a16:creationId xmlns:a16="http://schemas.microsoft.com/office/drawing/2014/main" id="{F8EE0C96-13FF-4538-8318-4E60C160BBA6}"/>
              </a:ext>
            </a:extLst>
          </p:cNvPr>
          <p:cNvSpPr>
            <a:spLocks xmlns:a="http://schemas.openxmlformats.org/drawingml/2006/main" noGrp="1"/>
          </p:cNvSpPr>
          <p:nvPr/>
        </p:nvSpPr>
        <p:spPr>
          <a:xfrm xmlns:a="http://schemas.openxmlformats.org/drawingml/2006/main">
            <a:off x="542925" y="2038350"/>
            <a:ext cx="57150" cy="226695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BF65656-9ADF-4F5B-81C5-528F0B5A8C56}"/>
              </a:ext>
            </a:extLst>
          </p:cNvPr>
          <p:cNvSpPr>
            <a:spLocks xmlns:a="http://schemas.openxmlformats.org/drawingml/2006/main" noGrp="1"/>
          </p:cNvSpPr>
          <p:nvPr/>
        </p:nvSpPr>
        <p:spPr>
          <a:xfrm xmlns:a="http://schemas.openxmlformats.org/drawingml/2006/main">
            <a:off x="733425" y="2200275"/>
            <a:ext cx="232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USER TASK</a:t>
            </a:r>
          </a:p>
        </p:txBody>
      </p:sp>
      <p:sp>
        <p:nvSpPr>
          <p:cNvPr id="11" name="">
            <a:extLst xmlns:a="http://schemas.openxmlformats.org/drawingml/2006/main">
              <a:ext uri="{FF2B5EF4-FFF2-40B4-BE49-F238E27FC236}">
                <a16:creationId xmlns:a16="http://schemas.microsoft.com/office/drawing/2014/main" id="{5EDA1DBD-5F56-48D3-921E-20864FBC9798}"/>
              </a:ext>
            </a:extLst>
          </p:cNvPr>
          <p:cNvSpPr>
            <a:spLocks xmlns:a="http://schemas.openxmlformats.org/drawingml/2006/main" noGrp="1"/>
          </p:cNvSpPr>
          <p:nvPr/>
        </p:nvSpPr>
        <p:spPr>
          <a:xfrm xmlns:a="http://schemas.openxmlformats.org/drawingml/2006/main">
            <a:off x="733425" y="2552700"/>
            <a:ext cx="23241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Tasklist loads a bound Camunda Form.</a:t>
            </a:r>
          </a:p>
        </p:txBody>
      </p:sp>
      <p:sp>
        <p:nvSpPr>
          <p:cNvPr id="12" name="">
            <a:extLst xmlns:a="http://schemas.openxmlformats.org/drawingml/2006/main">
              <a:ext uri="{FF2B5EF4-FFF2-40B4-BE49-F238E27FC236}">
                <a16:creationId xmlns:a16="http://schemas.microsoft.com/office/drawing/2014/main" id="{0E7C9493-F8A4-4CE8-B722-58FB742BED68}"/>
              </a:ext>
            </a:extLst>
          </p:cNvPr>
          <p:cNvSpPr>
            <a:spLocks xmlns:a="http://schemas.openxmlformats.org/drawingml/2006/main" noGrp="1"/>
          </p:cNvSpPr>
          <p:nvPr/>
        </p:nvSpPr>
        <p:spPr>
          <a:xfrm xmlns:a="http://schemas.openxmlformats.org/drawingml/2006/main">
            <a:off x="3267075" y="2867025"/>
            <a:ext cx="304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27B76"/>
                </a:solidFill>
                <a:latin typeface="Arial"/>
                <a:ea typeface="Arial"/>
                <a:cs typeface="Arial"/>
              </a:defRPr>
            </a:pPr>
            <a:r>
              <a:rPr sz="2550" b="1">
                <a:solidFill>
                  <a:srgbClr val="127B76"/>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5CFEE3E4-2D1A-480F-8DDD-A98586761651}"/>
              </a:ext>
            </a:extLst>
          </p:cNvPr>
          <p:cNvSpPr>
            <a:spLocks xmlns:a="http://schemas.openxmlformats.org/drawingml/2006/main" noGrp="1"/>
          </p:cNvSpPr>
          <p:nvPr/>
        </p:nvSpPr>
        <p:spPr>
          <a:xfrm xmlns:a="http://schemas.openxmlformats.org/drawingml/2006/main">
            <a:off x="3467100" y="2038350"/>
            <a:ext cx="2705100" cy="2266950"/>
          </a:xfrm>
          <a:prstGeom xmlns:a="http://schemas.openxmlformats.org/drawingml/2006/main" prst="roundRect">
            <a:avLst>
              <a:gd name="adj" fmla="val 3361"/>
            </a:avLst>
          </a:prstGeom>
          <a:solidFill xmlns:a="http://schemas.openxmlformats.org/drawingml/2006/main">
            <a:srgbClr val="FFFFFF"/>
          </a:solidFill>
          <a:ln xmlns:a="http://schemas.openxmlformats.org/drawingml/2006/main" w="9525">
            <a:solidFill>
              <a:srgbClr val="CAD6DE"/>
            </a:solidFill>
          </a:ln>
        </p:spPr>
      </p:sp>
      <p:sp>
        <p:nvSpPr>
          <p:cNvPr id="14" name="">
            <a:extLst xmlns:a="http://schemas.openxmlformats.org/drawingml/2006/main">
              <a:ext uri="{FF2B5EF4-FFF2-40B4-BE49-F238E27FC236}">
                <a16:creationId xmlns:a16="http://schemas.microsoft.com/office/drawing/2014/main" id="{5B82E26C-6E15-4108-89B1-0D19F5FC0C12}"/>
              </a:ext>
            </a:extLst>
          </p:cNvPr>
          <p:cNvSpPr>
            <a:spLocks xmlns:a="http://schemas.openxmlformats.org/drawingml/2006/main" noGrp="1"/>
          </p:cNvSpPr>
          <p:nvPr/>
        </p:nvSpPr>
        <p:spPr>
          <a:xfrm xmlns:a="http://schemas.openxmlformats.org/drawingml/2006/main">
            <a:off x="3467100" y="2038350"/>
            <a:ext cx="57150" cy="226695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1B9FD2D-5212-4F9E-A43C-95D8C5C0142C}"/>
              </a:ext>
            </a:extLst>
          </p:cNvPr>
          <p:cNvSpPr>
            <a:spLocks xmlns:a="http://schemas.openxmlformats.org/drawingml/2006/main" noGrp="1"/>
          </p:cNvSpPr>
          <p:nvPr/>
        </p:nvSpPr>
        <p:spPr>
          <a:xfrm xmlns:a="http://schemas.openxmlformats.org/drawingml/2006/main">
            <a:off x="3657600" y="2200275"/>
            <a:ext cx="232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GATEWAY</a:t>
            </a:r>
          </a:p>
        </p:txBody>
      </p:sp>
      <p:sp>
        <p:nvSpPr>
          <p:cNvPr id="16" name="">
            <a:extLst xmlns:a="http://schemas.openxmlformats.org/drawingml/2006/main">
              <a:ext uri="{FF2B5EF4-FFF2-40B4-BE49-F238E27FC236}">
                <a16:creationId xmlns:a16="http://schemas.microsoft.com/office/drawing/2014/main" id="{8985A760-7A56-42DE-9479-37FB81C5358F}"/>
              </a:ext>
            </a:extLst>
          </p:cNvPr>
          <p:cNvSpPr>
            <a:spLocks xmlns:a="http://schemas.openxmlformats.org/drawingml/2006/main" noGrp="1"/>
          </p:cNvSpPr>
          <p:nvPr/>
        </p:nvSpPr>
        <p:spPr>
          <a:xfrm xmlns:a="http://schemas.openxmlformats.org/drawingml/2006/main">
            <a:off x="3657600" y="2552700"/>
            <a:ext cx="23241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A FEEL condition reads the submitted variables.</a:t>
            </a:r>
          </a:p>
        </p:txBody>
      </p:sp>
      <p:sp>
        <p:nvSpPr>
          <p:cNvPr id="17" name="">
            <a:extLst xmlns:a="http://schemas.openxmlformats.org/drawingml/2006/main">
              <a:ext uri="{FF2B5EF4-FFF2-40B4-BE49-F238E27FC236}">
                <a16:creationId xmlns:a16="http://schemas.microsoft.com/office/drawing/2014/main" id="{154A904A-2856-4B36-A0EB-4F8ADF434602}"/>
              </a:ext>
            </a:extLst>
          </p:cNvPr>
          <p:cNvSpPr>
            <a:spLocks xmlns:a="http://schemas.openxmlformats.org/drawingml/2006/main" noGrp="1"/>
          </p:cNvSpPr>
          <p:nvPr/>
        </p:nvSpPr>
        <p:spPr>
          <a:xfrm xmlns:a="http://schemas.openxmlformats.org/drawingml/2006/main">
            <a:off x="6191250" y="2867025"/>
            <a:ext cx="304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27B76"/>
                </a:solidFill>
                <a:latin typeface="Arial"/>
                <a:ea typeface="Arial"/>
                <a:cs typeface="Arial"/>
              </a:defRPr>
            </a:pPr>
            <a:r>
              <a:rPr sz="2550" b="1">
                <a:solidFill>
                  <a:srgbClr val="127B76"/>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9A3CBA1E-9172-428B-B06C-43D643CA694F}"/>
              </a:ext>
            </a:extLst>
          </p:cNvPr>
          <p:cNvSpPr>
            <a:spLocks xmlns:a="http://schemas.openxmlformats.org/drawingml/2006/main" noGrp="1"/>
          </p:cNvSpPr>
          <p:nvPr/>
        </p:nvSpPr>
        <p:spPr>
          <a:xfrm xmlns:a="http://schemas.openxmlformats.org/drawingml/2006/main">
            <a:off x="6391275" y="2038350"/>
            <a:ext cx="2705100" cy="2266950"/>
          </a:xfrm>
          <a:prstGeom xmlns:a="http://schemas.openxmlformats.org/drawingml/2006/main" prst="roundRect">
            <a:avLst>
              <a:gd name="adj" fmla="val 3361"/>
            </a:avLst>
          </a:prstGeom>
          <a:solidFill xmlns:a="http://schemas.openxmlformats.org/drawingml/2006/main">
            <a:srgbClr val="E8F1F8"/>
          </a:solidFill>
          <a:ln xmlns:a="http://schemas.openxmlformats.org/drawingml/2006/main" w="9525">
            <a:solidFill>
              <a:srgbClr val="CAD6DE"/>
            </a:solidFill>
          </a:ln>
        </p:spPr>
      </p:sp>
      <p:sp>
        <p:nvSpPr>
          <p:cNvPr id="19" name="">
            <a:extLst xmlns:a="http://schemas.openxmlformats.org/drawingml/2006/main">
              <a:ext uri="{FF2B5EF4-FFF2-40B4-BE49-F238E27FC236}">
                <a16:creationId xmlns:a16="http://schemas.microsoft.com/office/drawing/2014/main" id="{83D11CBA-AC34-4359-8329-3D03C30ADA50}"/>
              </a:ext>
            </a:extLst>
          </p:cNvPr>
          <p:cNvSpPr>
            <a:spLocks xmlns:a="http://schemas.openxmlformats.org/drawingml/2006/main" noGrp="1"/>
          </p:cNvSpPr>
          <p:nvPr/>
        </p:nvSpPr>
        <p:spPr>
          <a:xfrm xmlns:a="http://schemas.openxmlformats.org/drawingml/2006/main">
            <a:off x="6391275" y="2038350"/>
            <a:ext cx="57150" cy="2266950"/>
          </a:xfrm>
          <a:prstGeom xmlns:a="http://schemas.openxmlformats.org/drawingml/2006/main" prst="rect">
            <a:avLst/>
          </a:prstGeom>
          <a:solidFill xmlns:a="http://schemas.openxmlformats.org/drawingml/2006/main">
            <a:srgbClr val="E8A2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99D6DB8-905D-4650-B59B-0A256B71CC39}"/>
              </a:ext>
            </a:extLst>
          </p:cNvPr>
          <p:cNvSpPr>
            <a:spLocks xmlns:a="http://schemas.openxmlformats.org/drawingml/2006/main" noGrp="1"/>
          </p:cNvSpPr>
          <p:nvPr/>
        </p:nvSpPr>
        <p:spPr>
          <a:xfrm xmlns:a="http://schemas.openxmlformats.org/drawingml/2006/main">
            <a:off x="6581775" y="2200275"/>
            <a:ext cx="232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SERVICE TASK</a:t>
            </a:r>
          </a:p>
        </p:txBody>
      </p:sp>
      <p:sp>
        <p:nvSpPr>
          <p:cNvPr id="21" name="">
            <a:extLst xmlns:a="http://schemas.openxmlformats.org/drawingml/2006/main">
              <a:ext uri="{FF2B5EF4-FFF2-40B4-BE49-F238E27FC236}">
                <a16:creationId xmlns:a16="http://schemas.microsoft.com/office/drawing/2014/main" id="{3026426B-0E67-4352-8742-6313992DBE16}"/>
              </a:ext>
            </a:extLst>
          </p:cNvPr>
          <p:cNvSpPr>
            <a:spLocks xmlns:a="http://schemas.openxmlformats.org/drawingml/2006/main" noGrp="1"/>
          </p:cNvSpPr>
          <p:nvPr/>
        </p:nvSpPr>
        <p:spPr>
          <a:xfrm xmlns:a="http://schemas.openxmlformats.org/drawingml/2006/main">
            <a:off x="6581775" y="2552700"/>
            <a:ext cx="23241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A Java JobWorker handles the BPMN job type.</a:t>
            </a:r>
          </a:p>
        </p:txBody>
      </p:sp>
      <p:sp>
        <p:nvSpPr>
          <p:cNvPr id="22" name="">
            <a:extLst xmlns:a="http://schemas.openxmlformats.org/drawingml/2006/main">
              <a:ext uri="{FF2B5EF4-FFF2-40B4-BE49-F238E27FC236}">
                <a16:creationId xmlns:a16="http://schemas.microsoft.com/office/drawing/2014/main" id="{9F1A0387-1872-4D2E-956D-09075D672218}"/>
              </a:ext>
            </a:extLst>
          </p:cNvPr>
          <p:cNvSpPr>
            <a:spLocks xmlns:a="http://schemas.openxmlformats.org/drawingml/2006/main" noGrp="1"/>
          </p:cNvSpPr>
          <p:nvPr/>
        </p:nvSpPr>
        <p:spPr>
          <a:xfrm xmlns:a="http://schemas.openxmlformats.org/drawingml/2006/main">
            <a:off x="9115425" y="2867025"/>
            <a:ext cx="304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27B76"/>
                </a:solidFill>
                <a:latin typeface="Arial"/>
                <a:ea typeface="Arial"/>
                <a:cs typeface="Arial"/>
              </a:defRPr>
            </a:pPr>
            <a:r>
              <a:rPr sz="2550" b="1">
                <a:solidFill>
                  <a:srgbClr val="127B76"/>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792495C5-933E-492E-A7E0-4C48EA080556}"/>
              </a:ext>
            </a:extLst>
          </p:cNvPr>
          <p:cNvSpPr>
            <a:spLocks xmlns:a="http://schemas.openxmlformats.org/drawingml/2006/main" noGrp="1"/>
          </p:cNvSpPr>
          <p:nvPr/>
        </p:nvSpPr>
        <p:spPr>
          <a:xfrm xmlns:a="http://schemas.openxmlformats.org/drawingml/2006/main">
            <a:off x="9315450" y="2038350"/>
            <a:ext cx="2705100" cy="2266950"/>
          </a:xfrm>
          <a:prstGeom xmlns:a="http://schemas.openxmlformats.org/drawingml/2006/main" prst="roundRect">
            <a:avLst>
              <a:gd name="adj" fmla="val 3361"/>
            </a:avLst>
          </a:prstGeom>
          <a:solidFill xmlns:a="http://schemas.openxmlformats.org/drawingml/2006/main">
            <a:srgbClr val="FFFFFF"/>
          </a:solidFill>
          <a:ln xmlns:a="http://schemas.openxmlformats.org/drawingml/2006/main" w="9525">
            <a:solidFill>
              <a:srgbClr val="CAD6DE"/>
            </a:solidFill>
          </a:ln>
        </p:spPr>
      </p:sp>
      <p:sp>
        <p:nvSpPr>
          <p:cNvPr id="24" name="">
            <a:extLst xmlns:a="http://schemas.openxmlformats.org/drawingml/2006/main">
              <a:ext uri="{FF2B5EF4-FFF2-40B4-BE49-F238E27FC236}">
                <a16:creationId xmlns:a16="http://schemas.microsoft.com/office/drawing/2014/main" id="{C7FFBE95-F607-4ED0-A954-2373E07147F9}"/>
              </a:ext>
            </a:extLst>
          </p:cNvPr>
          <p:cNvSpPr>
            <a:spLocks xmlns:a="http://schemas.openxmlformats.org/drawingml/2006/main" noGrp="1"/>
          </p:cNvSpPr>
          <p:nvPr/>
        </p:nvSpPr>
        <p:spPr>
          <a:xfrm xmlns:a="http://schemas.openxmlformats.org/drawingml/2006/main">
            <a:off x="9315450" y="2038350"/>
            <a:ext cx="57150" cy="226695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3B03C00-C77F-465E-B801-F96B0C3B269A}"/>
              </a:ext>
            </a:extLst>
          </p:cNvPr>
          <p:cNvSpPr>
            <a:spLocks xmlns:a="http://schemas.openxmlformats.org/drawingml/2006/main" noGrp="1"/>
          </p:cNvSpPr>
          <p:nvPr/>
        </p:nvSpPr>
        <p:spPr>
          <a:xfrm xmlns:a="http://schemas.openxmlformats.org/drawingml/2006/main">
            <a:off x="9505950" y="2200275"/>
            <a:ext cx="232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RESULT</a:t>
            </a:r>
          </a:p>
        </p:txBody>
      </p:sp>
      <p:sp>
        <p:nvSpPr>
          <p:cNvPr id="26" name="">
            <a:extLst xmlns:a="http://schemas.openxmlformats.org/drawingml/2006/main">
              <a:ext uri="{FF2B5EF4-FFF2-40B4-BE49-F238E27FC236}">
                <a16:creationId xmlns:a16="http://schemas.microsoft.com/office/drawing/2014/main" id="{60B2DD1F-2FBD-445D-889C-928BB28967D6}"/>
              </a:ext>
            </a:extLst>
          </p:cNvPr>
          <p:cNvSpPr>
            <a:spLocks xmlns:a="http://schemas.openxmlformats.org/drawingml/2006/main" noGrp="1"/>
          </p:cNvSpPr>
          <p:nvPr/>
        </p:nvSpPr>
        <p:spPr>
          <a:xfrm xmlns:a="http://schemas.openxmlformats.org/drawingml/2006/main">
            <a:off x="9505950" y="2552700"/>
            <a:ext cx="23241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Worker returns variables, writes mock H2 records or publishes a message.</a:t>
            </a:r>
          </a:p>
        </p:txBody>
      </p:sp>
      <p:sp>
        <p:nvSpPr>
          <p:cNvPr id="27" name="">
            <a:extLst xmlns:a="http://schemas.openxmlformats.org/drawingml/2006/main">
              <a:ext uri="{FF2B5EF4-FFF2-40B4-BE49-F238E27FC236}">
                <a16:creationId xmlns:a16="http://schemas.microsoft.com/office/drawing/2014/main" id="{A01EABF6-1D0A-4A08-B8A5-F409EA35B444}"/>
              </a:ext>
            </a:extLst>
          </p:cNvPr>
          <p:cNvSpPr>
            <a:spLocks xmlns:a="http://schemas.openxmlformats.org/drawingml/2006/main" noGrp="1"/>
          </p:cNvSpPr>
          <p:nvPr/>
        </p:nvSpPr>
        <p:spPr>
          <a:xfrm xmlns:a="http://schemas.openxmlformats.org/drawingml/2006/main">
            <a:off x="561975" y="4762500"/>
            <a:ext cx="11068050" cy="952500"/>
          </a:xfrm>
          <a:prstGeom xmlns:a="http://schemas.openxmlformats.org/drawingml/2006/main" prst="roundRect">
            <a:avLst>
              <a:gd name="adj" fmla="val 8000"/>
            </a:avLst>
          </a:prstGeom>
          <a:solidFill xmlns:a="http://schemas.openxmlformats.org/drawingml/2006/main">
            <a:srgbClr val="E2F3E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1A1CCBE-7231-49B0-9F81-45597DA24C6E}"/>
              </a:ext>
            </a:extLst>
          </p:cNvPr>
          <p:cNvSpPr>
            <a:spLocks xmlns:a="http://schemas.openxmlformats.org/drawingml/2006/main" noGrp="1"/>
          </p:cNvSpPr>
          <p:nvPr/>
        </p:nvSpPr>
        <p:spPr>
          <a:xfrm xmlns:a="http://schemas.openxmlformats.org/drawingml/2006/main">
            <a:off x="781050" y="4962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63047"/>
                </a:solidFill>
                <a:latin typeface="Arial"/>
                <a:ea typeface="Arial"/>
                <a:cs typeface="Arial"/>
              </a:defRPr>
            </a:pPr>
            <a:r>
              <a:rPr sz="1350" b="1">
                <a:solidFill>
                  <a:srgbClr val="163047"/>
                </a:solidFill>
                <a:latin typeface="Arial"/>
                <a:ea typeface="Arial"/>
                <a:cs typeface="Arial"/>
              </a:rPr>
              <a:t>Payment example</a:t>
            </a:r>
          </a:p>
        </p:txBody>
      </p:sp>
      <p:sp>
        <p:nvSpPr>
          <p:cNvPr id="29" name="">
            <a:extLst xmlns:a="http://schemas.openxmlformats.org/drawingml/2006/main">
              <a:ext uri="{FF2B5EF4-FFF2-40B4-BE49-F238E27FC236}">
                <a16:creationId xmlns:a16="http://schemas.microsoft.com/office/drawing/2014/main" id="{31E94781-6A92-4304-9C45-825F0E50C056}"/>
              </a:ext>
            </a:extLst>
          </p:cNvPr>
          <p:cNvSpPr>
            <a:spLocks xmlns:a="http://schemas.openxmlformats.org/drawingml/2006/main" noGrp="1"/>
          </p:cNvSpPr>
          <p:nvPr/>
        </p:nvSpPr>
        <p:spPr>
          <a:xfrm xmlns:a="http://schemas.openxmlformats.org/drawingml/2006/main">
            <a:off x="2571750" y="4953000"/>
            <a:ext cx="861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1A344B"/>
                </a:solidFill>
                <a:latin typeface="Arial"/>
                <a:ea typeface="Arial"/>
                <a:cs typeface="Arial"/>
              </a:defRPr>
            </a:pPr>
            <a:r>
              <a:rPr sz="1575" b="0">
                <a:solidFill>
                  <a:srgbClr val="1A344B"/>
                </a:solidFill>
                <a:latin typeface="Arial"/>
                <a:ea typeface="Arial"/>
                <a:cs typeface="Arial"/>
              </a:rPr>
              <a:t>request-payment → correlated payment-result → Funding gateway → Book treatment</a:t>
            </a:r>
          </a:p>
        </p:txBody>
      </p:sp>
    </p:spTree>
    <p:extLst>
      <p:ext uri="{BB962C8B-B14F-4D97-AF65-F5344CB8AC3E}">
        <p14:creationId xmlns:p14="http://schemas.microsoft.com/office/powerpoint/2010/main" val="726144357"/>
      </p:ext>
    </p:extLst>
  </p:cSld>
</p:sld>
</file>

<file path=ppt/slides/slide4.xml><?xml version="1.0" encoding="utf-8"?>
<p:sld xmlns:p="http://schemas.openxmlformats.org/presentationml/2006/main">
  <p:cSld>
    <p:bg>
      <p:bgPr>
        <a:solidFill xmlns:a="http://schemas.openxmlformats.org/drawingml/2006/main">
          <a:srgbClr val="F9F7F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F2FF295-3939-4694-B199-9589871E029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BC937D-80EB-491B-B5AB-38CA511579B5}"/>
              </a:ext>
            </a:extLst>
          </p:cNvPr>
          <p:cNvSpPr>
            <a:spLocks xmlns:a="http://schemas.openxmlformats.org/drawingml/2006/main" noGrp="1"/>
          </p:cNvSpPr>
          <p:nvPr/>
        </p:nvSpPr>
        <p:spPr>
          <a:xfrm xmlns:a="http://schemas.openxmlformats.org/drawingml/2006/main">
            <a:off x="533400" y="3238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27B76"/>
                </a:solidFill>
                <a:latin typeface="Arial"/>
                <a:ea typeface="Arial"/>
                <a:cs typeface="Arial"/>
              </a:defRPr>
            </a:pPr>
            <a:r>
              <a:rPr sz="975" b="1">
                <a:solidFill>
                  <a:srgbClr val="127B76"/>
                </a:solidFill>
                <a:latin typeface="Arial"/>
                <a:ea typeface="Arial"/>
                <a:cs typeface="Arial"/>
              </a:rPr>
              <a:t>TEAM ACCOUNTABILITY</a:t>
            </a:r>
          </a:p>
        </p:txBody>
      </p:sp>
      <p:sp>
        <p:nvSpPr>
          <p:cNvPr id="3" name="">
            <a:extLst xmlns:a="http://schemas.openxmlformats.org/drawingml/2006/main">
              <a:ext uri="{FF2B5EF4-FFF2-40B4-BE49-F238E27FC236}">
                <a16:creationId xmlns:a16="http://schemas.microsoft.com/office/drawing/2014/main" id="{00A9D2D8-5BB9-4E67-9064-36894E2FC7BF}"/>
              </a:ext>
            </a:extLst>
          </p:cNvPr>
          <p:cNvSpPr>
            <a:spLocks xmlns:a="http://schemas.openxmlformats.org/drawingml/2006/main" noGrp="1"/>
          </p:cNvSpPr>
          <p:nvPr/>
        </p:nvSpPr>
        <p:spPr>
          <a:xfrm xmlns:a="http://schemas.openxmlformats.org/drawingml/2006/main">
            <a:off x="533400" y="59055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163047"/>
                </a:solidFill>
                <a:latin typeface="Arial"/>
                <a:ea typeface="Arial"/>
                <a:cs typeface="Arial"/>
              </a:defRPr>
            </a:pPr>
            <a:r>
              <a:rPr sz="2850" b="1">
                <a:solidFill>
                  <a:srgbClr val="163047"/>
                </a:solidFill>
                <a:latin typeface="Arial"/>
                <a:ea typeface="Arial"/>
                <a:cs typeface="Arial"/>
              </a:rPr>
              <a:t>Each member owns a business hand-off</a:t>
            </a:r>
          </a:p>
        </p:txBody>
      </p:sp>
      <p:sp>
        <p:nvSpPr>
          <p:cNvPr id="4" name="">
            <a:extLst xmlns:a="http://schemas.openxmlformats.org/drawingml/2006/main">
              <a:ext uri="{FF2B5EF4-FFF2-40B4-BE49-F238E27FC236}">
                <a16:creationId xmlns:a16="http://schemas.microsoft.com/office/drawing/2014/main" id="{584F2183-3B49-4BFE-92F3-640BBA8193A7}"/>
              </a:ext>
            </a:extLst>
          </p:cNvPr>
          <p:cNvSpPr>
            <a:spLocks xmlns:a="http://schemas.openxmlformats.org/drawingml/2006/main" noGrp="1"/>
          </p:cNvSpPr>
          <p:nvPr/>
        </p:nvSpPr>
        <p:spPr>
          <a:xfrm xmlns:a="http://schemas.openxmlformats.org/drawingml/2006/main">
            <a:off x="552450" y="1219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97185"/>
                </a:solidFill>
                <a:latin typeface="Arial"/>
                <a:ea typeface="Arial"/>
                <a:cs typeface="Arial"/>
              </a:defRPr>
            </a:pPr>
            <a:r>
              <a:rPr sz="1275" b="0">
                <a:solidFill>
                  <a:srgbClr val="597185"/>
                </a:solidFill>
                <a:latin typeface="Arial"/>
                <a:ea typeface="Arial"/>
                <a:cs typeface="Arial"/>
              </a:rPr>
              <a:t>The code and recorded evidence are traced to the same operational diagram.</a:t>
            </a:r>
          </a:p>
        </p:txBody>
      </p:sp>
      <p:sp>
        <p:nvSpPr>
          <p:cNvPr id="5" name="">
            <a:extLst xmlns:a="http://schemas.openxmlformats.org/drawingml/2006/main">
              <a:ext uri="{FF2B5EF4-FFF2-40B4-BE49-F238E27FC236}">
                <a16:creationId xmlns:a16="http://schemas.microsoft.com/office/drawing/2014/main" id="{A81FDB95-F895-4604-98E6-D4D2DB7CF74E}"/>
              </a:ext>
            </a:extLst>
          </p:cNvPr>
          <p:cNvSpPr>
            <a:spLocks xmlns:a="http://schemas.openxmlformats.org/drawingml/2006/main" noGrp="1"/>
          </p:cNvSpPr>
          <p:nvPr/>
        </p:nvSpPr>
        <p:spPr>
          <a:xfrm xmlns:a="http://schemas.openxmlformats.org/drawingml/2006/main">
            <a:off x="533400" y="6353175"/>
            <a:ext cx="11125200" cy="9525"/>
          </a:xfrm>
          <a:prstGeom xmlns:a="http://schemas.openxmlformats.org/drawingml/2006/main" prst="rect">
            <a:avLst/>
          </a:prstGeom>
          <a:solidFill xmlns:a="http://schemas.openxmlformats.org/drawingml/2006/main">
            <a:srgbClr val="CAD6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4720745-BAC2-46F1-989F-5714E98D2E63}"/>
              </a:ext>
            </a:extLst>
          </p:cNvPr>
          <p:cNvSpPr>
            <a:spLocks xmlns:a="http://schemas.openxmlformats.org/drawingml/2006/main" noGrp="1"/>
          </p:cNvSpPr>
          <p:nvPr/>
        </p:nvSpPr>
        <p:spPr>
          <a:xfrm xmlns:a="http://schemas.openxmlformats.org/drawingml/2006/main">
            <a:off x="533400" y="645795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97185"/>
                </a:solidFill>
                <a:latin typeface="Arial"/>
                <a:ea typeface="Arial"/>
                <a:cs typeface="Arial"/>
              </a:defRPr>
            </a:pPr>
            <a:r>
              <a:rPr sz="900" b="0">
                <a:solidFill>
                  <a:srgbClr val="597185"/>
                </a:solidFill>
                <a:latin typeface="Arial"/>
                <a:ea typeface="Arial"/>
                <a:cs typeface="Arial"/>
              </a:rPr>
              <a:t>Hospital Pathway  |  BPM&amp;EA / UFCEP4-0-3</a:t>
            </a:r>
          </a:p>
        </p:txBody>
      </p:sp>
      <p:sp>
        <p:nvSpPr>
          <p:cNvPr id="7" name="">
            <a:extLst xmlns:a="http://schemas.openxmlformats.org/drawingml/2006/main">
              <a:ext uri="{FF2B5EF4-FFF2-40B4-BE49-F238E27FC236}">
                <a16:creationId xmlns:a16="http://schemas.microsoft.com/office/drawing/2014/main" id="{14B41FAC-200E-406E-8D1E-1579262975A8}"/>
              </a:ext>
            </a:extLst>
          </p:cNvPr>
          <p:cNvSpPr>
            <a:spLocks xmlns:a="http://schemas.openxmlformats.org/drawingml/2006/main" noGrp="1"/>
          </p:cNvSpPr>
          <p:nvPr/>
        </p:nvSpPr>
        <p:spPr>
          <a:xfrm xmlns:a="http://schemas.openxmlformats.org/drawingml/2006/main">
            <a:off x="10496550" y="6457950"/>
            <a:ext cx="116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597185"/>
                </a:solidFill>
                <a:latin typeface="Arial"/>
                <a:ea typeface="Arial"/>
                <a:cs typeface="Arial"/>
              </a:defRPr>
            </a:pPr>
            <a:r>
              <a:rPr sz="900" b="1">
                <a:solidFill>
                  <a:srgbClr val="597185"/>
                </a:solidFill>
                <a:latin typeface="Arial"/>
                <a:ea typeface="Arial"/>
                <a:cs typeface="Arial"/>
              </a:rPr>
              <a:t>04 / 08</a:t>
            </a:r>
          </a:p>
        </p:txBody>
      </p:sp>
      <p:sp>
        <p:nvSpPr>
          <p:cNvPr id="8" name="">
            <a:extLst xmlns:a="http://schemas.openxmlformats.org/drawingml/2006/main">
              <a:ext uri="{FF2B5EF4-FFF2-40B4-BE49-F238E27FC236}">
                <a16:creationId xmlns:a16="http://schemas.microsoft.com/office/drawing/2014/main" id="{51F6452D-74B5-46C7-AB73-BB224F62B3F7}"/>
              </a:ext>
            </a:extLst>
          </p:cNvPr>
          <p:cNvSpPr>
            <a:spLocks xmlns:a="http://schemas.openxmlformats.org/drawingml/2006/main" noGrp="1"/>
          </p:cNvSpPr>
          <p:nvPr/>
        </p:nvSpPr>
        <p:spPr>
          <a:xfrm xmlns:a="http://schemas.openxmlformats.org/drawingml/2006/main">
            <a:off x="552450" y="1847850"/>
            <a:ext cx="11087100" cy="895350"/>
          </a:xfrm>
          <a:prstGeom xmlns:a="http://schemas.openxmlformats.org/drawingml/2006/main" prst="roundRect">
            <a:avLst>
              <a:gd name="adj" fmla="val 8511"/>
            </a:avLst>
          </a:prstGeom>
          <a:solidFill xmlns:a="http://schemas.openxmlformats.org/drawingml/2006/main">
            <a:srgbClr val="E8F1F8"/>
          </a:solidFill>
          <a:ln xmlns:a="http://schemas.openxmlformats.org/drawingml/2006/main" w="9525">
            <a:solidFill>
              <a:srgbClr val="CAD6DE"/>
            </a:solidFill>
          </a:ln>
        </p:spPr>
      </p:sp>
      <p:sp>
        <p:nvSpPr>
          <p:cNvPr id="9" name="">
            <a:extLst xmlns:a="http://schemas.openxmlformats.org/drawingml/2006/main">
              <a:ext uri="{FF2B5EF4-FFF2-40B4-BE49-F238E27FC236}">
                <a16:creationId xmlns:a16="http://schemas.microsoft.com/office/drawing/2014/main" id="{C464CB35-2A4A-438A-B61D-44BC2EE06BF6}"/>
              </a:ext>
            </a:extLst>
          </p:cNvPr>
          <p:cNvSpPr>
            <a:spLocks xmlns:a="http://schemas.openxmlformats.org/drawingml/2006/main" noGrp="1"/>
          </p:cNvSpPr>
          <p:nvPr/>
        </p:nvSpPr>
        <p:spPr>
          <a:xfrm xmlns:a="http://schemas.openxmlformats.org/drawingml/2006/main">
            <a:off x="552450" y="1847850"/>
            <a:ext cx="76200" cy="89535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3B582D1-DEE3-4DB6-827D-F3F856159EA1}"/>
              </a:ext>
            </a:extLst>
          </p:cNvPr>
          <p:cNvSpPr>
            <a:spLocks xmlns:a="http://schemas.openxmlformats.org/drawingml/2006/main" noGrp="1"/>
          </p:cNvSpPr>
          <p:nvPr/>
        </p:nvSpPr>
        <p:spPr>
          <a:xfrm xmlns:a="http://schemas.openxmlformats.org/drawingml/2006/main">
            <a:off x="742950" y="2019300"/>
            <a:ext cx="1743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63047"/>
                </a:solidFill>
                <a:latin typeface="Arial"/>
                <a:ea typeface="Arial"/>
                <a:cs typeface="Arial"/>
              </a:defRPr>
            </a:pPr>
            <a:r>
              <a:rPr sz="1725" b="1">
                <a:solidFill>
                  <a:srgbClr val="163047"/>
                </a:solidFill>
                <a:latin typeface="Arial"/>
                <a:ea typeface="Arial"/>
                <a:cs typeface="Arial"/>
              </a:rPr>
              <a:t>A  Ruby</a:t>
            </a:r>
          </a:p>
        </p:txBody>
      </p:sp>
      <p:sp>
        <p:nvSpPr>
          <p:cNvPr id="11" name="">
            <a:extLst xmlns:a="http://schemas.openxmlformats.org/drawingml/2006/main">
              <a:ext uri="{FF2B5EF4-FFF2-40B4-BE49-F238E27FC236}">
                <a16:creationId xmlns:a16="http://schemas.microsoft.com/office/drawing/2014/main" id="{7FCFB8BD-3A00-4994-9C03-8EF23837AA3B}"/>
              </a:ext>
            </a:extLst>
          </p:cNvPr>
          <p:cNvSpPr>
            <a:spLocks xmlns:a="http://schemas.openxmlformats.org/drawingml/2006/main" noGrp="1"/>
          </p:cNvSpPr>
          <p:nvPr/>
        </p:nvSpPr>
        <p:spPr>
          <a:xfrm xmlns:a="http://schemas.openxmlformats.org/drawingml/2006/main">
            <a:off x="2505075" y="2009775"/>
            <a:ext cx="4619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A344B"/>
                </a:solidFill>
                <a:latin typeface="Arial"/>
                <a:ea typeface="Arial"/>
                <a:cs typeface="Arial"/>
              </a:defRPr>
            </a:pPr>
            <a:r>
              <a:rPr sz="1350" b="0">
                <a:solidFill>
                  <a:srgbClr val="1A344B"/>
                </a:solidFill>
                <a:latin typeface="Arial"/>
                <a:ea typeface="Arial"/>
                <a:cs typeface="Arial"/>
              </a:rPr>
              <a:t>Clinical care, funding, urgent care, reporting</a:t>
            </a:r>
          </a:p>
        </p:txBody>
      </p:sp>
      <p:sp>
        <p:nvSpPr>
          <p:cNvPr id="12" name="">
            <a:extLst xmlns:a="http://schemas.openxmlformats.org/drawingml/2006/main">
              <a:ext uri="{FF2B5EF4-FFF2-40B4-BE49-F238E27FC236}">
                <a16:creationId xmlns:a16="http://schemas.microsoft.com/office/drawing/2014/main" id="{13933EE4-00E9-4637-BF52-CEDD64124188}"/>
              </a:ext>
            </a:extLst>
          </p:cNvPr>
          <p:cNvSpPr>
            <a:spLocks xmlns:a="http://schemas.openxmlformats.org/drawingml/2006/main" noGrp="1"/>
          </p:cNvSpPr>
          <p:nvPr/>
        </p:nvSpPr>
        <p:spPr>
          <a:xfrm xmlns:a="http://schemas.openxmlformats.org/drawingml/2006/main">
            <a:off x="7448550" y="2009775"/>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597185"/>
                </a:solidFill>
                <a:latin typeface="Arial"/>
                <a:ea typeface="Arial"/>
                <a:cs typeface="Arial"/>
              </a:defRPr>
            </a:pPr>
            <a:r>
              <a:rPr sz="1275" b="1">
                <a:solidFill>
                  <a:srgbClr val="597185"/>
                </a:solidFill>
                <a:latin typeface="Arial"/>
                <a:ea typeface="Arial"/>
                <a:cs typeface="Arial"/>
              </a:rPr>
              <a:t>refund / investigation workers; 5 Java tests</a:t>
            </a:r>
          </a:p>
        </p:txBody>
      </p:sp>
      <p:sp>
        <p:nvSpPr>
          <p:cNvPr id="13" name="">
            <a:extLst xmlns:a="http://schemas.openxmlformats.org/drawingml/2006/main">
              <a:ext uri="{FF2B5EF4-FFF2-40B4-BE49-F238E27FC236}">
                <a16:creationId xmlns:a16="http://schemas.microsoft.com/office/drawing/2014/main" id="{AF7B379F-E059-4E18-8EDB-013D7A6517A6}"/>
              </a:ext>
            </a:extLst>
          </p:cNvPr>
          <p:cNvSpPr>
            <a:spLocks xmlns:a="http://schemas.openxmlformats.org/drawingml/2006/main" noGrp="1"/>
          </p:cNvSpPr>
          <p:nvPr/>
        </p:nvSpPr>
        <p:spPr>
          <a:xfrm xmlns:a="http://schemas.openxmlformats.org/drawingml/2006/main">
            <a:off x="552450" y="2876550"/>
            <a:ext cx="110871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CAD6DE"/>
            </a:solidFill>
          </a:ln>
        </p:spPr>
      </p:sp>
      <p:sp>
        <p:nvSpPr>
          <p:cNvPr id="14" name="">
            <a:extLst xmlns:a="http://schemas.openxmlformats.org/drawingml/2006/main">
              <a:ext uri="{FF2B5EF4-FFF2-40B4-BE49-F238E27FC236}">
                <a16:creationId xmlns:a16="http://schemas.microsoft.com/office/drawing/2014/main" id="{A7F97407-8BD0-4D7D-BAEC-EAD83B34C872}"/>
              </a:ext>
            </a:extLst>
          </p:cNvPr>
          <p:cNvSpPr>
            <a:spLocks xmlns:a="http://schemas.openxmlformats.org/drawingml/2006/main" noGrp="1"/>
          </p:cNvSpPr>
          <p:nvPr/>
        </p:nvSpPr>
        <p:spPr>
          <a:xfrm xmlns:a="http://schemas.openxmlformats.org/drawingml/2006/main">
            <a:off x="552450" y="2876550"/>
            <a:ext cx="76200" cy="89535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0CB0711-FF4D-4FBF-8288-FD29A48CDB65}"/>
              </a:ext>
            </a:extLst>
          </p:cNvPr>
          <p:cNvSpPr>
            <a:spLocks xmlns:a="http://schemas.openxmlformats.org/drawingml/2006/main" noGrp="1"/>
          </p:cNvSpPr>
          <p:nvPr/>
        </p:nvSpPr>
        <p:spPr>
          <a:xfrm xmlns:a="http://schemas.openxmlformats.org/drawingml/2006/main">
            <a:off x="742950" y="3048000"/>
            <a:ext cx="1743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63047"/>
                </a:solidFill>
                <a:latin typeface="Arial"/>
                <a:ea typeface="Arial"/>
                <a:cs typeface="Arial"/>
              </a:defRPr>
            </a:pPr>
            <a:r>
              <a:rPr sz="1725" b="1">
                <a:solidFill>
                  <a:srgbClr val="163047"/>
                </a:solidFill>
                <a:latin typeface="Arial"/>
                <a:ea typeface="Arial"/>
                <a:cs typeface="Arial"/>
              </a:rPr>
              <a:t>B  Estrella</a:t>
            </a:r>
          </a:p>
        </p:txBody>
      </p:sp>
      <p:sp>
        <p:nvSpPr>
          <p:cNvPr id="16" name="">
            <a:extLst xmlns:a="http://schemas.openxmlformats.org/drawingml/2006/main">
              <a:ext uri="{FF2B5EF4-FFF2-40B4-BE49-F238E27FC236}">
                <a16:creationId xmlns:a16="http://schemas.microsoft.com/office/drawing/2014/main" id="{9A1CBE1C-7CE5-4216-AB3A-C3314EC5EC6B}"/>
              </a:ext>
            </a:extLst>
          </p:cNvPr>
          <p:cNvSpPr>
            <a:spLocks xmlns:a="http://schemas.openxmlformats.org/drawingml/2006/main" noGrp="1"/>
          </p:cNvSpPr>
          <p:nvPr/>
        </p:nvSpPr>
        <p:spPr>
          <a:xfrm xmlns:a="http://schemas.openxmlformats.org/drawingml/2006/main">
            <a:off x="2505075" y="3038475"/>
            <a:ext cx="4619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A344B"/>
                </a:solidFill>
                <a:latin typeface="Arial"/>
                <a:ea typeface="Arial"/>
                <a:cs typeface="Arial"/>
              </a:defRPr>
            </a:pPr>
            <a:r>
              <a:rPr sz="1350" b="0">
                <a:solidFill>
                  <a:srgbClr val="1A344B"/>
                </a:solidFill>
                <a:latin typeface="Arial"/>
                <a:ea typeface="Arial"/>
                <a:cs typeface="Arial"/>
              </a:rPr>
              <a:t>Visit and treatment booking; H2 domain</a:t>
            </a:r>
          </a:p>
        </p:txBody>
      </p:sp>
      <p:sp>
        <p:nvSpPr>
          <p:cNvPr id="17" name="">
            <a:extLst xmlns:a="http://schemas.openxmlformats.org/drawingml/2006/main">
              <a:ext uri="{FF2B5EF4-FFF2-40B4-BE49-F238E27FC236}">
                <a16:creationId xmlns:a16="http://schemas.microsoft.com/office/drawing/2014/main" id="{98FC5216-350A-4913-99AF-0A9260F4CB69}"/>
              </a:ext>
            </a:extLst>
          </p:cNvPr>
          <p:cNvSpPr>
            <a:spLocks xmlns:a="http://schemas.openxmlformats.org/drawingml/2006/main" noGrp="1"/>
          </p:cNvSpPr>
          <p:nvPr/>
        </p:nvSpPr>
        <p:spPr>
          <a:xfrm xmlns:a="http://schemas.openxmlformats.org/drawingml/2006/main">
            <a:off x="7448550" y="3038475"/>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597185"/>
                </a:solidFill>
                <a:latin typeface="Arial"/>
                <a:ea typeface="Arial"/>
                <a:cs typeface="Arial"/>
              </a:defRPr>
            </a:pPr>
            <a:r>
              <a:rPr sz="1275" b="1">
                <a:solidFill>
                  <a:srgbClr val="597185"/>
                </a:solidFill>
                <a:latin typeface="Arial"/>
                <a:ea typeface="Arial"/>
                <a:cs typeface="Arial"/>
              </a:rPr>
              <a:t>slot / reservation workers; live G07 worker logs</a:t>
            </a:r>
          </a:p>
        </p:txBody>
      </p:sp>
      <p:sp>
        <p:nvSpPr>
          <p:cNvPr id="18" name="">
            <a:extLst xmlns:a="http://schemas.openxmlformats.org/drawingml/2006/main">
              <a:ext uri="{FF2B5EF4-FFF2-40B4-BE49-F238E27FC236}">
                <a16:creationId xmlns:a16="http://schemas.microsoft.com/office/drawing/2014/main" id="{AB423D95-95AC-422A-B49C-4149048778FC}"/>
              </a:ext>
            </a:extLst>
          </p:cNvPr>
          <p:cNvSpPr>
            <a:spLocks xmlns:a="http://schemas.openxmlformats.org/drawingml/2006/main" noGrp="1"/>
          </p:cNvSpPr>
          <p:nvPr/>
        </p:nvSpPr>
        <p:spPr>
          <a:xfrm xmlns:a="http://schemas.openxmlformats.org/drawingml/2006/main">
            <a:off x="552450" y="3905250"/>
            <a:ext cx="11087100" cy="895350"/>
          </a:xfrm>
          <a:prstGeom xmlns:a="http://schemas.openxmlformats.org/drawingml/2006/main" prst="roundRect">
            <a:avLst>
              <a:gd name="adj" fmla="val 8511"/>
            </a:avLst>
          </a:prstGeom>
          <a:solidFill xmlns:a="http://schemas.openxmlformats.org/drawingml/2006/main">
            <a:srgbClr val="E8F1F8"/>
          </a:solidFill>
          <a:ln xmlns:a="http://schemas.openxmlformats.org/drawingml/2006/main" w="9525">
            <a:solidFill>
              <a:srgbClr val="CAD6DE"/>
            </a:solidFill>
          </a:ln>
        </p:spPr>
      </p:sp>
      <p:sp>
        <p:nvSpPr>
          <p:cNvPr id="19" name="">
            <a:extLst xmlns:a="http://schemas.openxmlformats.org/drawingml/2006/main">
              <a:ext uri="{FF2B5EF4-FFF2-40B4-BE49-F238E27FC236}">
                <a16:creationId xmlns:a16="http://schemas.microsoft.com/office/drawing/2014/main" id="{B249DD36-003C-4E8E-978E-9E505856E66B}"/>
              </a:ext>
            </a:extLst>
          </p:cNvPr>
          <p:cNvSpPr>
            <a:spLocks xmlns:a="http://schemas.openxmlformats.org/drawingml/2006/main" noGrp="1"/>
          </p:cNvSpPr>
          <p:nvPr/>
        </p:nvSpPr>
        <p:spPr>
          <a:xfrm xmlns:a="http://schemas.openxmlformats.org/drawingml/2006/main">
            <a:off x="552450" y="3905250"/>
            <a:ext cx="76200" cy="89535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5259E60-5645-4165-825D-5BC6793C16EC}"/>
              </a:ext>
            </a:extLst>
          </p:cNvPr>
          <p:cNvSpPr>
            <a:spLocks xmlns:a="http://schemas.openxmlformats.org/drawingml/2006/main" noGrp="1"/>
          </p:cNvSpPr>
          <p:nvPr/>
        </p:nvSpPr>
        <p:spPr>
          <a:xfrm xmlns:a="http://schemas.openxmlformats.org/drawingml/2006/main">
            <a:off x="742950" y="4076700"/>
            <a:ext cx="1743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63047"/>
                </a:solidFill>
                <a:latin typeface="Arial"/>
                <a:ea typeface="Arial"/>
                <a:cs typeface="Arial"/>
              </a:defRPr>
            </a:pPr>
            <a:r>
              <a:rPr sz="1725" b="1">
                <a:solidFill>
                  <a:srgbClr val="163047"/>
                </a:solidFill>
                <a:latin typeface="Arial"/>
                <a:ea typeface="Arial"/>
                <a:cs typeface="Arial"/>
              </a:rPr>
              <a:t>C  Ender</a:t>
            </a:r>
          </a:p>
        </p:txBody>
      </p:sp>
      <p:sp>
        <p:nvSpPr>
          <p:cNvPr id="21" name="">
            <a:extLst xmlns:a="http://schemas.openxmlformats.org/drawingml/2006/main">
              <a:ext uri="{FF2B5EF4-FFF2-40B4-BE49-F238E27FC236}">
                <a16:creationId xmlns:a16="http://schemas.microsoft.com/office/drawing/2014/main" id="{87C0AF5D-EF20-4370-B062-5037AB1EEC6B}"/>
              </a:ext>
            </a:extLst>
          </p:cNvPr>
          <p:cNvSpPr>
            <a:spLocks xmlns:a="http://schemas.openxmlformats.org/drawingml/2006/main" noGrp="1"/>
          </p:cNvSpPr>
          <p:nvPr/>
        </p:nvSpPr>
        <p:spPr>
          <a:xfrm xmlns:a="http://schemas.openxmlformats.org/drawingml/2006/main">
            <a:off x="2505075" y="4067175"/>
            <a:ext cx="4619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A344B"/>
                </a:solidFill>
                <a:latin typeface="Arial"/>
                <a:ea typeface="Arial"/>
                <a:cs typeface="Arial"/>
              </a:defRPr>
            </a:pPr>
            <a:r>
              <a:rPr sz="1350" b="0">
                <a:solidFill>
                  <a:srgbClr val="1A344B"/>
                </a:solidFill>
                <a:latin typeface="Arial"/>
                <a:ea typeface="Arial"/>
                <a:cs typeface="Arial"/>
              </a:rPr>
              <a:t>Registration, referral decision, letters</a:t>
            </a:r>
          </a:p>
        </p:txBody>
      </p:sp>
      <p:sp>
        <p:nvSpPr>
          <p:cNvPr id="22" name="">
            <a:extLst xmlns:a="http://schemas.openxmlformats.org/drawingml/2006/main">
              <a:ext uri="{FF2B5EF4-FFF2-40B4-BE49-F238E27FC236}">
                <a16:creationId xmlns:a16="http://schemas.microsoft.com/office/drawing/2014/main" id="{A9DCB0C9-6565-47AE-9DB0-8BF1139FA951}"/>
              </a:ext>
            </a:extLst>
          </p:cNvPr>
          <p:cNvSpPr>
            <a:spLocks xmlns:a="http://schemas.openxmlformats.org/drawingml/2006/main" noGrp="1"/>
          </p:cNvSpPr>
          <p:nvPr/>
        </p:nvSpPr>
        <p:spPr>
          <a:xfrm xmlns:a="http://schemas.openxmlformats.org/drawingml/2006/main">
            <a:off x="7448550" y="4067175"/>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597185"/>
                </a:solidFill>
                <a:latin typeface="Arial"/>
                <a:ea typeface="Arial"/>
                <a:cs typeface="Arial"/>
              </a:defRPr>
            </a:pPr>
            <a:r>
              <a:rPr sz="1275" b="1">
                <a:solidFill>
                  <a:srgbClr val="597185"/>
                </a:solidFill>
                <a:latin typeface="Arial"/>
                <a:ea typeface="Arial"/>
                <a:cs typeface="Arial"/>
              </a:rPr>
              <a:t>letter / referrer workers; live G07 dispatch</a:t>
            </a:r>
          </a:p>
        </p:txBody>
      </p:sp>
      <p:sp>
        <p:nvSpPr>
          <p:cNvPr id="23" name="">
            <a:extLst xmlns:a="http://schemas.openxmlformats.org/drawingml/2006/main">
              <a:ext uri="{FF2B5EF4-FFF2-40B4-BE49-F238E27FC236}">
                <a16:creationId xmlns:a16="http://schemas.microsoft.com/office/drawing/2014/main" id="{858F9D39-A11A-4B69-A28E-6BE63A86A9E5}"/>
              </a:ext>
            </a:extLst>
          </p:cNvPr>
          <p:cNvSpPr>
            <a:spLocks xmlns:a="http://schemas.openxmlformats.org/drawingml/2006/main" noGrp="1"/>
          </p:cNvSpPr>
          <p:nvPr/>
        </p:nvSpPr>
        <p:spPr>
          <a:xfrm xmlns:a="http://schemas.openxmlformats.org/drawingml/2006/main">
            <a:off x="552450" y="4933950"/>
            <a:ext cx="110871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CAD6DE"/>
            </a:solidFill>
          </a:ln>
        </p:spPr>
      </p:sp>
      <p:sp>
        <p:nvSpPr>
          <p:cNvPr id="24" name="">
            <a:extLst xmlns:a="http://schemas.openxmlformats.org/drawingml/2006/main">
              <a:ext uri="{FF2B5EF4-FFF2-40B4-BE49-F238E27FC236}">
                <a16:creationId xmlns:a16="http://schemas.microsoft.com/office/drawing/2014/main" id="{7D8ADDA0-AE15-41D2-B86E-BB6E0FFE42E3}"/>
              </a:ext>
            </a:extLst>
          </p:cNvPr>
          <p:cNvSpPr>
            <a:spLocks xmlns:a="http://schemas.openxmlformats.org/drawingml/2006/main" noGrp="1"/>
          </p:cNvSpPr>
          <p:nvPr/>
        </p:nvSpPr>
        <p:spPr>
          <a:xfrm xmlns:a="http://schemas.openxmlformats.org/drawingml/2006/main">
            <a:off x="552450" y="4933950"/>
            <a:ext cx="76200" cy="895350"/>
          </a:xfrm>
          <a:prstGeom xmlns:a="http://schemas.openxmlformats.org/drawingml/2006/main" prst="rect">
            <a:avLst/>
          </a:prstGeom>
          <a:solidFill xmlns:a="http://schemas.openxmlformats.org/drawingml/2006/main">
            <a:srgbClr val="E8A23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659445D-9EED-419E-AA19-BCBDA1473871}"/>
              </a:ext>
            </a:extLst>
          </p:cNvPr>
          <p:cNvSpPr>
            <a:spLocks xmlns:a="http://schemas.openxmlformats.org/drawingml/2006/main" noGrp="1"/>
          </p:cNvSpPr>
          <p:nvPr/>
        </p:nvSpPr>
        <p:spPr>
          <a:xfrm xmlns:a="http://schemas.openxmlformats.org/drawingml/2006/main">
            <a:off x="742950" y="5105400"/>
            <a:ext cx="1743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63047"/>
                </a:solidFill>
                <a:latin typeface="Arial"/>
                <a:ea typeface="Arial"/>
                <a:cs typeface="Arial"/>
              </a:defRPr>
            </a:pPr>
            <a:r>
              <a:rPr sz="1725" b="1">
                <a:solidFill>
                  <a:srgbClr val="163047"/>
                </a:solidFill>
                <a:latin typeface="Arial"/>
                <a:ea typeface="Arial"/>
                <a:cs typeface="Arial"/>
              </a:rPr>
              <a:t>D  Ryan</a:t>
            </a:r>
          </a:p>
        </p:txBody>
      </p:sp>
      <p:sp>
        <p:nvSpPr>
          <p:cNvPr id="26" name="">
            <a:extLst xmlns:a="http://schemas.openxmlformats.org/drawingml/2006/main">
              <a:ext uri="{FF2B5EF4-FFF2-40B4-BE49-F238E27FC236}">
                <a16:creationId xmlns:a16="http://schemas.microsoft.com/office/drawing/2014/main" id="{6F2E9FFA-E174-4C60-9A6C-2A111F094893}"/>
              </a:ext>
            </a:extLst>
          </p:cNvPr>
          <p:cNvSpPr>
            <a:spLocks xmlns:a="http://schemas.openxmlformats.org/drawingml/2006/main" noGrp="1"/>
          </p:cNvSpPr>
          <p:nvPr/>
        </p:nvSpPr>
        <p:spPr>
          <a:xfrm xmlns:a="http://schemas.openxmlformats.org/drawingml/2006/main">
            <a:off x="2505075" y="5095875"/>
            <a:ext cx="4619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A344B"/>
                </a:solidFill>
                <a:latin typeface="Arial"/>
                <a:ea typeface="Arial"/>
                <a:cs typeface="Arial"/>
              </a:defRPr>
            </a:pPr>
            <a:r>
              <a:rPr sz="1350" b="0">
                <a:solidFill>
                  <a:srgbClr val="1A344B"/>
                </a:solidFill>
                <a:latin typeface="Arial"/>
                <a:ea typeface="Arial"/>
                <a:cs typeface="Arial"/>
              </a:rPr>
              <a:t>Enquiries, modification, follow-up, cancellation</a:t>
            </a:r>
          </a:p>
        </p:txBody>
      </p:sp>
      <p:sp>
        <p:nvSpPr>
          <p:cNvPr id="27" name="">
            <a:extLst xmlns:a="http://schemas.openxmlformats.org/drawingml/2006/main">
              <a:ext uri="{FF2B5EF4-FFF2-40B4-BE49-F238E27FC236}">
                <a16:creationId xmlns:a16="http://schemas.microsoft.com/office/drawing/2014/main" id="{7F8BB8C6-823B-4DC4-BF89-C849362D3FF0}"/>
              </a:ext>
            </a:extLst>
          </p:cNvPr>
          <p:cNvSpPr>
            <a:spLocks xmlns:a="http://schemas.openxmlformats.org/drawingml/2006/main" noGrp="1"/>
          </p:cNvSpPr>
          <p:nvPr/>
        </p:nvSpPr>
        <p:spPr>
          <a:xfrm xmlns:a="http://schemas.openxmlformats.org/drawingml/2006/main">
            <a:off x="7448550" y="5095875"/>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597185"/>
                </a:solidFill>
                <a:latin typeface="Arial"/>
                <a:ea typeface="Arial"/>
                <a:cs typeface="Arial"/>
              </a:defRPr>
            </a:pPr>
            <a:r>
              <a:rPr sz="1275" b="1">
                <a:solidFill>
                  <a:srgbClr val="597185"/>
                </a:solidFill>
                <a:latin typeface="Arial"/>
                <a:ea typeface="Arial"/>
                <a:cs typeface="Arial"/>
              </a:rPr>
              <a:t>notify-care-change worker; 7 Java tests</a:t>
            </a:r>
          </a:p>
        </p:txBody>
      </p:sp>
    </p:spTree>
    <p:extLst>
      <p:ext uri="{BB962C8B-B14F-4D97-AF65-F5344CB8AC3E}">
        <p14:creationId xmlns:p14="http://schemas.microsoft.com/office/powerpoint/2010/main" val="1905888806"/>
      </p:ext>
    </p:extLst>
  </p:cSld>
</p:sld>
</file>

<file path=ppt/slides/slide5.xml><?xml version="1.0" encoding="utf-8"?>
<p:sld xmlns:p="http://schemas.openxmlformats.org/presentationml/2006/main">
  <p:cSld>
    <p:bg>
      <p:bgPr>
        <a:solidFill xmlns:a="http://schemas.openxmlformats.org/drawingml/2006/main">
          <a:srgbClr val="F9F7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702E075-EA18-4424-BABA-0DC4849455E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AE9AAF-5381-4361-8D42-CFA8CA3DEED5}"/>
              </a:ext>
            </a:extLst>
          </p:cNvPr>
          <p:cNvSpPr>
            <a:spLocks xmlns:a="http://schemas.openxmlformats.org/drawingml/2006/main" noGrp="1"/>
          </p:cNvSpPr>
          <p:nvPr/>
        </p:nvSpPr>
        <p:spPr>
          <a:xfrm xmlns:a="http://schemas.openxmlformats.org/drawingml/2006/main">
            <a:off x="533400" y="3238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27B76"/>
                </a:solidFill>
                <a:latin typeface="Arial"/>
                <a:ea typeface="Arial"/>
                <a:cs typeface="Arial"/>
              </a:defRPr>
            </a:pPr>
            <a:r>
              <a:rPr sz="975" b="1">
                <a:solidFill>
                  <a:srgbClr val="127B76"/>
                </a:solidFill>
                <a:latin typeface="Arial"/>
                <a:ea typeface="Arial"/>
                <a:cs typeface="Arial"/>
              </a:rPr>
              <a:t>PROJECT AND TEST MANAGEMENT</a:t>
            </a:r>
          </a:p>
        </p:txBody>
      </p:sp>
      <p:sp>
        <p:nvSpPr>
          <p:cNvPr id="3" name="">
            <a:extLst xmlns:a="http://schemas.openxmlformats.org/drawingml/2006/main">
              <a:ext uri="{FF2B5EF4-FFF2-40B4-BE49-F238E27FC236}">
                <a16:creationId xmlns:a16="http://schemas.microsoft.com/office/drawing/2014/main" id="{853E40F7-395B-4E95-B03B-4D01AF7EA9B6}"/>
              </a:ext>
            </a:extLst>
          </p:cNvPr>
          <p:cNvSpPr>
            <a:spLocks xmlns:a="http://schemas.openxmlformats.org/drawingml/2006/main" noGrp="1"/>
          </p:cNvSpPr>
          <p:nvPr/>
        </p:nvSpPr>
        <p:spPr>
          <a:xfrm xmlns:a="http://schemas.openxmlformats.org/drawingml/2006/main">
            <a:off x="533400" y="59055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163047"/>
                </a:solidFill>
                <a:latin typeface="Arial"/>
                <a:ea typeface="Arial"/>
                <a:cs typeface="Arial"/>
              </a:defRPr>
            </a:pPr>
            <a:r>
              <a:rPr sz="2850" b="1">
                <a:solidFill>
                  <a:srgbClr val="163047"/>
                </a:solidFill>
                <a:latin typeface="Arial"/>
                <a:ea typeface="Arial"/>
                <a:cs typeface="Arial"/>
              </a:rPr>
              <a:t>Plan → build → verify → review</a:t>
            </a:r>
          </a:p>
        </p:txBody>
      </p:sp>
      <p:sp>
        <p:nvSpPr>
          <p:cNvPr id="4" name="">
            <a:extLst xmlns:a="http://schemas.openxmlformats.org/drawingml/2006/main">
              <a:ext uri="{FF2B5EF4-FFF2-40B4-BE49-F238E27FC236}">
                <a16:creationId xmlns:a16="http://schemas.microsoft.com/office/drawing/2014/main" id="{E791D52C-073F-4AA6-893B-A4B8D667C9FF}"/>
              </a:ext>
            </a:extLst>
          </p:cNvPr>
          <p:cNvSpPr>
            <a:spLocks xmlns:a="http://schemas.openxmlformats.org/drawingml/2006/main" noGrp="1"/>
          </p:cNvSpPr>
          <p:nvPr/>
        </p:nvSpPr>
        <p:spPr>
          <a:xfrm xmlns:a="http://schemas.openxmlformats.org/drawingml/2006/main">
            <a:off x="552450" y="1219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97185"/>
                </a:solidFill>
                <a:latin typeface="Arial"/>
                <a:ea typeface="Arial"/>
                <a:cs typeface="Arial"/>
              </a:defRPr>
            </a:pPr>
            <a:r>
              <a:rPr sz="1275" b="0">
                <a:solidFill>
                  <a:srgbClr val="597185"/>
                </a:solidFill>
                <a:latin typeface="Arial"/>
                <a:ea typeface="Arial"/>
                <a:cs typeface="Arial"/>
              </a:rPr>
              <a:t>The group backlog and Definition of Done link work to inspectable evidence.</a:t>
            </a:r>
          </a:p>
        </p:txBody>
      </p:sp>
      <p:sp>
        <p:nvSpPr>
          <p:cNvPr id="5" name="">
            <a:extLst xmlns:a="http://schemas.openxmlformats.org/drawingml/2006/main">
              <a:ext uri="{FF2B5EF4-FFF2-40B4-BE49-F238E27FC236}">
                <a16:creationId xmlns:a16="http://schemas.microsoft.com/office/drawing/2014/main" id="{2ED2DC41-C487-4097-9D96-B411E47C7274}"/>
              </a:ext>
            </a:extLst>
          </p:cNvPr>
          <p:cNvSpPr>
            <a:spLocks xmlns:a="http://schemas.openxmlformats.org/drawingml/2006/main" noGrp="1"/>
          </p:cNvSpPr>
          <p:nvPr/>
        </p:nvSpPr>
        <p:spPr>
          <a:xfrm xmlns:a="http://schemas.openxmlformats.org/drawingml/2006/main">
            <a:off x="533400" y="6353175"/>
            <a:ext cx="11125200" cy="9525"/>
          </a:xfrm>
          <a:prstGeom xmlns:a="http://schemas.openxmlformats.org/drawingml/2006/main" prst="rect">
            <a:avLst/>
          </a:prstGeom>
          <a:solidFill xmlns:a="http://schemas.openxmlformats.org/drawingml/2006/main">
            <a:srgbClr val="CAD6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3260BD4-E191-43EE-A069-DCE44E4D3650}"/>
              </a:ext>
            </a:extLst>
          </p:cNvPr>
          <p:cNvSpPr>
            <a:spLocks xmlns:a="http://schemas.openxmlformats.org/drawingml/2006/main" noGrp="1"/>
          </p:cNvSpPr>
          <p:nvPr/>
        </p:nvSpPr>
        <p:spPr>
          <a:xfrm xmlns:a="http://schemas.openxmlformats.org/drawingml/2006/main">
            <a:off x="533400" y="645795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97185"/>
                </a:solidFill>
                <a:latin typeface="Arial"/>
                <a:ea typeface="Arial"/>
                <a:cs typeface="Arial"/>
              </a:defRPr>
            </a:pPr>
            <a:r>
              <a:rPr sz="900" b="0">
                <a:solidFill>
                  <a:srgbClr val="597185"/>
                </a:solidFill>
                <a:latin typeface="Arial"/>
                <a:ea typeface="Arial"/>
                <a:cs typeface="Arial"/>
              </a:rPr>
              <a:t>Hospital Pathway  |  BPM&amp;EA / UFCEP4-0-3</a:t>
            </a:r>
          </a:p>
        </p:txBody>
      </p:sp>
      <p:sp>
        <p:nvSpPr>
          <p:cNvPr id="7" name="">
            <a:extLst xmlns:a="http://schemas.openxmlformats.org/drawingml/2006/main">
              <a:ext uri="{FF2B5EF4-FFF2-40B4-BE49-F238E27FC236}">
                <a16:creationId xmlns:a16="http://schemas.microsoft.com/office/drawing/2014/main" id="{1E7DACD6-5185-4122-9460-05805ADB8F8E}"/>
              </a:ext>
            </a:extLst>
          </p:cNvPr>
          <p:cNvSpPr>
            <a:spLocks xmlns:a="http://schemas.openxmlformats.org/drawingml/2006/main" noGrp="1"/>
          </p:cNvSpPr>
          <p:nvPr/>
        </p:nvSpPr>
        <p:spPr>
          <a:xfrm xmlns:a="http://schemas.openxmlformats.org/drawingml/2006/main">
            <a:off x="10496550" y="6457950"/>
            <a:ext cx="116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597185"/>
                </a:solidFill>
                <a:latin typeface="Arial"/>
                <a:ea typeface="Arial"/>
                <a:cs typeface="Arial"/>
              </a:defRPr>
            </a:pPr>
            <a:r>
              <a:rPr sz="900" b="1">
                <a:solidFill>
                  <a:srgbClr val="597185"/>
                </a:solidFill>
                <a:latin typeface="Arial"/>
                <a:ea typeface="Arial"/>
                <a:cs typeface="Arial"/>
              </a:rPr>
              <a:t>05 / 08</a:t>
            </a:r>
          </a:p>
        </p:txBody>
      </p:sp>
      <p:sp>
        <p:nvSpPr>
          <p:cNvPr id="8" name="">
            <a:extLst xmlns:a="http://schemas.openxmlformats.org/drawingml/2006/main">
              <a:ext uri="{FF2B5EF4-FFF2-40B4-BE49-F238E27FC236}">
                <a16:creationId xmlns:a16="http://schemas.microsoft.com/office/drawing/2014/main" id="{85FAF8B2-2216-4803-AE26-2C12C4CF78DD}"/>
              </a:ext>
            </a:extLst>
          </p:cNvPr>
          <p:cNvSpPr>
            <a:spLocks xmlns:a="http://schemas.openxmlformats.org/drawingml/2006/main" noGrp="1"/>
          </p:cNvSpPr>
          <p:nvPr/>
        </p:nvSpPr>
        <p:spPr>
          <a:xfrm xmlns:a="http://schemas.openxmlformats.org/drawingml/2006/main">
            <a:off x="552450" y="2000250"/>
            <a:ext cx="3333750" cy="3114675"/>
          </a:xfrm>
          <a:prstGeom xmlns:a="http://schemas.openxmlformats.org/drawingml/2006/main" prst="roundRect">
            <a:avLst>
              <a:gd name="adj" fmla="val 2446"/>
            </a:avLst>
          </a:prstGeom>
          <a:solidFill xmlns:a="http://schemas.openxmlformats.org/drawingml/2006/main">
            <a:srgbClr val="E8F1F8"/>
          </a:solidFill>
          <a:ln xmlns:a="http://schemas.openxmlformats.org/drawingml/2006/main" w="9525">
            <a:solidFill>
              <a:srgbClr val="CAD6DE"/>
            </a:solidFill>
          </a:ln>
        </p:spPr>
      </p:sp>
      <p:sp>
        <p:nvSpPr>
          <p:cNvPr id="9" name="">
            <a:extLst xmlns:a="http://schemas.openxmlformats.org/drawingml/2006/main">
              <a:ext uri="{FF2B5EF4-FFF2-40B4-BE49-F238E27FC236}">
                <a16:creationId xmlns:a16="http://schemas.microsoft.com/office/drawing/2014/main" id="{549093EC-4517-40D7-AAB2-94091413C6AD}"/>
              </a:ext>
            </a:extLst>
          </p:cNvPr>
          <p:cNvSpPr>
            <a:spLocks xmlns:a="http://schemas.openxmlformats.org/drawingml/2006/main" noGrp="1"/>
          </p:cNvSpPr>
          <p:nvPr/>
        </p:nvSpPr>
        <p:spPr>
          <a:xfrm xmlns:a="http://schemas.openxmlformats.org/drawingml/2006/main">
            <a:off x="552450" y="2000250"/>
            <a:ext cx="57150" cy="3114675"/>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C7C9187-16E7-4065-82BC-F6D904BE064B}"/>
              </a:ext>
            </a:extLst>
          </p:cNvPr>
          <p:cNvSpPr>
            <a:spLocks xmlns:a="http://schemas.openxmlformats.org/drawingml/2006/main" noGrp="1"/>
          </p:cNvSpPr>
          <p:nvPr/>
        </p:nvSpPr>
        <p:spPr>
          <a:xfrm xmlns:a="http://schemas.openxmlformats.org/drawingml/2006/main">
            <a:off x="742950" y="2162175"/>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PLAN</a:t>
            </a:r>
          </a:p>
        </p:txBody>
      </p:sp>
      <p:sp>
        <p:nvSpPr>
          <p:cNvPr id="11" name="">
            <a:extLst xmlns:a="http://schemas.openxmlformats.org/drawingml/2006/main">
              <a:ext uri="{FF2B5EF4-FFF2-40B4-BE49-F238E27FC236}">
                <a16:creationId xmlns:a16="http://schemas.microsoft.com/office/drawing/2014/main" id="{6378DE9B-1C35-4B90-B3CF-8C360D7ABC6A}"/>
              </a:ext>
            </a:extLst>
          </p:cNvPr>
          <p:cNvSpPr>
            <a:spLocks xmlns:a="http://schemas.openxmlformats.org/drawingml/2006/main" noGrp="1"/>
          </p:cNvSpPr>
          <p:nvPr/>
        </p:nvSpPr>
        <p:spPr>
          <a:xfrm xmlns:a="http://schemas.openxmlformats.org/drawingml/2006/main">
            <a:off x="742950" y="2514600"/>
            <a:ext cx="295275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Product backlog with priority, owner, estimate, dependency and acceptance condition.</a:t>
            </a:r>
          </a:p>
          <a:p xmlns:a="http://schemas.openxmlformats.org/drawingml/2006/main">
            <a:r>
              <a:t/>
            </a:r>
          </a:p>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Sprint backlog and work breakdown assign hand-offs.</a:t>
            </a:r>
          </a:p>
        </p:txBody>
      </p:sp>
      <p:sp>
        <p:nvSpPr>
          <p:cNvPr id="12" name="">
            <a:extLst xmlns:a="http://schemas.openxmlformats.org/drawingml/2006/main">
              <a:ext uri="{FF2B5EF4-FFF2-40B4-BE49-F238E27FC236}">
                <a16:creationId xmlns:a16="http://schemas.microsoft.com/office/drawing/2014/main" id="{1B9A0C1F-7117-470E-A70A-16AE3CCCB11A}"/>
              </a:ext>
            </a:extLst>
          </p:cNvPr>
          <p:cNvSpPr>
            <a:spLocks xmlns:a="http://schemas.openxmlformats.org/drawingml/2006/main" noGrp="1"/>
          </p:cNvSpPr>
          <p:nvPr/>
        </p:nvSpPr>
        <p:spPr>
          <a:xfrm xmlns:a="http://schemas.openxmlformats.org/drawingml/2006/main">
            <a:off x="4429125" y="2000250"/>
            <a:ext cx="3333750" cy="3114675"/>
          </a:xfrm>
          <a:prstGeom xmlns:a="http://schemas.openxmlformats.org/drawingml/2006/main" prst="roundRect">
            <a:avLst>
              <a:gd name="adj" fmla="val 2446"/>
            </a:avLst>
          </a:prstGeom>
          <a:solidFill xmlns:a="http://schemas.openxmlformats.org/drawingml/2006/main">
            <a:srgbClr val="FFFFFF"/>
          </a:solidFill>
          <a:ln xmlns:a="http://schemas.openxmlformats.org/drawingml/2006/main" w="9525">
            <a:solidFill>
              <a:srgbClr val="CAD6DE"/>
            </a:solidFill>
          </a:ln>
        </p:spPr>
      </p:sp>
      <p:sp>
        <p:nvSpPr>
          <p:cNvPr id="13" name="">
            <a:extLst xmlns:a="http://schemas.openxmlformats.org/drawingml/2006/main">
              <a:ext uri="{FF2B5EF4-FFF2-40B4-BE49-F238E27FC236}">
                <a16:creationId xmlns:a16="http://schemas.microsoft.com/office/drawing/2014/main" id="{C44C8DE0-56FC-45E3-AE30-3AB3EC38A1AF}"/>
              </a:ext>
            </a:extLst>
          </p:cNvPr>
          <p:cNvSpPr>
            <a:spLocks xmlns:a="http://schemas.openxmlformats.org/drawingml/2006/main" noGrp="1"/>
          </p:cNvSpPr>
          <p:nvPr/>
        </p:nvSpPr>
        <p:spPr>
          <a:xfrm xmlns:a="http://schemas.openxmlformats.org/drawingml/2006/main">
            <a:off x="4429125" y="2000250"/>
            <a:ext cx="57150" cy="3114675"/>
          </a:xfrm>
          <a:prstGeom xmlns:a="http://schemas.openxmlformats.org/drawingml/2006/main" prst="rect">
            <a:avLst/>
          </a:prstGeom>
          <a:solidFill xmlns:a="http://schemas.openxmlformats.org/drawingml/2006/main">
            <a:srgbClr val="E8A23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5BB14D9-853C-4498-BF3D-8875F0228CE5}"/>
              </a:ext>
            </a:extLst>
          </p:cNvPr>
          <p:cNvSpPr>
            <a:spLocks xmlns:a="http://schemas.openxmlformats.org/drawingml/2006/main" noGrp="1"/>
          </p:cNvSpPr>
          <p:nvPr/>
        </p:nvSpPr>
        <p:spPr>
          <a:xfrm xmlns:a="http://schemas.openxmlformats.org/drawingml/2006/main">
            <a:off x="4619625" y="2162175"/>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BUILD</a:t>
            </a:r>
          </a:p>
        </p:txBody>
      </p:sp>
      <p:sp>
        <p:nvSpPr>
          <p:cNvPr id="15" name="">
            <a:extLst xmlns:a="http://schemas.openxmlformats.org/drawingml/2006/main">
              <a:ext uri="{FF2B5EF4-FFF2-40B4-BE49-F238E27FC236}">
                <a16:creationId xmlns:a16="http://schemas.microsoft.com/office/drawing/2014/main" id="{BA5B2D69-AC36-4646-893C-54ADDCAEDD7C}"/>
              </a:ext>
            </a:extLst>
          </p:cNvPr>
          <p:cNvSpPr>
            <a:spLocks xmlns:a="http://schemas.openxmlformats.org/drawingml/2006/main" noGrp="1"/>
          </p:cNvSpPr>
          <p:nvPr/>
        </p:nvSpPr>
        <p:spPr>
          <a:xfrm xmlns:a="http://schemas.openxmlformats.org/drawingml/2006/main">
            <a:off x="4619625" y="2514600"/>
            <a:ext cx="295275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One shared BPMN, 11 forms and Java workers.</a:t>
            </a:r>
          </a:p>
          <a:p xmlns:a="http://schemas.openxmlformats.org/drawingml/2006/main">
            <a:r>
              <a:t/>
            </a:r>
          </a:p>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H2 records booking, audit and finance outcomes for the classroom demo.</a:t>
            </a:r>
          </a:p>
        </p:txBody>
      </p:sp>
      <p:sp>
        <p:nvSpPr>
          <p:cNvPr id="16" name="">
            <a:extLst xmlns:a="http://schemas.openxmlformats.org/drawingml/2006/main">
              <a:ext uri="{FF2B5EF4-FFF2-40B4-BE49-F238E27FC236}">
                <a16:creationId xmlns:a16="http://schemas.microsoft.com/office/drawing/2014/main" id="{51774487-05E9-4D60-A86C-9DA6319242BC}"/>
              </a:ext>
            </a:extLst>
          </p:cNvPr>
          <p:cNvSpPr>
            <a:spLocks xmlns:a="http://schemas.openxmlformats.org/drawingml/2006/main" noGrp="1"/>
          </p:cNvSpPr>
          <p:nvPr/>
        </p:nvSpPr>
        <p:spPr>
          <a:xfrm xmlns:a="http://schemas.openxmlformats.org/drawingml/2006/main">
            <a:off x="8305800" y="2000250"/>
            <a:ext cx="3333750" cy="3114675"/>
          </a:xfrm>
          <a:prstGeom xmlns:a="http://schemas.openxmlformats.org/drawingml/2006/main" prst="roundRect">
            <a:avLst>
              <a:gd name="adj" fmla="val 2446"/>
            </a:avLst>
          </a:prstGeom>
          <a:solidFill xmlns:a="http://schemas.openxmlformats.org/drawingml/2006/main">
            <a:srgbClr val="E8F1F8"/>
          </a:solidFill>
          <a:ln xmlns:a="http://schemas.openxmlformats.org/drawingml/2006/main" w="9525">
            <a:solidFill>
              <a:srgbClr val="CAD6DE"/>
            </a:solidFill>
          </a:ln>
        </p:spPr>
      </p:sp>
      <p:sp>
        <p:nvSpPr>
          <p:cNvPr id="17" name="">
            <a:extLst xmlns:a="http://schemas.openxmlformats.org/drawingml/2006/main">
              <a:ext uri="{FF2B5EF4-FFF2-40B4-BE49-F238E27FC236}">
                <a16:creationId xmlns:a16="http://schemas.microsoft.com/office/drawing/2014/main" id="{8AA4323C-E865-472A-AA49-521160F901BD}"/>
              </a:ext>
            </a:extLst>
          </p:cNvPr>
          <p:cNvSpPr>
            <a:spLocks xmlns:a="http://schemas.openxmlformats.org/drawingml/2006/main" noGrp="1"/>
          </p:cNvSpPr>
          <p:nvPr/>
        </p:nvSpPr>
        <p:spPr>
          <a:xfrm xmlns:a="http://schemas.openxmlformats.org/drawingml/2006/main">
            <a:off x="8305800" y="2000250"/>
            <a:ext cx="57150" cy="3114675"/>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E46EA13-5832-4BE5-9D15-A4DCA1AFE4C5}"/>
              </a:ext>
            </a:extLst>
          </p:cNvPr>
          <p:cNvSpPr>
            <a:spLocks xmlns:a="http://schemas.openxmlformats.org/drawingml/2006/main" noGrp="1"/>
          </p:cNvSpPr>
          <p:nvPr/>
        </p:nvSpPr>
        <p:spPr>
          <a:xfrm xmlns:a="http://schemas.openxmlformats.org/drawingml/2006/main">
            <a:off x="8496300" y="2162175"/>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VERIFY</a:t>
            </a:r>
          </a:p>
        </p:txBody>
      </p:sp>
      <p:sp>
        <p:nvSpPr>
          <p:cNvPr id="19" name="">
            <a:extLst xmlns:a="http://schemas.openxmlformats.org/drawingml/2006/main">
              <a:ext uri="{FF2B5EF4-FFF2-40B4-BE49-F238E27FC236}">
                <a16:creationId xmlns:a16="http://schemas.microsoft.com/office/drawing/2014/main" id="{D11FF730-9451-4D0B-A348-FA4F0DE1F1FD}"/>
              </a:ext>
            </a:extLst>
          </p:cNvPr>
          <p:cNvSpPr>
            <a:spLocks xmlns:a="http://schemas.openxmlformats.org/drawingml/2006/main" noGrp="1"/>
          </p:cNvSpPr>
          <p:nvPr/>
        </p:nvSpPr>
        <p:spPr>
          <a:xfrm xmlns:a="http://schemas.openxmlformats.org/drawingml/2006/main">
            <a:off x="8496300" y="2514600"/>
            <a:ext cx="295275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Acceptance cases identify baseline, input, expected outcome, actual result and evidence.</a:t>
            </a:r>
          </a:p>
          <a:p xmlns:a="http://schemas.openxmlformats.org/drawingml/2006/main">
            <a:r>
              <a:t/>
            </a:r>
          </a:p>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Second-owner review is still required.</a:t>
            </a:r>
          </a:p>
        </p:txBody>
      </p:sp>
      <p:sp>
        <p:nvSpPr>
          <p:cNvPr id="20" name="">
            <a:extLst xmlns:a="http://schemas.openxmlformats.org/drawingml/2006/main">
              <a:ext uri="{FF2B5EF4-FFF2-40B4-BE49-F238E27FC236}">
                <a16:creationId xmlns:a16="http://schemas.microsoft.com/office/drawing/2014/main" id="{A4F547E8-1A15-475F-9B9A-1DCFF97C73E8}"/>
              </a:ext>
            </a:extLst>
          </p:cNvPr>
          <p:cNvSpPr>
            <a:spLocks xmlns:a="http://schemas.openxmlformats.org/drawingml/2006/main" noGrp="1"/>
          </p:cNvSpPr>
          <p:nvPr/>
        </p:nvSpPr>
        <p:spPr>
          <a:xfrm xmlns:a="http://schemas.openxmlformats.org/drawingml/2006/main">
            <a:off x="571500" y="5543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63047"/>
                </a:solidFill>
                <a:latin typeface="Arial"/>
                <a:ea typeface="Arial"/>
                <a:cs typeface="Arial"/>
              </a:defRPr>
            </a:pPr>
            <a:r>
              <a:rPr sz="1350" b="1">
                <a:solidFill>
                  <a:srgbClr val="163047"/>
                </a:solidFill>
                <a:latin typeface="Arial"/>
                <a:ea typeface="Arial"/>
                <a:cs typeface="Arial"/>
              </a:rPr>
              <a:t>Historical plans and earlier engine versions are labelled separately from the final-model run.</a:t>
            </a:r>
          </a:p>
        </p:txBody>
      </p:sp>
    </p:spTree>
    <p:extLst>
      <p:ext uri="{BB962C8B-B14F-4D97-AF65-F5344CB8AC3E}">
        <p14:creationId xmlns:p14="http://schemas.microsoft.com/office/powerpoint/2010/main" val="1349503764"/>
      </p:ext>
    </p:extLst>
  </p:cSld>
</p:sld>
</file>

<file path=ppt/slides/slide6.xml><?xml version="1.0" encoding="utf-8"?>
<p:sld xmlns:p="http://schemas.openxmlformats.org/presentationml/2006/main">
  <p:cSld>
    <p:bg>
      <p:bgPr>
        <a:solidFill xmlns:a="http://schemas.openxmlformats.org/drawingml/2006/main">
          <a:srgbClr val="F9F7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F680D9D-AA84-4D4F-AF11-BBD4941E75B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9D3072-332C-4A68-BA2E-416473722C9A}"/>
              </a:ext>
            </a:extLst>
          </p:cNvPr>
          <p:cNvSpPr>
            <a:spLocks xmlns:a="http://schemas.openxmlformats.org/drawingml/2006/main" noGrp="1"/>
          </p:cNvSpPr>
          <p:nvPr/>
        </p:nvSpPr>
        <p:spPr>
          <a:xfrm xmlns:a="http://schemas.openxmlformats.org/drawingml/2006/main">
            <a:off x="533400" y="3238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27B76"/>
                </a:solidFill>
                <a:latin typeface="Arial"/>
                <a:ea typeface="Arial"/>
                <a:cs typeface="Arial"/>
              </a:defRPr>
            </a:pPr>
            <a:r>
              <a:rPr sz="975" b="1">
                <a:solidFill>
                  <a:srgbClr val="127B76"/>
                </a:solidFill>
                <a:latin typeface="Arial"/>
                <a:ea typeface="Arial"/>
                <a:cs typeface="Arial"/>
              </a:rPr>
              <a:t>EVIDENCE AND LIMITS</a:t>
            </a:r>
          </a:p>
        </p:txBody>
      </p:sp>
      <p:sp>
        <p:nvSpPr>
          <p:cNvPr id="3" name="">
            <a:extLst xmlns:a="http://schemas.openxmlformats.org/drawingml/2006/main">
              <a:ext uri="{FF2B5EF4-FFF2-40B4-BE49-F238E27FC236}">
                <a16:creationId xmlns:a16="http://schemas.microsoft.com/office/drawing/2014/main" id="{F7EAFFC2-D458-464D-A766-E8FBCE7FA707}"/>
              </a:ext>
            </a:extLst>
          </p:cNvPr>
          <p:cNvSpPr>
            <a:spLocks xmlns:a="http://schemas.openxmlformats.org/drawingml/2006/main" noGrp="1"/>
          </p:cNvSpPr>
          <p:nvPr/>
        </p:nvSpPr>
        <p:spPr>
          <a:xfrm xmlns:a="http://schemas.openxmlformats.org/drawingml/2006/main">
            <a:off x="533400" y="59055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163047"/>
                </a:solidFill>
                <a:latin typeface="Arial"/>
                <a:ea typeface="Arial"/>
                <a:cs typeface="Arial"/>
              </a:defRPr>
            </a:pPr>
            <a:r>
              <a:rPr sz="2850" b="1">
                <a:solidFill>
                  <a:srgbClr val="163047"/>
                </a:solidFill>
                <a:latin typeface="Arial"/>
                <a:ea typeface="Arial"/>
                <a:cs typeface="Arial"/>
              </a:rPr>
              <a:t>What the tests actually show</a:t>
            </a:r>
          </a:p>
        </p:txBody>
      </p:sp>
      <p:sp>
        <p:nvSpPr>
          <p:cNvPr id="4" name="">
            <a:extLst xmlns:a="http://schemas.openxmlformats.org/drawingml/2006/main">
              <a:ext uri="{FF2B5EF4-FFF2-40B4-BE49-F238E27FC236}">
                <a16:creationId xmlns:a16="http://schemas.microsoft.com/office/drawing/2014/main" id="{FE7109B2-3F0E-4469-8AB4-616C61CC908B}"/>
              </a:ext>
            </a:extLst>
          </p:cNvPr>
          <p:cNvSpPr>
            <a:spLocks xmlns:a="http://schemas.openxmlformats.org/drawingml/2006/main" noGrp="1"/>
          </p:cNvSpPr>
          <p:nvPr/>
        </p:nvSpPr>
        <p:spPr>
          <a:xfrm xmlns:a="http://schemas.openxmlformats.org/drawingml/2006/main">
            <a:off x="552450" y="1219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97185"/>
                </a:solidFill>
                <a:latin typeface="Arial"/>
                <a:ea typeface="Arial"/>
                <a:cs typeface="Arial"/>
              </a:defRPr>
            </a:pPr>
            <a:r>
              <a:rPr sz="1275" b="0">
                <a:solidFill>
                  <a:srgbClr val="597185"/>
                </a:solidFill>
                <a:latin typeface="Arial"/>
                <a:ea typeface="Arial"/>
                <a:cs typeface="Arial"/>
              </a:rPr>
              <a:t>One final-model happy path completed; unresolved criteria remain visible.</a:t>
            </a:r>
          </a:p>
        </p:txBody>
      </p:sp>
      <p:sp>
        <p:nvSpPr>
          <p:cNvPr id="5" name="">
            <a:extLst xmlns:a="http://schemas.openxmlformats.org/drawingml/2006/main">
              <a:ext uri="{FF2B5EF4-FFF2-40B4-BE49-F238E27FC236}">
                <a16:creationId xmlns:a16="http://schemas.microsoft.com/office/drawing/2014/main" id="{53C10B36-805B-4EDF-A9B9-419D76FC10DE}"/>
              </a:ext>
            </a:extLst>
          </p:cNvPr>
          <p:cNvSpPr>
            <a:spLocks xmlns:a="http://schemas.openxmlformats.org/drawingml/2006/main" noGrp="1"/>
          </p:cNvSpPr>
          <p:nvPr/>
        </p:nvSpPr>
        <p:spPr>
          <a:xfrm xmlns:a="http://schemas.openxmlformats.org/drawingml/2006/main">
            <a:off x="533400" y="6353175"/>
            <a:ext cx="11125200" cy="9525"/>
          </a:xfrm>
          <a:prstGeom xmlns:a="http://schemas.openxmlformats.org/drawingml/2006/main" prst="rect">
            <a:avLst/>
          </a:prstGeom>
          <a:solidFill xmlns:a="http://schemas.openxmlformats.org/drawingml/2006/main">
            <a:srgbClr val="CAD6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D015494-86C6-41AE-AE28-CB695000B2C0}"/>
              </a:ext>
            </a:extLst>
          </p:cNvPr>
          <p:cNvSpPr>
            <a:spLocks xmlns:a="http://schemas.openxmlformats.org/drawingml/2006/main" noGrp="1"/>
          </p:cNvSpPr>
          <p:nvPr/>
        </p:nvSpPr>
        <p:spPr>
          <a:xfrm xmlns:a="http://schemas.openxmlformats.org/drawingml/2006/main">
            <a:off x="533400" y="645795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97185"/>
                </a:solidFill>
                <a:latin typeface="Arial"/>
                <a:ea typeface="Arial"/>
                <a:cs typeface="Arial"/>
              </a:defRPr>
            </a:pPr>
            <a:r>
              <a:rPr sz="900" b="0">
                <a:solidFill>
                  <a:srgbClr val="597185"/>
                </a:solidFill>
                <a:latin typeface="Arial"/>
                <a:ea typeface="Arial"/>
                <a:cs typeface="Arial"/>
              </a:rPr>
              <a:t>Hospital Pathway  |  BPM&amp;EA / UFCEP4-0-3</a:t>
            </a:r>
          </a:p>
        </p:txBody>
      </p:sp>
      <p:sp>
        <p:nvSpPr>
          <p:cNvPr id="7" name="">
            <a:extLst xmlns:a="http://schemas.openxmlformats.org/drawingml/2006/main">
              <a:ext uri="{FF2B5EF4-FFF2-40B4-BE49-F238E27FC236}">
                <a16:creationId xmlns:a16="http://schemas.microsoft.com/office/drawing/2014/main" id="{5C0E47D1-70AD-4D2D-8568-1BDCF716EC9C}"/>
              </a:ext>
            </a:extLst>
          </p:cNvPr>
          <p:cNvSpPr>
            <a:spLocks xmlns:a="http://schemas.openxmlformats.org/drawingml/2006/main" noGrp="1"/>
          </p:cNvSpPr>
          <p:nvPr/>
        </p:nvSpPr>
        <p:spPr>
          <a:xfrm xmlns:a="http://schemas.openxmlformats.org/drawingml/2006/main">
            <a:off x="10496550" y="6457950"/>
            <a:ext cx="116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597185"/>
                </a:solidFill>
                <a:latin typeface="Arial"/>
                <a:ea typeface="Arial"/>
                <a:cs typeface="Arial"/>
              </a:defRPr>
            </a:pPr>
            <a:r>
              <a:rPr sz="900" b="1">
                <a:solidFill>
                  <a:srgbClr val="597185"/>
                </a:solidFill>
                <a:latin typeface="Arial"/>
                <a:ea typeface="Arial"/>
                <a:cs typeface="Arial"/>
              </a:rPr>
              <a:t>06 / 08</a:t>
            </a:r>
          </a:p>
        </p:txBody>
      </p:sp>
      <p:sp>
        <p:nvSpPr>
          <p:cNvPr id="8" name="">
            <a:extLst xmlns:a="http://schemas.openxmlformats.org/drawingml/2006/main">
              <a:ext uri="{FF2B5EF4-FFF2-40B4-BE49-F238E27FC236}">
                <a16:creationId xmlns:a16="http://schemas.microsoft.com/office/drawing/2014/main" id="{DAB3EF1C-01B5-44BB-92B8-FF4E38B20269}"/>
              </a:ext>
            </a:extLst>
          </p:cNvPr>
          <p:cNvSpPr>
            <a:spLocks xmlns:a="http://schemas.openxmlformats.org/drawingml/2006/main" noGrp="1"/>
          </p:cNvSpPr>
          <p:nvPr/>
        </p:nvSpPr>
        <p:spPr>
          <a:xfrm xmlns:a="http://schemas.openxmlformats.org/drawingml/2006/main">
            <a:off x="552450" y="1933575"/>
            <a:ext cx="5276850" cy="1543050"/>
          </a:xfrm>
          <a:prstGeom xmlns:a="http://schemas.openxmlformats.org/drawingml/2006/main" prst="roundRect">
            <a:avLst>
              <a:gd name="adj" fmla="val 4938"/>
            </a:avLst>
          </a:prstGeom>
          <a:solidFill xmlns:a="http://schemas.openxmlformats.org/drawingml/2006/main">
            <a:srgbClr val="E2F3EC"/>
          </a:solidFill>
          <a:ln xmlns:a="http://schemas.openxmlformats.org/drawingml/2006/main" w="9525">
            <a:solidFill>
              <a:srgbClr val="CAD6DE"/>
            </a:solidFill>
          </a:ln>
        </p:spPr>
      </p:sp>
      <p:sp>
        <p:nvSpPr>
          <p:cNvPr id="9" name="">
            <a:extLst xmlns:a="http://schemas.openxmlformats.org/drawingml/2006/main">
              <a:ext uri="{FF2B5EF4-FFF2-40B4-BE49-F238E27FC236}">
                <a16:creationId xmlns:a16="http://schemas.microsoft.com/office/drawing/2014/main" id="{89C2D772-B79A-45A1-8A12-400023AD8AC3}"/>
              </a:ext>
            </a:extLst>
          </p:cNvPr>
          <p:cNvSpPr>
            <a:spLocks xmlns:a="http://schemas.openxmlformats.org/drawingml/2006/main" noGrp="1"/>
          </p:cNvSpPr>
          <p:nvPr/>
        </p:nvSpPr>
        <p:spPr>
          <a:xfrm xmlns:a="http://schemas.openxmlformats.org/drawingml/2006/main">
            <a:off x="552450" y="1933575"/>
            <a:ext cx="57150" cy="154305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B07F9D2-F434-45D0-A3FB-972A4FA9BCC0}"/>
              </a:ext>
            </a:extLst>
          </p:cNvPr>
          <p:cNvSpPr>
            <a:spLocks xmlns:a="http://schemas.openxmlformats.org/drawingml/2006/main" noGrp="1"/>
          </p:cNvSpPr>
          <p:nvPr/>
        </p:nvSpPr>
        <p:spPr>
          <a:xfrm xmlns:a="http://schemas.openxmlformats.org/drawingml/2006/main">
            <a:off x="742950" y="2095500"/>
            <a:ext cx="4895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PASS  •  G07 local end-to-end</a:t>
            </a:r>
          </a:p>
        </p:txBody>
      </p:sp>
      <p:sp>
        <p:nvSpPr>
          <p:cNvPr id="11" name="">
            <a:extLst xmlns:a="http://schemas.openxmlformats.org/drawingml/2006/main">
              <a:ext uri="{FF2B5EF4-FFF2-40B4-BE49-F238E27FC236}">
                <a16:creationId xmlns:a16="http://schemas.microsoft.com/office/drawing/2014/main" id="{3F7CFCB8-ED1D-4E0D-89BD-AF4A66DC2A26}"/>
              </a:ext>
            </a:extLst>
          </p:cNvPr>
          <p:cNvSpPr>
            <a:spLocks xmlns:a="http://schemas.openxmlformats.org/drawingml/2006/main" noGrp="1"/>
          </p:cNvSpPr>
          <p:nvPr/>
        </p:nvSpPr>
        <p:spPr>
          <a:xfrm xmlns:a="http://schemas.openxmlformats.org/drawingml/2006/main">
            <a:off x="742950" y="2447925"/>
            <a:ext cx="48958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Definition v1 · instance 2251799813685458</a:t>
            </a:r>
          </a:p>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9 human tasks · COMPLETED · 0 active incidents</a:t>
            </a:r>
          </a:p>
        </p:txBody>
      </p:sp>
      <p:sp>
        <p:nvSpPr>
          <p:cNvPr id="12" name="">
            <a:extLst xmlns:a="http://schemas.openxmlformats.org/drawingml/2006/main">
              <a:ext uri="{FF2B5EF4-FFF2-40B4-BE49-F238E27FC236}">
                <a16:creationId xmlns:a16="http://schemas.microsoft.com/office/drawing/2014/main" id="{563E285E-4135-4F8D-828B-6FF59EB42338}"/>
              </a:ext>
            </a:extLst>
          </p:cNvPr>
          <p:cNvSpPr>
            <a:spLocks xmlns:a="http://schemas.openxmlformats.org/drawingml/2006/main" noGrp="1"/>
          </p:cNvSpPr>
          <p:nvPr/>
        </p:nvSpPr>
        <p:spPr>
          <a:xfrm xmlns:a="http://schemas.openxmlformats.org/drawingml/2006/main">
            <a:off x="6362700" y="1933575"/>
            <a:ext cx="5276850" cy="1543050"/>
          </a:xfrm>
          <a:prstGeom xmlns:a="http://schemas.openxmlformats.org/drawingml/2006/main" prst="roundRect">
            <a:avLst>
              <a:gd name="adj" fmla="val 4938"/>
            </a:avLst>
          </a:prstGeom>
          <a:solidFill xmlns:a="http://schemas.openxmlformats.org/drawingml/2006/main">
            <a:srgbClr val="E8F1F8"/>
          </a:solidFill>
          <a:ln xmlns:a="http://schemas.openxmlformats.org/drawingml/2006/main" w="9525">
            <a:solidFill>
              <a:srgbClr val="CAD6DE"/>
            </a:solidFill>
          </a:ln>
        </p:spPr>
      </p:sp>
      <p:sp>
        <p:nvSpPr>
          <p:cNvPr id="13" name="">
            <a:extLst xmlns:a="http://schemas.openxmlformats.org/drawingml/2006/main">
              <a:ext uri="{FF2B5EF4-FFF2-40B4-BE49-F238E27FC236}">
                <a16:creationId xmlns:a16="http://schemas.microsoft.com/office/drawing/2014/main" id="{529CA013-C1CB-431E-B53F-7AEE75336B2E}"/>
              </a:ext>
            </a:extLst>
          </p:cNvPr>
          <p:cNvSpPr>
            <a:spLocks xmlns:a="http://schemas.openxmlformats.org/drawingml/2006/main" noGrp="1"/>
          </p:cNvSpPr>
          <p:nvPr/>
        </p:nvSpPr>
        <p:spPr>
          <a:xfrm xmlns:a="http://schemas.openxmlformats.org/drawingml/2006/main">
            <a:off x="6362700" y="1933575"/>
            <a:ext cx="57150" cy="154305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F5A1CAA-FE19-4DA0-91F5-128304C88710}"/>
              </a:ext>
            </a:extLst>
          </p:cNvPr>
          <p:cNvSpPr>
            <a:spLocks xmlns:a="http://schemas.openxmlformats.org/drawingml/2006/main" noGrp="1"/>
          </p:cNvSpPr>
          <p:nvPr/>
        </p:nvSpPr>
        <p:spPr>
          <a:xfrm xmlns:a="http://schemas.openxmlformats.org/drawingml/2006/main">
            <a:off x="6553200" y="2095500"/>
            <a:ext cx="4895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PASS  •  automated checks</a:t>
            </a:r>
          </a:p>
        </p:txBody>
      </p:sp>
      <p:sp>
        <p:nvSpPr>
          <p:cNvPr id="15" name="">
            <a:extLst xmlns:a="http://schemas.openxmlformats.org/drawingml/2006/main">
              <a:ext uri="{FF2B5EF4-FFF2-40B4-BE49-F238E27FC236}">
                <a16:creationId xmlns:a16="http://schemas.microsoft.com/office/drawing/2014/main" id="{BF69D168-BD2F-4A3E-A3F0-77B383BF716D}"/>
              </a:ext>
            </a:extLst>
          </p:cNvPr>
          <p:cNvSpPr>
            <a:spLocks xmlns:a="http://schemas.openxmlformats.org/drawingml/2006/main" noGrp="1"/>
          </p:cNvSpPr>
          <p:nvPr/>
        </p:nvSpPr>
        <p:spPr>
          <a:xfrm xmlns:a="http://schemas.openxmlformats.org/drawingml/2006/main">
            <a:off x="6553200" y="2447925"/>
            <a:ext cx="48958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12 Java tests (5 A, 7 D) · 4 BPMN structural checks</a:t>
            </a:r>
          </a:p>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Source baseline fc6293e</a:t>
            </a:r>
          </a:p>
        </p:txBody>
      </p:sp>
      <p:sp>
        <p:nvSpPr>
          <p:cNvPr id="16" name="">
            <a:extLst xmlns:a="http://schemas.openxmlformats.org/drawingml/2006/main">
              <a:ext uri="{FF2B5EF4-FFF2-40B4-BE49-F238E27FC236}">
                <a16:creationId xmlns:a16="http://schemas.microsoft.com/office/drawing/2014/main" id="{971A53E9-3884-41E0-A0CE-72F1687F2C4D}"/>
              </a:ext>
            </a:extLst>
          </p:cNvPr>
          <p:cNvSpPr>
            <a:spLocks xmlns:a="http://schemas.openxmlformats.org/drawingml/2006/main" noGrp="1"/>
          </p:cNvSpPr>
          <p:nvPr/>
        </p:nvSpPr>
        <p:spPr>
          <a:xfrm xmlns:a="http://schemas.openxmlformats.org/drawingml/2006/main">
            <a:off x="552450" y="3714750"/>
            <a:ext cx="5276850" cy="1657350"/>
          </a:xfrm>
          <a:prstGeom xmlns:a="http://schemas.openxmlformats.org/drawingml/2006/main" prst="roundRect">
            <a:avLst>
              <a:gd name="adj" fmla="val 4598"/>
            </a:avLst>
          </a:prstGeom>
          <a:solidFill xmlns:a="http://schemas.openxmlformats.org/drawingml/2006/main">
            <a:srgbClr val="FBE9E8"/>
          </a:solidFill>
          <a:ln xmlns:a="http://schemas.openxmlformats.org/drawingml/2006/main" w="9525">
            <a:solidFill>
              <a:srgbClr val="CAD6DE"/>
            </a:solidFill>
          </a:ln>
        </p:spPr>
      </p:sp>
      <p:sp>
        <p:nvSpPr>
          <p:cNvPr id="17" name="">
            <a:extLst xmlns:a="http://schemas.openxmlformats.org/drawingml/2006/main">
              <a:ext uri="{FF2B5EF4-FFF2-40B4-BE49-F238E27FC236}">
                <a16:creationId xmlns:a16="http://schemas.microsoft.com/office/drawing/2014/main" id="{0742F722-277B-4875-985E-1B8A459A2543}"/>
              </a:ext>
            </a:extLst>
          </p:cNvPr>
          <p:cNvSpPr>
            <a:spLocks xmlns:a="http://schemas.openxmlformats.org/drawingml/2006/main" noGrp="1"/>
          </p:cNvSpPr>
          <p:nvPr/>
        </p:nvSpPr>
        <p:spPr>
          <a:xfrm xmlns:a="http://schemas.openxmlformats.org/drawingml/2006/main">
            <a:off x="552450" y="3714750"/>
            <a:ext cx="57150" cy="1657350"/>
          </a:xfrm>
          <a:prstGeom xmlns:a="http://schemas.openxmlformats.org/drawingml/2006/main" prst="rect">
            <a:avLst/>
          </a:prstGeom>
          <a:solidFill xmlns:a="http://schemas.openxmlformats.org/drawingml/2006/main">
            <a:srgbClr val="B6414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090828F-32CA-4176-B1DA-63EB27BFC8CF}"/>
              </a:ext>
            </a:extLst>
          </p:cNvPr>
          <p:cNvSpPr>
            <a:spLocks xmlns:a="http://schemas.openxmlformats.org/drawingml/2006/main" noGrp="1"/>
          </p:cNvSpPr>
          <p:nvPr/>
        </p:nvSpPr>
        <p:spPr>
          <a:xfrm xmlns:a="http://schemas.openxmlformats.org/drawingml/2006/main">
            <a:off x="742950" y="3876675"/>
            <a:ext cx="4895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FAIL  •  role boundary (earlier v6)</a:t>
            </a:r>
          </a:p>
        </p:txBody>
      </p:sp>
      <p:sp>
        <p:nvSpPr>
          <p:cNvPr id="19" name="">
            <a:extLst xmlns:a="http://schemas.openxmlformats.org/drawingml/2006/main">
              <a:ext uri="{FF2B5EF4-FFF2-40B4-BE49-F238E27FC236}">
                <a16:creationId xmlns:a16="http://schemas.microsoft.com/office/drawing/2014/main" id="{C016863B-B103-4B5D-9182-3B4C090CD834}"/>
              </a:ext>
            </a:extLst>
          </p:cNvPr>
          <p:cNvSpPr>
            <a:spLocks xmlns:a="http://schemas.openxmlformats.org/drawingml/2006/main" noGrp="1"/>
          </p:cNvSpPr>
          <p:nvPr/>
        </p:nvSpPr>
        <p:spPr>
          <a:xfrm xmlns:a="http://schemas.openxmlformats.org/drawingml/2006/main">
            <a:off x="742950" y="4229100"/>
            <a:ext cx="48958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A secretary-labelled form value did not prevent an acceptance. Role text is not access control.</a:t>
            </a:r>
          </a:p>
        </p:txBody>
      </p:sp>
      <p:sp>
        <p:nvSpPr>
          <p:cNvPr id="20" name="">
            <a:extLst xmlns:a="http://schemas.openxmlformats.org/drawingml/2006/main">
              <a:ext uri="{FF2B5EF4-FFF2-40B4-BE49-F238E27FC236}">
                <a16:creationId xmlns:a16="http://schemas.microsoft.com/office/drawing/2014/main" id="{934E9784-25E0-459B-AB59-27852CA578C8}"/>
              </a:ext>
            </a:extLst>
          </p:cNvPr>
          <p:cNvSpPr>
            <a:spLocks xmlns:a="http://schemas.openxmlformats.org/drawingml/2006/main" noGrp="1"/>
          </p:cNvSpPr>
          <p:nvPr/>
        </p:nvSpPr>
        <p:spPr>
          <a:xfrm xmlns:a="http://schemas.openxmlformats.org/drawingml/2006/main">
            <a:off x="6362700" y="3714750"/>
            <a:ext cx="5276850" cy="1657350"/>
          </a:xfrm>
          <a:prstGeom xmlns:a="http://schemas.openxmlformats.org/drawingml/2006/main" prst="roundRect">
            <a:avLst>
              <a:gd name="adj" fmla="val 4598"/>
            </a:avLst>
          </a:prstGeom>
          <a:solidFill xmlns:a="http://schemas.openxmlformats.org/drawingml/2006/main">
            <a:srgbClr val="FFF1D8"/>
          </a:solidFill>
          <a:ln xmlns:a="http://schemas.openxmlformats.org/drawingml/2006/main" w="9525">
            <a:solidFill>
              <a:srgbClr val="CAD6DE"/>
            </a:solidFill>
          </a:ln>
        </p:spPr>
      </p:sp>
      <p:sp>
        <p:nvSpPr>
          <p:cNvPr id="21" name="">
            <a:extLst xmlns:a="http://schemas.openxmlformats.org/drawingml/2006/main">
              <a:ext uri="{FF2B5EF4-FFF2-40B4-BE49-F238E27FC236}">
                <a16:creationId xmlns:a16="http://schemas.microsoft.com/office/drawing/2014/main" id="{1150C6FA-D16B-4260-A569-026B93F75062}"/>
              </a:ext>
            </a:extLst>
          </p:cNvPr>
          <p:cNvSpPr>
            <a:spLocks xmlns:a="http://schemas.openxmlformats.org/drawingml/2006/main" noGrp="1"/>
          </p:cNvSpPr>
          <p:nvPr/>
        </p:nvSpPr>
        <p:spPr>
          <a:xfrm xmlns:a="http://schemas.openxmlformats.org/drawingml/2006/main">
            <a:off x="6362700" y="3714750"/>
            <a:ext cx="57150" cy="1657350"/>
          </a:xfrm>
          <a:prstGeom xmlns:a="http://schemas.openxmlformats.org/drawingml/2006/main" prst="rect">
            <a:avLst/>
          </a:prstGeom>
          <a:solidFill xmlns:a="http://schemas.openxmlformats.org/drawingml/2006/main">
            <a:srgbClr val="E8A2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364D32B-5A55-4B68-959A-E5C4445C04D5}"/>
              </a:ext>
            </a:extLst>
          </p:cNvPr>
          <p:cNvSpPr>
            <a:spLocks xmlns:a="http://schemas.openxmlformats.org/drawingml/2006/main" noGrp="1"/>
          </p:cNvSpPr>
          <p:nvPr/>
        </p:nvSpPr>
        <p:spPr>
          <a:xfrm xmlns:a="http://schemas.openxmlformats.org/drawingml/2006/main">
            <a:off x="6553200" y="3876675"/>
            <a:ext cx="4895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63047"/>
                </a:solidFill>
                <a:latin typeface="Arial"/>
                <a:ea typeface="Arial"/>
                <a:cs typeface="Arial"/>
              </a:defRPr>
            </a:pPr>
            <a:r>
              <a:rPr sz="1275" b="1">
                <a:solidFill>
                  <a:srgbClr val="163047"/>
                </a:solidFill>
                <a:latin typeface="Arial"/>
                <a:ea typeface="Arial"/>
                <a:cs typeface="Arial"/>
              </a:rPr>
              <a:t>OPEN  •  other branches</a:t>
            </a:r>
          </a:p>
        </p:txBody>
      </p:sp>
      <p:sp>
        <p:nvSpPr>
          <p:cNvPr id="23" name="">
            <a:extLst xmlns:a="http://schemas.openxmlformats.org/drawingml/2006/main">
              <a:ext uri="{FF2B5EF4-FFF2-40B4-BE49-F238E27FC236}">
                <a16:creationId xmlns:a16="http://schemas.microsoft.com/office/drawing/2014/main" id="{55BCCF29-D8CB-4F79-B51C-EAE618AFEEFF}"/>
              </a:ext>
            </a:extLst>
          </p:cNvPr>
          <p:cNvSpPr>
            <a:spLocks xmlns:a="http://schemas.openxmlformats.org/drawingml/2006/main" noGrp="1"/>
          </p:cNvSpPr>
          <p:nvPr/>
        </p:nvSpPr>
        <p:spPr>
          <a:xfrm xmlns:a="http://schemas.openxmlformats.org/drawingml/2006/main">
            <a:off x="6553200" y="4229100"/>
            <a:ext cx="48958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A344B"/>
                </a:solidFill>
                <a:latin typeface="Arial"/>
                <a:ea typeface="Arial"/>
                <a:cs typeface="Arial"/>
              </a:defRPr>
            </a:pPr>
            <a:r>
              <a:rPr sz="1275" b="0">
                <a:solidFill>
                  <a:srgbClr val="1A344B"/>
                </a:solidFill>
                <a:latin typeface="Arial"/>
                <a:ea typeface="Arial"/>
                <a:cs typeface="Arial"/>
              </a:rPr>
              <a:t>Pending-to-ready booking, C referrer retry, A refund and D live change route need separate proof.</a:t>
            </a:r>
          </a:p>
        </p:txBody>
      </p:sp>
    </p:spTree>
    <p:extLst>
      <p:ext uri="{BB962C8B-B14F-4D97-AF65-F5344CB8AC3E}">
        <p14:creationId xmlns:p14="http://schemas.microsoft.com/office/powerpoint/2010/main" val="11526978"/>
      </p:ext>
    </p:extLst>
  </p:cSld>
</p:sld>
</file>

<file path=ppt/slides/slide7.xml><?xml version="1.0" encoding="utf-8"?>
<p:sld xmlns:p="http://schemas.openxmlformats.org/presentationml/2006/main">
  <p:cSld>
    <p:bg>
      <p:bgPr>
        <a:solidFill xmlns:a="http://schemas.openxmlformats.org/drawingml/2006/main">
          <a:srgbClr val="F9F7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1FCEEBA-84C5-4D67-961D-B5A46D3D8C3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657922-C07D-4FE5-9133-D93A7445A1BD}"/>
              </a:ext>
            </a:extLst>
          </p:cNvPr>
          <p:cNvSpPr>
            <a:spLocks xmlns:a="http://schemas.openxmlformats.org/drawingml/2006/main" noGrp="1"/>
          </p:cNvSpPr>
          <p:nvPr/>
        </p:nvSpPr>
        <p:spPr>
          <a:xfrm xmlns:a="http://schemas.openxmlformats.org/drawingml/2006/main">
            <a:off x="533400" y="3238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27B76"/>
                </a:solidFill>
                <a:latin typeface="Arial"/>
                <a:ea typeface="Arial"/>
                <a:cs typeface="Arial"/>
              </a:defRPr>
            </a:pPr>
            <a:r>
              <a:rPr sz="975" b="1">
                <a:solidFill>
                  <a:srgbClr val="127B76"/>
                </a:solidFill>
                <a:latin typeface="Arial"/>
                <a:ea typeface="Arial"/>
                <a:cs typeface="Arial"/>
              </a:rPr>
              <a:t>LIVE DEMONSTRATION</a:t>
            </a:r>
          </a:p>
        </p:txBody>
      </p:sp>
      <p:sp>
        <p:nvSpPr>
          <p:cNvPr id="3" name="">
            <a:extLst xmlns:a="http://schemas.openxmlformats.org/drawingml/2006/main">
              <a:ext uri="{FF2B5EF4-FFF2-40B4-BE49-F238E27FC236}">
                <a16:creationId xmlns:a16="http://schemas.microsoft.com/office/drawing/2014/main" id="{F1F39478-19B1-49C4-A886-9735495F5393}"/>
              </a:ext>
            </a:extLst>
          </p:cNvPr>
          <p:cNvSpPr>
            <a:spLocks xmlns:a="http://schemas.openxmlformats.org/drawingml/2006/main" noGrp="1"/>
          </p:cNvSpPr>
          <p:nvPr/>
        </p:nvSpPr>
        <p:spPr>
          <a:xfrm xmlns:a="http://schemas.openxmlformats.org/drawingml/2006/main">
            <a:off x="533400" y="59055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163047"/>
                </a:solidFill>
                <a:latin typeface="Arial"/>
                <a:ea typeface="Arial"/>
                <a:cs typeface="Arial"/>
              </a:defRPr>
            </a:pPr>
            <a:r>
              <a:rPr sz="2850" b="1">
                <a:solidFill>
                  <a:srgbClr val="163047"/>
                </a:solidFill>
                <a:latin typeface="Arial"/>
                <a:ea typeface="Arial"/>
                <a:cs typeface="Arial"/>
              </a:rPr>
              <a:t>A repeatable start-to-end route</a:t>
            </a:r>
          </a:p>
        </p:txBody>
      </p:sp>
      <p:sp>
        <p:nvSpPr>
          <p:cNvPr id="4" name="">
            <a:extLst xmlns:a="http://schemas.openxmlformats.org/drawingml/2006/main">
              <a:ext uri="{FF2B5EF4-FFF2-40B4-BE49-F238E27FC236}">
                <a16:creationId xmlns:a16="http://schemas.microsoft.com/office/drawing/2014/main" id="{A4DCFAB7-E992-43FA-89FA-83F6467BCF55}"/>
              </a:ext>
            </a:extLst>
          </p:cNvPr>
          <p:cNvSpPr>
            <a:spLocks xmlns:a="http://schemas.openxmlformats.org/drawingml/2006/main" noGrp="1"/>
          </p:cNvSpPr>
          <p:nvPr/>
        </p:nvSpPr>
        <p:spPr>
          <a:xfrm xmlns:a="http://schemas.openxmlformats.org/drawingml/2006/main">
            <a:off x="552450" y="1219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97185"/>
                </a:solidFill>
                <a:latin typeface="Arial"/>
                <a:ea typeface="Arial"/>
                <a:cs typeface="Arial"/>
              </a:defRPr>
            </a:pPr>
            <a:r>
              <a:rPr sz="1275" b="0">
                <a:solidFill>
                  <a:srgbClr val="597185"/>
                </a:solidFill>
                <a:latin typeface="Arial"/>
                <a:ea typeface="Arial"/>
                <a:cs typeface="Arial"/>
              </a:rPr>
              <a:t>Use a fresh fictional case; keep the Java application running from hospital-pathway/.</a:t>
            </a:r>
          </a:p>
        </p:txBody>
      </p:sp>
      <p:sp>
        <p:nvSpPr>
          <p:cNvPr id="5" name="">
            <a:extLst xmlns:a="http://schemas.openxmlformats.org/drawingml/2006/main">
              <a:ext uri="{FF2B5EF4-FFF2-40B4-BE49-F238E27FC236}">
                <a16:creationId xmlns:a16="http://schemas.microsoft.com/office/drawing/2014/main" id="{BFFD0AA1-2D41-493F-A8FF-173336496B7F}"/>
              </a:ext>
            </a:extLst>
          </p:cNvPr>
          <p:cNvSpPr>
            <a:spLocks xmlns:a="http://schemas.openxmlformats.org/drawingml/2006/main" noGrp="1"/>
          </p:cNvSpPr>
          <p:nvPr/>
        </p:nvSpPr>
        <p:spPr>
          <a:xfrm xmlns:a="http://schemas.openxmlformats.org/drawingml/2006/main">
            <a:off x="533400" y="6353175"/>
            <a:ext cx="11125200" cy="9525"/>
          </a:xfrm>
          <a:prstGeom xmlns:a="http://schemas.openxmlformats.org/drawingml/2006/main" prst="rect">
            <a:avLst/>
          </a:prstGeom>
          <a:solidFill xmlns:a="http://schemas.openxmlformats.org/drawingml/2006/main">
            <a:srgbClr val="CAD6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B26552-72A1-4388-98F4-B7C1EF501EBE}"/>
              </a:ext>
            </a:extLst>
          </p:cNvPr>
          <p:cNvSpPr>
            <a:spLocks xmlns:a="http://schemas.openxmlformats.org/drawingml/2006/main" noGrp="1"/>
          </p:cNvSpPr>
          <p:nvPr/>
        </p:nvSpPr>
        <p:spPr>
          <a:xfrm xmlns:a="http://schemas.openxmlformats.org/drawingml/2006/main">
            <a:off x="533400" y="645795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97185"/>
                </a:solidFill>
                <a:latin typeface="Arial"/>
                <a:ea typeface="Arial"/>
                <a:cs typeface="Arial"/>
              </a:defRPr>
            </a:pPr>
            <a:r>
              <a:rPr sz="900" b="0">
                <a:solidFill>
                  <a:srgbClr val="597185"/>
                </a:solidFill>
                <a:latin typeface="Arial"/>
                <a:ea typeface="Arial"/>
                <a:cs typeface="Arial"/>
              </a:rPr>
              <a:t>Hospital Pathway  |  BPM&amp;EA / UFCEP4-0-3</a:t>
            </a:r>
          </a:p>
        </p:txBody>
      </p:sp>
      <p:sp>
        <p:nvSpPr>
          <p:cNvPr id="7" name="">
            <a:extLst xmlns:a="http://schemas.openxmlformats.org/drawingml/2006/main">
              <a:ext uri="{FF2B5EF4-FFF2-40B4-BE49-F238E27FC236}">
                <a16:creationId xmlns:a16="http://schemas.microsoft.com/office/drawing/2014/main" id="{5E7C2EDE-2FB1-4629-85B8-D2F28370C23C}"/>
              </a:ext>
            </a:extLst>
          </p:cNvPr>
          <p:cNvSpPr>
            <a:spLocks xmlns:a="http://schemas.openxmlformats.org/drawingml/2006/main" noGrp="1"/>
          </p:cNvSpPr>
          <p:nvPr/>
        </p:nvSpPr>
        <p:spPr>
          <a:xfrm xmlns:a="http://schemas.openxmlformats.org/drawingml/2006/main">
            <a:off x="10496550" y="6457950"/>
            <a:ext cx="116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597185"/>
                </a:solidFill>
                <a:latin typeface="Arial"/>
                <a:ea typeface="Arial"/>
                <a:cs typeface="Arial"/>
              </a:defRPr>
            </a:pPr>
            <a:r>
              <a:rPr sz="900" b="1">
                <a:solidFill>
                  <a:srgbClr val="597185"/>
                </a:solidFill>
                <a:latin typeface="Arial"/>
                <a:ea typeface="Arial"/>
                <a:cs typeface="Arial"/>
              </a:rPr>
              <a:t>07 / 08</a:t>
            </a:r>
          </a:p>
        </p:txBody>
      </p:sp>
      <p:sp>
        <p:nvSpPr>
          <p:cNvPr id="8" name="">
            <a:extLst xmlns:a="http://schemas.openxmlformats.org/drawingml/2006/main">
              <a:ext uri="{FF2B5EF4-FFF2-40B4-BE49-F238E27FC236}">
                <a16:creationId xmlns:a16="http://schemas.microsoft.com/office/drawing/2014/main" id="{FFAB2CBB-73F4-40EE-99A8-1D175944587C}"/>
              </a:ext>
            </a:extLst>
          </p:cNvPr>
          <p:cNvSpPr>
            <a:spLocks xmlns:a="http://schemas.openxmlformats.org/drawingml/2006/main" noGrp="1"/>
          </p:cNvSpPr>
          <p:nvPr/>
        </p:nvSpPr>
        <p:spPr>
          <a:xfrm xmlns:a="http://schemas.openxmlformats.org/drawingml/2006/main">
            <a:off x="552450" y="2152650"/>
            <a:ext cx="3590925" cy="25146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9525">
            <a:solidFill>
              <a:srgbClr val="CAD6DE"/>
            </a:solidFill>
          </a:ln>
        </p:spPr>
      </p:sp>
      <p:sp>
        <p:nvSpPr>
          <p:cNvPr id="9" name="">
            <a:extLst xmlns:a="http://schemas.openxmlformats.org/drawingml/2006/main">
              <a:ext uri="{FF2B5EF4-FFF2-40B4-BE49-F238E27FC236}">
                <a16:creationId xmlns:a16="http://schemas.microsoft.com/office/drawing/2014/main" id="{ACC2B061-EC76-438C-86E8-AB9701E397B6}"/>
              </a:ext>
            </a:extLst>
          </p:cNvPr>
          <p:cNvSpPr>
            <a:spLocks xmlns:a="http://schemas.openxmlformats.org/drawingml/2006/main" noGrp="1"/>
          </p:cNvSpPr>
          <p:nvPr/>
        </p:nvSpPr>
        <p:spPr>
          <a:xfrm xmlns:a="http://schemas.openxmlformats.org/drawingml/2006/main">
            <a:off x="762000" y="2390775"/>
            <a:ext cx="3171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27B76"/>
                </a:solidFill>
                <a:latin typeface="Arial"/>
                <a:ea typeface="Arial"/>
                <a:cs typeface="Arial"/>
              </a:defRPr>
            </a:pPr>
            <a:r>
              <a:rPr sz="1350" b="1">
                <a:solidFill>
                  <a:srgbClr val="127B76"/>
                </a:solidFill>
                <a:latin typeface="Arial"/>
                <a:ea typeface="Arial"/>
                <a:cs typeface="Arial"/>
              </a:rPr>
              <a:t>REFERRAL</a:t>
            </a:r>
          </a:p>
        </p:txBody>
      </p:sp>
      <p:sp>
        <p:nvSpPr>
          <p:cNvPr id="10" name="">
            <a:extLst xmlns:a="http://schemas.openxmlformats.org/drawingml/2006/main">
              <a:ext uri="{FF2B5EF4-FFF2-40B4-BE49-F238E27FC236}">
                <a16:creationId xmlns:a16="http://schemas.microsoft.com/office/drawing/2014/main" id="{2B5DE67A-E7B0-4C75-BCF5-22FDDDD09149}"/>
              </a:ext>
            </a:extLst>
          </p:cNvPr>
          <p:cNvSpPr>
            <a:spLocks xmlns:a="http://schemas.openxmlformats.org/drawingml/2006/main" noGrp="1"/>
          </p:cNvSpPr>
          <p:nvPr/>
        </p:nvSpPr>
        <p:spPr>
          <a:xfrm xmlns:a="http://schemas.openxmlformats.org/drawingml/2006/main">
            <a:off x="762000" y="29527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63047"/>
                </a:solidFill>
                <a:latin typeface="Arial"/>
                <a:ea typeface="Arial"/>
                <a:cs typeface="Arial"/>
              </a:defRPr>
            </a:pPr>
            <a:r>
              <a:rPr sz="1950" b="1">
                <a:solidFill>
                  <a:srgbClr val="163047"/>
                </a:solidFill>
                <a:latin typeface="Arial"/>
                <a:ea typeface="Arial"/>
                <a:cs typeface="Arial"/>
              </a:rPr>
              <a:t>Register → accept → attend</a:t>
            </a:r>
          </a:p>
        </p:txBody>
      </p:sp>
      <p:sp>
        <p:nvSpPr>
          <p:cNvPr id="11" name="">
            <a:extLst xmlns:a="http://schemas.openxmlformats.org/drawingml/2006/main">
              <a:ext uri="{FF2B5EF4-FFF2-40B4-BE49-F238E27FC236}">
                <a16:creationId xmlns:a16="http://schemas.microsoft.com/office/drawing/2014/main" id="{FC9E7444-F428-4D32-9621-4622194CD226}"/>
              </a:ext>
            </a:extLst>
          </p:cNvPr>
          <p:cNvSpPr>
            <a:spLocks xmlns:a="http://schemas.openxmlformats.org/drawingml/2006/main" noGrp="1"/>
          </p:cNvSpPr>
          <p:nvPr/>
        </p:nvSpPr>
        <p:spPr>
          <a:xfrm xmlns:a="http://schemas.openxmlformats.org/drawingml/2006/main">
            <a:off x="762000" y="4133850"/>
            <a:ext cx="3162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97185"/>
                </a:solidFill>
                <a:latin typeface="Arial"/>
                <a:ea typeface="Arial"/>
                <a:cs typeface="Arial"/>
              </a:defRPr>
            </a:pPr>
            <a:r>
              <a:rPr sz="1200" b="0">
                <a:solidFill>
                  <a:srgbClr val="597185"/>
                </a:solidFill>
                <a:latin typeface="Arial"/>
                <a:ea typeface="Arial"/>
                <a:cs typeface="Arial"/>
              </a:rPr>
              <a:t>Forms 1–3</a:t>
            </a:r>
          </a:p>
        </p:txBody>
      </p:sp>
      <p:sp>
        <p:nvSpPr>
          <p:cNvPr id="12" name="">
            <a:extLst xmlns:a="http://schemas.openxmlformats.org/drawingml/2006/main">
              <a:ext uri="{FF2B5EF4-FFF2-40B4-BE49-F238E27FC236}">
                <a16:creationId xmlns:a16="http://schemas.microsoft.com/office/drawing/2014/main" id="{B5AAFCA5-FF8B-4BDE-B3EB-EFBF55311C7F}"/>
              </a:ext>
            </a:extLst>
          </p:cNvPr>
          <p:cNvSpPr>
            <a:spLocks xmlns:a="http://schemas.openxmlformats.org/drawingml/2006/main" noGrp="1"/>
          </p:cNvSpPr>
          <p:nvPr/>
        </p:nvSpPr>
        <p:spPr>
          <a:xfrm xmlns:a="http://schemas.openxmlformats.org/drawingml/2006/main">
            <a:off x="4429125" y="2152650"/>
            <a:ext cx="3590925" cy="2514600"/>
          </a:xfrm>
          <a:prstGeom xmlns:a="http://schemas.openxmlformats.org/drawingml/2006/main" prst="roundRect">
            <a:avLst>
              <a:gd name="adj" fmla="val 3030"/>
            </a:avLst>
          </a:prstGeom>
          <a:solidFill xmlns:a="http://schemas.openxmlformats.org/drawingml/2006/main">
            <a:srgbClr val="E2F3EC"/>
          </a:solidFill>
          <a:ln xmlns:a="http://schemas.openxmlformats.org/drawingml/2006/main" w="9525">
            <a:solidFill>
              <a:srgbClr val="CAD6DE"/>
            </a:solidFill>
          </a:ln>
        </p:spPr>
      </p:sp>
      <p:sp>
        <p:nvSpPr>
          <p:cNvPr id="13" name="">
            <a:extLst xmlns:a="http://schemas.openxmlformats.org/drawingml/2006/main">
              <a:ext uri="{FF2B5EF4-FFF2-40B4-BE49-F238E27FC236}">
                <a16:creationId xmlns:a16="http://schemas.microsoft.com/office/drawing/2014/main" id="{19BD698D-E49F-4E49-B762-B97352953A13}"/>
              </a:ext>
            </a:extLst>
          </p:cNvPr>
          <p:cNvSpPr>
            <a:spLocks xmlns:a="http://schemas.openxmlformats.org/drawingml/2006/main" noGrp="1"/>
          </p:cNvSpPr>
          <p:nvPr/>
        </p:nvSpPr>
        <p:spPr>
          <a:xfrm xmlns:a="http://schemas.openxmlformats.org/drawingml/2006/main">
            <a:off x="4638675" y="2390775"/>
            <a:ext cx="3171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27B76"/>
                </a:solidFill>
                <a:latin typeface="Arial"/>
                <a:ea typeface="Arial"/>
                <a:cs typeface="Arial"/>
              </a:defRPr>
            </a:pPr>
            <a:r>
              <a:rPr sz="1350" b="1">
                <a:solidFill>
                  <a:srgbClr val="127B76"/>
                </a:solidFill>
                <a:latin typeface="Arial"/>
                <a:ea typeface="Arial"/>
                <a:cs typeface="Arial"/>
              </a:rPr>
              <a:t>CARE + FUNDING</a:t>
            </a:r>
          </a:p>
        </p:txBody>
      </p:sp>
      <p:sp>
        <p:nvSpPr>
          <p:cNvPr id="14" name="">
            <a:extLst xmlns:a="http://schemas.openxmlformats.org/drawingml/2006/main">
              <a:ext uri="{FF2B5EF4-FFF2-40B4-BE49-F238E27FC236}">
                <a16:creationId xmlns:a16="http://schemas.microsoft.com/office/drawing/2014/main" id="{28CECCF7-F70B-437F-8FCE-F9765C19ADE0}"/>
              </a:ext>
            </a:extLst>
          </p:cNvPr>
          <p:cNvSpPr>
            <a:spLocks xmlns:a="http://schemas.openxmlformats.org/drawingml/2006/main" noGrp="1"/>
          </p:cNvSpPr>
          <p:nvPr/>
        </p:nvSpPr>
        <p:spPr>
          <a:xfrm xmlns:a="http://schemas.openxmlformats.org/drawingml/2006/main">
            <a:off x="4638675" y="29527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63047"/>
                </a:solidFill>
                <a:latin typeface="Arial"/>
                <a:ea typeface="Arial"/>
                <a:cs typeface="Arial"/>
              </a:defRPr>
            </a:pPr>
            <a:r>
              <a:rPr sz="1950" b="1">
                <a:solidFill>
                  <a:srgbClr val="163047"/>
                </a:solidFill>
                <a:latin typeface="Arial"/>
                <a:ea typeface="Arial"/>
                <a:cs typeface="Arial"/>
              </a:rPr>
              <a:t>Treatment → letter sent → self-pay 10.01</a:t>
            </a:r>
          </a:p>
        </p:txBody>
      </p:sp>
      <p:sp>
        <p:nvSpPr>
          <p:cNvPr id="15" name="">
            <a:extLst xmlns:a="http://schemas.openxmlformats.org/drawingml/2006/main">
              <a:ext uri="{FF2B5EF4-FFF2-40B4-BE49-F238E27FC236}">
                <a16:creationId xmlns:a16="http://schemas.microsoft.com/office/drawing/2014/main" id="{E817F2C7-DC7A-4994-95C7-A3A97AAF3CE0}"/>
              </a:ext>
            </a:extLst>
          </p:cNvPr>
          <p:cNvSpPr>
            <a:spLocks xmlns:a="http://schemas.openxmlformats.org/drawingml/2006/main" noGrp="1"/>
          </p:cNvSpPr>
          <p:nvPr/>
        </p:nvSpPr>
        <p:spPr>
          <a:xfrm xmlns:a="http://schemas.openxmlformats.org/drawingml/2006/main">
            <a:off x="4638675" y="4133850"/>
            <a:ext cx="3162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97185"/>
                </a:solidFill>
                <a:latin typeface="Arial"/>
                <a:ea typeface="Arial"/>
                <a:cs typeface="Arial"/>
              </a:defRPr>
            </a:pPr>
            <a:r>
              <a:rPr sz="1200" b="0">
                <a:solidFill>
                  <a:srgbClr val="597185"/>
                </a:solidFill>
                <a:latin typeface="Arial"/>
                <a:ea typeface="Arial"/>
                <a:cs typeface="Arial"/>
              </a:rPr>
              <a:t>Forms 4–6 + payment message</a:t>
            </a:r>
          </a:p>
        </p:txBody>
      </p:sp>
      <p:sp>
        <p:nvSpPr>
          <p:cNvPr id="16" name="">
            <a:extLst xmlns:a="http://schemas.openxmlformats.org/drawingml/2006/main">
              <a:ext uri="{FF2B5EF4-FFF2-40B4-BE49-F238E27FC236}">
                <a16:creationId xmlns:a16="http://schemas.microsoft.com/office/drawing/2014/main" id="{2D7AB7D5-EC86-4F27-9071-543B7CAF5979}"/>
              </a:ext>
            </a:extLst>
          </p:cNvPr>
          <p:cNvSpPr>
            <a:spLocks xmlns:a="http://schemas.openxmlformats.org/drawingml/2006/main" noGrp="1"/>
          </p:cNvSpPr>
          <p:nvPr/>
        </p:nvSpPr>
        <p:spPr>
          <a:xfrm xmlns:a="http://schemas.openxmlformats.org/drawingml/2006/main">
            <a:off x="8305800" y="2152650"/>
            <a:ext cx="3590925" cy="25146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9525">
            <a:solidFill>
              <a:srgbClr val="CAD6DE"/>
            </a:solidFill>
          </a:ln>
        </p:spPr>
      </p:sp>
      <p:sp>
        <p:nvSpPr>
          <p:cNvPr id="17" name="">
            <a:extLst xmlns:a="http://schemas.openxmlformats.org/drawingml/2006/main">
              <a:ext uri="{FF2B5EF4-FFF2-40B4-BE49-F238E27FC236}">
                <a16:creationId xmlns:a16="http://schemas.microsoft.com/office/drawing/2014/main" id="{41185FC0-C7B5-42E6-9DBE-542557EB9227}"/>
              </a:ext>
            </a:extLst>
          </p:cNvPr>
          <p:cNvSpPr>
            <a:spLocks xmlns:a="http://schemas.openxmlformats.org/drawingml/2006/main" noGrp="1"/>
          </p:cNvSpPr>
          <p:nvPr/>
        </p:nvSpPr>
        <p:spPr>
          <a:xfrm xmlns:a="http://schemas.openxmlformats.org/drawingml/2006/main">
            <a:off x="8515350" y="2390775"/>
            <a:ext cx="3171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27B76"/>
                </a:solidFill>
                <a:latin typeface="Arial"/>
                <a:ea typeface="Arial"/>
                <a:cs typeface="Arial"/>
              </a:defRPr>
            </a:pPr>
            <a:r>
              <a:rPr sz="1350" b="1">
                <a:solidFill>
                  <a:srgbClr val="127B76"/>
                </a:solidFill>
                <a:latin typeface="Arial"/>
                <a:ea typeface="Arial"/>
                <a:cs typeface="Arial"/>
              </a:rPr>
              <a:t>FINISH</a:t>
            </a:r>
          </a:p>
        </p:txBody>
      </p:sp>
      <p:sp>
        <p:nvSpPr>
          <p:cNvPr id="18" name="">
            <a:extLst xmlns:a="http://schemas.openxmlformats.org/drawingml/2006/main">
              <a:ext uri="{FF2B5EF4-FFF2-40B4-BE49-F238E27FC236}">
                <a16:creationId xmlns:a16="http://schemas.microsoft.com/office/drawing/2014/main" id="{E1B81963-5DF5-43EF-BD0A-9F82FA67476B}"/>
              </a:ext>
            </a:extLst>
          </p:cNvPr>
          <p:cNvSpPr>
            <a:spLocks xmlns:a="http://schemas.openxmlformats.org/drawingml/2006/main" noGrp="1"/>
          </p:cNvSpPr>
          <p:nvPr/>
        </p:nvSpPr>
        <p:spPr>
          <a:xfrm xmlns:a="http://schemas.openxmlformats.org/drawingml/2006/main">
            <a:off x="8515350" y="29527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63047"/>
                </a:solidFill>
                <a:latin typeface="Arial"/>
                <a:ea typeface="Arial"/>
                <a:cs typeface="Arial"/>
              </a:defRPr>
            </a:pPr>
            <a:r>
              <a:rPr sz="1950" b="1">
                <a:solidFill>
                  <a:srgbClr val="163047"/>
                </a:solidFill>
                <a:latin typeface="Arial"/>
                <a:ea typeface="Arial"/>
                <a:cs typeface="Arial"/>
              </a:rPr>
              <a:t>Resources ready → discharge → letter sent</a:t>
            </a:r>
          </a:p>
        </p:txBody>
      </p:sp>
      <p:sp>
        <p:nvSpPr>
          <p:cNvPr id="19" name="">
            <a:extLst xmlns:a="http://schemas.openxmlformats.org/drawingml/2006/main">
              <a:ext uri="{FF2B5EF4-FFF2-40B4-BE49-F238E27FC236}">
                <a16:creationId xmlns:a16="http://schemas.microsoft.com/office/drawing/2014/main" id="{4F2732B0-92D3-46E1-9350-D6D4C28A9ECC}"/>
              </a:ext>
            </a:extLst>
          </p:cNvPr>
          <p:cNvSpPr>
            <a:spLocks xmlns:a="http://schemas.openxmlformats.org/drawingml/2006/main" noGrp="1"/>
          </p:cNvSpPr>
          <p:nvPr/>
        </p:nvSpPr>
        <p:spPr>
          <a:xfrm xmlns:a="http://schemas.openxmlformats.org/drawingml/2006/main">
            <a:off x="8515350" y="4133850"/>
            <a:ext cx="3162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97185"/>
                </a:solidFill>
                <a:latin typeface="Arial"/>
                <a:ea typeface="Arial"/>
                <a:cs typeface="Arial"/>
              </a:defRPr>
            </a:pPr>
            <a:r>
              <a:rPr sz="1200" b="0">
                <a:solidFill>
                  <a:srgbClr val="597185"/>
                </a:solidFill>
                <a:latin typeface="Arial"/>
                <a:ea typeface="Arial"/>
                <a:cs typeface="Arial"/>
              </a:rPr>
              <a:t>Forms 7–9 + confirmation</a:t>
            </a:r>
          </a:p>
        </p:txBody>
      </p:sp>
      <p:sp>
        <p:nvSpPr>
          <p:cNvPr id="20" name="">
            <a:extLst xmlns:a="http://schemas.openxmlformats.org/drawingml/2006/main">
              <a:ext uri="{FF2B5EF4-FFF2-40B4-BE49-F238E27FC236}">
                <a16:creationId xmlns:a16="http://schemas.microsoft.com/office/drawing/2014/main" id="{42CD4F66-5D1D-421F-8CCA-27814B6A0FEE}"/>
              </a:ext>
            </a:extLst>
          </p:cNvPr>
          <p:cNvSpPr>
            <a:spLocks xmlns:a="http://schemas.openxmlformats.org/drawingml/2006/main" noGrp="1"/>
          </p:cNvSpPr>
          <p:nvPr/>
        </p:nvSpPr>
        <p:spPr>
          <a:xfrm xmlns:a="http://schemas.openxmlformats.org/drawingml/2006/main">
            <a:off x="552450" y="5210175"/>
            <a:ext cx="1109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63047"/>
                </a:solidFill>
                <a:latin typeface="Arial"/>
                <a:ea typeface="Arial"/>
                <a:cs typeface="Arial"/>
              </a:defRPr>
            </a:pPr>
            <a:r>
              <a:rPr sz="1500" b="1">
                <a:solidFill>
                  <a:srgbClr val="163047"/>
                </a:solidFill>
                <a:latin typeface="Arial"/>
                <a:ea typeface="Arial"/>
                <a:cs typeface="Arial"/>
              </a:rPr>
              <a:t>Observe: payment_status=successful  •  booking_slot_status=CONFIRMED  •  final state COMPLETED</a:t>
            </a:r>
          </a:p>
        </p:txBody>
      </p:sp>
    </p:spTree>
    <p:extLst>
      <p:ext uri="{BB962C8B-B14F-4D97-AF65-F5344CB8AC3E}">
        <p14:creationId xmlns:p14="http://schemas.microsoft.com/office/powerpoint/2010/main" val="1574730265"/>
      </p:ext>
    </p:extLst>
  </p:cSld>
</p:sld>
</file>

<file path=ppt/slides/slide8.xml><?xml version="1.0" encoding="utf-8"?>
<p:sld xmlns:p="http://schemas.openxmlformats.org/presentationml/2006/main">
  <p:cSld>
    <p:bg>
      <p:bgPr>
        <a:solidFill xmlns:a="http://schemas.openxmlformats.org/drawingml/2006/main">
          <a:srgbClr val="F9F7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335C730-D499-4487-87BE-A9798935C55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27B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755CB6-06E6-44E2-882E-D57293969261}"/>
              </a:ext>
            </a:extLst>
          </p:cNvPr>
          <p:cNvSpPr>
            <a:spLocks xmlns:a="http://schemas.openxmlformats.org/drawingml/2006/main" noGrp="1"/>
          </p:cNvSpPr>
          <p:nvPr/>
        </p:nvSpPr>
        <p:spPr>
          <a:xfrm xmlns:a="http://schemas.openxmlformats.org/drawingml/2006/main">
            <a:off x="533400" y="3238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27B76"/>
                </a:solidFill>
                <a:latin typeface="Arial"/>
                <a:ea typeface="Arial"/>
                <a:cs typeface="Arial"/>
              </a:defRPr>
            </a:pPr>
            <a:r>
              <a:rPr sz="975" b="1">
                <a:solidFill>
                  <a:srgbClr val="127B76"/>
                </a:solidFill>
                <a:latin typeface="Arial"/>
                <a:ea typeface="Arial"/>
                <a:cs typeface="Arial"/>
              </a:rPr>
              <a:t>RELEASE DECISION</a:t>
            </a:r>
          </a:p>
        </p:txBody>
      </p:sp>
      <p:sp>
        <p:nvSpPr>
          <p:cNvPr id="3" name="">
            <a:extLst xmlns:a="http://schemas.openxmlformats.org/drawingml/2006/main">
              <a:ext uri="{FF2B5EF4-FFF2-40B4-BE49-F238E27FC236}">
                <a16:creationId xmlns:a16="http://schemas.microsoft.com/office/drawing/2014/main" id="{EC4294EE-CDDD-4413-B908-8F3619941060}"/>
              </a:ext>
            </a:extLst>
          </p:cNvPr>
          <p:cNvSpPr>
            <a:spLocks xmlns:a="http://schemas.openxmlformats.org/drawingml/2006/main" noGrp="1"/>
          </p:cNvSpPr>
          <p:nvPr/>
        </p:nvSpPr>
        <p:spPr>
          <a:xfrm xmlns:a="http://schemas.openxmlformats.org/drawingml/2006/main">
            <a:off x="533400" y="59055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163047"/>
                </a:solidFill>
                <a:latin typeface="Arial"/>
                <a:ea typeface="Arial"/>
                <a:cs typeface="Arial"/>
              </a:defRPr>
            </a:pPr>
            <a:r>
              <a:rPr sz="2850" b="1">
                <a:solidFill>
                  <a:srgbClr val="163047"/>
                </a:solidFill>
                <a:latin typeface="Arial"/>
                <a:ea typeface="Arial"/>
                <a:cs typeface="Arial"/>
              </a:rPr>
              <a:t>What remains before group sign-off</a:t>
            </a:r>
          </a:p>
        </p:txBody>
      </p:sp>
      <p:sp>
        <p:nvSpPr>
          <p:cNvPr id="4" name="">
            <a:extLst xmlns:a="http://schemas.openxmlformats.org/drawingml/2006/main">
              <a:ext uri="{FF2B5EF4-FFF2-40B4-BE49-F238E27FC236}">
                <a16:creationId xmlns:a16="http://schemas.microsoft.com/office/drawing/2014/main" id="{A72B8757-0692-42BE-A230-FEDBBC491CBD}"/>
              </a:ext>
            </a:extLst>
          </p:cNvPr>
          <p:cNvSpPr>
            <a:spLocks xmlns:a="http://schemas.openxmlformats.org/drawingml/2006/main" noGrp="1"/>
          </p:cNvSpPr>
          <p:nvPr/>
        </p:nvSpPr>
        <p:spPr>
          <a:xfrm xmlns:a="http://schemas.openxmlformats.org/drawingml/2006/main">
            <a:off x="552450" y="1219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97185"/>
                </a:solidFill>
                <a:latin typeface="Arial"/>
                <a:ea typeface="Arial"/>
                <a:cs typeface="Arial"/>
              </a:defRPr>
            </a:pPr>
            <a:r>
              <a:rPr sz="1275" b="0">
                <a:solidFill>
                  <a:srgbClr val="597185"/>
                </a:solidFill>
                <a:latin typeface="Arial"/>
                <a:ea typeface="Arial"/>
                <a:cs typeface="Arial"/>
              </a:rPr>
              <a:t>Our evidence supports a working route and a clear, testable improvement list.</a:t>
            </a:r>
          </a:p>
        </p:txBody>
      </p:sp>
      <p:sp>
        <p:nvSpPr>
          <p:cNvPr id="5" name="">
            <a:extLst xmlns:a="http://schemas.openxmlformats.org/drawingml/2006/main">
              <a:ext uri="{FF2B5EF4-FFF2-40B4-BE49-F238E27FC236}">
                <a16:creationId xmlns:a16="http://schemas.microsoft.com/office/drawing/2014/main" id="{D96E8479-6CB7-4487-BAB1-86840335ED25}"/>
              </a:ext>
            </a:extLst>
          </p:cNvPr>
          <p:cNvSpPr>
            <a:spLocks xmlns:a="http://schemas.openxmlformats.org/drawingml/2006/main" noGrp="1"/>
          </p:cNvSpPr>
          <p:nvPr/>
        </p:nvSpPr>
        <p:spPr>
          <a:xfrm xmlns:a="http://schemas.openxmlformats.org/drawingml/2006/main">
            <a:off x="533400" y="6353175"/>
            <a:ext cx="11125200" cy="9525"/>
          </a:xfrm>
          <a:prstGeom xmlns:a="http://schemas.openxmlformats.org/drawingml/2006/main" prst="rect">
            <a:avLst/>
          </a:prstGeom>
          <a:solidFill xmlns:a="http://schemas.openxmlformats.org/drawingml/2006/main">
            <a:srgbClr val="CAD6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DB18B97-ACEF-411B-B73D-3C1FE273DD7F}"/>
              </a:ext>
            </a:extLst>
          </p:cNvPr>
          <p:cNvSpPr>
            <a:spLocks xmlns:a="http://schemas.openxmlformats.org/drawingml/2006/main" noGrp="1"/>
          </p:cNvSpPr>
          <p:nvPr/>
        </p:nvSpPr>
        <p:spPr>
          <a:xfrm xmlns:a="http://schemas.openxmlformats.org/drawingml/2006/main">
            <a:off x="533400" y="645795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97185"/>
                </a:solidFill>
                <a:latin typeface="Arial"/>
                <a:ea typeface="Arial"/>
                <a:cs typeface="Arial"/>
              </a:defRPr>
            </a:pPr>
            <a:r>
              <a:rPr sz="900" b="0">
                <a:solidFill>
                  <a:srgbClr val="597185"/>
                </a:solidFill>
                <a:latin typeface="Arial"/>
                <a:ea typeface="Arial"/>
                <a:cs typeface="Arial"/>
              </a:rPr>
              <a:t>Hospital Pathway  |  BPM&amp;EA / UFCEP4-0-3</a:t>
            </a:r>
          </a:p>
        </p:txBody>
      </p:sp>
      <p:sp>
        <p:nvSpPr>
          <p:cNvPr id="7" name="">
            <a:extLst xmlns:a="http://schemas.openxmlformats.org/drawingml/2006/main">
              <a:ext uri="{FF2B5EF4-FFF2-40B4-BE49-F238E27FC236}">
                <a16:creationId xmlns:a16="http://schemas.microsoft.com/office/drawing/2014/main" id="{9DDC9F94-987F-4149-A6FC-47955A39AE4D}"/>
              </a:ext>
            </a:extLst>
          </p:cNvPr>
          <p:cNvSpPr>
            <a:spLocks xmlns:a="http://schemas.openxmlformats.org/drawingml/2006/main" noGrp="1"/>
          </p:cNvSpPr>
          <p:nvPr/>
        </p:nvSpPr>
        <p:spPr>
          <a:xfrm xmlns:a="http://schemas.openxmlformats.org/drawingml/2006/main">
            <a:off x="10496550" y="6457950"/>
            <a:ext cx="116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597185"/>
                </a:solidFill>
                <a:latin typeface="Arial"/>
                <a:ea typeface="Arial"/>
                <a:cs typeface="Arial"/>
              </a:defRPr>
            </a:pPr>
            <a:r>
              <a:rPr sz="900" b="1">
                <a:solidFill>
                  <a:srgbClr val="597185"/>
                </a:solidFill>
                <a:latin typeface="Arial"/>
                <a:ea typeface="Arial"/>
                <a:cs typeface="Arial"/>
              </a:rPr>
              <a:t>08 / 08</a:t>
            </a:r>
          </a:p>
        </p:txBody>
      </p:sp>
      <p:sp>
        <p:nvSpPr>
          <p:cNvPr id="8" name="">
            <a:extLst xmlns:a="http://schemas.openxmlformats.org/drawingml/2006/main">
              <a:ext uri="{FF2B5EF4-FFF2-40B4-BE49-F238E27FC236}">
                <a16:creationId xmlns:a16="http://schemas.microsoft.com/office/drawing/2014/main" id="{93F1FDD7-9218-49B0-9BA7-5C795FA1354A}"/>
              </a:ext>
            </a:extLst>
          </p:cNvPr>
          <p:cNvSpPr>
            <a:spLocks xmlns:a="http://schemas.openxmlformats.org/drawingml/2006/main" noGrp="1"/>
          </p:cNvSpPr>
          <p:nvPr/>
        </p:nvSpPr>
        <p:spPr>
          <a:xfrm xmlns:a="http://schemas.openxmlformats.org/drawingml/2006/main">
            <a:off x="561975" y="1847850"/>
            <a:ext cx="110680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AD6DE"/>
            </a:solidFill>
          </a:ln>
        </p:spPr>
      </p:sp>
      <p:sp>
        <p:nvSpPr>
          <p:cNvPr id="9" name="">
            <a:extLst xmlns:a="http://schemas.openxmlformats.org/drawingml/2006/main">
              <a:ext uri="{FF2B5EF4-FFF2-40B4-BE49-F238E27FC236}">
                <a16:creationId xmlns:a16="http://schemas.microsoft.com/office/drawing/2014/main" id="{DE03704D-3C5D-4EA2-9CC0-51609BA34B49}"/>
              </a:ext>
            </a:extLst>
          </p:cNvPr>
          <p:cNvSpPr>
            <a:spLocks xmlns:a="http://schemas.openxmlformats.org/drawingml/2006/main" noGrp="1"/>
          </p:cNvSpPr>
          <p:nvPr/>
        </p:nvSpPr>
        <p:spPr>
          <a:xfrm xmlns:a="http://schemas.openxmlformats.org/drawingml/2006/main">
            <a:off x="685800" y="2009775"/>
            <a:ext cx="447675" cy="447675"/>
          </a:xfrm>
          <a:prstGeom xmlns:a="http://schemas.openxmlformats.org/drawingml/2006/main" prst="roundRect">
            <a:avLst>
              <a:gd name="adj" fmla="val 17021"/>
            </a:avLst>
          </a:prstGeom>
          <a:solidFill xmlns:a="http://schemas.openxmlformats.org/drawingml/2006/main">
            <a:srgbClr val="FBE9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1CC710E-82FF-4014-BD52-36F342670FED}"/>
              </a:ext>
            </a:extLst>
          </p:cNvPr>
          <p:cNvSpPr>
            <a:spLocks xmlns:a="http://schemas.openxmlformats.org/drawingml/2006/main" noGrp="1"/>
          </p:cNvSpPr>
          <p:nvPr/>
        </p:nvSpPr>
        <p:spPr>
          <a:xfrm xmlns:a="http://schemas.openxmlformats.org/drawingml/2006/main">
            <a:off x="781050" y="2038350"/>
            <a:ext cx="257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B64145"/>
                </a:solidFill>
                <a:latin typeface="Arial"/>
                <a:ea typeface="Arial"/>
                <a:cs typeface="Arial"/>
              </a:defRPr>
            </a:pPr>
            <a:r>
              <a:rPr sz="1500" b="1">
                <a:solidFill>
                  <a:srgbClr val="B64145"/>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FBD793FA-67DD-4F6D-B307-08CC20BB1CC4}"/>
              </a:ext>
            </a:extLst>
          </p:cNvPr>
          <p:cNvSpPr>
            <a:spLocks xmlns:a="http://schemas.openxmlformats.org/drawingml/2006/main" noGrp="1"/>
          </p:cNvSpPr>
          <p:nvPr/>
        </p:nvSpPr>
        <p:spPr>
          <a:xfrm xmlns:a="http://schemas.openxmlformats.org/drawingml/2006/main">
            <a:off x="1390650" y="2057400"/>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163047"/>
                </a:solidFill>
                <a:latin typeface="Arial"/>
                <a:ea typeface="Arial"/>
                <a:cs typeface="Arial"/>
              </a:defRPr>
            </a:pPr>
            <a:r>
              <a:rPr sz="1575" b="0">
                <a:solidFill>
                  <a:srgbClr val="163047"/>
                </a:solidFill>
                <a:latin typeface="Arial"/>
                <a:ea typeface="Arial"/>
                <a:cs typeface="Arial"/>
              </a:rPr>
              <a:t>Enforce staff authorisation with real identities, then rerun G03.</a:t>
            </a:r>
          </a:p>
        </p:txBody>
      </p:sp>
      <p:sp>
        <p:nvSpPr>
          <p:cNvPr id="12" name="">
            <a:extLst xmlns:a="http://schemas.openxmlformats.org/drawingml/2006/main">
              <a:ext uri="{FF2B5EF4-FFF2-40B4-BE49-F238E27FC236}">
                <a16:creationId xmlns:a16="http://schemas.microsoft.com/office/drawing/2014/main" id="{9A95761B-D6A8-48D2-869D-E78CBEA2A1E8}"/>
              </a:ext>
            </a:extLst>
          </p:cNvPr>
          <p:cNvSpPr>
            <a:spLocks xmlns:a="http://schemas.openxmlformats.org/drawingml/2006/main" noGrp="1"/>
          </p:cNvSpPr>
          <p:nvPr/>
        </p:nvSpPr>
        <p:spPr>
          <a:xfrm xmlns:a="http://schemas.openxmlformats.org/drawingml/2006/main">
            <a:off x="561975" y="2800350"/>
            <a:ext cx="110680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AD6DE"/>
            </a:solidFill>
          </a:ln>
        </p:spPr>
      </p:sp>
      <p:sp>
        <p:nvSpPr>
          <p:cNvPr id="13" name="">
            <a:extLst xmlns:a="http://schemas.openxmlformats.org/drawingml/2006/main">
              <a:ext uri="{FF2B5EF4-FFF2-40B4-BE49-F238E27FC236}">
                <a16:creationId xmlns:a16="http://schemas.microsoft.com/office/drawing/2014/main" id="{DA0DF067-A712-4E33-B15A-2B0D9999411C}"/>
              </a:ext>
            </a:extLst>
          </p:cNvPr>
          <p:cNvSpPr>
            <a:spLocks xmlns:a="http://schemas.openxmlformats.org/drawingml/2006/main" noGrp="1"/>
          </p:cNvSpPr>
          <p:nvPr/>
        </p:nvSpPr>
        <p:spPr>
          <a:xfrm xmlns:a="http://schemas.openxmlformats.org/drawingml/2006/main">
            <a:off x="685800" y="2962275"/>
            <a:ext cx="447675" cy="447675"/>
          </a:xfrm>
          <a:prstGeom xmlns:a="http://schemas.openxmlformats.org/drawingml/2006/main" prst="roundRect">
            <a:avLst>
              <a:gd name="adj" fmla="val 17021"/>
            </a:avLst>
          </a:prstGeom>
          <a:solidFill xmlns:a="http://schemas.openxmlformats.org/drawingml/2006/main">
            <a:srgbClr val="E2F3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218DFB6-9C0F-43A4-A779-BB7DE775FA98}"/>
              </a:ext>
            </a:extLst>
          </p:cNvPr>
          <p:cNvSpPr>
            <a:spLocks xmlns:a="http://schemas.openxmlformats.org/drawingml/2006/main" noGrp="1"/>
          </p:cNvSpPr>
          <p:nvPr/>
        </p:nvSpPr>
        <p:spPr>
          <a:xfrm xmlns:a="http://schemas.openxmlformats.org/drawingml/2006/main">
            <a:off x="781050" y="2990850"/>
            <a:ext cx="257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127B76"/>
                </a:solidFill>
                <a:latin typeface="Arial"/>
                <a:ea typeface="Arial"/>
                <a:cs typeface="Arial"/>
              </a:defRPr>
            </a:pPr>
            <a:r>
              <a:rPr sz="1500" b="1">
                <a:solidFill>
                  <a:srgbClr val="127B76"/>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C646E15B-A8C1-456F-94A1-31EAC43030AA}"/>
              </a:ext>
            </a:extLst>
          </p:cNvPr>
          <p:cNvSpPr>
            <a:spLocks xmlns:a="http://schemas.openxmlformats.org/drawingml/2006/main" noGrp="1"/>
          </p:cNvSpPr>
          <p:nvPr/>
        </p:nvSpPr>
        <p:spPr>
          <a:xfrm xmlns:a="http://schemas.openxmlformats.org/drawingml/2006/main">
            <a:off x="1390650" y="3009900"/>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163047"/>
                </a:solidFill>
                <a:latin typeface="Arial"/>
                <a:ea typeface="Arial"/>
                <a:cs typeface="Arial"/>
              </a:defRPr>
            </a:pPr>
            <a:r>
              <a:rPr sz="1575" b="0">
                <a:solidFill>
                  <a:srgbClr val="163047"/>
                </a:solidFill>
                <a:latin typeface="Arial"/>
                <a:ea typeface="Arial"/>
                <a:cs typeface="Arial"/>
              </a:rPr>
              <a:t>Correct pending-to-confirmed booking state and test H2 rows.</a:t>
            </a:r>
          </a:p>
        </p:txBody>
      </p:sp>
      <p:sp>
        <p:nvSpPr>
          <p:cNvPr id="16" name="">
            <a:extLst xmlns:a="http://schemas.openxmlformats.org/drawingml/2006/main">
              <a:ext uri="{FF2B5EF4-FFF2-40B4-BE49-F238E27FC236}">
                <a16:creationId xmlns:a16="http://schemas.microsoft.com/office/drawing/2014/main" id="{FE017516-4274-4F35-85D1-A2410C20EE05}"/>
              </a:ext>
            </a:extLst>
          </p:cNvPr>
          <p:cNvSpPr>
            <a:spLocks xmlns:a="http://schemas.openxmlformats.org/drawingml/2006/main" noGrp="1"/>
          </p:cNvSpPr>
          <p:nvPr/>
        </p:nvSpPr>
        <p:spPr>
          <a:xfrm xmlns:a="http://schemas.openxmlformats.org/drawingml/2006/main">
            <a:off x="561975" y="3752850"/>
            <a:ext cx="110680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AD6DE"/>
            </a:solidFill>
          </a:ln>
        </p:spPr>
      </p:sp>
      <p:sp>
        <p:nvSpPr>
          <p:cNvPr id="17" name="">
            <a:extLst xmlns:a="http://schemas.openxmlformats.org/drawingml/2006/main">
              <a:ext uri="{FF2B5EF4-FFF2-40B4-BE49-F238E27FC236}">
                <a16:creationId xmlns:a16="http://schemas.microsoft.com/office/drawing/2014/main" id="{56C064E2-5B59-444A-B71B-E932D333CF87}"/>
              </a:ext>
            </a:extLst>
          </p:cNvPr>
          <p:cNvSpPr>
            <a:spLocks xmlns:a="http://schemas.openxmlformats.org/drawingml/2006/main" noGrp="1"/>
          </p:cNvSpPr>
          <p:nvPr/>
        </p:nvSpPr>
        <p:spPr>
          <a:xfrm xmlns:a="http://schemas.openxmlformats.org/drawingml/2006/main">
            <a:off x="685800" y="3914775"/>
            <a:ext cx="447675" cy="447675"/>
          </a:xfrm>
          <a:prstGeom xmlns:a="http://schemas.openxmlformats.org/drawingml/2006/main" prst="roundRect">
            <a:avLst>
              <a:gd name="adj" fmla="val 17021"/>
            </a:avLst>
          </a:prstGeom>
          <a:solidFill xmlns:a="http://schemas.openxmlformats.org/drawingml/2006/main">
            <a:srgbClr val="E2F3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75175A2-9AA0-4C39-88EB-748F0AF5843B}"/>
              </a:ext>
            </a:extLst>
          </p:cNvPr>
          <p:cNvSpPr>
            <a:spLocks xmlns:a="http://schemas.openxmlformats.org/drawingml/2006/main" noGrp="1"/>
          </p:cNvSpPr>
          <p:nvPr/>
        </p:nvSpPr>
        <p:spPr>
          <a:xfrm xmlns:a="http://schemas.openxmlformats.org/drawingml/2006/main">
            <a:off x="781050" y="3943350"/>
            <a:ext cx="257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127B76"/>
                </a:solidFill>
                <a:latin typeface="Arial"/>
                <a:ea typeface="Arial"/>
                <a:cs typeface="Arial"/>
              </a:defRPr>
            </a:pPr>
            <a:r>
              <a:rPr sz="1500" b="1">
                <a:solidFill>
                  <a:srgbClr val="127B76"/>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25EEB535-A0DC-405A-A3EE-4DA8009155FA}"/>
              </a:ext>
            </a:extLst>
          </p:cNvPr>
          <p:cNvSpPr>
            <a:spLocks xmlns:a="http://schemas.openxmlformats.org/drawingml/2006/main" noGrp="1"/>
          </p:cNvSpPr>
          <p:nvPr/>
        </p:nvSpPr>
        <p:spPr>
          <a:xfrm xmlns:a="http://schemas.openxmlformats.org/drawingml/2006/main">
            <a:off x="1390650" y="3962400"/>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163047"/>
                </a:solidFill>
                <a:latin typeface="Arial"/>
                <a:ea typeface="Arial"/>
                <a:cs typeface="Arial"/>
              </a:defRPr>
            </a:pPr>
            <a:r>
              <a:rPr sz="1575" b="0">
                <a:solidFill>
                  <a:srgbClr val="163047"/>
                </a:solidFill>
                <a:latin typeface="Arial"/>
                <a:ea typeface="Arial"/>
                <a:cs typeface="Arial"/>
              </a:rPr>
              <a:t>Run owner-specific redirect, refund, urgent and care-change branches.</a:t>
            </a:r>
          </a:p>
        </p:txBody>
      </p:sp>
      <p:sp>
        <p:nvSpPr>
          <p:cNvPr id="20" name="">
            <a:extLst xmlns:a="http://schemas.openxmlformats.org/drawingml/2006/main">
              <a:ext uri="{FF2B5EF4-FFF2-40B4-BE49-F238E27FC236}">
                <a16:creationId xmlns:a16="http://schemas.microsoft.com/office/drawing/2014/main" id="{47DF4AF2-4F77-49BD-A48C-66650EC68755}"/>
              </a:ext>
            </a:extLst>
          </p:cNvPr>
          <p:cNvSpPr>
            <a:spLocks xmlns:a="http://schemas.openxmlformats.org/drawingml/2006/main" noGrp="1"/>
          </p:cNvSpPr>
          <p:nvPr/>
        </p:nvSpPr>
        <p:spPr>
          <a:xfrm xmlns:a="http://schemas.openxmlformats.org/drawingml/2006/main">
            <a:off x="561975" y="4705350"/>
            <a:ext cx="110680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AD6DE"/>
            </a:solidFill>
          </a:ln>
        </p:spPr>
      </p:sp>
      <p:sp>
        <p:nvSpPr>
          <p:cNvPr id="21" name="">
            <a:extLst xmlns:a="http://schemas.openxmlformats.org/drawingml/2006/main">
              <a:ext uri="{FF2B5EF4-FFF2-40B4-BE49-F238E27FC236}">
                <a16:creationId xmlns:a16="http://schemas.microsoft.com/office/drawing/2014/main" id="{16548459-8110-47D1-83F2-DC8540FA792E}"/>
              </a:ext>
            </a:extLst>
          </p:cNvPr>
          <p:cNvSpPr>
            <a:spLocks xmlns:a="http://schemas.openxmlformats.org/drawingml/2006/main" noGrp="1"/>
          </p:cNvSpPr>
          <p:nvPr/>
        </p:nvSpPr>
        <p:spPr>
          <a:xfrm xmlns:a="http://schemas.openxmlformats.org/drawingml/2006/main">
            <a:off x="685800" y="4867275"/>
            <a:ext cx="447675" cy="447675"/>
          </a:xfrm>
          <a:prstGeom xmlns:a="http://schemas.openxmlformats.org/drawingml/2006/main" prst="roundRect">
            <a:avLst>
              <a:gd name="adj" fmla="val 17021"/>
            </a:avLst>
          </a:prstGeom>
          <a:solidFill xmlns:a="http://schemas.openxmlformats.org/drawingml/2006/main">
            <a:srgbClr val="E2F3E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DA87F90-FB4D-461F-8318-E921E9BEE600}"/>
              </a:ext>
            </a:extLst>
          </p:cNvPr>
          <p:cNvSpPr>
            <a:spLocks xmlns:a="http://schemas.openxmlformats.org/drawingml/2006/main" noGrp="1"/>
          </p:cNvSpPr>
          <p:nvPr/>
        </p:nvSpPr>
        <p:spPr>
          <a:xfrm xmlns:a="http://schemas.openxmlformats.org/drawingml/2006/main">
            <a:off x="781050" y="4895850"/>
            <a:ext cx="257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127B76"/>
                </a:solidFill>
                <a:latin typeface="Arial"/>
                <a:ea typeface="Arial"/>
                <a:cs typeface="Arial"/>
              </a:defRPr>
            </a:pPr>
            <a:r>
              <a:rPr sz="1500" b="1">
                <a:solidFill>
                  <a:srgbClr val="127B76"/>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4ACA6052-674F-40A4-9EFD-17EF40E5119B}"/>
              </a:ext>
            </a:extLst>
          </p:cNvPr>
          <p:cNvSpPr>
            <a:spLocks xmlns:a="http://schemas.openxmlformats.org/drawingml/2006/main" noGrp="1"/>
          </p:cNvSpPr>
          <p:nvPr/>
        </p:nvSpPr>
        <p:spPr>
          <a:xfrm xmlns:a="http://schemas.openxmlformats.org/drawingml/2006/main">
            <a:off x="1390650" y="4914900"/>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163047"/>
                </a:solidFill>
                <a:latin typeface="Arial"/>
                <a:ea typeface="Arial"/>
                <a:cs typeface="Arial"/>
              </a:defRPr>
            </a:pPr>
            <a:r>
              <a:rPr sz="1575" b="0">
                <a:solidFill>
                  <a:srgbClr val="163047"/>
                </a:solidFill>
                <a:latin typeface="Arial"/>
                <a:ea typeface="Arial"/>
                <a:cs typeface="Arial"/>
              </a:rPr>
              <a:t>Review evidence with second owners; tag or revise after sign-off.</a:t>
            </a:r>
          </a:p>
        </p:txBody>
      </p:sp>
      <p:sp>
        <p:nvSpPr>
          <p:cNvPr id="24" name="">
            <a:extLst xmlns:a="http://schemas.openxmlformats.org/drawingml/2006/main">
              <a:ext uri="{FF2B5EF4-FFF2-40B4-BE49-F238E27FC236}">
                <a16:creationId xmlns:a16="http://schemas.microsoft.com/office/drawing/2014/main" id="{B1F419FE-96C3-4DF1-B2CB-B54C30CE1100}"/>
              </a:ext>
            </a:extLst>
          </p:cNvPr>
          <p:cNvSpPr>
            <a:spLocks xmlns:a="http://schemas.openxmlformats.org/drawingml/2006/main" noGrp="1"/>
          </p:cNvSpPr>
          <p:nvPr/>
        </p:nvSpPr>
        <p:spPr>
          <a:xfrm xmlns:a="http://schemas.openxmlformats.org/drawingml/2006/main">
            <a:off x="581025" y="5915025"/>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597185"/>
                </a:solidFill>
                <a:latin typeface="Arial"/>
                <a:ea typeface="Arial"/>
                <a:cs typeface="Arial"/>
              </a:defRPr>
            </a:pPr>
            <a:r>
              <a:rPr sz="1125" b="0">
                <a:solidFill>
                  <a:srgbClr val="597185"/>
                </a:solidFill>
                <a:latin typeface="Arial"/>
                <a:ea typeface="Arial"/>
                <a:cs typeface="Arial"/>
              </a:rPr>
              <a:t>Shared code stays in Coursework/hospital-pathway; course-specific documents stay in submissions/AISD and submissions/BPMEA.</a:t>
            </a:r>
          </a:p>
        </p:txBody>
      </p:sp>
    </p:spTree>
    <p:extLst>
      <p:ext uri="{BB962C8B-B14F-4D97-AF65-F5344CB8AC3E}">
        <p14:creationId xmlns:p14="http://schemas.microsoft.com/office/powerpoint/2010/main" val="4421902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2026-09-29T06:15:58.1000000Z</dcterms:created>
  <dcterms:modified xsi:type="dcterms:W3CDTF">2026-09-29T06:15:58.1000000Z</dcterms:modified>
</coreProperties>
</file>