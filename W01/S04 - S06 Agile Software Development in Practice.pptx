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31"/>
  </p:notesMasterIdLst>
  <p:handoutMasterIdLst>
    <p:handoutMasterId r:id="rId32"/>
  </p:handoutMasterIdLst>
  <p:sldIdLst>
    <p:sldId id="256" r:id="rId5"/>
    <p:sldId id="262" r:id="rId6"/>
    <p:sldId id="258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9144000" cy="6858000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284EADD-FE41-494D-A42C-2B60CCFC2DE6}">
          <p14:sldIdLst>
            <p14:sldId id="256"/>
            <p14:sldId id="262"/>
            <p14:sldId id="258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9" autoAdjust="0"/>
    <p:restoredTop sz="86381"/>
  </p:normalViewPr>
  <p:slideViewPr>
    <p:cSldViewPr showGuides="1">
      <p:cViewPr varScale="1">
        <p:scale>
          <a:sx n="115" d="100"/>
          <a:sy n="115" d="100"/>
        </p:scale>
        <p:origin x="1736" y="208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12700" marR="443230">
              <a:lnSpc>
                <a:spcPct val="101400"/>
              </a:lnSpc>
              <a:spcBef>
                <a:spcPts val="65"/>
              </a:spcBef>
            </a:pPr>
            <a:r>
              <a:rPr lang="en-US" spc="-170" dirty="0">
                <a:solidFill>
                  <a:srgbClr val="FFFFFF"/>
                </a:solidFill>
              </a:rPr>
              <a:t>Business</a:t>
            </a:r>
            <a:r>
              <a:rPr lang="en-US" spc="-105" dirty="0">
                <a:solidFill>
                  <a:srgbClr val="FFFFFF"/>
                </a:solidFill>
              </a:rPr>
              <a:t> </a:t>
            </a:r>
            <a:r>
              <a:rPr lang="en-US" spc="-180" dirty="0">
                <a:solidFill>
                  <a:srgbClr val="FFFFFF"/>
                </a:solidFill>
              </a:rPr>
              <a:t>Process</a:t>
            </a:r>
            <a:r>
              <a:rPr lang="en-US" spc="-105" dirty="0">
                <a:solidFill>
                  <a:srgbClr val="FFFFFF"/>
                </a:solidFill>
              </a:rPr>
              <a:t> </a:t>
            </a:r>
            <a:r>
              <a:rPr lang="en-US" spc="-55" dirty="0">
                <a:solidFill>
                  <a:srgbClr val="FFFFFF"/>
                </a:solidFill>
              </a:rPr>
              <a:t>Modelling</a:t>
            </a:r>
            <a:r>
              <a:rPr lang="en-US" spc="-100" dirty="0">
                <a:solidFill>
                  <a:srgbClr val="FFFFFF"/>
                </a:solidFill>
              </a:rPr>
              <a:t> </a:t>
            </a:r>
            <a:r>
              <a:rPr lang="en-US" spc="-120" dirty="0">
                <a:solidFill>
                  <a:srgbClr val="FFFFFF"/>
                </a:solidFill>
              </a:rPr>
              <a:t>and</a:t>
            </a:r>
            <a:r>
              <a:rPr lang="en-US" spc="-105" dirty="0">
                <a:solidFill>
                  <a:srgbClr val="FFFFFF"/>
                </a:solidFill>
              </a:rPr>
              <a:t> </a:t>
            </a:r>
            <a:r>
              <a:rPr lang="en-US" spc="-75" dirty="0">
                <a:solidFill>
                  <a:srgbClr val="FFFFFF"/>
                </a:solidFill>
              </a:rPr>
              <a:t>Enterprise </a:t>
            </a:r>
            <a:r>
              <a:rPr lang="en-US" spc="-10" dirty="0">
                <a:solidFill>
                  <a:srgbClr val="FFFFFF"/>
                </a:solidFill>
              </a:rPr>
              <a:t>Architecture</a:t>
            </a:r>
            <a:br>
              <a:rPr lang="en-US" dirty="0"/>
            </a:br>
            <a:r>
              <a:rPr lang="en-US" dirty="0">
                <a:solidFill>
                  <a:srgbClr val="FFFFFF"/>
                </a:solidFill>
              </a:rPr>
              <a:t>&amp;</a:t>
            </a:r>
            <a:r>
              <a:rPr lang="en-US" spc="-90" dirty="0">
                <a:solidFill>
                  <a:srgbClr val="FFFFFF"/>
                </a:solidFill>
              </a:rPr>
              <a:t> </a:t>
            </a:r>
            <a:r>
              <a:rPr lang="en-US" spc="-140" dirty="0">
                <a:solidFill>
                  <a:srgbClr val="FFFFFF"/>
                </a:solidFill>
              </a:rPr>
              <a:t>Advanced</a:t>
            </a:r>
            <a:r>
              <a:rPr lang="en-US" spc="-85" dirty="0">
                <a:solidFill>
                  <a:srgbClr val="FFFFFF"/>
                </a:solidFill>
              </a:rPr>
              <a:t> </a:t>
            </a:r>
            <a:r>
              <a:rPr lang="en-US" spc="-45" dirty="0">
                <a:solidFill>
                  <a:srgbClr val="FFFFFF"/>
                </a:solidFill>
              </a:rPr>
              <a:t>Information</a:t>
            </a:r>
            <a:r>
              <a:rPr lang="en-US" spc="-85" dirty="0">
                <a:solidFill>
                  <a:srgbClr val="FFFFFF"/>
                </a:solidFill>
              </a:rPr>
              <a:t> </a:t>
            </a:r>
            <a:r>
              <a:rPr lang="en-US" spc="-185" dirty="0">
                <a:solidFill>
                  <a:srgbClr val="FFFFFF"/>
                </a:solidFill>
              </a:rPr>
              <a:t>System</a:t>
            </a:r>
            <a:r>
              <a:rPr lang="en-US" spc="-85" dirty="0">
                <a:solidFill>
                  <a:srgbClr val="FFFFFF"/>
                </a:solidFill>
              </a:rPr>
              <a:t> </a:t>
            </a:r>
            <a:r>
              <a:rPr lang="en-US" spc="-65" dirty="0">
                <a:solidFill>
                  <a:srgbClr val="FFFFFF"/>
                </a:solidFill>
              </a:rPr>
              <a:t>Development</a:t>
            </a:r>
            <a:br>
              <a:rPr lang="en-US" spc="-65" dirty="0">
                <a:solidFill>
                  <a:srgbClr val="FFFFFF"/>
                </a:solidFill>
              </a:rPr>
            </a:br>
            <a:br>
              <a:rPr lang="en-US" spc="-65" dirty="0">
                <a:solidFill>
                  <a:srgbClr val="FFFFFF"/>
                </a:solidFill>
              </a:rPr>
            </a:br>
            <a:r>
              <a:rPr lang="en-US" spc="-65" dirty="0">
                <a:solidFill>
                  <a:srgbClr val="FFFFFF"/>
                </a:solidFill>
              </a:rPr>
              <a:t>Agile Software Development in Practice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Dilshan </a:t>
            </a:r>
            <a:br>
              <a:rPr lang="en-GB" dirty="0"/>
            </a:br>
            <a:r>
              <a:rPr lang="en-GB" dirty="0"/>
              <a:t>Jayatilake</a:t>
            </a:r>
          </a:p>
        </p:txBody>
      </p:sp>
    </p:spTree>
    <p:extLst>
      <p:ext uri="{BB962C8B-B14F-4D97-AF65-F5344CB8AC3E}">
        <p14:creationId xmlns:p14="http://schemas.microsoft.com/office/powerpoint/2010/main" val="376476081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63E69-376A-DB86-3CD5-715A33A4A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FADD4-EF23-CE2A-188A-586810008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By the end of this session, you should be able to:</a:t>
            </a:r>
          </a:p>
          <a:p>
            <a:pPr lvl="1"/>
            <a:r>
              <a:rPr lang="en-US" dirty="0"/>
              <a:t>Explain the key principles of Agile and Scrum.</a:t>
            </a:r>
          </a:p>
          <a:p>
            <a:pPr lvl="1"/>
            <a:r>
              <a:rPr lang="en-US" dirty="0"/>
              <a:t>Describe the purpose of Scrum roles, events and artefacts.</a:t>
            </a:r>
          </a:p>
          <a:p>
            <a:pPr lvl="1"/>
            <a:r>
              <a:rPr lang="en-US" dirty="0"/>
              <a:t>Apply product backlogs, sprint backlogs and sprint goals to your group project.</a:t>
            </a:r>
          </a:p>
          <a:p>
            <a:pPr lvl="1"/>
            <a:r>
              <a:rPr lang="en-US" dirty="0"/>
              <a:t>Use standups and sprint reviews to evidence progress and contribution.</a:t>
            </a:r>
          </a:p>
          <a:p>
            <a:pPr lvl="1"/>
            <a:r>
              <a:rPr lang="en-US" dirty="0"/>
              <a:t>Explain how Scrum supports planning, risk management, feedback and continuous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268111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Agile Scrum For Software Engineering Projects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Agile is an approach to software development that accepts uncertainty and change.</a:t>
            </a:r>
          </a:p>
          <a:p>
            <a:pPr lvl="0"/>
            <a:r>
              <a:rPr lang="en-US" dirty="0"/>
              <a:t>Scrum is one Agile framework used to </a:t>
            </a:r>
            <a:r>
              <a:rPr lang="en-US" dirty="0" err="1"/>
              <a:t>organise</a:t>
            </a:r>
            <a:r>
              <a:rPr lang="en-US" dirty="0"/>
              <a:t> work into short, focused cycles.</a:t>
            </a:r>
          </a:p>
          <a:p>
            <a:pPr lvl="0"/>
            <a:r>
              <a:rPr lang="en-US" dirty="0"/>
              <a:t>In this project, Scrum will help your group plan, deliver, review and improve the system incrementally.</a:t>
            </a:r>
          </a:p>
          <a:p>
            <a:pPr lvl="0"/>
            <a:r>
              <a:rPr lang="en-US" dirty="0"/>
              <a:t>The aim is not only to complete the assessment, but to work in a way that reflects professional software development practice.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9998758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68C9-0E7C-8363-94E4-7247DF48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Agile Emerged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08FF8-2A99-2C5E-02C6-BE9E4CF0B3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Traditional software development often assumed that requirements could be fully understood at the start.</a:t>
            </a:r>
          </a:p>
          <a:p>
            <a:pPr lvl="0"/>
            <a:r>
              <a:rPr lang="en-US" dirty="0"/>
              <a:t>In many real projects, requirements change as users, developers and stakeholders learn more.</a:t>
            </a:r>
          </a:p>
          <a:p>
            <a:pPr lvl="0"/>
            <a:r>
              <a:rPr lang="en-US" dirty="0"/>
              <a:t>Agile emerged as a response to long development cycles, late feedback and poor alignment with user needs.</a:t>
            </a:r>
          </a:p>
          <a:p>
            <a:pPr lvl="0"/>
            <a:r>
              <a:rPr lang="en-US" dirty="0"/>
              <a:t>Agile methods </a:t>
            </a:r>
            <a:r>
              <a:rPr lang="en-US" dirty="0" err="1"/>
              <a:t>prioritise</a:t>
            </a:r>
            <a:r>
              <a:rPr lang="en-US" dirty="0"/>
              <a:t> working software, collaboration, adaptation and frequent feedback.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90851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7B0B-E366-AEEA-82C7-59642BE6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0005F-9728-A45C-6132-01E7015205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Agile projects usually involve:</a:t>
            </a:r>
          </a:p>
          <a:p>
            <a:pPr lvl="1"/>
            <a:r>
              <a:rPr lang="en-US" dirty="0"/>
              <a:t>Frequent delivery of usable increments.</a:t>
            </a:r>
          </a:p>
          <a:p>
            <a:pPr lvl="1"/>
            <a:r>
              <a:rPr lang="en-US" dirty="0"/>
              <a:t>Regular feedback from stakeholders.</a:t>
            </a:r>
          </a:p>
          <a:p>
            <a:pPr lvl="1"/>
            <a:r>
              <a:rPr lang="en-US" dirty="0"/>
              <a:t>Continuous reflection and improvement.</a:t>
            </a:r>
          </a:p>
          <a:p>
            <a:pPr lvl="1"/>
            <a:r>
              <a:rPr lang="en-US" dirty="0"/>
              <a:t>Close collaboration within the team.</a:t>
            </a:r>
          </a:p>
          <a:p>
            <a:pPr lvl="1"/>
            <a:r>
              <a:rPr lang="en-US" dirty="0"/>
              <a:t>Flexibility when priorities or understanding change.</a:t>
            </a:r>
          </a:p>
          <a:p>
            <a:pPr lvl="1"/>
            <a:r>
              <a:rPr lang="en-US" dirty="0"/>
              <a:t>Technical quality through testing, review and integration.</a:t>
            </a:r>
          </a:p>
          <a:p>
            <a:r>
              <a:rPr lang="en-US" dirty="0"/>
              <a:t>These principles should be visible in how your group manages the assessment project.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7816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BFBC-A1AC-3A5A-2201-A74533AD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Scrum 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0C9AA-57E3-99D5-696E-4DE42C7FE6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Scrum is a lightweight framework for managing complex work.</a:t>
            </a:r>
          </a:p>
          <a:p>
            <a:pPr lvl="0"/>
            <a:r>
              <a:rPr lang="en-US" dirty="0"/>
              <a:t>It does not prescribe every technical method.</a:t>
            </a:r>
          </a:p>
          <a:p>
            <a:pPr lvl="0"/>
            <a:r>
              <a:rPr lang="en-US" dirty="0"/>
              <a:t>Instead, it provides roles, events and artefacts that help teams inspect progress and adapt their plans.</a:t>
            </a:r>
          </a:p>
          <a:p>
            <a:pPr lvl="0"/>
            <a:r>
              <a:rPr lang="en-US" dirty="0"/>
              <a:t>Scrum works well when the team cannot predict everything at the start and must learn through delivery.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83090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EC60-D2B5-75FC-6359-2332B7DF9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Empiricism In Scrum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87F8C-E933-CEA6-2214-9F5DEF46CA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Scrum is based on empiricism. This means decisions are made using evidence from what has actually happened.</a:t>
            </a:r>
          </a:p>
          <a:p>
            <a:r>
              <a:rPr lang="en-US" dirty="0"/>
              <a:t>Scrum depends on three pillars:</a:t>
            </a:r>
          </a:p>
          <a:p>
            <a:pPr lvl="1"/>
            <a:r>
              <a:rPr lang="en-US" b="1" dirty="0"/>
              <a:t>Transparency</a:t>
            </a:r>
            <a:r>
              <a:rPr lang="en-US" dirty="0"/>
              <a:t>: work, progress and problems are visible.</a:t>
            </a:r>
          </a:p>
          <a:p>
            <a:pPr lvl="1"/>
            <a:r>
              <a:rPr lang="en-US" b="1" dirty="0"/>
              <a:t>Inspection</a:t>
            </a:r>
            <a:r>
              <a:rPr lang="en-US" dirty="0"/>
              <a:t>: the team regularly checks progress and quality.</a:t>
            </a:r>
          </a:p>
          <a:p>
            <a:pPr lvl="1"/>
            <a:r>
              <a:rPr lang="en-US" b="1" dirty="0"/>
              <a:t>Adaptation</a:t>
            </a:r>
            <a:r>
              <a:rPr lang="en-US" dirty="0"/>
              <a:t>: the team changes its plan when evidence shows that change is needed.</a:t>
            </a:r>
          </a:p>
          <a:p>
            <a:r>
              <a:rPr lang="en-US" dirty="0"/>
              <a:t>Your task board, repository, sprint reviews and testing records all support these three pillars.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52A1DF97-05E0-59A3-2305-49B45E95591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99792" y="4509119"/>
            <a:ext cx="6412758" cy="231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5256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BD1A3-965B-1DCA-10AD-5AA69B0E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Theory And Your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5654D-EBA4-A692-AF33-E0C517A6BC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Transparency means tutors and team members can see who is doing what.</a:t>
            </a:r>
          </a:p>
          <a:p>
            <a:pPr lvl="0"/>
            <a:r>
              <a:rPr lang="en-US" dirty="0"/>
              <a:t>Inspection happens during standups, sprint reviews and feedback sessions.</a:t>
            </a:r>
          </a:p>
          <a:p>
            <a:pPr lvl="0"/>
            <a:r>
              <a:rPr lang="en-US" dirty="0"/>
              <a:t>Adaptation happens when the team updates the backlog, changes priorities or improves the second release.</a:t>
            </a:r>
          </a:p>
          <a:p>
            <a:pPr lvl="0"/>
            <a:r>
              <a:rPr lang="en-US" dirty="0"/>
              <a:t>The assessment rewards evidence that the group has planned, delivered and improved the project over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415701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9D424-0C7E-84BF-636B-574C4E54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Roles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78BE1-C0E0-9FBA-1F9B-54CF979B64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Scrum normally includes:</a:t>
            </a:r>
          </a:p>
          <a:p>
            <a:pPr lvl="1"/>
            <a:r>
              <a:rPr lang="en-US" b="1" dirty="0"/>
              <a:t>Product Owner</a:t>
            </a:r>
            <a:r>
              <a:rPr lang="en-US" dirty="0"/>
              <a:t>: represents priorities and value.</a:t>
            </a:r>
          </a:p>
          <a:p>
            <a:pPr lvl="1"/>
            <a:r>
              <a:rPr lang="en-US" b="1" dirty="0"/>
              <a:t>Scrum Master</a:t>
            </a:r>
            <a:r>
              <a:rPr lang="en-US" dirty="0"/>
              <a:t>: supports the process and removes obstacles.</a:t>
            </a:r>
          </a:p>
          <a:p>
            <a:pPr lvl="1"/>
            <a:r>
              <a:rPr lang="en-US" b="1" dirty="0"/>
              <a:t>Developers</a:t>
            </a:r>
            <a:r>
              <a:rPr lang="en-US" dirty="0"/>
              <a:t>: produce the project increment.</a:t>
            </a:r>
          </a:p>
          <a:p>
            <a:r>
              <a:rPr lang="en-US" dirty="0"/>
              <a:t>In your assessment, these roles are adapted. The tutor acts partly as the client or reviewer, and the group acts as the development team. The group may nominate a coordinator, but responsibility remains shared.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705057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7345B-5958-78C0-AB61-839BB9F4D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Development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C1257-D98C-53EE-B04F-C7AA799DC2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The development team is responsible for turning backlog items into a working increment.</a:t>
            </a:r>
          </a:p>
          <a:p>
            <a:pPr lvl="0"/>
            <a:r>
              <a:rPr lang="en-US" dirty="0"/>
              <a:t>In your project, the team includes all group members.</a:t>
            </a:r>
          </a:p>
          <a:p>
            <a:pPr lvl="0"/>
            <a:r>
              <a:rPr lang="en-US" dirty="0"/>
              <a:t>Each student must contribute to planning, modelling, development, testing, review and evidence.</a:t>
            </a:r>
          </a:p>
          <a:p>
            <a:pPr lvl="0"/>
            <a:r>
              <a:rPr lang="en-US" dirty="0"/>
              <a:t>A team cannot rely on one person to understand the whole project.</a:t>
            </a:r>
          </a:p>
          <a:p>
            <a:pPr lvl="0"/>
            <a:r>
              <a:rPr lang="en-US" dirty="0"/>
              <a:t>Every member must be able to explain their own contribution and the current state of the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881008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F2B5-B2ED-9B75-7EBD-D613EE35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Owner And Second Owner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39326-AB57-E3B5-8A3B-DE599ED8F9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Each task must have a first owner and a second owner.</a:t>
            </a:r>
          </a:p>
          <a:p>
            <a:pPr lvl="0"/>
            <a:r>
              <a:rPr lang="en-US" dirty="0"/>
              <a:t>The first owner leads the task and is responsible for delivery.</a:t>
            </a:r>
          </a:p>
          <a:p>
            <a:pPr lvl="0"/>
            <a:r>
              <a:rPr lang="en-US" dirty="0"/>
              <a:t>The second owner stays informed and can continue the work if needed.</a:t>
            </a:r>
          </a:p>
          <a:p>
            <a:pPr lvl="0"/>
            <a:r>
              <a:rPr lang="en-US" dirty="0"/>
              <a:t>This supports continuity, reduces delivery risk and avoids single points of failure.</a:t>
            </a:r>
          </a:p>
          <a:p>
            <a:pPr lvl="0"/>
            <a:r>
              <a:rPr lang="en-US" dirty="0"/>
              <a:t>This also reflects professional practice, where teams manage risk through shared understanding.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027095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308B-687E-DB1C-F530-7784D5836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Artefacts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60132-9F08-9F32-4670-BFE8F2672B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Scrum uses three main artefacts:</a:t>
            </a:r>
          </a:p>
          <a:p>
            <a:pPr lvl="1"/>
            <a:r>
              <a:rPr lang="en-US" b="1" dirty="0"/>
              <a:t>Product backlog</a:t>
            </a:r>
            <a:r>
              <a:rPr lang="en-US" dirty="0"/>
              <a:t>: the full list of work needed for the product.</a:t>
            </a:r>
          </a:p>
          <a:p>
            <a:pPr lvl="1"/>
            <a:r>
              <a:rPr lang="en-US" b="1" dirty="0"/>
              <a:t>Sprint backlog</a:t>
            </a:r>
            <a:r>
              <a:rPr lang="en-US" dirty="0"/>
              <a:t>: the selected work for the current sprint.</a:t>
            </a:r>
          </a:p>
          <a:p>
            <a:pPr lvl="1"/>
            <a:r>
              <a:rPr lang="en-US" b="1" dirty="0"/>
              <a:t>Increment</a:t>
            </a:r>
            <a:r>
              <a:rPr lang="en-US" dirty="0"/>
              <a:t>: the completed work produced by the end of the sprint.</a:t>
            </a:r>
          </a:p>
          <a:p>
            <a:r>
              <a:rPr lang="en-US" dirty="0"/>
              <a:t>For your assessment, these artefacts should be visible through your task board, repository, models, forms, workers, tests and documentation.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615689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766C1-A29B-0291-7E62-01FEF7FDB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Backlog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397D7-43BF-0FD2-58C9-4E7E26939E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The product backlog contains all known requirements, tasks and improvements.</a:t>
            </a:r>
          </a:p>
          <a:p>
            <a:pPr lvl="0"/>
            <a:r>
              <a:rPr lang="en-US" dirty="0"/>
              <a:t>It should include modelling, implementation, testing, documentation and evidence tasks.</a:t>
            </a:r>
          </a:p>
          <a:p>
            <a:pPr lvl="0"/>
            <a:r>
              <a:rPr lang="en-US" dirty="0"/>
              <a:t>Items should be </a:t>
            </a:r>
            <a:r>
              <a:rPr lang="en-US" dirty="0" err="1"/>
              <a:t>prioritised</a:t>
            </a:r>
            <a:r>
              <a:rPr lang="en-US" dirty="0"/>
              <a:t> according to value, risk and dependency.</a:t>
            </a:r>
          </a:p>
          <a:p>
            <a:pPr lvl="0"/>
            <a:r>
              <a:rPr lang="en-US" dirty="0"/>
              <a:t>The backlog should change when the team receives feedback or identifies new work.</a:t>
            </a:r>
          </a:p>
          <a:p>
            <a:pPr lvl="0"/>
            <a:r>
              <a:rPr lang="en-US" dirty="0"/>
              <a:t>A good backlog helps the team decide what to do next and why.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20639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C8A5-D0EB-912F-FD74-CF7F1E71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Backlog Item Quality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C777C-BAD1-7051-CBE7-96D299975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 useful backlog item should include:</a:t>
            </a:r>
          </a:p>
          <a:p>
            <a:pPr lvl="1"/>
            <a:r>
              <a:rPr lang="en-US" dirty="0"/>
              <a:t>A clear description of the work.</a:t>
            </a:r>
          </a:p>
          <a:p>
            <a:pPr lvl="1"/>
            <a:r>
              <a:rPr lang="en-US" dirty="0"/>
              <a:t>The reason the work matters.</a:t>
            </a:r>
          </a:p>
          <a:p>
            <a:pPr lvl="1"/>
            <a:r>
              <a:rPr lang="en-US" dirty="0"/>
              <a:t>Priority.</a:t>
            </a:r>
          </a:p>
          <a:p>
            <a:pPr lvl="1"/>
            <a:r>
              <a:rPr lang="en-US" dirty="0"/>
              <a:t>Estimate.</a:t>
            </a:r>
          </a:p>
          <a:p>
            <a:pPr lvl="1"/>
            <a:r>
              <a:rPr lang="en-US" dirty="0"/>
              <a:t>First owner and second owner.</a:t>
            </a:r>
          </a:p>
          <a:p>
            <a:pPr lvl="1"/>
            <a:r>
              <a:rPr lang="en-US" dirty="0"/>
              <a:t>Dependencies.</a:t>
            </a:r>
          </a:p>
          <a:p>
            <a:pPr lvl="1"/>
            <a:r>
              <a:rPr lang="en-US" dirty="0"/>
              <a:t>Acceptance conditions.</a:t>
            </a:r>
          </a:p>
          <a:p>
            <a:pPr lvl="1"/>
            <a:r>
              <a:rPr lang="en-US" dirty="0"/>
              <a:t>Current status.</a:t>
            </a:r>
          </a:p>
          <a:p>
            <a:pPr lvl="1"/>
            <a:r>
              <a:rPr lang="en-US" dirty="0"/>
              <a:t>Evidence link or location.</a:t>
            </a:r>
          </a:p>
          <a:p>
            <a:r>
              <a:rPr lang="en-US" dirty="0"/>
              <a:t>Without these details, the task becomes difficult to manage and assess.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72421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93F7-ECE3-9FEC-7C44-41EAC73D5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0041C-EF10-B292-09B1-A296071CE3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Sprint planning happens at the start of each sprint.</a:t>
            </a:r>
          </a:p>
          <a:p>
            <a:pPr lvl="0"/>
            <a:r>
              <a:rPr lang="en-US" dirty="0"/>
              <a:t>The team agrees the sprint goal and selects a manageable sprint backlog.</a:t>
            </a:r>
          </a:p>
          <a:p>
            <a:pPr lvl="0"/>
            <a:r>
              <a:rPr lang="en-US" dirty="0"/>
              <a:t>The selected work should be realistic for the available time.</a:t>
            </a:r>
          </a:p>
          <a:p>
            <a:pPr lvl="0"/>
            <a:r>
              <a:rPr lang="en-US" dirty="0"/>
              <a:t>The team should consider dependencies, risks and assessment deadlines.</a:t>
            </a:r>
          </a:p>
          <a:p>
            <a:pPr lvl="0"/>
            <a:r>
              <a:rPr lang="en-US" dirty="0"/>
              <a:t>Sprint planning should end with a clear answer to: “What will we deliver by the end of this sprint?”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077086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0C37-B8C5-9CEE-8F17-B96AA4E1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7CA0A-3551-2133-B69C-A01170F69F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The sprint goal gives the sprint a clear purpose.</a:t>
            </a:r>
          </a:p>
          <a:p>
            <a:pPr lvl="0"/>
            <a:r>
              <a:rPr lang="en-US" dirty="0"/>
              <a:t>It is more than a list of tasks.</a:t>
            </a:r>
          </a:p>
          <a:p>
            <a:pPr lvl="0"/>
            <a:r>
              <a:rPr lang="en-US" dirty="0"/>
              <a:t>It explains what useful outcome the team aims to achieve.</a:t>
            </a:r>
          </a:p>
          <a:p>
            <a:pPr lvl="0"/>
            <a:r>
              <a:rPr lang="en-US" dirty="0"/>
              <a:t>Example: “Produce an executable BPMN model with the main workflow and one exception path ready for review.”</a:t>
            </a:r>
          </a:p>
          <a:p>
            <a:pPr lvl="0"/>
            <a:r>
              <a:rPr lang="en-US" dirty="0"/>
              <a:t>A clear sprint goal helps the group make decisions when time is limited.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01747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6DB20-DDDF-66DF-8F2B-739A8726C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Done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F9E63-E4E6-6FB4-8BD1-F1E552872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The Definition of Done describes what must be true before work can be considered complete.</a:t>
            </a:r>
          </a:p>
          <a:p>
            <a:pPr lvl="0"/>
            <a:r>
              <a:rPr lang="en-US" dirty="0"/>
              <a:t>It protects the team from treating unfinished work as finished.</a:t>
            </a:r>
          </a:p>
          <a:p>
            <a:pPr lvl="0"/>
            <a:r>
              <a:rPr lang="en-US" dirty="0"/>
              <a:t>A task may be “in progress” even if a first draft exists.</a:t>
            </a:r>
          </a:p>
          <a:p>
            <a:pPr lvl="0"/>
            <a:r>
              <a:rPr lang="en-US" dirty="0"/>
              <a:t>In your project, “done” should include review, integration and evidence.</a:t>
            </a:r>
          </a:p>
          <a:p>
            <a:pPr lvl="0"/>
            <a:r>
              <a:rPr lang="en-US" dirty="0"/>
              <a:t>This is important because unreviewed or unintegrated work creates hidden risk.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716720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EF880-B183-3A45-214E-A3BD89DE4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Example Definition Of Done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1C4E2-4767-EECD-0CFE-45E6F3C4A6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 project task is done when:</a:t>
            </a:r>
          </a:p>
          <a:p>
            <a:pPr lvl="1"/>
            <a:r>
              <a:rPr lang="en-US" dirty="0"/>
              <a:t>It meets the agreed acceptance conditions.</a:t>
            </a:r>
          </a:p>
          <a:p>
            <a:pPr lvl="1"/>
            <a:r>
              <a:rPr lang="en-US" dirty="0"/>
              <a:t>Another team member has reviewed it.</a:t>
            </a:r>
          </a:p>
          <a:p>
            <a:pPr lvl="1"/>
            <a:r>
              <a:rPr lang="en-US" dirty="0"/>
              <a:t>It is stored in the shared repository or workspace.</a:t>
            </a:r>
          </a:p>
          <a:p>
            <a:pPr lvl="1"/>
            <a:r>
              <a:rPr lang="en-US" dirty="0"/>
              <a:t>It is linked to evidence.</a:t>
            </a:r>
          </a:p>
          <a:p>
            <a:pPr lvl="1"/>
            <a:r>
              <a:rPr lang="en-US" dirty="0"/>
              <a:t>It works with the wider project increment.</a:t>
            </a:r>
          </a:p>
          <a:p>
            <a:pPr lvl="1"/>
            <a:r>
              <a:rPr lang="en-US" dirty="0"/>
              <a:t>Any limitations are recorded.</a:t>
            </a:r>
          </a:p>
          <a:p>
            <a:pPr lvl="1"/>
            <a:r>
              <a:rPr lang="en-US" dirty="0"/>
              <a:t>The team can demonstrate it in a sprint review.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2640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A5915-8A48-EEA7-2656-9E785CE2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Events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0E0D0-A18C-1B5B-2279-3C6C45B395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Scrum uses events to create regular points for planning, inspection and adaptation.</a:t>
            </a:r>
          </a:p>
          <a:p>
            <a:pPr lvl="1"/>
            <a:r>
              <a:rPr lang="en-US" dirty="0"/>
              <a:t>The main events are:</a:t>
            </a:r>
          </a:p>
          <a:p>
            <a:pPr lvl="1"/>
            <a:r>
              <a:rPr lang="en-US" dirty="0"/>
              <a:t>Sprint.</a:t>
            </a:r>
          </a:p>
          <a:p>
            <a:pPr lvl="1"/>
            <a:r>
              <a:rPr lang="en-US" dirty="0"/>
              <a:t>Sprint planning.</a:t>
            </a:r>
          </a:p>
          <a:p>
            <a:pPr lvl="1"/>
            <a:r>
              <a:rPr lang="en-US" dirty="0"/>
              <a:t>Daily Scrum or standup.</a:t>
            </a:r>
          </a:p>
          <a:p>
            <a:pPr lvl="1"/>
            <a:r>
              <a:rPr lang="en-US" dirty="0"/>
              <a:t>Sprint review.</a:t>
            </a:r>
          </a:p>
          <a:p>
            <a:pPr lvl="1"/>
            <a:r>
              <a:rPr lang="en-US" dirty="0"/>
              <a:t>Sprint retrospective.</a:t>
            </a:r>
          </a:p>
          <a:p>
            <a:r>
              <a:rPr lang="en-US" dirty="0"/>
              <a:t>In your assessment, standups and sprint reviews are also marked activities.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86949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79BE-B236-9798-B816-7C0F81EC3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Standups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B870F-6A26-67CE-A27B-C7503D8D46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A standup is a short meeting focused on progress and blockers.</a:t>
            </a:r>
          </a:p>
          <a:p>
            <a:pPr lvl="0"/>
            <a:r>
              <a:rPr lang="en-US" dirty="0"/>
              <a:t>It is not a long technical discussion.</a:t>
            </a:r>
          </a:p>
          <a:p>
            <a:pPr lvl="0"/>
            <a:r>
              <a:rPr lang="en-US" dirty="0"/>
              <a:t>Each member should explain completed work, next actions and blockers.</a:t>
            </a:r>
          </a:p>
          <a:p>
            <a:pPr lvl="0"/>
            <a:r>
              <a:rPr lang="en-US" dirty="0"/>
              <a:t>The update should be supported by evidence.</a:t>
            </a:r>
          </a:p>
          <a:p>
            <a:pPr lvl="0"/>
            <a:r>
              <a:rPr lang="en-US" dirty="0"/>
              <a:t>Standups help the team identify risks early and coordinate work across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30174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11AB-9A88-073F-6E17-5E6E09DC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85BCF-13C4-279B-6DE9-770091B044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A sprint review examines the increment produced during the sprint.</a:t>
            </a:r>
          </a:p>
          <a:p>
            <a:pPr lvl="0"/>
            <a:r>
              <a:rPr lang="en-US" dirty="0"/>
              <a:t>The group demonstrates completed work against the sprint goal.</a:t>
            </a:r>
          </a:p>
          <a:p>
            <a:pPr lvl="0"/>
            <a:r>
              <a:rPr lang="en-US" dirty="0"/>
              <a:t>The team explains unfinished work, decisions, feedback and limitations.</a:t>
            </a:r>
          </a:p>
          <a:p>
            <a:pPr lvl="0"/>
            <a:r>
              <a:rPr lang="en-US" dirty="0"/>
              <a:t>The review should lead to backlog updates.</a:t>
            </a:r>
          </a:p>
          <a:p>
            <a:pPr lvl="0"/>
            <a:r>
              <a:rPr lang="en-US" dirty="0"/>
              <a:t>A sprint review is about the product increment, not just a presentation.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707018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06C4-C088-E400-D70C-14EF6E50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Retrospective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3DF1D-A7CE-D8E4-48E1-2616BE97A0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A retrospective focuses on how the team worked.</a:t>
            </a:r>
          </a:p>
          <a:p>
            <a:pPr lvl="0"/>
            <a:r>
              <a:rPr lang="en-US" dirty="0"/>
              <a:t>It is different from a sprint review, which focuses on the product increment.</a:t>
            </a:r>
          </a:p>
          <a:p>
            <a:pPr lvl="0"/>
            <a:r>
              <a:rPr lang="en-US" dirty="0"/>
              <a:t>The team should discuss what worked well, what caused problems and what should change in the next sprint.</a:t>
            </a:r>
          </a:p>
          <a:p>
            <a:pPr lvl="0"/>
            <a:r>
              <a:rPr lang="en-US" dirty="0"/>
              <a:t>Retrospectives support continuous improvement.</a:t>
            </a:r>
          </a:p>
          <a:p>
            <a:pPr lvl="0"/>
            <a:r>
              <a:rPr lang="en-US" dirty="0"/>
              <a:t>Your group should record improvement actions after each review.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871502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30C33-D999-3561-2484-E4A29DB3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Delivery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D157C-747C-13D6-4109-2834E2CA49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Scrum encourages incremental delivery.</a:t>
            </a:r>
          </a:p>
          <a:p>
            <a:pPr lvl="0"/>
            <a:r>
              <a:rPr lang="en-US" dirty="0"/>
              <a:t>Each sprint should produce something that can be inspected.</a:t>
            </a:r>
          </a:p>
          <a:p>
            <a:pPr lvl="0"/>
            <a:r>
              <a:rPr lang="en-US" dirty="0"/>
              <a:t>In software engineering, an increment may be a model, workflow, form, service task, test plan or working feature.</a:t>
            </a:r>
          </a:p>
          <a:p>
            <a:pPr lvl="0"/>
            <a:r>
              <a:rPr lang="en-US" dirty="0"/>
              <a:t>The increment should become more complete over time.</a:t>
            </a:r>
          </a:p>
          <a:p>
            <a:pPr lvl="0"/>
            <a:r>
              <a:rPr lang="en-US" dirty="0"/>
              <a:t>This reduces the risk of discovering major problems only at the final deadline.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748102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8986-3DE1-052E-3929-CB998D3A6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Problems In Student Scrum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E6EB8-A2E5-FE77-7CEC-A6A7A06777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The task board exists but is not updated.</a:t>
            </a:r>
          </a:p>
          <a:p>
            <a:pPr lvl="0"/>
            <a:r>
              <a:rPr lang="en-US" dirty="0"/>
              <a:t>Tasks are too large or too vague.</a:t>
            </a:r>
          </a:p>
          <a:p>
            <a:pPr lvl="0"/>
            <a:r>
              <a:rPr lang="en-US" dirty="0"/>
              <a:t>Work is assigned to one person without second-owner support.</a:t>
            </a:r>
          </a:p>
          <a:p>
            <a:pPr lvl="0"/>
            <a:r>
              <a:rPr lang="en-US" dirty="0"/>
              <a:t>Models, code and tests are developed separately and integrated too late.</a:t>
            </a:r>
          </a:p>
          <a:p>
            <a:pPr lvl="0"/>
            <a:r>
              <a:rPr lang="en-US" dirty="0"/>
              <a:t>Standup updates describe effort rather than evidence.</a:t>
            </a:r>
          </a:p>
          <a:p>
            <a:pPr lvl="0"/>
            <a:r>
              <a:rPr lang="en-US" dirty="0"/>
              <a:t>Sprint reviews show slides but not the working increment.</a:t>
            </a:r>
          </a:p>
          <a:p>
            <a:pPr lvl="0"/>
            <a:r>
              <a:rPr lang="en-US" dirty="0"/>
              <a:t>Feedback is received but not added to the backlog.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133361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B20F-3A2B-2F9A-6EC7-D7809DC4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Good Scrum Looks Like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80145-B68C-F027-B921-0218E6D0C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/>
              <a:t>The team has a clear sprint goal.</a:t>
            </a:r>
          </a:p>
          <a:p>
            <a:pPr lvl="0"/>
            <a:r>
              <a:rPr lang="en-US" dirty="0"/>
              <a:t>The backlog is </a:t>
            </a:r>
            <a:r>
              <a:rPr lang="en-US" dirty="0" err="1"/>
              <a:t>prioritised</a:t>
            </a:r>
            <a:r>
              <a:rPr lang="en-US" dirty="0"/>
              <a:t> and realistic.</a:t>
            </a:r>
          </a:p>
          <a:p>
            <a:pPr lvl="0"/>
            <a:r>
              <a:rPr lang="en-US" dirty="0"/>
              <a:t>Tasks have first and second owners.</a:t>
            </a:r>
          </a:p>
          <a:p>
            <a:pPr lvl="0"/>
            <a:r>
              <a:rPr lang="en-US" dirty="0"/>
              <a:t>Progress is visible before the deadline.</a:t>
            </a:r>
          </a:p>
          <a:p>
            <a:pPr lvl="0"/>
            <a:r>
              <a:rPr lang="en-US" dirty="0"/>
              <a:t>Evidence is stored in the shared workspace.</a:t>
            </a:r>
          </a:p>
          <a:p>
            <a:pPr lvl="0"/>
            <a:r>
              <a:rPr lang="en-US" dirty="0"/>
              <a:t>The increment can be demonstrated.</a:t>
            </a:r>
          </a:p>
          <a:p>
            <a:pPr lvl="0"/>
            <a:r>
              <a:rPr lang="en-US" dirty="0"/>
              <a:t>Feedback leads to backlog updates.</a:t>
            </a:r>
          </a:p>
          <a:p>
            <a:pPr lvl="0"/>
            <a:r>
              <a:rPr lang="en-US" dirty="0"/>
              <a:t>The team improves its process after each sprint.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197535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47A0C-2A97-5D0D-640B-A728F992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586A-80DA-CE0D-FCC7-50F9F4DE1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12700" marR="443230">
              <a:lnSpc>
                <a:spcPct val="101400"/>
              </a:lnSpc>
              <a:spcBef>
                <a:spcPts val="65"/>
              </a:spcBef>
            </a:pPr>
            <a:r>
              <a:rPr lang="en-US" spc="-170" dirty="0">
                <a:solidFill>
                  <a:srgbClr val="FFFFFF"/>
                </a:solidFill>
              </a:rPr>
              <a:t>Business</a:t>
            </a:r>
            <a:r>
              <a:rPr lang="en-US" spc="-105" dirty="0">
                <a:solidFill>
                  <a:srgbClr val="FFFFFF"/>
                </a:solidFill>
              </a:rPr>
              <a:t> </a:t>
            </a:r>
            <a:r>
              <a:rPr lang="en-US" spc="-180" dirty="0">
                <a:solidFill>
                  <a:srgbClr val="FFFFFF"/>
                </a:solidFill>
              </a:rPr>
              <a:t>Process</a:t>
            </a:r>
            <a:r>
              <a:rPr lang="en-US" spc="-105" dirty="0">
                <a:solidFill>
                  <a:srgbClr val="FFFFFF"/>
                </a:solidFill>
              </a:rPr>
              <a:t> </a:t>
            </a:r>
            <a:r>
              <a:rPr lang="en-US" spc="-55" dirty="0">
                <a:solidFill>
                  <a:srgbClr val="FFFFFF"/>
                </a:solidFill>
              </a:rPr>
              <a:t>Modelling</a:t>
            </a:r>
            <a:r>
              <a:rPr lang="en-US" spc="-100" dirty="0">
                <a:solidFill>
                  <a:srgbClr val="FFFFFF"/>
                </a:solidFill>
              </a:rPr>
              <a:t> </a:t>
            </a:r>
            <a:r>
              <a:rPr lang="en-US" spc="-120" dirty="0">
                <a:solidFill>
                  <a:srgbClr val="FFFFFF"/>
                </a:solidFill>
              </a:rPr>
              <a:t>and</a:t>
            </a:r>
            <a:r>
              <a:rPr lang="en-US" spc="-105" dirty="0">
                <a:solidFill>
                  <a:srgbClr val="FFFFFF"/>
                </a:solidFill>
              </a:rPr>
              <a:t> </a:t>
            </a:r>
            <a:r>
              <a:rPr lang="en-US" spc="-75" dirty="0">
                <a:solidFill>
                  <a:srgbClr val="FFFFFF"/>
                </a:solidFill>
              </a:rPr>
              <a:t>Enterprise </a:t>
            </a:r>
            <a:r>
              <a:rPr lang="en-US" spc="-10" dirty="0">
                <a:solidFill>
                  <a:srgbClr val="FFFFFF"/>
                </a:solidFill>
              </a:rPr>
              <a:t>Architecture</a:t>
            </a:r>
            <a:br>
              <a:rPr lang="en-US" dirty="0"/>
            </a:br>
            <a:r>
              <a:rPr lang="en-US" dirty="0">
                <a:solidFill>
                  <a:srgbClr val="FFFFFF"/>
                </a:solidFill>
              </a:rPr>
              <a:t>&amp;</a:t>
            </a:r>
            <a:r>
              <a:rPr lang="en-US" spc="-90" dirty="0">
                <a:solidFill>
                  <a:srgbClr val="FFFFFF"/>
                </a:solidFill>
              </a:rPr>
              <a:t> </a:t>
            </a:r>
            <a:r>
              <a:rPr lang="en-US" spc="-140" dirty="0">
                <a:solidFill>
                  <a:srgbClr val="FFFFFF"/>
                </a:solidFill>
              </a:rPr>
              <a:t>Advanced</a:t>
            </a:r>
            <a:r>
              <a:rPr lang="en-US" spc="-85" dirty="0">
                <a:solidFill>
                  <a:srgbClr val="FFFFFF"/>
                </a:solidFill>
              </a:rPr>
              <a:t> </a:t>
            </a:r>
            <a:r>
              <a:rPr lang="en-US" spc="-45" dirty="0">
                <a:solidFill>
                  <a:srgbClr val="FFFFFF"/>
                </a:solidFill>
              </a:rPr>
              <a:t>Information</a:t>
            </a:r>
            <a:r>
              <a:rPr lang="en-US" spc="-85" dirty="0">
                <a:solidFill>
                  <a:srgbClr val="FFFFFF"/>
                </a:solidFill>
              </a:rPr>
              <a:t> </a:t>
            </a:r>
            <a:r>
              <a:rPr lang="en-US" spc="-185" dirty="0">
                <a:solidFill>
                  <a:srgbClr val="FFFFFF"/>
                </a:solidFill>
              </a:rPr>
              <a:t>System</a:t>
            </a:r>
            <a:r>
              <a:rPr lang="en-US" spc="-85" dirty="0">
                <a:solidFill>
                  <a:srgbClr val="FFFFFF"/>
                </a:solidFill>
              </a:rPr>
              <a:t> </a:t>
            </a:r>
            <a:r>
              <a:rPr lang="en-US" spc="-65" dirty="0">
                <a:solidFill>
                  <a:srgbClr val="FFFFFF"/>
                </a:solidFill>
              </a:rPr>
              <a:t>Development</a:t>
            </a:r>
            <a:br>
              <a:rPr lang="en-US" spc="-65" dirty="0">
                <a:solidFill>
                  <a:srgbClr val="FFFFFF"/>
                </a:solidFill>
              </a:rPr>
            </a:br>
            <a:br>
              <a:rPr lang="en-US" spc="-65" dirty="0">
                <a:solidFill>
                  <a:srgbClr val="FFFFFF"/>
                </a:solidFill>
              </a:rPr>
            </a:br>
            <a:r>
              <a:rPr lang="en-US" spc="-65" dirty="0">
                <a:solidFill>
                  <a:srgbClr val="FFFFFF"/>
                </a:solidFill>
              </a:rPr>
              <a:t>Agile Software Development in Practice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14424-2446-6083-30AE-71057B8EA7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ABE85-6ED4-EB21-FE27-4CE0CB8D46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Dilshan </a:t>
            </a:r>
            <a:br>
              <a:rPr lang="en-GB" dirty="0"/>
            </a:br>
            <a:r>
              <a:rPr lang="en-GB" dirty="0"/>
              <a:t>Jayatilake</a:t>
            </a:r>
          </a:p>
        </p:txBody>
      </p:sp>
    </p:spTree>
    <p:extLst>
      <p:ext uri="{BB962C8B-B14F-4D97-AF65-F5344CB8AC3E}">
        <p14:creationId xmlns:p14="http://schemas.microsoft.com/office/powerpoint/2010/main" val="4182620098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E05470D2-1BF0-604A-A630-0DBE38C05910}" vid="{52A5FB7C-B211-9542-A76B-30F50792475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AA69354D6C914BAC226C31773B6357" ma:contentTypeVersion="11" ma:contentTypeDescription="Create a new document." ma:contentTypeScope="" ma:versionID="550c280ea4eaa12c9be36962ea4b3bee">
  <xsd:schema xmlns:xsd="http://www.w3.org/2001/XMLSchema" xmlns:xs="http://www.w3.org/2001/XMLSchema" xmlns:p="http://schemas.microsoft.com/office/2006/metadata/properties" xmlns:ns2="d9df8f7d-85f4-4de8-94e8-2bbe30c70827" xmlns:ns3="cd7413b2-09dc-433a-b8df-41a2640b2d0a" targetNamespace="http://schemas.microsoft.com/office/2006/metadata/properties" ma:root="true" ma:fieldsID="500903eca69ae44c8c413e35f32f887b" ns2:_="" ns3:_="">
    <xsd:import namespace="d9df8f7d-85f4-4de8-94e8-2bbe30c70827"/>
    <xsd:import namespace="cd7413b2-09dc-433a-b8df-41a2640b2d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8f7d-85f4-4de8-94e8-2bbe30c70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2edd95a-f8c2-4715-9b78-af595b67b1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7413b2-09dc-433a-b8df-41a2640b2d0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980a69d-6dce-41ee-a623-b82e735bfe89}" ma:internalName="TaxCatchAll" ma:showField="CatchAllData" ma:web="cd7413b2-09dc-433a-b8df-41a2640b2d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9df8f7d-85f4-4de8-94e8-2bbe30c70827">
      <Terms xmlns="http://schemas.microsoft.com/office/infopath/2007/PartnerControls"/>
    </lcf76f155ced4ddcb4097134ff3c332f>
    <TaxCatchAll xmlns="cd7413b2-09dc-433a-b8df-41a2640b2d0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0F6E5E-8494-4F74-8264-6B8D300C9D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f8f7d-85f4-4de8-94e8-2bbe30c70827"/>
    <ds:schemaRef ds:uri="cd7413b2-09dc-433a-b8df-41a2640b2d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D2D201-97C8-4E70-BF77-76D11DC8600F}">
  <ds:schemaRefs>
    <ds:schemaRef ds:uri="e8946c25-bf8a-4e7a-b3bc-ca2d5c690832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08ae8d-d1eb-4f33-a34c-6ad8d87baf5e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d9df8f7d-85f4-4de8-94e8-2bbe30c70827"/>
    <ds:schemaRef ds:uri="cd7413b2-09dc-433a-b8df-41a2640b2d0a"/>
  </ds:schemaRefs>
</ds:datastoreItem>
</file>

<file path=customXml/itemProps3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c0de803-e079-4d4f-96bc-6f3b3b6923e3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14</TotalTime>
  <Words>1631</Words>
  <Application>Microsoft Macintosh PowerPoint</Application>
  <PresentationFormat>On-screen Show (4:3)</PresentationFormat>
  <Paragraphs>166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Tahoma</vt:lpstr>
      <vt:lpstr>Custom Design</vt:lpstr>
      <vt:lpstr>Business Process Modelling and Enterprise Architecture &amp; Advanced Information System Development  Agile Software Development in Practice</vt:lpstr>
      <vt:lpstr>Session Plan</vt:lpstr>
      <vt:lpstr>Agile Scrum For Software Engineering Projects</vt:lpstr>
      <vt:lpstr>Why Agile Emerged</vt:lpstr>
      <vt:lpstr>Agile Values</vt:lpstr>
      <vt:lpstr>What Scrum Is</vt:lpstr>
      <vt:lpstr>Empiricism In Scrum</vt:lpstr>
      <vt:lpstr>Scrum Theory And Your Assessment</vt:lpstr>
      <vt:lpstr>Scrum Roles</vt:lpstr>
      <vt:lpstr>The Development Team</vt:lpstr>
      <vt:lpstr>First Owner And Second Owner</vt:lpstr>
      <vt:lpstr>Scrum Artefacts</vt:lpstr>
      <vt:lpstr>Product Backlog</vt:lpstr>
      <vt:lpstr>Backlog Item Quality</vt:lpstr>
      <vt:lpstr>Sprint Planning</vt:lpstr>
      <vt:lpstr>Sprint Goal</vt:lpstr>
      <vt:lpstr>Definition Of Done</vt:lpstr>
      <vt:lpstr>Example Definition Of Done</vt:lpstr>
      <vt:lpstr>Scrum Events</vt:lpstr>
      <vt:lpstr>Standups</vt:lpstr>
      <vt:lpstr>Sprint Reviews</vt:lpstr>
      <vt:lpstr>Sprint Retrospective</vt:lpstr>
      <vt:lpstr>Incremental Delivery</vt:lpstr>
      <vt:lpstr>Common Problems In Student Scrum Projects</vt:lpstr>
      <vt:lpstr>What Good Scrum Looks Like</vt:lpstr>
      <vt:lpstr>Business Process Modelling and Enterprise Architecture &amp; Advanced Information System Development  Agile Software Development in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Dilshan Jayatilake</dc:creator>
  <cp:lastModifiedBy>Dilshan Jayatilake</cp:lastModifiedBy>
  <cp:revision>1</cp:revision>
  <cp:lastPrinted>2016-09-22T10:08:48Z</cp:lastPrinted>
  <dcterms:created xsi:type="dcterms:W3CDTF">2026-09-13T14:58:08Z</dcterms:created>
  <dcterms:modified xsi:type="dcterms:W3CDTF">2026-09-13T15:12:26Z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0x01010061AA69354D6C914BAC226C31773B6357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dlc_DocIdItemGuid">
    <vt:lpwstr>0beaf668-18bc-407e-89e0-ef66d74dcf56</vt:lpwstr>
  </property>
  <property fmtid="{D5CDD505-2E9C-101B-9397-08002B2CF9AE}" pid="10" name="_ExtendedDescription">
    <vt:lpwstr/>
  </property>
</Properties>
</file>