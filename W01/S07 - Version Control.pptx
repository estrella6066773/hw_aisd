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5"/>
  </p:sldMasterIdLst>
  <p:notesMasterIdLst>
    <p:notesMasterId r:id="rId15"/>
  </p:notesMasterIdLst>
  <p:handoutMasterIdLst>
    <p:handoutMasterId r:id="rId16"/>
  </p:handoutMasterIdLst>
  <p:sldIdLst>
    <p:sldId id="256" r:id="rId6"/>
    <p:sldId id="258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9144000" cy="6858000"/>
  <p:custDataLst>
    <p:tags r:id="rId1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ersion Control" id="{4284EADD-FE41-494D-A42C-2B60CCFC2DE6}">
          <p14:sldIdLst>
            <p14:sldId id="256"/>
            <p14:sldId id="258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DAC"/>
    <a:srgbClr val="1A9DAC"/>
    <a:srgbClr val="16818D"/>
    <a:srgbClr val="1C9DAC"/>
    <a:srgbClr val="7A7392"/>
    <a:srgbClr val="598752"/>
    <a:srgbClr val="6DA463"/>
    <a:srgbClr val="A65C45"/>
    <a:srgbClr val="CC705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05DF2-ECE3-5C53-3F65-083A7EF2F530}" v="2" dt="2025-08-12T12:39:25.893"/>
    <p1510:client id="{CF8064C8-227B-47C4-67DD-08EF9D6EE9CA}" v="1" dt="2025-08-12T12:40:04.8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03" autoAdjust="0"/>
    <p:restoredTop sz="96250"/>
  </p:normalViewPr>
  <p:slideViewPr>
    <p:cSldViewPr showGuides="1">
      <p:cViewPr varScale="1">
        <p:scale>
          <a:sx n="120" d="100"/>
          <a:sy n="120" d="100"/>
        </p:scale>
        <p:origin x="2016" y="192"/>
      </p:cViewPr>
      <p:guideLst>
        <p:guide orient="horz" pos="3838"/>
        <p:guide pos="2880"/>
        <p:guide pos="5103"/>
        <p:guide pos="6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83" d="100"/>
          <a:sy n="183" d="100"/>
        </p:scale>
        <p:origin x="208" y="3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7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505" y="2913639"/>
            <a:ext cx="1219139" cy="3713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1A9DAC"/>
              </a:buClr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1A9DAC"/>
              </a:buClr>
              <a:buFont typeface="+mj-lt"/>
              <a:buAutoNum type="arabi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-342900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5988" marR="0" indent="-28575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Bullet Point</a:t>
            </a:r>
          </a:p>
          <a:p>
            <a:pPr lvl="2"/>
            <a:r>
              <a:rPr lang="en-US" dirty="0"/>
              <a:t>Third Bullet Point</a:t>
            </a:r>
          </a:p>
          <a:p>
            <a:pPr lvl="3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966788" indent="0">
              <a:buFont typeface="Arial" panose="020B0604020202020204" pitchFamily="34" charset="0"/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312368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6"/>
            <a:ext cx="7886700" cy="7683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22413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024-4559-4C02-9AB3-98D956AC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056E6-17B0-445E-93EC-A3A4B42B21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2349500"/>
            <a:ext cx="4104456" cy="28797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3000">
                <a:solidFill>
                  <a:srgbClr val="199DAC"/>
                </a:solidFill>
              </a:defRPr>
            </a:lvl1pPr>
            <a:lvl2pPr marL="609600" indent="0">
              <a:buNone/>
              <a:defRPr>
                <a:solidFill>
                  <a:srgbClr val="16818D"/>
                </a:solidFill>
              </a:defRPr>
            </a:lvl2pPr>
            <a:lvl3pPr marL="1219200" indent="0">
              <a:buNone/>
              <a:defRPr>
                <a:solidFill>
                  <a:srgbClr val="16818D"/>
                </a:solidFill>
              </a:defRPr>
            </a:lvl3pPr>
            <a:lvl4pPr marL="1828800" indent="0">
              <a:buNone/>
              <a:defRPr>
                <a:solidFill>
                  <a:srgbClr val="16818D"/>
                </a:solidFill>
              </a:defRPr>
            </a:lvl4pPr>
            <a:lvl5pPr marL="2438400" indent="0">
              <a:buNone/>
              <a:defRPr>
                <a:solidFill>
                  <a:srgbClr val="16818D"/>
                </a:solidFill>
              </a:defRPr>
            </a:lvl5pPr>
          </a:lstStyle>
          <a:p>
            <a:pPr lvl="0"/>
            <a:r>
              <a:rPr lang="en-US" dirty="0"/>
              <a:t>100%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12DBA2-E4CA-4633-9C0C-58EB9F03F1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6016" y="2349500"/>
            <a:ext cx="3672334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199DAC"/>
                </a:solidFill>
              </a:defRPr>
            </a:lvl1pPr>
            <a:lvl2pPr marL="609600" indent="0">
              <a:buNone/>
              <a:defRPr sz="1800">
                <a:solidFill>
                  <a:srgbClr val="199DAC"/>
                </a:solidFill>
              </a:defRPr>
            </a:lvl2pPr>
            <a:lvl3pPr marL="1219200" indent="0">
              <a:buNone/>
              <a:defRPr sz="1800">
                <a:solidFill>
                  <a:srgbClr val="199DAC"/>
                </a:solidFill>
              </a:defRPr>
            </a:lvl3pPr>
            <a:lvl4pPr marL="1828800" indent="0">
              <a:buNone/>
              <a:defRPr sz="1800">
                <a:solidFill>
                  <a:srgbClr val="199DAC"/>
                </a:solidFill>
              </a:defRPr>
            </a:lvl4pPr>
            <a:lvl5pPr marL="2438400" indent="0">
              <a:buNone/>
              <a:defRPr sz="1800">
                <a:solidFill>
                  <a:srgbClr val="199DAC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D44D0B-0878-42C4-9A43-6D580C188C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650" y="5157192"/>
            <a:ext cx="7472363" cy="7921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  <a:lvl2pPr marL="609600" indent="0" algn="r">
              <a:buNone/>
              <a:defRPr sz="1800"/>
            </a:lvl2pPr>
            <a:lvl3pPr marL="1219200" indent="0" algn="r">
              <a:buNone/>
              <a:defRPr sz="1800"/>
            </a:lvl3pPr>
            <a:lvl4pPr marL="1828800" indent="0" algn="r">
              <a:buNone/>
              <a:defRPr sz="1800"/>
            </a:lvl4pPr>
            <a:lvl5pPr marL="2438400" indent="0" algn="r"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5793842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6" r:id="rId14"/>
  </p:sldLayoutIdLst>
  <p:transition spd="slow">
    <p:fade/>
  </p:transition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1A9DAC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4C6A-CA2E-4C35-8BA5-916C10203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ea typeface="Calibri"/>
                <a:cs typeface="Calibri"/>
              </a:rPr>
              <a:t>Business Process Modelling and Enterprise Architecture</a:t>
            </a:r>
            <a:endParaRPr lang="en-US" dirty="0"/>
          </a:p>
          <a:p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>
                <a:ea typeface="ＭＳ Ｐゴシック"/>
              </a:rPr>
              <a:t>Version Control (½)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BE806-4523-4FEC-B19F-B5D4FF00D6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FC82F-1F0B-4D11-BC78-0C43FDE0F3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 err="1"/>
              <a:t>Rumali</a:t>
            </a:r>
            <a:r>
              <a:rPr lang="en-GB" dirty="0"/>
              <a:t> </a:t>
            </a:r>
            <a:r>
              <a:rPr lang="en-GB" dirty="0" err="1"/>
              <a:t>Sirimanne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EC3736-11BE-51CE-3DC3-C0FBC67FED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760811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93DA-9975-43A2-9678-60BDA25B6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Session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74684-16B6-4667-AD9F-523AB5D333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 anchor="t"/>
          <a:lstStyle/>
          <a:p>
            <a:r>
              <a:rPr lang="en-GB" sz="2400" dirty="0">
                <a:solidFill>
                  <a:srgbClr val="000000"/>
                </a:solidFill>
                <a:ea typeface="Tahoma"/>
                <a:cs typeface="Tahoma"/>
              </a:rPr>
              <a:t>What is Version Control ?</a:t>
            </a:r>
            <a:endParaRPr lang="en-US" sz="2400" dirty="0">
              <a:solidFill>
                <a:srgbClr val="000000"/>
              </a:solidFill>
              <a:ea typeface="Tahoma"/>
              <a:cs typeface="Tahoma"/>
            </a:endParaRPr>
          </a:p>
          <a:p>
            <a:r>
              <a:rPr lang="en-GB" sz="2400" dirty="0">
                <a:solidFill>
                  <a:srgbClr val="000000"/>
                </a:solidFill>
                <a:ea typeface="Tahoma"/>
                <a:cs typeface="Tahoma"/>
              </a:rPr>
              <a:t>Uses of Version Control</a:t>
            </a:r>
          </a:p>
          <a:p>
            <a:r>
              <a:rPr lang="en-GB" sz="2400">
                <a:solidFill>
                  <a:srgbClr val="000000"/>
                </a:solidFill>
                <a:ea typeface="Tahoma"/>
                <a:cs typeface="Tahoma"/>
              </a:rPr>
              <a:t>Version Control System (VCS) </a:t>
            </a:r>
            <a:endParaRPr lang="en-GB" sz="2400" dirty="0">
              <a:solidFill>
                <a:srgbClr val="000000"/>
              </a:solidFill>
              <a:ea typeface="Tahoma"/>
              <a:cs typeface="Tahoma"/>
            </a:endParaRPr>
          </a:p>
          <a:p>
            <a:r>
              <a:rPr lang="en-GB" sz="2400">
                <a:solidFill>
                  <a:srgbClr val="000000"/>
                </a:solidFill>
                <a:ea typeface="Tahoma"/>
                <a:cs typeface="Tahoma"/>
              </a:rPr>
              <a:t>Centralised Version Control </a:t>
            </a:r>
          </a:p>
          <a:p>
            <a:r>
              <a:rPr lang="en-GB" sz="2400">
                <a:solidFill>
                  <a:srgbClr val="000000"/>
                </a:solidFill>
                <a:ea typeface="Tahoma"/>
                <a:cs typeface="Tahoma"/>
              </a:rPr>
              <a:t>Distributed Version Control </a:t>
            </a:r>
          </a:p>
          <a:p>
            <a:r>
              <a:rPr lang="en-GB" sz="2400">
                <a:solidFill>
                  <a:srgbClr val="000000"/>
                </a:solidFill>
                <a:ea typeface="Tahoma"/>
                <a:cs typeface="Tahoma"/>
              </a:rPr>
              <a:t>Features of VCS 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719998758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E933E-9E07-A92C-EF9E-0C6625206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is Version Control 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C9DBE-2594-C362-9379-9CACD0D40F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sz="2400" dirty="0"/>
              <a:t>Version control</a:t>
            </a:r>
          </a:p>
          <a:p>
            <a:pPr lvl="1"/>
            <a:r>
              <a:rPr lang="en-GB" sz="2400" dirty="0" err="1"/>
              <a:t>a.k.a</a:t>
            </a:r>
            <a:r>
              <a:rPr lang="en-GB" sz="2400" dirty="0"/>
              <a:t> revision control or source control </a:t>
            </a:r>
          </a:p>
          <a:p>
            <a:pPr lvl="1"/>
            <a:r>
              <a:rPr lang="en-GB" sz="2400" dirty="0"/>
              <a:t>managing multiple versions of documents, programs, web sites, etc.</a:t>
            </a:r>
          </a:p>
          <a:p>
            <a:r>
              <a:rPr lang="en-GB" sz="2400" dirty="0"/>
              <a:t>Allows programmers to keep track of every revision </a:t>
            </a:r>
          </a:p>
          <a:p>
            <a:r>
              <a:rPr lang="en-GB" sz="2400" dirty="0"/>
              <a:t>How different is version control from back-up ?</a:t>
            </a:r>
          </a:p>
          <a:p>
            <a:pPr lvl="1"/>
            <a:r>
              <a:rPr lang="en-GB" sz="2400" dirty="0"/>
              <a:t>Back-up is usually time based (Mac Time Machine)</a:t>
            </a:r>
          </a:p>
          <a:p>
            <a:pPr lvl="1"/>
            <a:r>
              <a:rPr lang="en-GB" sz="2400" dirty="0"/>
              <a:t>Version control is about line of work </a:t>
            </a:r>
          </a:p>
          <a:p>
            <a:endParaRPr lang="en-GB" sz="2400" dirty="0"/>
          </a:p>
          <a:p>
            <a:endParaRPr lang="en-GB" sz="2400" dirty="0"/>
          </a:p>
        </p:txBody>
      </p:sp>
      <p:pic>
        <p:nvPicPr>
          <p:cNvPr id="4" name="Picture 2" descr="mage result for version control">
            <a:extLst>
              <a:ext uri="{FF2B5EF4-FFF2-40B4-BE49-F238E27FC236}">
                <a16:creationId xmlns:a16="http://schemas.microsoft.com/office/drawing/2014/main" id="{C12F12F7-2543-6E00-9560-36549FE54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4883677"/>
            <a:ext cx="2557723" cy="171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0947038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3CC24-F4D6-2E51-8F54-D640648DA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Uses of Version Control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D9384-46DE-E7C6-AB70-4B6B428C8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0" y="1700808"/>
            <a:ext cx="7272809" cy="4608512"/>
          </a:xfrm>
        </p:spPr>
        <p:txBody>
          <a:bodyPr/>
          <a:lstStyle/>
          <a:p>
            <a:r>
              <a:rPr lang="en-GB" sz="2400" dirty="0"/>
              <a:t>Version control is not just useful for collaborative working, essential for quality source code development</a:t>
            </a:r>
          </a:p>
          <a:p>
            <a:r>
              <a:rPr lang="en-GB" sz="2400" dirty="0"/>
              <a:t>Often want to undo changes to a file</a:t>
            </a:r>
          </a:p>
          <a:p>
            <a:pPr lvl="1"/>
            <a:r>
              <a:rPr lang="en-GB" sz="2400" dirty="0"/>
              <a:t>start work, realize it's the wrong approach, want to get back to starting point</a:t>
            </a:r>
          </a:p>
          <a:p>
            <a:pPr lvl="1"/>
            <a:r>
              <a:rPr lang="en-GB" sz="2400" dirty="0"/>
              <a:t>like "undo" in an editor…</a:t>
            </a:r>
          </a:p>
          <a:p>
            <a:pPr lvl="1"/>
            <a:r>
              <a:rPr lang="en-GB" sz="2400" dirty="0"/>
              <a:t>keep the whole history of every file and a changelog </a:t>
            </a:r>
          </a:p>
          <a:p>
            <a:r>
              <a:rPr lang="en-GB" sz="2400" dirty="0"/>
              <a:t>Also want to be able to see who changed what, when</a:t>
            </a:r>
          </a:p>
          <a:p>
            <a:pPr lvl="1"/>
            <a:r>
              <a:rPr lang="en-GB" sz="2400" dirty="0"/>
              <a:t>The best way to find out how something works is often to ask the person who wrote it</a:t>
            </a:r>
          </a:p>
          <a:p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458536628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9683A-EEF9-988B-044D-6CC7F6966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Version Control System (VCS)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EC914-6D83-EA8F-59C8-00735CFBBD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273" y="1412776"/>
            <a:ext cx="6551612" cy="4608512"/>
          </a:xfrm>
        </p:spPr>
        <p:txBody>
          <a:bodyPr/>
          <a:lstStyle/>
          <a:p>
            <a:r>
              <a:rPr lang="en-GB" sz="2400" dirty="0"/>
              <a:t>A system which allows for the management of a code base</a:t>
            </a:r>
          </a:p>
          <a:p>
            <a:pPr lvl="1"/>
            <a:r>
              <a:rPr lang="en-GB" sz="2400" dirty="0"/>
              <a:t>Files are kept in a repository</a:t>
            </a:r>
          </a:p>
          <a:p>
            <a:pPr lvl="1"/>
            <a:r>
              <a:rPr lang="en-GB" sz="2400" dirty="0"/>
              <a:t>Repositories can be local or remote to the user</a:t>
            </a:r>
          </a:p>
          <a:p>
            <a:pPr lvl="1"/>
            <a:r>
              <a:rPr lang="en-GB" sz="2400" dirty="0"/>
              <a:t>The user edits a copy called the working copy</a:t>
            </a:r>
          </a:p>
          <a:p>
            <a:pPr lvl="1"/>
            <a:r>
              <a:rPr lang="en-GB" sz="2400" dirty="0"/>
              <a:t>Changes are committed to the repository when the user is finished making changes</a:t>
            </a:r>
          </a:p>
          <a:p>
            <a:pPr lvl="1"/>
            <a:r>
              <a:rPr lang="en-GB" sz="2400" dirty="0"/>
              <a:t>Other people can then access the repository to get the new code</a:t>
            </a:r>
          </a:p>
          <a:p>
            <a:r>
              <a:rPr lang="en-GB" sz="2400" dirty="0"/>
              <a:t>Types of VCS</a:t>
            </a:r>
          </a:p>
          <a:p>
            <a:pPr lvl="1"/>
            <a:r>
              <a:rPr lang="en-GB" sz="2400" dirty="0"/>
              <a:t>Centralised Version Control System</a:t>
            </a:r>
          </a:p>
          <a:p>
            <a:pPr lvl="1"/>
            <a:r>
              <a:rPr lang="en-GB" sz="2400" dirty="0"/>
              <a:t>Distributed Version Control System</a:t>
            </a:r>
          </a:p>
          <a:p>
            <a:pPr marL="266700" lvl="1" indent="0">
              <a:buNone/>
            </a:pPr>
            <a:endParaRPr lang="en-GB" sz="2400" dirty="0"/>
          </a:p>
          <a:p>
            <a:pPr marL="266700" lvl="1" indent="0">
              <a:buNone/>
            </a:pPr>
            <a:endParaRPr lang="en-GB" sz="2400" dirty="0"/>
          </a:p>
          <a:p>
            <a:endParaRPr lang="en-GB" sz="2400" dirty="0"/>
          </a:p>
          <a:p>
            <a:endParaRPr lang="en-GB" sz="2400" dirty="0"/>
          </a:p>
        </p:txBody>
      </p:sp>
      <p:pic>
        <p:nvPicPr>
          <p:cNvPr id="4" name="Picture 3" descr="Repo">
            <a:extLst>
              <a:ext uri="{FF2B5EF4-FFF2-40B4-BE49-F238E27FC236}">
                <a16:creationId xmlns:a16="http://schemas.microsoft.com/office/drawing/2014/main" id="{038BD808-7BB7-F7B1-0EF8-05B2D64E55F4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7" y="4941168"/>
            <a:ext cx="2606766" cy="1802532"/>
          </a:xfrm>
          <a:prstGeom prst="rect">
            <a:avLst/>
          </a:prstGeom>
          <a:noFill/>
          <a:ln>
            <a:noFill/>
          </a:ln>
          <a:effectLst>
            <a:outerShdw blurRad="127000" dist="76199" dir="2700000" algn="ctr" rotWithShape="0">
              <a:schemeClr val="bg2"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3648814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DC642-10AC-821E-724D-FDBF82D4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Centralised Version Control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D8A24-EBB0-0849-AB66-BE8EA5C776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4032449" cy="4608512"/>
          </a:xfrm>
        </p:spPr>
        <p:txBody>
          <a:bodyPr/>
          <a:lstStyle/>
          <a:p>
            <a:r>
              <a:rPr lang="en-GB" sz="2400" dirty="0"/>
              <a:t>A single server holds the code base</a:t>
            </a:r>
          </a:p>
          <a:p>
            <a:r>
              <a:rPr lang="en-GB" sz="2400" dirty="0"/>
              <a:t>Clients access the server by means of check-in/check-outs</a:t>
            </a:r>
          </a:p>
          <a:p>
            <a:r>
              <a:rPr lang="en-GB" sz="2400" dirty="0"/>
              <a:t>Examples include CVS, Subversion, Visual Source Safe.</a:t>
            </a:r>
          </a:p>
          <a:p>
            <a:r>
              <a:rPr lang="en-GB" sz="2400" b="1" u="sng" dirty="0"/>
              <a:t>Advantages</a:t>
            </a:r>
            <a:r>
              <a:rPr lang="en-GB" sz="2400" u="sng" dirty="0"/>
              <a:t>:</a:t>
            </a:r>
            <a:r>
              <a:rPr lang="en-GB" sz="2400" dirty="0"/>
              <a:t> Easier to maintain a single server.</a:t>
            </a:r>
          </a:p>
          <a:p>
            <a:r>
              <a:rPr lang="en-GB" sz="2400" b="1" u="sng" dirty="0"/>
              <a:t>Disadvantages</a:t>
            </a:r>
            <a:r>
              <a:rPr lang="en-GB" sz="2400" u="sng" dirty="0"/>
              <a:t>:</a:t>
            </a:r>
            <a:r>
              <a:rPr lang="en-GB" sz="2400" dirty="0"/>
              <a:t> Single point of failure. </a:t>
            </a:r>
          </a:p>
          <a:p>
            <a:endParaRPr lang="en-GB" sz="2400" dirty="0"/>
          </a:p>
          <a:p>
            <a:pPr marL="9525" indent="0">
              <a:buNone/>
            </a:pPr>
            <a:endParaRPr lang="en-GB" sz="2400" dirty="0"/>
          </a:p>
        </p:txBody>
      </p:sp>
      <p:pic>
        <p:nvPicPr>
          <p:cNvPr id="4" name="Picture 3" descr="Centralised Version Control">
            <a:extLst>
              <a:ext uri="{FF2B5EF4-FFF2-40B4-BE49-F238E27FC236}">
                <a16:creationId xmlns:a16="http://schemas.microsoft.com/office/drawing/2014/main" id="{4E11D814-BE33-4D3C-F635-6A0A5A8DC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2965" y="2204864"/>
            <a:ext cx="3811230" cy="2987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0577546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38A8-CC73-EE05-F8B7-DB281EE5B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Distributed Version Control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D3C77-8488-D178-87C6-C32B998A46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3672409" cy="4608512"/>
          </a:xfrm>
        </p:spPr>
        <p:txBody>
          <a:bodyPr/>
          <a:lstStyle/>
          <a:p>
            <a:r>
              <a:rPr lang="en-GB" sz="2400" dirty="0"/>
              <a:t>Each client (essentially) holds a complete copy of the code base.</a:t>
            </a:r>
          </a:p>
          <a:p>
            <a:r>
              <a:rPr lang="en-GB" sz="2400" dirty="0"/>
              <a:t>Code is shared between clients by push/pulls</a:t>
            </a:r>
          </a:p>
          <a:p>
            <a:r>
              <a:rPr lang="en-GB" sz="2400" dirty="0"/>
              <a:t>Advantages: Many operations cheaper. No single point of failure</a:t>
            </a:r>
          </a:p>
          <a:p>
            <a:r>
              <a:rPr lang="en-GB" sz="2400" dirty="0"/>
              <a:t>Disadvantages: A bit more complicated!</a:t>
            </a:r>
          </a:p>
          <a:p>
            <a:endParaRPr lang="en-GB" sz="2400" dirty="0"/>
          </a:p>
          <a:p>
            <a:endParaRPr lang="en-GB" sz="2400" dirty="0"/>
          </a:p>
        </p:txBody>
      </p:sp>
      <p:pic>
        <p:nvPicPr>
          <p:cNvPr id="4" name="Picture 2" descr="Distributed Version Control">
            <a:extLst>
              <a:ext uri="{FF2B5EF4-FFF2-40B4-BE49-F238E27FC236}">
                <a16:creationId xmlns:a16="http://schemas.microsoft.com/office/drawing/2014/main" id="{4CC15CD3-9DB1-F855-B359-3EE0EC68D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06911"/>
            <a:ext cx="4077005" cy="3314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1801109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35884-5F56-8209-F9D1-B7FAFB32A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Features of VCS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7598B-CC4B-AFF4-62AE-E42B671E05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sz="2400" dirty="0"/>
              <a:t>Essential Features</a:t>
            </a:r>
          </a:p>
          <a:p>
            <a:pPr lvl="1"/>
            <a:r>
              <a:rPr lang="en-GB" sz="2400" dirty="0"/>
              <a:t>Check-in and check-out of items to repository</a:t>
            </a:r>
          </a:p>
          <a:p>
            <a:pPr lvl="1"/>
            <a:r>
              <a:rPr lang="en-GB" sz="2400" dirty="0"/>
              <a:t>Creation of baselines (labels/tags)</a:t>
            </a:r>
          </a:p>
          <a:p>
            <a:pPr lvl="2"/>
            <a:r>
              <a:rPr lang="en-GB" sz="2400" dirty="0"/>
              <a:t>Version 1.0 released!</a:t>
            </a:r>
          </a:p>
          <a:p>
            <a:pPr lvl="1"/>
            <a:r>
              <a:rPr lang="en-GB" sz="2400" dirty="0"/>
              <a:t>Control and manipulation of branching </a:t>
            </a:r>
          </a:p>
          <a:p>
            <a:pPr lvl="2"/>
            <a:r>
              <a:rPr lang="en-GB" sz="2400" dirty="0"/>
              <a:t>management of multiple versions</a:t>
            </a:r>
          </a:p>
          <a:p>
            <a:pPr lvl="1"/>
            <a:r>
              <a:rPr lang="en-GB" sz="2400" dirty="0"/>
              <a:t>Overview of version history </a:t>
            </a:r>
          </a:p>
          <a:p>
            <a:r>
              <a:rPr lang="en-GB" sz="2400" dirty="0"/>
              <a:t>Additional Features</a:t>
            </a:r>
          </a:p>
          <a:p>
            <a:pPr lvl="1"/>
            <a:r>
              <a:rPr lang="en-GB" sz="2400" dirty="0"/>
              <a:t>Code Responsibility and Code Audits</a:t>
            </a:r>
          </a:p>
          <a:p>
            <a:pPr lvl="1"/>
            <a:r>
              <a:rPr lang="en-GB" sz="2400" dirty="0"/>
              <a:t>Forking (Common with Open Source)</a:t>
            </a:r>
          </a:p>
          <a:p>
            <a:pPr lvl="1"/>
            <a:r>
              <a:rPr lang="en-GB" sz="2400" dirty="0"/>
              <a:t>Metrics</a:t>
            </a:r>
          </a:p>
          <a:p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591687150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57327-8128-1942-1301-798256704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C399E-6FE4-4F2D-0477-CB43D9290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ea typeface="Calibri"/>
                <a:cs typeface="Calibri"/>
              </a:rPr>
              <a:t>Business Process Modelling and Enterprise Architecture</a:t>
            </a:r>
            <a:endParaRPr lang="en-US" dirty="0"/>
          </a:p>
          <a:p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>
                <a:ea typeface="ＭＳ Ｐゴシック"/>
              </a:rPr>
              <a:t>Version Control (½)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22CAA-2F25-CD86-649A-03AD1ABC7D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462CC9-F596-6B11-0F0F-F12F200BAF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 err="1"/>
              <a:t>Rumali</a:t>
            </a:r>
            <a:r>
              <a:rPr lang="en-GB" dirty="0"/>
              <a:t> </a:t>
            </a:r>
            <a:r>
              <a:rPr lang="en-GB" dirty="0" err="1"/>
              <a:t>Sirimanne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D2FE52-8BAC-EE92-636F-ABABB91CB0E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876728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template sky standard" id="{52560AC1-BBE7-DA4F-9F42-B907461B0F24}" vid="{5E483FDD-D17B-7F42-8614-BB348032E13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Type xmlns="3a4ab234-afbc-41ab-b2db-358d80304e46">Main Issue</Document_x0020_Type>
    <_dlc_DocId xmlns="037ba92a-5764-4297-b5f7-6ea117412624">NAYYJSKVSPAS-2-1608</_dlc_DocId>
    <_dlc_DocIdUrl xmlns="037ba92a-5764-4297-b5f7-6ea117412624">
      <Url>https://docs.uwe.ac.uk/ou/Communications/_layouts/15/DocIdRedir.aspx?ID=NAYYJSKVSPAS-2-1608</Url>
      <Description>NAYYJSKVSPAS-2-1608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FC3F4283AECA48BCBDDFCF4103160C" ma:contentTypeVersion="2" ma:contentTypeDescription="Create a new document." ma:contentTypeScope="" ma:versionID="71a29f68b18f52e7e0b329625759c092">
  <xsd:schema xmlns:xsd="http://www.w3.org/2001/XMLSchema" xmlns:xs="http://www.w3.org/2001/XMLSchema" xmlns:p="http://schemas.microsoft.com/office/2006/metadata/properties" xmlns:ns2="037ba92a-5764-4297-b5f7-6ea117412624" xmlns:ns3="3a4ab234-afbc-41ab-b2db-358d80304e46" targetNamespace="http://schemas.microsoft.com/office/2006/metadata/properties" ma:root="true" ma:fieldsID="a458c3587d291faf4ca1653387720a89" ns2:_="" ns3:_="">
    <xsd:import namespace="037ba92a-5764-4297-b5f7-6ea117412624"/>
    <xsd:import namespace="3a4ab234-afbc-41ab-b2db-358d80304e4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Document_x0020_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7ba92a-5764-4297-b5f7-6ea11741262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4ab234-afbc-41ab-b2db-358d80304e46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11" nillable="true" ma:displayName="Document Type" ma:default="Main Issue" ma:description="Specify type of document to help with filtered views" ma:format="Dropdown" ma:internalName="Document_x0020_Type">
      <xsd:simpleType>
        <xsd:restriction base="dms:Choice">
          <xsd:enumeration value="Main Issue"/>
          <xsd:enumeration value="Supporting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364826-19C1-4551-92C2-A6C074B09DC4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98D2D201-97C8-4E70-BF77-76D11DC8600F}">
  <ds:schemaRefs>
    <ds:schemaRef ds:uri="http://purl.org/dc/elements/1.1/"/>
    <ds:schemaRef ds:uri="http://purl.org/dc/dcmitype/"/>
    <ds:schemaRef ds:uri="http://purl.org/dc/terms/"/>
    <ds:schemaRef ds:uri="037ba92a-5764-4297-b5f7-6ea117412624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3a4ab234-afbc-41ab-b2db-358d80304e46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218277BB-DC5E-47BA-8CA9-13DFAB3B24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7ba92a-5764-4297-b5f7-6ea117412624"/>
    <ds:schemaRef ds:uri="3a4ab234-afbc-41ab-b2db-358d80304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AC5552B4-89B5-4F8D-B1E4-E0A34EA58D5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c0de803-e079-4d4f-96bc-6f3b3b6923e3}" enabled="1" method="Privileged" siteId="{07ef1208-413c-4b5e-9cdd-64ef305754f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428</Words>
  <Application>Microsoft Macintosh PowerPoint</Application>
  <PresentationFormat>On-screen Show (4:3)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ＭＳ Ｐゴシック</vt:lpstr>
      <vt:lpstr>Arial</vt:lpstr>
      <vt:lpstr>Calibri</vt:lpstr>
      <vt:lpstr>Courier New</vt:lpstr>
      <vt:lpstr>Tahoma</vt:lpstr>
      <vt:lpstr>Custom Design</vt:lpstr>
      <vt:lpstr>Business Process Modelling and Enterprise Architecture    Version Control (½) </vt:lpstr>
      <vt:lpstr>Session Plan</vt:lpstr>
      <vt:lpstr>What is Version Control ?</vt:lpstr>
      <vt:lpstr>Uses of Version Control</vt:lpstr>
      <vt:lpstr>Version Control System (VCS)</vt:lpstr>
      <vt:lpstr>Centralised Version Control</vt:lpstr>
      <vt:lpstr>Distributed Version Control</vt:lpstr>
      <vt:lpstr>Features of VCS</vt:lpstr>
      <vt:lpstr>Business Process Modelling and Enterprise Architecture    Version Control (½)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UFCFAF-30-3  Development of Information Systems Projects Semantic Web   Version Control</dc:title>
  <dc:creator>Dilshan Jayatilake</dc:creator>
  <cp:lastModifiedBy>Dilshan Jayatilake</cp:lastModifiedBy>
  <cp:revision>41</cp:revision>
  <cp:lastPrinted>2016-09-22T10:08:48Z</cp:lastPrinted>
  <dcterms:created xsi:type="dcterms:W3CDTF">2022-10-22T11:28:03Z</dcterms:created>
  <dcterms:modified xsi:type="dcterms:W3CDTF">2026-09-12T14:12:43Z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0x01010072FC3F4283AECA48BCBDDFCF4103160C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dlc_DocIdItemGuid">
    <vt:lpwstr>0beaf668-18bc-407e-89e0-ef66d74dcf56</vt:lpwstr>
  </property>
</Properties>
</file>