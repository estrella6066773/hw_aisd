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18"/>
  </p:notesMasterIdLst>
  <p:handoutMasterIdLst>
    <p:handoutMasterId r:id="rId19"/>
  </p:handoutMasterIdLst>
  <p:sldIdLst>
    <p:sldId id="256" r:id="rId6"/>
    <p:sldId id="258" r:id="rId7"/>
    <p:sldId id="263" r:id="rId8"/>
    <p:sldId id="264" r:id="rId9"/>
    <p:sldId id="265" r:id="rId10"/>
    <p:sldId id="266" r:id="rId11"/>
    <p:sldId id="270" r:id="rId12"/>
    <p:sldId id="268" r:id="rId13"/>
    <p:sldId id="272" r:id="rId14"/>
    <p:sldId id="273" r:id="rId15"/>
    <p:sldId id="269" r:id="rId16"/>
    <p:sldId id="271" r:id="rId17"/>
  </p:sldIdLst>
  <p:sldSz cx="9144000" cy="6858000" type="screen4x3"/>
  <p:notesSz cx="9144000" cy="6858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284EADD-FE41-494D-A42C-2B60CCFC2DE6}">
          <p14:sldIdLst>
            <p14:sldId id="256"/>
            <p14:sldId id="258"/>
            <p14:sldId id="263"/>
            <p14:sldId id="264"/>
            <p14:sldId id="265"/>
            <p14:sldId id="266"/>
            <p14:sldId id="270"/>
            <p14:sldId id="268"/>
            <p14:sldId id="272"/>
            <p14:sldId id="273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C3D0E-984A-961A-2948-96AFB47C1BF1}" v="28" dt="2025-08-12T12:49:40.434"/>
    <p1510:client id="{F8CE37B9-C85A-973A-6845-36E1DD9D77D3}" v="58" dt="2025-08-12T07:58:29.4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3"/>
  </p:normalViewPr>
  <p:slideViewPr>
    <p:cSldViewPr snapToGrid="0">
      <p:cViewPr varScale="1">
        <p:scale>
          <a:sx n="117" d="100"/>
          <a:sy n="117" d="100"/>
        </p:scale>
        <p:origin x="1672" y="184"/>
      </p:cViewPr>
      <p:guideLst>
        <p:guide orient="horz" pos="3838"/>
        <p:guide pos="2880"/>
        <p:guide pos="5103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8A6BB3-15F9-4141-AB05-7BFCB398C0E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03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/>
              <a:t>100%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UWE-Logo-Botto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6326188"/>
            <a:ext cx="1081087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080000" y="1871662"/>
            <a:ext cx="7020000" cy="4176337"/>
          </a:xfrm>
          <a:prstGeom prst="rect">
            <a:avLst/>
          </a:prstGeom>
        </p:spPr>
        <p:txBody>
          <a:bodyPr/>
          <a:lstStyle>
            <a:lvl1pPr marL="266700" indent="-266700">
              <a:spcAft>
                <a:spcPts val="600"/>
              </a:spcAft>
              <a:buClr>
                <a:srgbClr val="598752"/>
              </a:buClr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598752"/>
              </a:buClr>
              <a:buFont typeface="Courier New" panose="02070309020205020404" pitchFamily="49" charset="0"/>
              <a:buChar char="o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598752"/>
              </a:buClr>
              <a:buFont typeface="Arial" panose="020B0604020202020204" pitchFamily="34" charset="0"/>
              <a:buChar char="̶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28000" y="648000"/>
            <a:ext cx="7200000" cy="6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4200"/>
              </a:lnSpc>
              <a:buFontTx/>
              <a:buNone/>
              <a:defRPr sz="3600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63852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t.link/dilshan-jayatilake/neusoft-studnet-meetings" TargetMode="External"/><Relationship Id="rId2" Type="http://schemas.openxmlformats.org/officeDocument/2006/relationships/hyperlink" Target="mailto:dilshan.jayatilake@uwe.ac.uk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hyperlink" Target="mailto:Rumali.Sirimanne@uwe.ac.uk" TargetMode="External"/><Relationship Id="rId4" Type="http://schemas.openxmlformats.org/officeDocument/2006/relationships/hyperlink" Target="mailto:David2.Wyatt@uwe.ac.u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oujianbin@nuit.edu.cn" TargetMode="External"/><Relationship Id="rId2" Type="http://schemas.openxmlformats.org/officeDocument/2006/relationships/hyperlink" Target="mailto:maqifeng@nuit.edu.cn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6810957" cy="2089585"/>
          </a:xfrm>
        </p:spPr>
        <p:txBody>
          <a:bodyPr>
            <a:normAutofit fontScale="90000"/>
          </a:bodyPr>
          <a:lstStyle/>
          <a:p>
            <a:r>
              <a:rPr lang="en-GB">
                <a:ea typeface="ＭＳ Ｐゴシック"/>
              </a:rPr>
              <a:t>Business Process Modelling and Enterprise Architecture</a:t>
            </a:r>
            <a:endParaRPr lang="en-US">
              <a:ea typeface="ＭＳ Ｐゴシック"/>
            </a:endParaRPr>
          </a:p>
          <a:p>
            <a:r>
              <a:rPr lang="en-GB" dirty="0">
                <a:ea typeface="ＭＳ Ｐゴシック"/>
              </a:rPr>
              <a:t>&amp;</a:t>
            </a:r>
            <a:br>
              <a:rPr lang="en-GB" dirty="0">
                <a:ea typeface="ＭＳ Ｐゴシック"/>
              </a:rPr>
            </a:br>
            <a:r>
              <a:rPr lang="en-US" dirty="0">
                <a:ea typeface="ＭＳ Ｐゴシック"/>
              </a:rPr>
              <a:t>Advanced Information Systems Development</a:t>
            </a:r>
            <a:br>
              <a:rPr lang="en-GB" dirty="0">
                <a:ea typeface="ＭＳ Ｐゴシック"/>
              </a:rPr>
            </a:br>
            <a:br>
              <a:rPr lang="en-GB" dirty="0">
                <a:ea typeface="ＭＳ Ｐゴシック"/>
              </a:rPr>
            </a:br>
            <a:r>
              <a:rPr lang="en-GB" dirty="0">
                <a:ea typeface="ＭＳ Ｐゴシック"/>
              </a:rPr>
              <a:t>Introduction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Dilshan </a:t>
            </a:r>
            <a:r>
              <a:rPr lang="en-GB" err="1"/>
              <a:t>Jayatilake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F42F57-4342-4892-B2AD-019DCDCB61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0" tIns="0" rIns="0" bIns="0" anchor="t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Teaching Team</a:t>
            </a:r>
          </a:p>
          <a:p>
            <a:r>
              <a:rPr lang="en-GB"/>
              <a:t>Unit overview</a:t>
            </a:r>
          </a:p>
          <a:p>
            <a:r>
              <a:rPr lang="en-GB"/>
              <a:t>Learning Outcomes</a:t>
            </a:r>
          </a:p>
          <a:p>
            <a:r>
              <a:rPr lang="en-GB"/>
              <a:t>Delivery Plan</a:t>
            </a:r>
          </a:p>
          <a:p>
            <a:r>
              <a:rPr lang="en-GB"/>
              <a:t>Assessment Overview</a:t>
            </a:r>
          </a:p>
          <a:p>
            <a:r>
              <a:rPr lang="en-GB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42B2-0ADF-347B-EC6B-5B30D655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Teaching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0DB8D-9506-05A9-2265-09B2E1D170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628800"/>
            <a:ext cx="4284663" cy="4536504"/>
          </a:xfrm>
        </p:spPr>
        <p:txBody>
          <a:bodyPr lIns="0" tIns="0" rIns="0" bIns="0" anchor="t"/>
          <a:lstStyle/>
          <a:p>
            <a:pPr>
              <a:buFont typeface="Arial" panose="02070309020205020404" pitchFamily="49" charset="0"/>
              <a:buChar char="•"/>
            </a:pPr>
            <a:r>
              <a:rPr lang="en-GB" dirty="0">
                <a:ea typeface="Tahoma"/>
                <a:cs typeface="Tahoma"/>
              </a:rPr>
              <a:t>Dilshan Jayatilake</a:t>
            </a:r>
          </a:p>
          <a:p>
            <a:pPr marL="541020" indent="-274320"/>
            <a:r>
              <a:rPr lang="en-GB" dirty="0">
                <a:ea typeface="Tahoma"/>
                <a:cs typeface="Tahoma"/>
              </a:rPr>
              <a:t>Lecture </a:t>
            </a:r>
            <a:r>
              <a:rPr lang="en-GB" dirty="0">
                <a:ea typeface="Calibri"/>
                <a:cs typeface="Calibri"/>
              </a:rPr>
              <a:t>Lecturer in Computer Science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Contact</a:t>
            </a:r>
          </a:p>
          <a:p>
            <a:pPr marL="807720" lvl="2"/>
            <a:r>
              <a:rPr lang="en-GB" dirty="0">
                <a:ea typeface="Tahoma"/>
                <a:cs typeface="Tahoma"/>
              </a:rPr>
              <a:t>Email: </a:t>
            </a:r>
            <a:r>
              <a:rPr lang="en-GB" dirty="0">
                <a:ea typeface="Tahoma"/>
                <a:cs typeface="Tahoma"/>
                <a:hlinkClick r:id="rId2"/>
              </a:rPr>
              <a:t>dilshan.jayatilake@uwe.ac.uk</a:t>
            </a:r>
            <a:endParaRPr lang="en-GB" dirty="0">
              <a:ea typeface="Tahoma"/>
              <a:cs typeface="Tahoma"/>
            </a:endParaRPr>
          </a:p>
          <a:p>
            <a:pPr marL="807720" lvl="2"/>
            <a:r>
              <a:rPr lang="en-GB" dirty="0">
                <a:ea typeface="Tahoma"/>
                <a:cs typeface="Tahoma"/>
              </a:rPr>
              <a:t>Book a Meeting: </a:t>
            </a:r>
            <a:r>
              <a:rPr lang="en-GB" dirty="0">
                <a:ea typeface="Tahoma"/>
                <a:cs typeface="Tahoma"/>
                <a:hlinkClick r:id="rId3"/>
              </a:rPr>
              <a:t>Meeting Link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GB" dirty="0">
                <a:ea typeface="Tahoma"/>
                <a:cs typeface="Tahoma"/>
              </a:rPr>
              <a:t>David Wyatt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Senior Lecturer in Computer Science</a:t>
            </a:r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Contact</a:t>
            </a:r>
            <a:endParaRPr lang="en-US" dirty="0">
              <a:ea typeface="Calibri"/>
              <a:cs typeface="Calibri"/>
            </a:endParaRPr>
          </a:p>
          <a:p>
            <a:pPr marL="807720" lvl="2">
              <a:buFont typeface="Arial" panose="02070309020205020404" pitchFamily="49" charset="0"/>
              <a:buChar char="̶"/>
            </a:pPr>
            <a:r>
              <a:rPr lang="en-GB" dirty="0">
                <a:ea typeface="Calibri"/>
                <a:cs typeface="Calibri"/>
              </a:rPr>
              <a:t>Email: </a:t>
            </a:r>
            <a:r>
              <a:rPr lang="en-GB" dirty="0">
                <a:ea typeface="Calibri"/>
                <a:cs typeface="Calibri"/>
                <a:hlinkClick r:id="rId4"/>
              </a:rPr>
              <a:t>David2.Wyatt@uwe.ac.uk</a:t>
            </a:r>
            <a:endParaRPr lang="en-GB" dirty="0">
              <a:ea typeface="Calibri"/>
              <a:cs typeface="Calibri"/>
            </a:endParaRPr>
          </a:p>
          <a:p>
            <a:pPr marL="807720" lvl="2">
              <a:buFont typeface="Arial" panose="02070309020205020404" pitchFamily="49" charset="0"/>
              <a:buChar char="̶"/>
            </a:pPr>
            <a:endParaRPr lang="en-GB" dirty="0">
              <a:ea typeface="Calibri"/>
              <a:cs typeface="Calibri"/>
            </a:endParaRPr>
          </a:p>
          <a:p>
            <a:pPr marL="807720" lvl="2">
              <a:buFont typeface="Arial" panose="02070309020205020404" pitchFamily="49" charset="0"/>
              <a:buChar char="̶"/>
            </a:pPr>
            <a:endParaRPr lang="en-GB" dirty="0">
              <a:ea typeface="Calibri"/>
              <a:cs typeface="Calibri"/>
            </a:endParaRPr>
          </a:p>
          <a:p>
            <a:pPr marL="541020" lvl="1" indent="-274320"/>
            <a:endParaRPr lang="en-GB" dirty="0"/>
          </a:p>
          <a:p>
            <a:pPr marL="266700" lvl="1" indent="0">
              <a:buNone/>
            </a:pPr>
            <a:endParaRPr lang="en-US" dirty="0"/>
          </a:p>
          <a:p>
            <a:pPr>
              <a:buFont typeface="Arial" panose="02070309020205020404" pitchFamily="49" charset="0"/>
              <a:buChar char="•"/>
            </a:pPr>
            <a:endParaRPr lang="en-GB" sz="900" dirty="0">
              <a:latin typeface="Segoe UI"/>
              <a:ea typeface="Tahoma"/>
              <a:cs typeface="Segoe U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D8AC9-8C88-5122-E932-413FFF4A4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4587194" cy="4536504"/>
          </a:xfrm>
        </p:spPr>
        <p:txBody>
          <a:bodyPr/>
          <a:lstStyle/>
          <a:p>
            <a:pPr>
              <a:buFont typeface="Arial" panose="02070309020205020404" pitchFamily="49" charset="0"/>
              <a:buChar char="•"/>
            </a:pPr>
            <a:r>
              <a:rPr lang="en-GB" dirty="0" err="1">
                <a:ea typeface="Tahoma"/>
                <a:cs typeface="Tahoma"/>
              </a:rPr>
              <a:t>Rumali</a:t>
            </a:r>
            <a:r>
              <a:rPr lang="en-GB" dirty="0">
                <a:ea typeface="Tahoma"/>
                <a:cs typeface="Tahoma"/>
              </a:rPr>
              <a:t> </a:t>
            </a:r>
            <a:r>
              <a:rPr lang="en-GB" dirty="0" err="1">
                <a:ea typeface="Tahoma"/>
                <a:cs typeface="Tahoma"/>
              </a:rPr>
              <a:t>Sirimanne</a:t>
            </a:r>
            <a:endParaRPr lang="en-GB" dirty="0">
              <a:ea typeface="Tahoma"/>
              <a:cs typeface="Tahoma"/>
            </a:endParaRP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Associate Lecturer in Information Science</a:t>
            </a:r>
            <a:endParaRPr lang="en-GB" dirty="0"/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Contact</a:t>
            </a:r>
            <a:endParaRPr lang="en-US" dirty="0">
              <a:ea typeface="Calibri"/>
              <a:cs typeface="Calibri"/>
            </a:endParaRPr>
          </a:p>
          <a:p>
            <a:pPr marL="807720" lvl="2">
              <a:buFont typeface="Arial" panose="02070309020205020404" pitchFamily="49" charset="0"/>
              <a:buChar char="̶"/>
            </a:pPr>
            <a:r>
              <a:rPr lang="en-GB" dirty="0">
                <a:ea typeface="Calibri"/>
                <a:cs typeface="Calibri"/>
              </a:rPr>
              <a:t>Email: </a:t>
            </a:r>
            <a:r>
              <a:rPr lang="en-GB" dirty="0">
                <a:ea typeface="Calibri"/>
                <a:cs typeface="Calibri"/>
                <a:hlinkClick r:id="rId5"/>
              </a:rPr>
              <a:t>Rumali.Sirimanne@uwe.ac.uk</a:t>
            </a:r>
            <a:endParaRPr lang="en-GB" dirty="0">
              <a:ea typeface="Calibri"/>
              <a:cs typeface="Calibri"/>
            </a:endParaRPr>
          </a:p>
          <a:p>
            <a:pPr>
              <a:buFont typeface="Arial" panose="02070309020205020404" pitchFamily="49" charset="0"/>
              <a:buChar char="•"/>
            </a:pPr>
            <a:r>
              <a:rPr lang="en-GB" dirty="0" err="1">
                <a:ea typeface="Tahoma"/>
                <a:cs typeface="Tahoma"/>
              </a:rPr>
              <a:t>Rumali</a:t>
            </a:r>
            <a:r>
              <a:rPr lang="en-GB" dirty="0">
                <a:ea typeface="Tahoma"/>
                <a:cs typeface="Tahoma"/>
              </a:rPr>
              <a:t> </a:t>
            </a:r>
            <a:r>
              <a:rPr lang="en-GB" dirty="0" err="1">
                <a:ea typeface="Tahoma"/>
                <a:cs typeface="Tahoma"/>
              </a:rPr>
              <a:t>Sirimanne</a:t>
            </a:r>
            <a:endParaRPr lang="en-GB" dirty="0">
              <a:ea typeface="Tahoma"/>
              <a:cs typeface="Tahoma"/>
            </a:endParaRP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Associate Lecturer in Information Science</a:t>
            </a:r>
            <a:endParaRPr lang="en-GB" dirty="0"/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Contact</a:t>
            </a:r>
            <a:endParaRPr lang="en-US" dirty="0">
              <a:ea typeface="Calibri"/>
              <a:cs typeface="Calibri"/>
            </a:endParaRPr>
          </a:p>
          <a:p>
            <a:pPr marL="807720" lvl="2">
              <a:buFont typeface="Arial" panose="02070309020205020404" pitchFamily="49" charset="0"/>
              <a:buChar char="̶"/>
            </a:pPr>
            <a:r>
              <a:rPr lang="en-GB" dirty="0">
                <a:ea typeface="Calibri"/>
                <a:cs typeface="Calibri"/>
              </a:rPr>
              <a:t>Email: </a:t>
            </a:r>
            <a:r>
              <a:rPr lang="en-GB" dirty="0">
                <a:ea typeface="Calibri"/>
                <a:cs typeface="Calibri"/>
                <a:hlinkClick r:id="rId5"/>
              </a:rPr>
              <a:t>Rumali.Sirimanne@uwe.ac.uk</a:t>
            </a:r>
            <a:endParaRPr lang="en-GB" dirty="0">
              <a:ea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5" name="Picture 4" descr="WeChat QR">
            <a:extLst>
              <a:ext uri="{FF2B5EF4-FFF2-40B4-BE49-F238E27FC236}">
                <a16:creationId xmlns:a16="http://schemas.microsoft.com/office/drawing/2014/main" id="{153F5BCA-D04C-A054-D3FB-0F4EC90985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3" y="4627895"/>
            <a:ext cx="1443573" cy="190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8615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2DA-1A18-0C4D-C513-2909AE3A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Teaching Team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EC2AD-BC3F-BE72-8E5C-E8B8EB143D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dirty="0">
                <a:ea typeface="Tahoma"/>
                <a:cs typeface="Tahoma"/>
              </a:rPr>
              <a:t>Teaching Assistant</a:t>
            </a:r>
          </a:p>
          <a:p>
            <a:pPr lvl="1"/>
            <a:r>
              <a:rPr lang="en-GB" dirty="0">
                <a:ea typeface="Tahoma"/>
                <a:cs typeface="Tahoma"/>
              </a:rPr>
              <a:t>Julia: </a:t>
            </a:r>
            <a:r>
              <a:rPr lang="en-GB" dirty="0">
                <a:ea typeface="Tahoma"/>
                <a:cs typeface="Tahoma"/>
                <a:hlinkClick r:id="rId2"/>
              </a:rPr>
              <a:t>maqifeng@nuit.edu.cn</a:t>
            </a:r>
            <a:r>
              <a:rPr lang="en-GB" dirty="0">
                <a:ea typeface="Tahoma"/>
                <a:cs typeface="Tahoma"/>
              </a:rPr>
              <a:t> </a:t>
            </a:r>
          </a:p>
          <a:p>
            <a:pPr lvl="1"/>
            <a:r>
              <a:rPr lang="en-GB" dirty="0">
                <a:ea typeface="Tahoma"/>
                <a:cs typeface="Tahoma"/>
              </a:rPr>
              <a:t>Ken: </a:t>
            </a:r>
            <a:r>
              <a:rPr lang="en-GB" dirty="0">
                <a:ea typeface="Tahoma"/>
                <a:cs typeface="Tahoma"/>
                <a:hlinkClick r:id="rId3"/>
              </a:rPr>
              <a:t>oujianbin@nuit.edu.cn</a:t>
            </a:r>
            <a:r>
              <a:rPr lang="en-GB" dirty="0">
                <a:ea typeface="Tahoma"/>
                <a:cs typeface="Tahoma"/>
              </a:rPr>
              <a:t>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52252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F0C3-A85F-F8B2-1351-C20A36CB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ea typeface="ＭＳ Ｐゴシック"/>
              </a:rPr>
              <a:t>Units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B3F1D-8512-692A-6DB2-FEA26AE6A3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pPr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Business Process Modelling and Enterprise Architecture (BPM&amp;EA)</a:t>
            </a:r>
            <a:endParaRPr lang="en-US" dirty="0"/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Unit ID: IN3344</a:t>
            </a:r>
            <a:endParaRPr lang="en-GB" dirty="0"/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Number of Learning outcomes: 3</a:t>
            </a:r>
          </a:p>
          <a:p>
            <a:pPr marL="541020" lvl="1" indent="-274320"/>
            <a:r>
              <a:rPr lang="en-GB" dirty="0">
                <a:ea typeface="Tahoma"/>
                <a:cs typeface="Tahoma"/>
              </a:rPr>
              <a:t>Duration: 6 Weeks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Advanced Information Systems Development (AISD)</a:t>
            </a:r>
            <a:endParaRPr lang="en-GB" dirty="0">
              <a:ea typeface="Tahoma"/>
              <a:cs typeface="Tahoma"/>
            </a:endParaRPr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Unit ID: IN3345</a:t>
            </a:r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Number of Learning outcomes: 6</a:t>
            </a:r>
            <a:endParaRPr lang="en-US" dirty="0">
              <a:ea typeface="Calibri"/>
              <a:cs typeface="Calibri"/>
            </a:endParaRPr>
          </a:p>
          <a:p>
            <a:pPr marL="541020" lvl="1" indent="-274320"/>
            <a:r>
              <a:rPr lang="en-GB" dirty="0">
                <a:ea typeface="Calibri"/>
                <a:cs typeface="Calibri"/>
              </a:rPr>
              <a:t>Duration: 6 Weeks</a:t>
            </a:r>
            <a:endParaRPr lang="en-GB" dirty="0"/>
          </a:p>
          <a:p>
            <a:pPr marL="266700" lvl="1" indent="0">
              <a:buNone/>
            </a:pPr>
            <a:endParaRPr lang="en-GB"/>
          </a:p>
          <a:p>
            <a:pPr marL="541020" lvl="1" indent="-274320"/>
            <a:endParaRPr lang="en-GB"/>
          </a:p>
          <a:p>
            <a:pPr marL="541020" lvl="1" indent="-274320"/>
            <a:endParaRPr lang="en-GB"/>
          </a:p>
          <a:p>
            <a:pPr marL="541020" lvl="1" indent="-274320"/>
            <a:endParaRPr lang="en-GB"/>
          </a:p>
          <a:p>
            <a:pPr marL="541020" lvl="1" indent="-27432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8483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C4E5-48E3-B552-33FB-2DF8C37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ea typeface="ＭＳ Ｐゴシック"/>
              </a:rPr>
              <a:t>Learning Outcomes </a:t>
            </a:r>
            <a:r>
              <a:rPr lang="en-GB">
                <a:ea typeface="ＭＳ Ｐゴシック"/>
              </a:rPr>
              <a:t>BPM&amp;EA </a:t>
            </a:r>
            <a:endParaRPr lang="en-GB" dirty="0">
              <a:ea typeface="ＭＳ Ｐゴシック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0F269-131C-320E-855B-E5AD48BAA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9434"/>
            <a:ext cx="7819695" cy="4599886"/>
          </a:xfrm>
        </p:spPr>
        <p:txBody>
          <a:bodyPr lIns="0" tIns="0" rIns="0" bIns="0" anchor="t"/>
          <a:lstStyle/>
          <a:p>
            <a:pPr>
              <a:buFont typeface="Arial" panose="02070309020205020404" pitchFamily="49" charset="0"/>
              <a:buChar char="•"/>
            </a:pPr>
            <a:endParaRPr lang="en-US" dirty="0">
              <a:ea typeface="Tahoma"/>
              <a:cs typeface="Tahoma"/>
            </a:endParaRPr>
          </a:p>
          <a:p>
            <a:pPr marL="541020" lvl="1" indent="-274320"/>
            <a:r>
              <a:rPr lang="en-US" dirty="0">
                <a:ea typeface="Tahoma"/>
                <a:cs typeface="Tahoma"/>
              </a:rPr>
              <a:t>L1 - Explain and evaluate the architecture of contemporary applications</a:t>
            </a:r>
            <a:endParaRPr lang="en-US"/>
          </a:p>
          <a:p>
            <a:pPr marL="541020" lvl="1" indent="-274320"/>
            <a:r>
              <a:rPr lang="en-US" dirty="0">
                <a:ea typeface="Tahoma"/>
                <a:cs typeface="Tahoma"/>
              </a:rPr>
              <a:t>L2 - Evaluate designs in terms of form, context, ensemble, multiple form-context boundaries and fitness</a:t>
            </a:r>
            <a:endParaRPr lang="en-GB" dirty="0">
              <a:ea typeface="Tahoma"/>
              <a:cs typeface="Tahoma"/>
            </a:endParaRPr>
          </a:p>
          <a:p>
            <a:pPr marL="541020" lvl="1" indent="-274320"/>
            <a:r>
              <a:rPr lang="en-US" dirty="0">
                <a:ea typeface="Tahoma"/>
                <a:cs typeface="Tahoma"/>
              </a:rPr>
              <a:t>L3 - Analyse and model information systems and applications effectively using patterns, frameworks and constraints</a:t>
            </a:r>
            <a:endParaRPr lang="en-US" sz="1100" dirty="0">
              <a:ea typeface="Calibri"/>
              <a:cs typeface="Calibri"/>
            </a:endParaRPr>
          </a:p>
          <a:p>
            <a:pPr>
              <a:buFont typeface="Arial" panose="02070309020205020404" pitchFamily="49" charset="0"/>
              <a:buChar char="•"/>
            </a:pPr>
            <a:endParaRPr lang="en-US" sz="11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778146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C4E5-48E3-B552-33FB-2DF8C37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ea typeface="ＭＳ Ｐゴシック"/>
              </a:rPr>
              <a:t>Learning Outcomes AISD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0F269-131C-320E-855B-E5AD48BAA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18060"/>
            <a:ext cx="7517771" cy="4591260"/>
          </a:xfrm>
        </p:spPr>
        <p:txBody>
          <a:bodyPr lIns="0" tIns="0" rIns="0" bIns="0" anchor="t"/>
          <a:lstStyle/>
          <a:p>
            <a:pPr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L1 - Understand the different contexts for Human Computer Interfaces and be able to define a user-</a:t>
            </a:r>
            <a:r>
              <a:rPr lang="en-US" err="1">
                <a:ea typeface="Tahoma"/>
                <a:cs typeface="Tahoma"/>
              </a:rPr>
              <a:t>centred</a:t>
            </a:r>
            <a:r>
              <a:rPr lang="en-US" dirty="0">
                <a:ea typeface="Tahoma"/>
                <a:cs typeface="Tahoma"/>
              </a:rPr>
              <a:t> design that explicitly </a:t>
            </a:r>
            <a:r>
              <a:rPr lang="en-US" err="1">
                <a:ea typeface="Tahoma"/>
                <a:cs typeface="Tahoma"/>
              </a:rPr>
              <a:t>recognises</a:t>
            </a:r>
            <a:r>
              <a:rPr lang="en-US" dirty="0">
                <a:ea typeface="Tahoma"/>
                <a:cs typeface="Tahoma"/>
              </a:rPr>
              <a:t> the user and is Disability Discrimination Act compliant</a:t>
            </a:r>
            <a:endParaRPr lang="en-US"/>
          </a:p>
          <a:p>
            <a:pPr algn="just"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L2 - Create and specify a software design for a medium-size software product using a software requirement specification, an accepted program design methodology and appropriate design notation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L3 - Understand and critically evaluate the project management processes and their relationship to systems development method and practice; including stakeholder requirements analysis, planning, estimating and risk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L4 - Understand and manage version control, security, legacy and implementation as they relate to the development, delivery and operation of Information Systems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L5 - Determine appropriate testing strategies; create, evaluate, and implement test plans; develop and execute test scripts and assess test results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 dirty="0">
                <a:ea typeface="Tahoma"/>
                <a:cs typeface="Tahoma"/>
              </a:rPr>
              <a:t>L6 - Explain, select and apply the principles, standards and techniques of quality planning and assurance as they relate to systems development and deliverables</a:t>
            </a:r>
          </a:p>
          <a:p>
            <a:pPr marL="9525" indent="0">
              <a:buNone/>
            </a:pPr>
            <a:br>
              <a:rPr lang="en-U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1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endParaRPr lang="en-US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2439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7197-B1B8-8AB8-77FB-AC087C93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ea typeface="ＭＳ Ｐゴシック"/>
              </a:rPr>
              <a:t>Assessment Overview for Both Units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D1DBE2-C5DF-64B1-0829-67A2958A0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27695"/>
              </p:ext>
            </p:extLst>
          </p:nvPr>
        </p:nvGraphicFramePr>
        <p:xfrm>
          <a:off x="899590" y="1772815"/>
          <a:ext cx="7488832" cy="4682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077178954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623536265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3192412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88213152"/>
                    </a:ext>
                  </a:extLst>
                </a:gridCol>
              </a:tblGrid>
              <a:tr h="536035">
                <a:tc>
                  <a:txBody>
                    <a:bodyPr/>
                    <a:lstStyle/>
                    <a:p>
                      <a:r>
                        <a:rPr lang="en-GB" dirty="0"/>
                        <a:t>Assessment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Assessment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20236"/>
                  </a:ext>
                </a:extLst>
              </a:tr>
              <a:tr h="964862">
                <a:tc rowSpan="2">
                  <a:txBody>
                    <a:bodyPr/>
                    <a:lstStyle/>
                    <a:p>
                      <a:pPr marL="0" marR="0" lvl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Main 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Coursework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Group 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253202"/>
                  </a:ext>
                </a:extLst>
              </a:tr>
              <a:tr h="96486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Group Based</a:t>
                      </a:r>
                    </a:p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254788"/>
                  </a:ext>
                </a:extLst>
              </a:tr>
              <a:tr h="964862">
                <a:tc rowSpan="2">
                  <a:txBody>
                    <a:bodyPr/>
                    <a:lstStyle/>
                    <a:p>
                      <a:pPr marL="0" marR="0" lvl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Re-Sit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Coursework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Group Based</a:t>
                      </a:r>
                    </a:p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13304"/>
                  </a:ext>
                </a:extLst>
              </a:tr>
              <a:tr h="96486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Group Based</a:t>
                      </a:r>
                    </a:p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2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80067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67B941-141B-2D86-6FBB-C5494A0C1F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296000"/>
            <a:ext cx="4472661" cy="4751999"/>
          </a:xfrm>
        </p:spPr>
        <p:txBody>
          <a:bodyPr/>
          <a:lstStyle/>
          <a:p>
            <a:r>
              <a:rPr lang="en-GB" sz="2400" i="1" dirty="0">
                <a:latin typeface="+mn-lt"/>
              </a:rPr>
              <a:t>BPMN method and style: with BPMN implementer's guide </a:t>
            </a:r>
            <a:r>
              <a:rPr lang="en-GB" sz="2400" dirty="0">
                <a:latin typeface="+mn-lt"/>
              </a:rPr>
              <a:t>- Bruce Silver</a:t>
            </a:r>
          </a:p>
          <a:p>
            <a:r>
              <a:rPr lang="en-GB" sz="2400" i="1" dirty="0">
                <a:latin typeface="+mn-lt"/>
              </a:rPr>
              <a:t>Real-Life BPMN Book Excerpt | Camunda BPM</a:t>
            </a:r>
          </a:p>
          <a:p>
            <a:r>
              <a:rPr lang="en-GB" sz="2400" i="1" dirty="0">
                <a:latin typeface="+mn-lt"/>
              </a:rPr>
              <a:t>Process-driven SOA: patterns for aligning business and IT </a:t>
            </a:r>
            <a:r>
              <a:rPr lang="en-GB" sz="2400" dirty="0">
                <a:latin typeface="+mn-lt"/>
              </a:rPr>
              <a:t>- Carsten </a:t>
            </a:r>
            <a:r>
              <a:rPr lang="en-GB" sz="2400" dirty="0" err="1">
                <a:latin typeface="+mn-lt"/>
              </a:rPr>
              <a:t>Hentrich</a:t>
            </a:r>
            <a:r>
              <a:rPr lang="en-GB" sz="2400" dirty="0">
                <a:latin typeface="+mn-lt"/>
              </a:rPr>
              <a:t>; Uwe Zdun</a:t>
            </a:r>
          </a:p>
          <a:p>
            <a:r>
              <a:rPr lang="en-GB" sz="2400" i="1" dirty="0">
                <a:latin typeface="+mn-lt"/>
              </a:rPr>
              <a:t>Advanced microservices: a hands-on approach to microservice infrastructure and tooling</a:t>
            </a:r>
            <a:r>
              <a:rPr lang="en-GB" sz="2400" dirty="0">
                <a:latin typeface="+mn-lt"/>
              </a:rPr>
              <a:t> - Thomas Hunter</a:t>
            </a:r>
            <a:endParaRPr lang="en-US" sz="24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DBE04-8A20-879D-BE51-7E593AB3E2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1A9DAC"/>
                </a:solidFill>
                <a:latin typeface="+mj-lt"/>
                <a:ea typeface="ＭＳ Ｐゴシック"/>
              </a:rPr>
              <a:t>Recommended Readings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CDC399-8D2F-2A88-B480-06F1B88F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94450" y="648000"/>
            <a:ext cx="2634397" cy="2716175"/>
            <a:chOff x="6294450" y="648000"/>
            <a:chExt cx="2634397" cy="2716175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8A8AEA2-5FD7-A240-5237-C04DA6D31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8685" y="648000"/>
              <a:ext cx="1731600" cy="213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 descr="BPMN method and style: &#10;with BPMN implementer's guide - Bruce Silver">
              <a:extLst>
                <a:ext uri="{FF2B5EF4-FFF2-40B4-BE49-F238E27FC236}">
                  <a16:creationId xmlns:a16="http://schemas.microsoft.com/office/drawing/2014/main" id="{9044556E-3A7A-EE03-F719-EC254A46B31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/>
            <p:nvPr/>
          </p:nvSpPr>
          <p:spPr>
            <a:xfrm>
              <a:off x="6294450" y="2852631"/>
              <a:ext cx="2634397" cy="51154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GB" sz="1050" i="1" dirty="0">
                  <a:latin typeface="+mn-lt"/>
                </a:rPr>
                <a:t>BPMN method and style: </a:t>
              </a:r>
            </a:p>
            <a:p>
              <a:r>
                <a:rPr lang="en-GB" sz="1050" i="1" dirty="0">
                  <a:latin typeface="+mn-lt"/>
                </a:rPr>
                <a:t>with BPMN implementer's guide </a:t>
              </a:r>
              <a:r>
                <a:rPr lang="en-GB" sz="1050" dirty="0">
                  <a:latin typeface="+mn-lt"/>
                </a:rPr>
                <a:t>- Bruce Silver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9BC6569-9A10-B9DE-6C53-76F92184F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51059" y="3493826"/>
            <a:ext cx="2634397" cy="3234427"/>
            <a:chOff x="6251059" y="3493826"/>
            <a:chExt cx="2634397" cy="323442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C344551-B7F2-BD49-4363-654022FD2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8685" y="3493826"/>
              <a:ext cx="1733550" cy="2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3349F2-0568-2D19-9B77-B28DFC9F51DE}"/>
                </a:ext>
              </a:extLst>
            </p:cNvPr>
            <p:cNvSpPr txBox="1"/>
            <p:nvPr/>
          </p:nvSpPr>
          <p:spPr>
            <a:xfrm>
              <a:off x="6251059" y="6080253"/>
              <a:ext cx="2634397" cy="6480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GB" sz="1200" i="1" dirty="0">
                  <a:latin typeface="+mn-lt"/>
                </a:rPr>
                <a:t>Process-driven SOA: patterns for</a:t>
              </a:r>
            </a:p>
            <a:p>
              <a:r>
                <a:rPr lang="en-GB" sz="1200" i="1" dirty="0">
                  <a:latin typeface="+mn-lt"/>
                </a:rPr>
                <a:t> aligning business and IT </a:t>
              </a:r>
              <a:r>
                <a:rPr lang="en-GB" sz="1200" dirty="0">
                  <a:latin typeface="+mn-lt"/>
                </a:rPr>
                <a:t>– </a:t>
              </a:r>
            </a:p>
            <a:p>
              <a:r>
                <a:rPr lang="en-GB" sz="1200" dirty="0">
                  <a:latin typeface="+mn-lt"/>
                </a:rPr>
                <a:t>Carsten </a:t>
              </a:r>
              <a:r>
                <a:rPr lang="en-GB" sz="1200" dirty="0" err="1">
                  <a:latin typeface="+mn-lt"/>
                </a:rPr>
                <a:t>Hentrich</a:t>
              </a:r>
              <a:r>
                <a:rPr lang="en-GB" sz="1200" dirty="0">
                  <a:latin typeface="+mn-lt"/>
                </a:rPr>
                <a:t>; Uwe Zdun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920360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008001" y="1401015"/>
            <a:ext cx="3564000" cy="4160985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+mn-lt"/>
              </a:rPr>
              <a:t>Suggested Topics</a:t>
            </a:r>
            <a:endParaRPr lang="en-GB" sz="2400" dirty="0">
              <a:latin typeface="+mn-lt"/>
            </a:endParaRPr>
          </a:p>
          <a:p>
            <a:r>
              <a:rPr lang="en-GB" sz="2400" b="1" dirty="0">
                <a:latin typeface="+mn-lt"/>
              </a:rPr>
              <a:t>UML Related Topics</a:t>
            </a:r>
            <a:endParaRPr lang="en-GB" sz="2400" dirty="0">
              <a:latin typeface="+mn-lt"/>
            </a:endParaRPr>
          </a:p>
          <a:p>
            <a:pPr lvl="1"/>
            <a:r>
              <a:rPr lang="en-GB" sz="2400" dirty="0">
                <a:latin typeface="+mn-lt"/>
              </a:rPr>
              <a:t>Physical View (Components Diagrams, Deployment Diagrams)</a:t>
            </a:r>
          </a:p>
          <a:p>
            <a:pPr lvl="1"/>
            <a:r>
              <a:rPr lang="en-GB" sz="2400" dirty="0">
                <a:latin typeface="+mn-lt"/>
              </a:rPr>
              <a:t>Processes View (Activity Diagrams, Sequence Diagrams)</a:t>
            </a:r>
          </a:p>
          <a:p>
            <a:pPr lvl="1"/>
            <a:r>
              <a:rPr lang="en-GB" sz="2400" dirty="0">
                <a:latin typeface="+mn-lt"/>
              </a:rPr>
              <a:t>Logical View (Class Diagrams)</a:t>
            </a:r>
          </a:p>
          <a:p>
            <a:r>
              <a:rPr lang="en-GB" sz="2600" b="1" dirty="0">
                <a:latin typeface="+mn-lt"/>
              </a:rPr>
              <a:t>Java Based</a:t>
            </a:r>
            <a:endParaRPr lang="en-GB" sz="2600" dirty="0">
              <a:latin typeface="+mn-lt"/>
            </a:endParaRPr>
          </a:p>
          <a:p>
            <a:endParaRPr lang="en-GB" sz="24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GB" dirty="0">
                <a:solidFill>
                  <a:srgbClr val="1A9DAC"/>
                </a:solidFill>
                <a:latin typeface="+mj-lt"/>
                <a:ea typeface="ＭＳ Ｐゴシック"/>
              </a:rPr>
              <a:t>Syllabus co-development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92E85-8AD3-6A9B-4B56-496280874E25}"/>
              </a:ext>
            </a:extLst>
          </p:cNvPr>
          <p:cNvSpPr txBox="1"/>
          <p:nvPr/>
        </p:nvSpPr>
        <p:spPr>
          <a:xfrm>
            <a:off x="4572000" y="1296000"/>
            <a:ext cx="40480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+mn-lt"/>
              </a:rPr>
              <a:t>XML Related</a:t>
            </a:r>
            <a:endParaRPr lang="en-GB" sz="2400" dirty="0">
              <a:latin typeface="+mn-lt"/>
            </a:endParaRP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XSLT</a:t>
            </a: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XML Schemas</a:t>
            </a: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XML and DOM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+mn-lt"/>
              </a:rPr>
              <a:t>Web Services </a:t>
            </a:r>
            <a:endParaRPr lang="en-GB" sz="2400" dirty="0">
              <a:latin typeface="+mn-lt"/>
            </a:endParaRP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SOA Delivery Strategies</a:t>
            </a: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Services, Orchestration and Choreography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+mn-lt"/>
              </a:rPr>
              <a:t>Patterns to systems development</a:t>
            </a:r>
            <a:endParaRPr lang="en-GB" sz="2400" dirty="0">
              <a:latin typeface="+mn-lt"/>
            </a:endParaRP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Enterprise application patterns</a:t>
            </a:r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SOA patterns</a:t>
            </a:r>
          </a:p>
          <a:p>
            <a:endParaRPr lang="en-GB" sz="2400" dirty="0">
              <a:latin typeface="+mn-lt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9554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2145-56E4-6335-2484-5FA63373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Questions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D4571B-5361-E5ED-4423-C67ED9E49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410" y="1854368"/>
            <a:ext cx="5359033" cy="4055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15832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6810957" cy="2089585"/>
          </a:xfrm>
        </p:spPr>
        <p:txBody>
          <a:bodyPr>
            <a:normAutofit fontScale="90000"/>
          </a:bodyPr>
          <a:lstStyle/>
          <a:p>
            <a:r>
              <a:rPr lang="en-GB">
                <a:ea typeface="ＭＳ Ｐゴシック"/>
              </a:rPr>
              <a:t>Business Process Modelling and Enterprise Architecture</a:t>
            </a:r>
            <a:endParaRPr lang="en-US">
              <a:ea typeface="ＭＳ Ｐゴシック"/>
            </a:endParaRPr>
          </a:p>
          <a:p>
            <a:r>
              <a:rPr lang="en-GB" dirty="0">
                <a:ea typeface="ＭＳ Ｐゴシック"/>
              </a:rPr>
              <a:t>&amp;</a:t>
            </a:r>
            <a:br>
              <a:rPr lang="en-GB" dirty="0">
                <a:ea typeface="ＭＳ Ｐゴシック"/>
              </a:rPr>
            </a:br>
            <a:r>
              <a:rPr lang="en-US" dirty="0">
                <a:ea typeface="ＭＳ Ｐゴシック"/>
              </a:rPr>
              <a:t>Advanced Information Systems Development</a:t>
            </a:r>
            <a:br>
              <a:rPr lang="en-GB" dirty="0">
                <a:ea typeface="ＭＳ Ｐゴシック"/>
              </a:rPr>
            </a:br>
            <a:br>
              <a:rPr lang="en-GB" dirty="0">
                <a:ea typeface="ＭＳ Ｐゴシック"/>
              </a:rPr>
            </a:br>
            <a:r>
              <a:rPr lang="en-GB" dirty="0">
                <a:ea typeface="ＭＳ Ｐゴシック"/>
              </a:rPr>
              <a:t>Introduction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Dilshan </a:t>
            </a:r>
            <a:r>
              <a:rPr lang="en-GB" err="1"/>
              <a:t>Jayatilake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F42F57-4342-4892-B2AD-019DCDCB61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0" tIns="0" rIns="0" bIns="0" anchor="t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902160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83B50C7-8859-BA4D-BF1D-41AD69591194}" vid="{F0544C57-6431-A54D-99B5-6A970AAA67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Props1.xml><?xml version="1.0" encoding="utf-8"?>
<ds:datastoreItem xmlns:ds="http://schemas.openxmlformats.org/officeDocument/2006/customXml" ds:itemID="{218277BB-DC5E-47BA-8CA9-13DFAB3B242A}">
  <ds:schemaRefs>
    <ds:schemaRef ds:uri="037ba92a-5764-4297-b5f7-6ea117412624"/>
    <ds:schemaRef ds:uri="3a4ab234-afbc-41ab-b2db-358d80304e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8D2D201-97C8-4E70-BF77-76D11DC8600F}">
  <ds:schemaRefs>
    <ds:schemaRef ds:uri="037ba92a-5764-4297-b5f7-6ea117412624"/>
    <ds:schemaRef ds:uri="3a4ab234-afbc-41ab-b2db-358d80304e46"/>
    <ds:schemaRef ds:uri="4008ae8d-d1eb-4f33-a34c-6ad8d87baf5e"/>
    <ds:schemaRef ds:uri="e8946c25-bf8a-4e7a-b3bc-ca2d5c6908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0</TotalTime>
  <Words>594</Words>
  <Application>Microsoft Macintosh PowerPoint</Application>
  <PresentationFormat>On-screen Show (4:3)</PresentationFormat>
  <Paragraphs>111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ＭＳ Ｐゴシック</vt:lpstr>
      <vt:lpstr>Arial</vt:lpstr>
      <vt:lpstr>Calibri</vt:lpstr>
      <vt:lpstr>Courier New</vt:lpstr>
      <vt:lpstr>Georgia</vt:lpstr>
      <vt:lpstr>Segoe UI</vt:lpstr>
      <vt:lpstr>Tahoma</vt:lpstr>
      <vt:lpstr>Custom Design</vt:lpstr>
      <vt:lpstr>Business Process Modelling and Enterprise Architecture &amp; Advanced Information Systems Development  Introduction</vt:lpstr>
      <vt:lpstr>Session Plan</vt:lpstr>
      <vt:lpstr>Teaching Team</vt:lpstr>
      <vt:lpstr>Teaching Team </vt:lpstr>
      <vt:lpstr>Units overview</vt:lpstr>
      <vt:lpstr>Learning Outcomes BPM&amp;EA </vt:lpstr>
      <vt:lpstr>Learning Outcomes AISD </vt:lpstr>
      <vt:lpstr>Assessment Overview for Both Units</vt:lpstr>
      <vt:lpstr>PowerPoint Presentation</vt:lpstr>
      <vt:lpstr>PowerPoint Presentation</vt:lpstr>
      <vt:lpstr>Questions</vt:lpstr>
      <vt:lpstr>Business Process Modelling and Enterprise Architecture &amp; Advanced Information Systems Development  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– Oriented  Development  Introduction</dc:title>
  <dc:creator>Dilshan Jayatilake</dc:creator>
  <cp:lastModifiedBy>Dilshan Jayatilake</cp:lastModifiedBy>
  <cp:revision>141</cp:revision>
  <cp:lastPrinted>2016-09-22T10:08:48Z</cp:lastPrinted>
  <dcterms:created xsi:type="dcterms:W3CDTF">2024-01-10T11:26:46Z</dcterms:created>
  <dcterms:modified xsi:type="dcterms:W3CDTF">2026-09-11T11:31:58Z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