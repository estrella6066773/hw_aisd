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</p:sldMasterIdLst>
  <p:notesMasterIdLst>
    <p:notesMasterId r:id="rId26"/>
  </p:notesMasterIdLst>
  <p:handoutMasterIdLst>
    <p:handoutMasterId r:id="rId27"/>
  </p:handoutMasterIdLst>
  <p:sldIdLst>
    <p:sldId id="256" r:id="rId6"/>
    <p:sldId id="25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8" r:id="rId15"/>
    <p:sldId id="277" r:id="rId16"/>
    <p:sldId id="268" r:id="rId17"/>
    <p:sldId id="279" r:id="rId18"/>
    <p:sldId id="280" r:id="rId19"/>
    <p:sldId id="281" r:id="rId20"/>
    <p:sldId id="282" r:id="rId21"/>
    <p:sldId id="283" r:id="rId22"/>
    <p:sldId id="284" r:id="rId23"/>
    <p:sldId id="259" r:id="rId24"/>
    <p:sldId id="285" r:id="rId25"/>
  </p:sldIdLst>
  <p:sldSz cx="9144000" cy="6858000" type="screen4x3"/>
  <p:notesSz cx="9144000" cy="6858000"/>
  <p:custDataLst>
    <p:tags r:id="rId2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ersion Control" id="{4284EADD-FE41-494D-A42C-2B60CCFC2DE6}">
          <p14:sldIdLst>
            <p14:sldId id="256"/>
            <p14:sldId id="258"/>
            <p14:sldId id="270"/>
            <p14:sldId id="271"/>
            <p14:sldId id="272"/>
            <p14:sldId id="273"/>
            <p14:sldId id="274"/>
            <p14:sldId id="275"/>
            <p14:sldId id="276"/>
            <p14:sldId id="278"/>
            <p14:sldId id="277"/>
            <p14:sldId id="268"/>
            <p14:sldId id="279"/>
            <p14:sldId id="280"/>
            <p14:sldId id="281"/>
            <p14:sldId id="282"/>
            <p14:sldId id="283"/>
            <p14:sldId id="284"/>
            <p14:sldId id="259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4B71A9-3C61-0C48-200A-AB87B9ABD902}" v="2" dt="2025-08-12T12:40:30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92" autoAdjust="0"/>
    <p:restoredTop sz="95967"/>
  </p:normalViewPr>
  <p:slideViewPr>
    <p:cSldViewPr showGuides="1">
      <p:cViewPr varScale="1">
        <p:scale>
          <a:sx n="120" d="100"/>
          <a:sy n="120" d="100"/>
        </p:scale>
        <p:origin x="2048" y="184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rogerdudler.github.io/git-guide/" TargetMode="External"/><Relationship Id="rId2" Type="http://schemas.openxmlformats.org/officeDocument/2006/relationships/hyperlink" Target="https://betterexplained.com/articles/a-visual-guide-to-version-control/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Business Process Modelling &amp; Enterprise Architecture</a:t>
            </a:r>
            <a:br>
              <a:rPr lang="en-GB" dirty="0"/>
            </a:br>
            <a:r>
              <a:rPr lang="en-GB" dirty="0"/>
              <a:t>And </a:t>
            </a:r>
            <a:br>
              <a:rPr lang="en-GB" dirty="0"/>
            </a:br>
            <a:r>
              <a:rPr lang="en-GB" dirty="0"/>
              <a:t>Advanced Information Systems Development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Version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 err="1"/>
              <a:t>Rumali</a:t>
            </a:r>
            <a:r>
              <a:rPr lang="en-GB" dirty="0"/>
              <a:t> </a:t>
            </a:r>
            <a:r>
              <a:rPr lang="en-GB" dirty="0" err="1"/>
              <a:t>Sirimanne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23D3FE-1E56-793A-2CFA-E5B8E8CD57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76081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pPr marL="9525" indent="0">
              <a:buNone/>
            </a:pPr>
            <a:endParaRPr lang="en-GB" sz="2400" dirty="0"/>
          </a:p>
          <a:p>
            <a:r>
              <a:rPr lang="en-GB" sz="2400" dirty="0"/>
              <a:t>Versioning Tasks and Concepts</a:t>
            </a:r>
          </a:p>
          <a:p>
            <a:endParaRPr lang="en-GB" sz="2400" dirty="0"/>
          </a:p>
          <a:p>
            <a:r>
              <a:rPr lang="en-GB" sz="2400" dirty="0"/>
              <a:t>Example Scenario and </a:t>
            </a:r>
            <a:r>
              <a:rPr lang="en-GB" sz="2400" dirty="0" err="1"/>
              <a:t>Github</a:t>
            </a:r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19998758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327A1-0F4A-71E1-1217-1565DEFCE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 Concepts of Versioning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0470C-89F2-5B53-6590-452FEF8018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400" dirty="0"/>
              <a:t>Projects</a:t>
            </a:r>
          </a:p>
          <a:p>
            <a:r>
              <a:rPr lang="en-GB" sz="2400" dirty="0"/>
              <a:t>Revisions</a:t>
            </a:r>
          </a:p>
          <a:p>
            <a:r>
              <a:rPr lang="en-GB" sz="2400" dirty="0"/>
              <a:t>Branches</a:t>
            </a:r>
          </a:p>
          <a:p>
            <a:r>
              <a:rPr lang="en-GB" sz="2400" dirty="0"/>
              <a:t>Merging</a:t>
            </a:r>
          </a:p>
          <a:p>
            <a:r>
              <a:rPr lang="en-GB" sz="2400" dirty="0"/>
              <a:t>Conflicts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1026" name="Picture 2" descr="18. Git &amp; Version Control - The Fun Way - YouTube">
            <a:extLst>
              <a:ext uri="{FF2B5EF4-FFF2-40B4-BE49-F238E27FC236}">
                <a16:creationId xmlns:a16="http://schemas.microsoft.com/office/drawing/2014/main" id="{85951BC6-D7A4-910C-9C84-D80805BFD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147" y="1577330"/>
            <a:ext cx="6364199" cy="357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357618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27DEB-FF8A-CFFC-716C-0055E42A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A9B89-E308-DD08-9CD7-6F3FA1CBB7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400" dirty="0"/>
              <a:t>A project is a set of files in version control</a:t>
            </a:r>
          </a:p>
          <a:p>
            <a:pPr lvl="1"/>
            <a:r>
              <a:rPr lang="en-GB" sz="2400" dirty="0"/>
              <a:t>Called a module in CVS</a:t>
            </a:r>
          </a:p>
          <a:p>
            <a:r>
              <a:rPr lang="en-GB" sz="2400" dirty="0"/>
              <a:t>Version control doesn’t care what files</a:t>
            </a:r>
          </a:p>
          <a:p>
            <a:pPr lvl="1"/>
            <a:r>
              <a:rPr lang="en-GB" sz="2400" dirty="0"/>
              <a:t>Not a build system</a:t>
            </a:r>
          </a:p>
          <a:p>
            <a:pPr lvl="1"/>
            <a:r>
              <a:rPr lang="en-GB" sz="2400" dirty="0"/>
              <a:t>Or a test system</a:t>
            </a:r>
          </a:p>
          <a:p>
            <a:pPr lvl="2"/>
            <a:r>
              <a:rPr lang="en-GB" sz="2400" dirty="0"/>
              <a:t>Though there are often hooks to these other systems</a:t>
            </a:r>
          </a:p>
          <a:p>
            <a:pPr lvl="1"/>
            <a:r>
              <a:rPr lang="en-GB" sz="2400" dirty="0"/>
              <a:t>Just manages versions of a collection of files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07488878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7994-5CF6-833B-9C94-A60C98F5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A5588-71AE-8B92-6B86-D9B547D677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5040561" cy="4608512"/>
          </a:xfrm>
        </p:spPr>
        <p:txBody>
          <a:bodyPr/>
          <a:lstStyle/>
          <a:p>
            <a:r>
              <a:rPr lang="en-GB" sz="2000" dirty="0"/>
              <a:t>Check Out</a:t>
            </a:r>
          </a:p>
          <a:p>
            <a:pPr lvl="1"/>
            <a:r>
              <a:rPr lang="en-GB" sz="2000" dirty="0"/>
              <a:t>If you want to make a change the file needs to be checked out from the repository</a:t>
            </a:r>
          </a:p>
          <a:p>
            <a:r>
              <a:rPr lang="en-GB" sz="2000" dirty="0"/>
              <a:t>Check In</a:t>
            </a:r>
          </a:p>
          <a:p>
            <a:pPr lvl="1"/>
            <a:r>
              <a:rPr lang="en-GB" sz="2000" dirty="0"/>
              <a:t>When changes are completed the new code is checked-in.</a:t>
            </a:r>
          </a:p>
          <a:p>
            <a:r>
              <a:rPr lang="en-GB" sz="2000" dirty="0"/>
              <a:t>Consider</a:t>
            </a:r>
          </a:p>
          <a:p>
            <a:pPr lvl="1"/>
            <a:r>
              <a:rPr lang="en-GB" sz="2000" dirty="0"/>
              <a:t>Check out a file</a:t>
            </a:r>
          </a:p>
          <a:p>
            <a:pPr lvl="2"/>
            <a:r>
              <a:rPr lang="en-GB" sz="2000" dirty="0"/>
              <a:t>Edit it</a:t>
            </a:r>
          </a:p>
          <a:p>
            <a:pPr lvl="2"/>
            <a:r>
              <a:rPr lang="en-GB" sz="2000" dirty="0"/>
              <a:t>Check the file back in</a:t>
            </a:r>
          </a:p>
          <a:p>
            <a:pPr lvl="1"/>
            <a:r>
              <a:rPr lang="en-GB" sz="2000" dirty="0"/>
              <a:t>This creates a new version of the file</a:t>
            </a:r>
          </a:p>
          <a:p>
            <a:pPr lvl="1"/>
            <a:r>
              <a:rPr lang="en-GB" sz="2000" dirty="0"/>
              <a:t>Usually increment minor version number</a:t>
            </a:r>
          </a:p>
          <a:p>
            <a:pPr lvl="2"/>
            <a:r>
              <a:rPr lang="en-GB" sz="2000" dirty="0"/>
              <a:t>E.g., 1.5 -&gt; 1.6</a:t>
            </a:r>
          </a:p>
        </p:txBody>
      </p:sp>
      <p:pic>
        <p:nvPicPr>
          <p:cNvPr id="4" name="Picture 3" descr="Revisions ">
            <a:extLst>
              <a:ext uri="{FF2B5EF4-FFF2-40B4-BE49-F238E27FC236}">
                <a16:creationId xmlns:a16="http://schemas.microsoft.com/office/drawing/2014/main" id="{09FD71FA-68D6-6452-A14C-CF687BFE5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36096" y="2852936"/>
            <a:ext cx="3528059" cy="252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8986335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6B8C-57CB-7A2F-AC61-7231449CE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Revision Cont’d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3FC00-547E-1611-8D13-4C3E73281A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6551612" cy="2016224"/>
          </a:xfrm>
        </p:spPr>
        <p:txBody>
          <a:bodyPr/>
          <a:lstStyle/>
          <a:p>
            <a:r>
              <a:rPr lang="en-GB" sz="2400" dirty="0"/>
              <a:t>A commit consists of a set of checked in files and the diff between the new and parent versions of each file.</a:t>
            </a:r>
          </a:p>
          <a:p>
            <a:r>
              <a:rPr lang="en-GB" sz="2400" dirty="0"/>
              <a:t>Each check-in is accompanied by a user name and other meta data.</a:t>
            </a:r>
          </a:p>
          <a:p>
            <a:endParaRPr lang="en-GB" sz="2400" dirty="0"/>
          </a:p>
          <a:p>
            <a:pPr marL="9525" indent="0">
              <a:buNone/>
            </a:pPr>
            <a:endParaRPr lang="en-GB" sz="2400" dirty="0"/>
          </a:p>
        </p:txBody>
      </p:sp>
      <p:pic>
        <p:nvPicPr>
          <p:cNvPr id="4" name="Picture 2" descr="Basic Checkin">
            <a:extLst>
              <a:ext uri="{FF2B5EF4-FFF2-40B4-BE49-F238E27FC236}">
                <a16:creationId xmlns:a16="http://schemas.microsoft.com/office/drawing/2014/main" id="{4B1A2CE8-FDFD-FD29-3E9C-D3D0D999E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41" y="4030311"/>
            <a:ext cx="3663503" cy="213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Diff">
            <a:extLst>
              <a:ext uri="{FF2B5EF4-FFF2-40B4-BE49-F238E27FC236}">
                <a16:creationId xmlns:a16="http://schemas.microsoft.com/office/drawing/2014/main" id="{D82F9635-F4BD-7806-1B44-CAE0E30AA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030311"/>
            <a:ext cx="4482404" cy="213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335861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FD25-089B-653E-C010-2B332E9DD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DB6AE-A5ED-32AC-458D-46781345F8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09" cy="4608512"/>
          </a:xfrm>
        </p:spPr>
        <p:txBody>
          <a:bodyPr/>
          <a:lstStyle/>
          <a:p>
            <a:r>
              <a:rPr lang="en-GB" sz="2000" dirty="0"/>
              <a:t>A branch is just two revisions of a file</a:t>
            </a:r>
          </a:p>
          <a:p>
            <a:pPr lvl="1"/>
            <a:r>
              <a:rPr lang="en-GB" sz="2000" dirty="0"/>
              <a:t>Two people check out 1.5</a:t>
            </a:r>
          </a:p>
          <a:p>
            <a:pPr lvl="1"/>
            <a:r>
              <a:rPr lang="en-GB" sz="2000" dirty="0"/>
              <a:t>Check in 1.5.1</a:t>
            </a:r>
          </a:p>
          <a:p>
            <a:pPr lvl="1"/>
            <a:r>
              <a:rPr lang="en-GB" sz="2000" dirty="0"/>
              <a:t>Check in 1.5.2</a:t>
            </a:r>
          </a:p>
          <a:p>
            <a:r>
              <a:rPr lang="en-GB" sz="2000" dirty="0"/>
              <a:t>Notes</a:t>
            </a:r>
          </a:p>
          <a:p>
            <a:pPr lvl="1"/>
            <a:r>
              <a:rPr lang="en-GB" sz="2000" dirty="0"/>
              <a:t>Normally checking in does not create a branch</a:t>
            </a:r>
          </a:p>
          <a:p>
            <a:pPr lvl="2"/>
            <a:r>
              <a:rPr lang="en-GB" sz="2000" dirty="0"/>
              <a:t>Changes merged into main code line</a:t>
            </a:r>
          </a:p>
          <a:p>
            <a:r>
              <a:rPr lang="en-GB" sz="2000" dirty="0"/>
              <a:t>Must explicitly ask to create a branch</a:t>
            </a:r>
          </a:p>
          <a:p>
            <a:endParaRPr lang="en-GB" sz="2000" dirty="0"/>
          </a:p>
          <a:p>
            <a:endParaRPr lang="en-GB" sz="2000" dirty="0"/>
          </a:p>
        </p:txBody>
      </p:sp>
      <p:pic>
        <p:nvPicPr>
          <p:cNvPr id="4" name="Picture 5" descr="Branching">
            <a:extLst>
              <a:ext uri="{FF2B5EF4-FFF2-40B4-BE49-F238E27FC236}">
                <a16:creationId xmlns:a16="http://schemas.microsoft.com/office/drawing/2014/main" id="{AF549CD3-088D-BFB5-3F64-472EAAA5A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609" y="1700808"/>
            <a:ext cx="3827474" cy="363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897259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E677-AC7E-83A2-11FD-BFAE5066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48A84-CA0B-D2D0-B561-CF87E3AC85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09" cy="4608512"/>
          </a:xfrm>
        </p:spPr>
        <p:txBody>
          <a:bodyPr/>
          <a:lstStyle/>
          <a:p>
            <a:r>
              <a:rPr lang="en-GB" sz="2400" dirty="0"/>
              <a:t>There are occasions when multiple versions of a file need to be collapsed into a single version.</a:t>
            </a:r>
          </a:p>
          <a:p>
            <a:pPr lvl="1"/>
            <a:r>
              <a:rPr lang="en-GB" sz="2400" dirty="0"/>
              <a:t>E.g. A feature from one branch is required in another</a:t>
            </a:r>
          </a:p>
          <a:p>
            <a:r>
              <a:rPr lang="en-GB" sz="2400" dirty="0"/>
              <a:t>This process is known as a merge.</a:t>
            </a:r>
          </a:p>
          <a:p>
            <a:r>
              <a:rPr lang="en-GB" sz="2400" dirty="0"/>
              <a:t>Difficult and dangerous to do in CVS</a:t>
            </a:r>
          </a:p>
          <a:p>
            <a:r>
              <a:rPr lang="en-GB" sz="2400" dirty="0"/>
              <a:t>Easy and cheap to do in git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4" name="Picture 3" descr="Merging">
            <a:extLst>
              <a:ext uri="{FF2B5EF4-FFF2-40B4-BE49-F238E27FC236}">
                <a16:creationId xmlns:a16="http://schemas.microsoft.com/office/drawing/2014/main" id="{A80D7B7F-17A6-8832-E6AA-227255BA9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00807"/>
            <a:ext cx="39243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375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4556-37CA-FD89-7B7E-6DC406DE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Conflicts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C600D-1360-63BC-7E69-19074819F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09" cy="4608512"/>
          </a:xfrm>
        </p:spPr>
        <p:txBody>
          <a:bodyPr/>
          <a:lstStyle/>
          <a:p>
            <a:r>
              <a:rPr lang="en-GB" sz="2400" dirty="0"/>
              <a:t>Arise when two programmers edit the same piece of code</a:t>
            </a:r>
          </a:p>
          <a:p>
            <a:r>
              <a:rPr lang="en-GB" sz="2400" dirty="0"/>
              <a:t>One change overwrites another</a:t>
            </a:r>
          </a:p>
          <a:p>
            <a:r>
              <a:rPr lang="en-GB" sz="2400" dirty="0"/>
              <a:t>The system doesn’t know what should be done, and so complains of a conflict.</a:t>
            </a:r>
          </a:p>
          <a:p>
            <a:r>
              <a:rPr lang="en-GB" sz="2400" dirty="0"/>
              <a:t>Conflicts must be resolved by hand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4" name="Picture 2" descr="Conflict">
            <a:extLst>
              <a:ext uri="{FF2B5EF4-FFF2-40B4-BE49-F238E27FC236}">
                <a16:creationId xmlns:a16="http://schemas.microsoft.com/office/drawing/2014/main" id="{01A2EB23-64B4-7307-A2DA-17DC235B5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95464"/>
            <a:ext cx="3898654" cy="3267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7299289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4EBE-D61E-CE7D-2587-E9FD41FE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 Scenario and </a:t>
            </a:r>
            <a:r>
              <a:rPr lang="en-GB" dirty="0" err="1"/>
              <a:t>Github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41549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78A0-0143-F93D-CF4C-E1F00782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Scenario Bug Fix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3043520-0B25-D230-4631-073A3E49B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1905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FA27EB93-35FA-4D20-9DCF-34A6D004D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7800"/>
            <a:ext cx="1371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 dirty="0">
                <a:latin typeface="Tahoma" charset="0"/>
                <a:ea typeface="Tahoma" charset="0"/>
                <a:cs typeface="Tahoma" charset="0"/>
              </a:rPr>
              <a:t>Time</a:t>
            </a: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0C0F37D0-B037-BACE-B6C0-5D00262B6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0" y="2667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91447F6E-EF31-AED1-DCE9-B1F03508A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04800" y="2558534"/>
            <a:ext cx="152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>
                <a:latin typeface="Tahoma" charset="0"/>
                <a:ea typeface="Tahoma" charset="0"/>
                <a:cs typeface="Tahoma" charset="0"/>
              </a:rPr>
              <a:t>Releases</a:t>
            </a:r>
          </a:p>
        </p:txBody>
      </p:sp>
      <p:grpSp>
        <p:nvGrpSpPr>
          <p:cNvPr id="8" name="Group 11">
            <a:extLst>
              <a:ext uri="{FF2B5EF4-FFF2-40B4-BE49-F238E27FC236}">
                <a16:creationId xmlns:a16="http://schemas.microsoft.com/office/drawing/2014/main" id="{C8247E20-58CF-CC88-DAEC-2C7087464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752601"/>
            <a:ext cx="7315200" cy="1665288"/>
            <a:chOff x="816" y="1104"/>
            <a:chExt cx="4608" cy="1049"/>
          </a:xfrm>
        </p:grpSpPr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D70D3163-14FD-DBEC-14AC-D8C57EEFB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920"/>
              <a:ext cx="432" cy="2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x-none">
                  <a:latin typeface="Tahoma" charset="0"/>
                  <a:ea typeface="Tahoma" charset="0"/>
                  <a:cs typeface="Tahoma" charset="0"/>
                </a:rPr>
                <a:t>1.0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035CFC41-6CFF-9153-367E-36960BE04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104"/>
              <a:ext cx="177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x-none" sz="2000">
                  <a:latin typeface="Tahoma" charset="0"/>
                  <a:ea typeface="Tahoma" charset="0"/>
                  <a:cs typeface="Tahoma" charset="0"/>
                </a:rPr>
                <a:t>First public release of the hot new product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1892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7DC8-D69B-CA93-257F-99620B90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Scenario Bug Fix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0B790EB2-CE83-6CE7-F48A-EFEE64D0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0480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1.0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03095126-2E21-B9D9-3BC6-91723E526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1905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1D1D47D-0ACF-1C55-7CB0-48BD32256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7800"/>
            <a:ext cx="1371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>
                <a:latin typeface="Tahoma" charset="0"/>
                <a:ea typeface="Tahoma" charset="0"/>
                <a:cs typeface="Tahoma" charset="0"/>
              </a:rPr>
              <a:t>Time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910B2215-8CC6-DC2F-8325-EB30DE85F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0" y="2667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2AEA303-7819-B8D8-5DF4-D1E73C6EE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04800" y="2558534"/>
            <a:ext cx="152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>
                <a:latin typeface="Tahoma" charset="0"/>
                <a:ea typeface="Tahoma" charset="0"/>
                <a:cs typeface="Tahoma" charset="0"/>
              </a:rPr>
              <a:t>Releases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A93925C0-18D0-66E7-3E29-B07E919AA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752600"/>
            <a:ext cx="2819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sz="2000">
                <a:latin typeface="Tahoma" charset="0"/>
                <a:ea typeface="Tahoma" charset="0"/>
                <a:cs typeface="Tahoma" charset="0"/>
              </a:rPr>
              <a:t>Internal development continues, progressing to version 1.3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EC807D74-F127-8234-957C-3F279E80C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0480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1.3</a:t>
            </a:r>
          </a:p>
        </p:txBody>
      </p: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205B4314-7F9D-6AEC-DEAC-A7F3FCE0D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00250" y="3295650"/>
            <a:ext cx="12573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4480897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9270-8F5F-60BA-DC68-C3503AF8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Scenario Bug Fix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526D587-B3AA-8B49-0A7B-835FD836D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0480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1.0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51017621-2A74-C001-4C30-B2FEEC8DD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1905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6ACAA31F-009A-D09F-1ADB-7FCC7A8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7800"/>
            <a:ext cx="1371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>
                <a:latin typeface="Tahoma" charset="0"/>
                <a:ea typeface="Tahoma" charset="0"/>
                <a:cs typeface="Tahoma" charset="0"/>
              </a:rPr>
              <a:t>Time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ECF4F26D-2AC8-84E1-4DE0-5AF533EE1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0" y="2667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CA8D8CBC-590E-2F31-ED97-DA54C6D3C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04800" y="2558534"/>
            <a:ext cx="152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>
                <a:latin typeface="Tahoma" charset="0"/>
                <a:ea typeface="Tahoma" charset="0"/>
                <a:cs typeface="Tahoma" charset="0"/>
              </a:rPr>
              <a:t>Releases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DAFBDF61-95CA-0B97-DE5D-C870C19A6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752600"/>
            <a:ext cx="28194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sz="2000">
                <a:latin typeface="Tahoma" charset="0"/>
                <a:ea typeface="Tahoma" charset="0"/>
                <a:cs typeface="Tahoma" charset="0"/>
              </a:rPr>
              <a:t>A fatal bug is discovered in the product (1.0), but 1.3 is not stable enough to release.  Solution: Create a version based on 1.0 with the bug fix.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D66D5AC4-0272-556A-3FFF-5EE3F8816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0480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1.3</a:t>
            </a:r>
          </a:p>
        </p:txBody>
      </p: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57D23F48-1627-5516-679A-EED958B9F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00250" y="3295650"/>
            <a:ext cx="12573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pSp>
        <p:nvGrpSpPr>
          <p:cNvPr id="12" name="Group 14">
            <a:extLst>
              <a:ext uri="{FF2B5EF4-FFF2-40B4-BE49-F238E27FC236}">
                <a16:creationId xmlns:a16="http://schemas.microsoft.com/office/drawing/2014/main" id="{82F684AC-69CF-806D-34A6-0F711E610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1638300" y="3562351"/>
            <a:ext cx="4152900" cy="1417638"/>
            <a:chOff x="1032" y="2244"/>
            <a:chExt cx="2616" cy="893"/>
          </a:xfrm>
        </p:grpSpPr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846DE7CC-0F64-CD01-2C1B-BA42BD5A6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866"/>
              <a:ext cx="864" cy="2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x-none">
                  <a:latin typeface="Tahoma" charset="0"/>
                  <a:ea typeface="Tahoma" charset="0"/>
                  <a:cs typeface="Tahoma" charset="0"/>
                </a:rPr>
                <a:t>1.0 bugfix</a:t>
              </a:r>
            </a:p>
          </p:txBody>
        </p:sp>
        <p:cxnSp>
          <p:nvCxnSpPr>
            <p:cNvPr id="14" name="AutoShape 13">
              <a:extLst>
                <a:ext uri="{FF2B5EF4-FFF2-40B4-BE49-F238E27FC236}">
                  <a16:creationId xmlns:a16="http://schemas.microsoft.com/office/drawing/2014/main" id="{05BAFE92-D156-4D08-A953-A3085FD8AF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32" y="2244"/>
              <a:ext cx="1740" cy="893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86880538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1D28-ECDD-BD3F-CD63-F611BCBBD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Scenario Bug Fix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F1789CB0-2106-1290-5793-F7B4B8CA7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0480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1.0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9BA28616-A524-32B5-49B5-A68C08B38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1905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293AE55A-70AD-3EB1-C3E2-A5F1FD2F0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7800"/>
            <a:ext cx="1371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>
                <a:latin typeface="Tahoma" charset="0"/>
                <a:ea typeface="Tahoma" charset="0"/>
                <a:cs typeface="Tahoma" charset="0"/>
              </a:rPr>
              <a:t>Time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368CE9B7-7587-5DA8-5555-0DFD4C36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0" y="2667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B4AB172-3D67-665F-D80B-F86A0D28B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04800" y="2558534"/>
            <a:ext cx="152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>
                <a:latin typeface="Tahoma" charset="0"/>
                <a:ea typeface="Tahoma" charset="0"/>
                <a:cs typeface="Tahoma" charset="0"/>
              </a:rPr>
              <a:t>Releases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02BFC0AC-928E-9A65-8217-A1191C966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752600"/>
            <a:ext cx="28194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sz="2000">
                <a:latin typeface="Tahoma" charset="0"/>
                <a:ea typeface="Tahoma" charset="0"/>
                <a:cs typeface="Tahoma" charset="0"/>
              </a:rPr>
              <a:t>Note that there are now two lines of development beginning at 1.0. </a:t>
            </a:r>
          </a:p>
          <a:p>
            <a:pPr>
              <a:spcBef>
                <a:spcPct val="50000"/>
              </a:spcBef>
              <a:defRPr/>
            </a:pPr>
            <a:r>
              <a:rPr lang="en-US" altLang="x-none" sz="2000">
                <a:latin typeface="Tahoma" charset="0"/>
                <a:ea typeface="Tahoma" charset="0"/>
                <a:cs typeface="Tahoma" charset="0"/>
              </a:rPr>
              <a:t>This is </a:t>
            </a:r>
            <a:r>
              <a:rPr lang="en-US" altLang="x-none" sz="2000" i="1">
                <a:latin typeface="Tahoma" charset="0"/>
                <a:ea typeface="Tahoma" charset="0"/>
                <a:cs typeface="Tahoma" charset="0"/>
              </a:rPr>
              <a:t>branching.</a:t>
            </a:r>
            <a:endParaRPr lang="en-US" altLang="x-none" sz="2000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F1114931-BB59-536B-AE81-8586D27DD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0480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1.3</a:t>
            </a:r>
          </a:p>
        </p:txBody>
      </p: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1712CE1C-9BA4-0E97-5723-63BC708EF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00250" y="3295650"/>
            <a:ext cx="12573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F6024D00-1994-AD45-AE3E-CA9CDBB88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549775"/>
            <a:ext cx="13716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1.0 bugfix</a:t>
            </a:r>
          </a:p>
        </p:txBody>
      </p:sp>
      <p:cxnSp>
        <p:nvCxnSpPr>
          <p:cNvPr id="13" name="AutoShape 12">
            <a:extLst>
              <a:ext uri="{FF2B5EF4-FFF2-40B4-BE49-F238E27FC236}">
                <a16:creationId xmlns:a16="http://schemas.microsoft.com/office/drawing/2014/main" id="{2255243C-28DF-D858-E4EC-2AAB98022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38300" y="3562350"/>
            <a:ext cx="2762250" cy="14176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01044879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DB318-CEBE-1BA7-B2F4-983743DF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Scenario Bug Fix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FBF30AAF-F658-845F-A605-B828755EA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0480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1.0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6651614E-0170-8B48-5585-2E023E7BF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1905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7D7AE63E-B114-2909-AF05-0B377E52E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7800"/>
            <a:ext cx="1371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>
                <a:latin typeface="Tahoma" charset="0"/>
                <a:ea typeface="Tahoma" charset="0"/>
                <a:cs typeface="Tahoma" charset="0"/>
              </a:rPr>
              <a:t>Time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43E248C9-42ED-1A43-01AF-90608526E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0" y="2667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6D6A455-72A1-84F4-1C5B-B298B8614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04800" y="2558534"/>
            <a:ext cx="152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>
                <a:latin typeface="Tahoma" charset="0"/>
                <a:ea typeface="Tahoma" charset="0"/>
                <a:cs typeface="Tahoma" charset="0"/>
              </a:rPr>
              <a:t>Releases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5353318F-28B2-9F3F-E642-1234E9F12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371600"/>
            <a:ext cx="28194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sz="2000">
                <a:latin typeface="Tahoma" charset="0"/>
                <a:ea typeface="Tahoma" charset="0"/>
                <a:cs typeface="Tahoma" charset="0"/>
              </a:rPr>
              <a:t>The bug fix should also be applied to the main code line so that the next product release has the fix.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5D880045-29B5-6589-5F28-7C7D04AF2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0480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1.3</a:t>
            </a:r>
          </a:p>
        </p:txBody>
      </p: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A5D3C8FA-FD4B-245E-34DC-CA742674A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00250" y="3295650"/>
            <a:ext cx="12573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33D12E02-9515-5C78-2FA5-988D4BFB1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549775"/>
            <a:ext cx="13716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1.0 bugfix</a:t>
            </a:r>
          </a:p>
        </p:txBody>
      </p:sp>
      <p:cxnSp>
        <p:nvCxnSpPr>
          <p:cNvPr id="13" name="AutoShape 12">
            <a:extLst>
              <a:ext uri="{FF2B5EF4-FFF2-40B4-BE49-F238E27FC236}">
                <a16:creationId xmlns:a16="http://schemas.microsoft.com/office/drawing/2014/main" id="{B0ABA0F1-5390-BE15-C166-D9CACD9A5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38300" y="3562350"/>
            <a:ext cx="2762250" cy="14176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pSp>
        <p:nvGrpSpPr>
          <p:cNvPr id="14" name="Group 16">
            <a:extLst>
              <a:ext uri="{FF2B5EF4-FFF2-40B4-BE49-F238E27FC236}">
                <a16:creationId xmlns:a16="http://schemas.microsoft.com/office/drawing/2014/main" id="{7CCF9235-B88A-AD76-08BB-67DC570EF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3981450" y="3295650"/>
            <a:ext cx="2952750" cy="1235075"/>
            <a:chOff x="2508" y="2076"/>
            <a:chExt cx="1860" cy="778"/>
          </a:xfrm>
        </p:grpSpPr>
        <p:cxnSp>
          <p:nvCxnSpPr>
            <p:cNvPr id="15" name="AutoShape 13">
              <a:extLst>
                <a:ext uri="{FF2B5EF4-FFF2-40B4-BE49-F238E27FC236}">
                  <a16:creationId xmlns:a16="http://schemas.microsoft.com/office/drawing/2014/main" id="{2D5C4D3A-9ECF-B745-6415-0664D5CEAE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08" y="2076"/>
              <a:ext cx="1416" cy="336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713CC6FA-B1C2-4304-4B5C-77299256C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256"/>
              <a:ext cx="432" cy="2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x-none">
                  <a:latin typeface="Tahoma" charset="0"/>
                  <a:ea typeface="Tahoma" charset="0"/>
                  <a:cs typeface="Tahoma" charset="0"/>
                </a:rPr>
                <a:t>1.4</a:t>
              </a:r>
            </a:p>
          </p:txBody>
        </p:sp>
        <p:cxnSp>
          <p:nvCxnSpPr>
            <p:cNvPr id="17" name="AutoShape 15">
              <a:extLst>
                <a:ext uri="{FF2B5EF4-FFF2-40B4-BE49-F238E27FC236}">
                  <a16:creationId xmlns:a16="http://schemas.microsoft.com/office/drawing/2014/main" id="{66A0E9E5-9303-7BE3-1AA7-2EE4B70805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216" y="2580"/>
              <a:ext cx="936" cy="274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64120598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6436-CAB4-F35F-DBBD-BD9F55CD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Scenario Bug Fix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F5682126-4323-2161-7C0F-34E1164BF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0480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1.0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F2532342-3ABC-FF03-3E7E-DCC1F7C74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1905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99FEBCB-1251-993F-F393-9F85FA09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7800"/>
            <a:ext cx="1371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 dirty="0">
                <a:latin typeface="Tahoma" charset="0"/>
                <a:ea typeface="Tahoma" charset="0"/>
                <a:cs typeface="Tahoma" charset="0"/>
              </a:rPr>
              <a:t>Time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0E89BD24-56BD-027E-FD41-D6B2C19E9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0" y="2667000"/>
            <a:ext cx="1371600" cy="0"/>
          </a:xfrm>
          <a:prstGeom prst="line">
            <a:avLst/>
          </a:prstGeom>
          <a:noFill/>
          <a:ln w="57150">
            <a:solidFill>
              <a:srgbClr val="99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GB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050A10FC-1F37-45B1-6000-15F7D047C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04800" y="2558534"/>
            <a:ext cx="152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i="1" dirty="0">
                <a:latin typeface="Tahoma" charset="0"/>
                <a:ea typeface="Tahoma" charset="0"/>
                <a:cs typeface="Tahoma" charset="0"/>
              </a:rPr>
              <a:t>Releases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F7F7551D-3660-A11F-D81E-EF45BE3F0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371600"/>
            <a:ext cx="2819400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 sz="2000">
                <a:latin typeface="Tahoma" charset="0"/>
                <a:ea typeface="Tahoma" charset="0"/>
                <a:cs typeface="Tahoma" charset="0"/>
              </a:rPr>
              <a:t>Note that two separate lines of development come back together in 1.4.  </a:t>
            </a:r>
          </a:p>
          <a:p>
            <a:pPr>
              <a:spcBef>
                <a:spcPct val="50000"/>
              </a:spcBef>
              <a:defRPr/>
            </a:pPr>
            <a:r>
              <a:rPr lang="en-US" altLang="x-none" sz="2000">
                <a:latin typeface="Tahoma" charset="0"/>
                <a:ea typeface="Tahoma" charset="0"/>
                <a:cs typeface="Tahoma" charset="0"/>
              </a:rPr>
              <a:t>This is </a:t>
            </a:r>
            <a:r>
              <a:rPr lang="en-US" altLang="x-none" sz="2000" i="1">
                <a:latin typeface="Tahoma" charset="0"/>
                <a:ea typeface="Tahoma" charset="0"/>
                <a:cs typeface="Tahoma" charset="0"/>
              </a:rPr>
              <a:t>merging</a:t>
            </a:r>
            <a:r>
              <a:rPr lang="en-US" altLang="x-none" sz="2000">
                <a:latin typeface="Tahoma" charset="0"/>
                <a:ea typeface="Tahoma" charset="0"/>
                <a:cs typeface="Tahoma" charset="0"/>
              </a:rPr>
              <a:t> or </a:t>
            </a:r>
            <a:r>
              <a:rPr lang="en-US" altLang="x-none" sz="2000" i="1">
                <a:latin typeface="Tahoma" charset="0"/>
                <a:ea typeface="Tahoma" charset="0"/>
                <a:cs typeface="Tahoma" charset="0"/>
              </a:rPr>
              <a:t>updating.</a:t>
            </a:r>
            <a:endParaRPr lang="en-US" altLang="x-none" sz="2000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DBC92A33-CC29-E67A-C8C3-45C6A82F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0480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1.3</a:t>
            </a:r>
          </a:p>
        </p:txBody>
      </p: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33B1FA8B-22A1-184F-F719-0D34BD76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00250" y="3295650"/>
            <a:ext cx="12573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D7512162-E4CA-F5C8-9636-11C275E0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549775"/>
            <a:ext cx="13716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1.0 bugfix</a:t>
            </a:r>
          </a:p>
        </p:txBody>
      </p:sp>
      <p:cxnSp>
        <p:nvCxnSpPr>
          <p:cNvPr id="13" name="AutoShape 12">
            <a:extLst>
              <a:ext uri="{FF2B5EF4-FFF2-40B4-BE49-F238E27FC236}">
                <a16:creationId xmlns:a16="http://schemas.microsoft.com/office/drawing/2014/main" id="{F8340E85-28E9-B2C2-2A10-64DA8F236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38300" y="3562350"/>
            <a:ext cx="2762250" cy="14176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" name="AutoShape 13">
            <a:extLst>
              <a:ext uri="{FF2B5EF4-FFF2-40B4-BE49-F238E27FC236}">
                <a16:creationId xmlns:a16="http://schemas.microsoft.com/office/drawing/2014/main" id="{9D4C2FB8-75AF-D36F-6D0E-51A8A9139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81450" y="3295650"/>
            <a:ext cx="2247900" cy="533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5" name="Text Box 14">
            <a:extLst>
              <a:ext uri="{FF2B5EF4-FFF2-40B4-BE49-F238E27FC236}">
                <a16:creationId xmlns:a16="http://schemas.microsoft.com/office/drawing/2014/main" id="{7F39A090-C878-9F85-EDF8-DBAA33420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581400"/>
            <a:ext cx="685800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x-none">
                <a:latin typeface="Tahoma" charset="0"/>
                <a:ea typeface="Tahoma" charset="0"/>
                <a:cs typeface="Tahoma" charset="0"/>
              </a:rPr>
              <a:t>1.4</a:t>
            </a:r>
          </a:p>
        </p:txBody>
      </p:sp>
      <p:cxnSp>
        <p:nvCxnSpPr>
          <p:cNvPr id="16" name="AutoShape 15">
            <a:extLst>
              <a:ext uri="{FF2B5EF4-FFF2-40B4-BE49-F238E27FC236}">
                <a16:creationId xmlns:a16="http://schemas.microsoft.com/office/drawing/2014/main" id="{86F95EF7-57BD-C364-8C47-984C9218A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05400" y="4095750"/>
            <a:ext cx="1485900" cy="43497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1764094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2B75-735C-E3A6-AC17-29D39B08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a Git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2D2F6-14CC-2CCC-88B4-3D692BBE86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6551612" cy="3600400"/>
          </a:xfrm>
        </p:spPr>
        <p:txBody>
          <a:bodyPr/>
          <a:lstStyle/>
          <a:p>
            <a:r>
              <a:rPr lang="en-GB" sz="2400" dirty="0"/>
              <a:t>Workflow</a:t>
            </a:r>
          </a:p>
          <a:p>
            <a:pPr lvl="1"/>
            <a:r>
              <a:rPr lang="en-GB" sz="2400" dirty="0"/>
              <a:t>your local repository consists of three "trees" maintained by git.</a:t>
            </a:r>
          </a:p>
          <a:p>
            <a:pPr lvl="1"/>
            <a:r>
              <a:rPr lang="en-GB" sz="2400" dirty="0"/>
              <a:t>the first one is your Working Directory which holds the actual files. </a:t>
            </a:r>
          </a:p>
          <a:p>
            <a:pPr lvl="1"/>
            <a:r>
              <a:rPr lang="en-GB" sz="2400" dirty="0"/>
              <a:t>the second one is the Index which acts as a staging area </a:t>
            </a:r>
          </a:p>
          <a:p>
            <a:pPr lvl="1"/>
            <a:r>
              <a:rPr lang="en-GB" sz="2400" dirty="0"/>
              <a:t>the third one is the HEAD which points to the last commit you've made.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135484-BA43-C1B8-CC48-690B3D337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5013176"/>
            <a:ext cx="3802782" cy="154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7120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BBFD-D7E0-8884-08DA-492375CD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a Git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2447C-F085-8B86-6621-8C557D89B2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4896545" cy="4608512"/>
          </a:xfrm>
        </p:spPr>
        <p:txBody>
          <a:bodyPr/>
          <a:lstStyle/>
          <a:p>
            <a:r>
              <a:rPr lang="en-GB" dirty="0"/>
              <a:t>Create a new (Local) Repository</a:t>
            </a:r>
          </a:p>
          <a:p>
            <a:pPr lvl="1"/>
            <a:r>
              <a:rPr lang="en-GB" dirty="0"/>
              <a:t>create a new directory and initialise</a:t>
            </a:r>
          </a:p>
          <a:p>
            <a:pPr lvl="2"/>
            <a:r>
              <a:rPr lang="en-GB" dirty="0"/>
              <a:t>git </a:t>
            </a:r>
            <a:r>
              <a:rPr lang="en-GB" dirty="0" err="1"/>
              <a:t>init</a:t>
            </a:r>
            <a:r>
              <a:rPr lang="en-GB" dirty="0"/>
              <a:t> </a:t>
            </a:r>
          </a:p>
          <a:p>
            <a:r>
              <a:rPr lang="en-GB" dirty="0"/>
              <a:t>Check out a Repository</a:t>
            </a:r>
          </a:p>
          <a:p>
            <a:pPr lvl="1"/>
            <a:r>
              <a:rPr lang="en-GB" dirty="0"/>
              <a:t>git clone /path/to/repository</a:t>
            </a:r>
          </a:p>
          <a:p>
            <a:pPr lvl="1"/>
            <a:r>
              <a:rPr lang="en-GB" dirty="0"/>
              <a:t>git clone </a:t>
            </a:r>
            <a:r>
              <a:rPr lang="en-GB" dirty="0" err="1"/>
              <a:t>username@host</a:t>
            </a:r>
            <a:r>
              <a:rPr lang="en-GB" dirty="0"/>
              <a:t>:/path/to/repository</a:t>
            </a:r>
          </a:p>
          <a:p>
            <a:r>
              <a:rPr lang="en-GB" dirty="0"/>
              <a:t>Propose Changes to Index</a:t>
            </a:r>
          </a:p>
          <a:p>
            <a:pPr lvl="1"/>
            <a:r>
              <a:rPr lang="en-GB" dirty="0"/>
              <a:t>git add &lt;filename&gt;</a:t>
            </a:r>
          </a:p>
          <a:p>
            <a:pPr lvl="1"/>
            <a:r>
              <a:rPr lang="en-GB" dirty="0"/>
              <a:t>git add *</a:t>
            </a:r>
          </a:p>
          <a:p>
            <a:r>
              <a:rPr lang="en-GB" dirty="0"/>
              <a:t>Commit Changes</a:t>
            </a:r>
          </a:p>
          <a:p>
            <a:pPr lvl="1"/>
            <a:r>
              <a:rPr lang="en-GB" dirty="0"/>
              <a:t>git commit -m "Commit message”</a:t>
            </a:r>
          </a:p>
          <a:p>
            <a:r>
              <a:rPr lang="en-GB" dirty="0"/>
              <a:t>Push Changes (to master branch)</a:t>
            </a:r>
          </a:p>
          <a:p>
            <a:pPr lvl="1"/>
            <a:r>
              <a:rPr lang="en-GB" dirty="0"/>
              <a:t>git push origin master</a:t>
            </a:r>
          </a:p>
          <a:p>
            <a:r>
              <a:rPr lang="en-GB" dirty="0"/>
              <a:t>Update local repository to newest commit</a:t>
            </a:r>
          </a:p>
          <a:p>
            <a:pPr lvl="1"/>
            <a:r>
              <a:rPr lang="en-GB" dirty="0"/>
              <a:t>git pull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B5E73D8-A51A-35E8-444A-0E82AB1AF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125" y="1963688"/>
            <a:ext cx="2930624" cy="293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042334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294F-A25C-4367-B378-2843EC62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References and Further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DD8D4-C64B-4D9B-A739-63DB52F91D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https://betterexplained.com/articles/a-visual-guide-to-version-control/</a:t>
            </a:r>
            <a:r>
              <a:rPr lang="en-GB" dirty="0"/>
              <a:t> </a:t>
            </a:r>
          </a:p>
          <a:p>
            <a:r>
              <a:rPr lang="en-GB" dirty="0">
                <a:hlinkClick r:id="rId3"/>
              </a:rPr>
              <a:t>http://rogerdudler.github.io/git-guide/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5489555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048F9-5E69-8CB4-E309-B6D929AC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E2187-2D67-5B5F-44D7-6206B257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Business Process Modelling &amp; Enterprise Architecture</a:t>
            </a:r>
            <a:br>
              <a:rPr lang="en-GB" dirty="0"/>
            </a:br>
            <a:r>
              <a:rPr lang="en-GB" dirty="0"/>
              <a:t>And </a:t>
            </a:r>
            <a:br>
              <a:rPr lang="en-GB" dirty="0"/>
            </a:br>
            <a:r>
              <a:rPr lang="en-GB" dirty="0"/>
              <a:t>Advanced Information Systems Development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Version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C504-64FE-9F70-8C63-7A3E5475F3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4665E-C3DA-660B-2071-694A0B7D0A5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 err="1"/>
              <a:t>Rumali</a:t>
            </a:r>
            <a:r>
              <a:rPr lang="en-GB" dirty="0"/>
              <a:t> </a:t>
            </a:r>
            <a:r>
              <a:rPr lang="en-GB" dirty="0" err="1"/>
              <a:t>Sirimanne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9EFA66-1BA6-B252-4A7E-E5B9D6034D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305030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52560AC1-BBE7-DA4F-9F42-B907461B0F24}" vid="{5E483FDD-D17B-7F42-8614-BB348032E13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D2D201-97C8-4E70-BF77-76D11DC8600F}">
  <ds:schemaRefs>
    <ds:schemaRef ds:uri="http://purl.org/dc/elements/1.1/"/>
    <ds:schemaRef ds:uri="http://purl.org/dc/dcmitype/"/>
    <ds:schemaRef ds:uri="http://purl.org/dc/terms/"/>
    <ds:schemaRef ds:uri="037ba92a-5764-4297-b5f7-6ea117412624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3a4ab234-afbc-41ab-b2db-358d80304e46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18277BB-DC5E-47BA-8CA9-13DFAB3B2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7ba92a-5764-4297-b5f7-6ea117412624"/>
    <ds:schemaRef ds:uri="3a4ab234-afbc-41ab-b2db-358d80304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c0de803-e079-4d4f-96bc-6f3b3b6923e3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669</Words>
  <Application>Microsoft Macintosh PowerPoint</Application>
  <PresentationFormat>On-screen Show (4:3)</PresentationFormat>
  <Paragraphs>127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Tahoma</vt:lpstr>
      <vt:lpstr>Custom Design</vt:lpstr>
      <vt:lpstr>Business Process Modelling &amp; Enterprise Architecture And  Advanced Information Systems Development   Version Control</vt:lpstr>
      <vt:lpstr>Session Plan</vt:lpstr>
      <vt:lpstr>Basic Concepts of Versioning</vt:lpstr>
      <vt:lpstr>Projects</vt:lpstr>
      <vt:lpstr>Revisions</vt:lpstr>
      <vt:lpstr>Revision Cont’d</vt:lpstr>
      <vt:lpstr>Branches</vt:lpstr>
      <vt:lpstr>Merging</vt:lpstr>
      <vt:lpstr>Conflicts</vt:lpstr>
      <vt:lpstr>Example Scenario and Github</vt:lpstr>
      <vt:lpstr>Scenario Bug Fix</vt:lpstr>
      <vt:lpstr>Scenario Bug Fix</vt:lpstr>
      <vt:lpstr>Scenario Bug Fix</vt:lpstr>
      <vt:lpstr>Scenario Bug Fix</vt:lpstr>
      <vt:lpstr>Scenario Bug Fix</vt:lpstr>
      <vt:lpstr>Scenario Bug Fix</vt:lpstr>
      <vt:lpstr>Using a Git Repository</vt:lpstr>
      <vt:lpstr>Using a Git Repository</vt:lpstr>
      <vt:lpstr>References and Further Reading</vt:lpstr>
      <vt:lpstr>Business Process Modelling &amp; Enterprise Architecture And  Advanced Information Systems Development   Version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UFCFAF-30-3  Development of Information Systems Projects Semantic Web   Version Control</dc:title>
  <dc:creator>Dilshan Jayatilake</dc:creator>
  <cp:lastModifiedBy>Dilshan Jayatilake</cp:lastModifiedBy>
  <cp:revision>26</cp:revision>
  <cp:lastPrinted>2016-09-22T10:08:48Z</cp:lastPrinted>
  <dcterms:created xsi:type="dcterms:W3CDTF">2022-10-22T11:28:03Z</dcterms:created>
  <dcterms:modified xsi:type="dcterms:W3CDTF">2026-09-12T14:08:41Z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dlc_DocIdItemGuid">
    <vt:lpwstr>0beaf668-18bc-407e-89e0-ef66d74dcf56</vt:lpwstr>
  </property>
</Properties>
</file>