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34"/>
  </p:notesMasterIdLst>
  <p:handoutMasterIdLst>
    <p:handoutMasterId r:id="rId35"/>
  </p:handoutMasterIdLst>
  <p:sldIdLst>
    <p:sldId id="270" r:id="rId6"/>
    <p:sldId id="258" r:id="rId7"/>
    <p:sldId id="263" r:id="rId8"/>
    <p:sldId id="274" r:id="rId9"/>
    <p:sldId id="268" r:id="rId10"/>
    <p:sldId id="264" r:id="rId11"/>
    <p:sldId id="267" r:id="rId12"/>
    <p:sldId id="283" r:id="rId13"/>
    <p:sldId id="284" r:id="rId14"/>
    <p:sldId id="285" r:id="rId15"/>
    <p:sldId id="286" r:id="rId16"/>
    <p:sldId id="266" r:id="rId17"/>
    <p:sldId id="287" r:id="rId18"/>
    <p:sldId id="288" r:id="rId19"/>
    <p:sldId id="289" r:id="rId20"/>
    <p:sldId id="273" r:id="rId21"/>
    <p:sldId id="276" r:id="rId22"/>
    <p:sldId id="277" r:id="rId23"/>
    <p:sldId id="278" r:id="rId24"/>
    <p:sldId id="280" r:id="rId25"/>
    <p:sldId id="290" r:id="rId26"/>
    <p:sldId id="281" r:id="rId27"/>
    <p:sldId id="291" r:id="rId28"/>
    <p:sldId id="292" r:id="rId29"/>
    <p:sldId id="293" r:id="rId30"/>
    <p:sldId id="265" r:id="rId31"/>
    <p:sldId id="269" r:id="rId32"/>
    <p:sldId id="272" r:id="rId33"/>
  </p:sldIdLst>
  <p:sldSz cx="9144000" cy="6858000" type="screen4x3"/>
  <p:notesSz cx="9144000" cy="6858000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284EADD-FE41-494D-A42C-2B60CCFC2DE6}">
          <p14:sldIdLst>
            <p14:sldId id="270"/>
            <p14:sldId id="258"/>
            <p14:sldId id="263"/>
            <p14:sldId id="274"/>
            <p14:sldId id="268"/>
            <p14:sldId id="264"/>
            <p14:sldId id="267"/>
            <p14:sldId id="283"/>
            <p14:sldId id="284"/>
            <p14:sldId id="285"/>
            <p14:sldId id="286"/>
            <p14:sldId id="266"/>
            <p14:sldId id="287"/>
            <p14:sldId id="288"/>
            <p14:sldId id="289"/>
            <p14:sldId id="273"/>
            <p14:sldId id="276"/>
            <p14:sldId id="277"/>
            <p14:sldId id="278"/>
            <p14:sldId id="280"/>
            <p14:sldId id="290"/>
            <p14:sldId id="281"/>
            <p14:sldId id="291"/>
            <p14:sldId id="292"/>
            <p14:sldId id="293"/>
            <p14:sldId id="265"/>
            <p14:sldId id="269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5C45"/>
    <a:srgbClr val="7A7392"/>
    <a:srgbClr val="16818D"/>
    <a:srgbClr val="199DAC"/>
    <a:srgbClr val="1A9DAC"/>
    <a:srgbClr val="1C9DAC"/>
    <a:srgbClr val="598752"/>
    <a:srgbClr val="6DA463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37119-B47F-FB4D-8883-3098F0A7C169}" v="32" dt="2026-09-12T15:40:07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/>
    <p:restoredTop sz="94747"/>
  </p:normalViewPr>
  <p:slideViewPr>
    <p:cSldViewPr snapToGrid="0">
      <p:cViewPr varScale="1">
        <p:scale>
          <a:sx n="127" d="100"/>
          <a:sy n="127" d="100"/>
        </p:scale>
        <p:origin x="1552" y="192"/>
      </p:cViewPr>
      <p:guideLst>
        <p:guide orient="horz" pos="3838"/>
        <p:guide pos="2880"/>
        <p:guide pos="5103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shan Jayatilake" userId="99872c75-69be-4616-b6f0-c2c108370a54" providerId="ADAL" clId="{0690CEC7-6DC3-5174-BF36-094B51C68B1E}"/>
    <pc:docChg chg="undo redo custSel modSld">
      <pc:chgData name="Dilshan Jayatilake" userId="99872c75-69be-4616-b6f0-c2c108370a54" providerId="ADAL" clId="{0690CEC7-6DC3-5174-BF36-094B51C68B1E}" dt="2026-09-13T09:07:57.460" v="342" actId="20577"/>
      <pc:docMkLst>
        <pc:docMk/>
      </pc:docMkLst>
      <pc:sldChg chg="addSp delSp modSp mod modClrScheme chgLayout">
        <pc:chgData name="Dilshan Jayatilake" userId="99872c75-69be-4616-b6f0-c2c108370a54" providerId="ADAL" clId="{0690CEC7-6DC3-5174-BF36-094B51C68B1E}" dt="2026-09-12T15:42:48.725" v="340" actId="108"/>
        <pc:sldMkLst>
          <pc:docMk/>
          <pc:sldMk cId="515789554" sldId="265"/>
        </pc:sldMkLst>
        <pc:spChg chg="mod ord">
          <ac:chgData name="Dilshan Jayatilake" userId="99872c75-69be-4616-b6f0-c2c108370a54" providerId="ADAL" clId="{0690CEC7-6DC3-5174-BF36-094B51C68B1E}" dt="2026-09-12T15:33:16.426" v="191" actId="700"/>
          <ac:spMkLst>
            <pc:docMk/>
            <pc:sldMk cId="515789554" sldId="265"/>
            <ac:spMk id="2" creationId="{A9D86DC0-D074-2C4A-03C3-2866A338AAC6}"/>
          </ac:spMkLst>
        </pc:spChg>
        <pc:spChg chg="add mod ord">
          <ac:chgData name="Dilshan Jayatilake" userId="99872c75-69be-4616-b6f0-c2c108370a54" providerId="ADAL" clId="{0690CEC7-6DC3-5174-BF36-094B51C68B1E}" dt="2026-09-12T15:41:33.393" v="333" actId="207"/>
          <ac:spMkLst>
            <pc:docMk/>
            <pc:sldMk cId="515789554" sldId="265"/>
            <ac:spMk id="3" creationId="{7A60D2BE-C6B8-57C1-92B4-85AD32F5CF7F}"/>
          </ac:spMkLst>
        </pc:spChg>
        <pc:spChg chg="add del mod ord">
          <ac:chgData name="Dilshan Jayatilake" userId="99872c75-69be-4616-b6f0-c2c108370a54" providerId="ADAL" clId="{0690CEC7-6DC3-5174-BF36-094B51C68B1E}" dt="2026-09-12T15:42:48.725" v="340" actId="108"/>
          <ac:spMkLst>
            <pc:docMk/>
            <pc:sldMk cId="515789554" sldId="265"/>
            <ac:spMk id="5" creationId="{AE6D5EC3-D1DB-DC10-74BD-1D58DA2523E1}"/>
          </ac:spMkLst>
        </pc:spChg>
        <pc:graphicFrameChg chg="del modGraphic">
          <ac:chgData name="Dilshan Jayatilake" userId="99872c75-69be-4616-b6f0-c2c108370a54" providerId="ADAL" clId="{0690CEC7-6DC3-5174-BF36-094B51C68B1E}" dt="2026-09-12T15:08:14.785" v="2" actId="478"/>
          <ac:graphicFrameMkLst>
            <pc:docMk/>
            <pc:sldMk cId="515789554" sldId="265"/>
            <ac:graphicFrameMk id="4" creationId="{65DC5C4D-E8C3-4E2E-DC70-95811949E4B8}"/>
          </ac:graphicFrameMkLst>
        </pc:graphicFrameChg>
      </pc:sldChg>
      <pc:sldChg chg="modSp mod">
        <pc:chgData name="Dilshan Jayatilake" userId="99872c75-69be-4616-b6f0-c2c108370a54" providerId="ADAL" clId="{0690CEC7-6DC3-5174-BF36-094B51C68B1E}" dt="2026-09-13T09:07:57.460" v="342" actId="20577"/>
        <pc:sldMkLst>
          <pc:docMk/>
          <pc:sldMk cId="3019728302" sldId="269"/>
        </pc:sldMkLst>
        <pc:spChg chg="mod">
          <ac:chgData name="Dilshan Jayatilake" userId="99872c75-69be-4616-b6f0-c2c108370a54" providerId="ADAL" clId="{0690CEC7-6DC3-5174-BF36-094B51C68B1E}" dt="2026-09-13T09:07:57.460" v="342" actId="20577"/>
          <ac:spMkLst>
            <pc:docMk/>
            <pc:sldMk cId="3019728302" sldId="269"/>
            <ac:spMk id="3" creationId="{F63B6646-BEE9-C045-D1EE-FB14AF2DACA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Bullet Point</a:t>
            </a:r>
          </a:p>
          <a:p>
            <a:pPr lvl="2"/>
            <a:r>
              <a:rPr lang="en-US"/>
              <a:t>Third Bullet Point</a:t>
            </a:r>
          </a:p>
          <a:p>
            <a:pPr lvl="3"/>
            <a:endParaRPr lang="en-US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/>
              <a:t>100%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6810957" cy="2089585"/>
          </a:xfrm>
        </p:spPr>
        <p:txBody>
          <a:bodyPr>
            <a:normAutofit fontScale="90000"/>
          </a:bodyPr>
          <a:lstStyle/>
          <a:p>
            <a:r>
              <a:rPr lang="en-GB">
                <a:ea typeface="ＭＳ Ｐゴシック"/>
              </a:rPr>
              <a:t>Business Process Modelling and Enterprise Architecture</a:t>
            </a:r>
            <a:endParaRPr lang="en-US">
              <a:ea typeface="ＭＳ Ｐゴシック"/>
            </a:endParaRPr>
          </a:p>
          <a:p>
            <a:r>
              <a:rPr lang="en-GB">
                <a:ea typeface="ＭＳ Ｐゴシック"/>
              </a:rPr>
              <a:t>&amp;</a:t>
            </a:r>
            <a:br>
              <a:rPr lang="en-GB">
                <a:ea typeface="ＭＳ Ｐゴシック"/>
              </a:rPr>
            </a:br>
            <a:r>
              <a:rPr lang="en-US">
                <a:ea typeface="ＭＳ Ｐゴシック"/>
              </a:rPr>
              <a:t>Advanced Information Systems Development</a:t>
            </a:r>
            <a:br>
              <a:rPr lang="en-GB">
                <a:ea typeface="ＭＳ Ｐゴシック"/>
              </a:rPr>
            </a:br>
            <a:br>
              <a:rPr lang="en-GB">
                <a:ea typeface="ＭＳ Ｐゴシック"/>
              </a:rPr>
            </a:br>
            <a:r>
              <a:rPr lang="en-GB">
                <a:ea typeface="Calibri"/>
                <a:cs typeface="Calibri"/>
              </a:rPr>
              <a:t>Assessment &amp; Assessment Prep</a:t>
            </a:r>
            <a:endParaRPr lang="en-US"/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Dilshan </a:t>
            </a:r>
            <a:r>
              <a:rPr lang="en-GB" err="1"/>
              <a:t>Jayatilake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EAC84E-CF14-2F3F-9BE1-0BE0590BBA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057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Assessment Overview</a:t>
            </a:r>
          </a:p>
          <a:p>
            <a:r>
              <a:rPr lang="en-GB"/>
              <a:t>Assessment Components</a:t>
            </a:r>
          </a:p>
          <a:p>
            <a:r>
              <a:rPr lang="en-GB"/>
              <a:t>Coursework</a:t>
            </a:r>
          </a:p>
          <a:p>
            <a:pPr lvl="1"/>
            <a:r>
              <a:rPr lang="en-GB"/>
              <a:t>Coursework Making Scheme</a:t>
            </a:r>
          </a:p>
          <a:p>
            <a:r>
              <a:rPr lang="en-GB"/>
              <a:t>Presentation</a:t>
            </a:r>
          </a:p>
          <a:p>
            <a:pPr lvl="1"/>
            <a:r>
              <a:rPr lang="en-GB"/>
              <a:t>Presentation Making Scheme</a:t>
            </a:r>
          </a:p>
          <a:p>
            <a:r>
              <a:rPr lang="en-GB"/>
              <a:t>Contribution Matrix</a:t>
            </a:r>
          </a:p>
          <a:p>
            <a:r>
              <a:rPr lang="en-GB"/>
              <a:t>Group Allocation</a:t>
            </a:r>
          </a:p>
          <a:p>
            <a:r>
              <a:rPr lang="en-GB"/>
              <a:t>Q&amp;A</a:t>
            </a:r>
          </a:p>
          <a:p>
            <a:pPr lvl="1"/>
            <a:endParaRPr lang="en-GB"/>
          </a:p>
          <a:p>
            <a:pPr marL="9525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99875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B55A8-72DB-7AD9-9A7D-07616CCE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Assessment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D474D-676E-2642-7F2A-7D5B2164A5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dirty="0"/>
              <a:t>There are two assessment tasks</a:t>
            </a:r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Coursework (50%)</a:t>
            </a:r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Presentation (50%)</a:t>
            </a:r>
          </a:p>
          <a:p>
            <a:r>
              <a:rPr lang="en-GB" dirty="0">
                <a:ea typeface="Tahoma"/>
                <a:cs typeface="Tahoma"/>
              </a:rPr>
              <a:t>One case study over 2 units</a:t>
            </a:r>
            <a:endParaRPr lang="en-GB" dirty="0"/>
          </a:p>
          <a:p>
            <a:r>
              <a:rPr lang="en-GB" dirty="0"/>
              <a:t>This is a Group Based assessment</a:t>
            </a:r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Groups of 5 students</a:t>
            </a:r>
          </a:p>
          <a:p>
            <a:r>
              <a:rPr lang="en-GB" dirty="0"/>
              <a:t>All members must participate in developing the coursework and in presentation</a:t>
            </a:r>
          </a:p>
          <a:p>
            <a:r>
              <a:rPr lang="en-GB" dirty="0"/>
              <a:t>Medium of communication / presentation is English</a:t>
            </a:r>
          </a:p>
          <a:p>
            <a:r>
              <a:rPr lang="en-GB" dirty="0"/>
              <a:t>Marks are based on the </a:t>
            </a:r>
            <a:r>
              <a:rPr lang="en-GB" sz="2400" b="1" u="sng" dirty="0"/>
              <a:t>individual contribution</a:t>
            </a:r>
            <a:endParaRPr lang="en-GB" b="1" u="sng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195869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29F1-6779-0CE8-8B16-AD12A32A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Business Process Modelling and Enterprise Architecture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5290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E50B-3538-9035-523E-F1CE7A63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Coursework (Part –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16F7-6CC0-3715-182C-081D092A3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6383"/>
            <a:ext cx="6730031" cy="4602937"/>
          </a:xfrm>
        </p:spPr>
        <p:txBody>
          <a:bodyPr lIns="0" tIns="0" rIns="0" bIns="0" anchor="t"/>
          <a:lstStyle/>
          <a:p>
            <a:pPr marL="9525" indent="0">
              <a:buNone/>
            </a:pPr>
            <a:endParaRPr lang="en-US" dirty="0">
              <a:ea typeface="Tahoma"/>
              <a:cs typeface="Tahoma"/>
            </a:endParaRPr>
          </a:p>
          <a:p>
            <a:pPr marL="285750" indent="-285750"/>
            <a:r>
              <a:rPr lang="en-GB" sz="1500" b="1" dirty="0">
                <a:latin typeface="Arial"/>
                <a:ea typeface="Tahoma"/>
                <a:cs typeface="Arial"/>
              </a:rPr>
              <a:t>Task</a:t>
            </a:r>
            <a:r>
              <a:rPr lang="en-GB" sz="1500" dirty="0">
                <a:latin typeface="Arial"/>
                <a:ea typeface="Tahoma"/>
                <a:cs typeface="Arial"/>
              </a:rPr>
              <a:t>: Strategic BPMN process models (LO1, LO3) </a:t>
            </a:r>
          </a:p>
          <a:p>
            <a:pPr marL="285750" indent="-285750"/>
            <a:r>
              <a:rPr lang="en-GB" sz="1500" b="1" dirty="0">
                <a:latin typeface="Arial"/>
                <a:ea typeface="Tahoma"/>
                <a:cs typeface="Arial"/>
              </a:rPr>
              <a:t>Requirements</a:t>
            </a:r>
            <a:r>
              <a:rPr lang="en-GB" sz="1500" dirty="0">
                <a:latin typeface="Arial"/>
                <a:ea typeface="Tahoma"/>
                <a:cs typeface="Arial"/>
              </a:rPr>
              <a:t>:</a:t>
            </a:r>
            <a:endParaRPr lang="en-GB" dirty="0"/>
          </a:p>
          <a:p>
            <a:pPr marL="541020" lvl="1"/>
            <a:r>
              <a:rPr lang="en-GB" sz="1500" dirty="0">
                <a:latin typeface="Arial"/>
                <a:ea typeface="Tahoma"/>
                <a:cs typeface="Arial"/>
              </a:rPr>
              <a:t>Create high-level BPMN models for the initial system release, showing the wider business process, key organisational roles, responsibilities, and external system interactions.</a:t>
            </a:r>
          </a:p>
          <a:p>
            <a:pPr marL="541020" lvl="1"/>
            <a:r>
              <a:rPr lang="en-GB" sz="1500" dirty="0">
                <a:latin typeface="Arial"/>
                <a:ea typeface="Tahoma"/>
                <a:cs typeface="Arial"/>
              </a:rPr>
              <a:t>Show how the strategic business activities connect to the detailed operational BPMN model that will be implemented.</a:t>
            </a:r>
          </a:p>
          <a:p>
            <a:pPr marL="541020" lvl="1"/>
            <a:r>
              <a:rPr lang="en-GB" sz="1500" dirty="0">
                <a:latin typeface="Arial"/>
                <a:ea typeface="Tahoma"/>
                <a:cs typeface="Arial"/>
              </a:rPr>
              <a:t>Explain the abstraction level used, including what is covered in the model and any gaps between the full business process and the implemented solution.</a:t>
            </a:r>
            <a:endParaRPr lang="en-GB" sz="15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617536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E50B-3538-9035-523E-F1CE7A63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Coursework (part –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16F7-6CC0-3715-182C-081D092A3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/>
              <a:t>Task 02: </a:t>
            </a:r>
            <a:r>
              <a:rPr lang="en-GB" dirty="0"/>
              <a:t>Socio-technical modelling using </a:t>
            </a:r>
            <a:r>
              <a:rPr lang="en-GB" dirty="0" err="1"/>
              <a:t>i</a:t>
            </a:r>
            <a:r>
              <a:rPr lang="en-GB" dirty="0"/>
              <a:t>* (LO2, LO3)</a:t>
            </a:r>
          </a:p>
          <a:p>
            <a:r>
              <a:rPr lang="en-GB" b="1" dirty="0"/>
              <a:t>Requirements:</a:t>
            </a:r>
          </a:p>
          <a:p>
            <a:pPr lvl="1"/>
            <a:r>
              <a:rPr lang="en-GB" dirty="0"/>
              <a:t>Develop </a:t>
            </a:r>
            <a:r>
              <a:rPr lang="en-GB" dirty="0" err="1"/>
              <a:t>i</a:t>
            </a:r>
            <a:r>
              <a:rPr lang="en-GB" dirty="0"/>
              <a:t>* SD and SR models for the initial system release.</a:t>
            </a:r>
          </a:p>
          <a:p>
            <a:pPr lvl="1"/>
            <a:r>
              <a:rPr lang="en-GB" dirty="0"/>
              <a:t>Identify key actors, goals, soft goals, tasks, resources and dependencies.</a:t>
            </a:r>
          </a:p>
          <a:p>
            <a:pPr lvl="1"/>
            <a:r>
              <a:rPr lang="en-GB" dirty="0"/>
              <a:t>Explain modelling choices and assumptions, ensuring consistency between the SD and SR models.</a:t>
            </a:r>
          </a:p>
        </p:txBody>
      </p:sp>
    </p:spTree>
    <p:extLst>
      <p:ext uri="{BB962C8B-B14F-4D97-AF65-F5344CB8AC3E}">
        <p14:creationId xmlns:p14="http://schemas.microsoft.com/office/powerpoint/2010/main" val="256413896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E50B-3538-9035-523E-F1CE7A63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Coursework (Part – 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16F7-6CC0-3715-182C-081D092A3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>
                <a:ea typeface="Tahoma"/>
                <a:cs typeface="Tahoma"/>
              </a:rPr>
              <a:t>Task 03: </a:t>
            </a:r>
            <a:r>
              <a:rPr lang="en-GB" dirty="0">
                <a:ea typeface="Tahoma"/>
                <a:cs typeface="Tahoma"/>
              </a:rPr>
              <a:t>Evaluation of alignment with requirements (LO1, LO2, LO3)</a:t>
            </a:r>
          </a:p>
          <a:p>
            <a:r>
              <a:rPr lang="en-GB" b="1" dirty="0">
                <a:ea typeface="Tahoma"/>
                <a:cs typeface="Tahoma"/>
              </a:rPr>
              <a:t>Requirements:</a:t>
            </a:r>
          </a:p>
          <a:p>
            <a:pPr lvl="1"/>
            <a:r>
              <a:rPr lang="en-GB" dirty="0">
                <a:ea typeface="Tahoma"/>
                <a:cs typeface="Tahoma"/>
              </a:rPr>
              <a:t>Evaluate how well the initial release addresses stakeholder goals, dependencies and business requirements.</a:t>
            </a:r>
          </a:p>
          <a:p>
            <a:pPr lvl="1"/>
            <a:r>
              <a:rPr lang="en-GB" dirty="0">
                <a:ea typeface="Tahoma"/>
                <a:cs typeface="Tahoma"/>
              </a:rPr>
              <a:t>Trace selected requirements across the strategic process model, operational BPMN model and implemented solution.</a:t>
            </a:r>
          </a:p>
          <a:p>
            <a:pPr lvl="1"/>
            <a:r>
              <a:rPr lang="en-GB" dirty="0">
                <a:ea typeface="Tahoma"/>
                <a:cs typeface="Tahoma"/>
              </a:rPr>
              <a:t>Identify supported, partially supported and unsupported requirements, and justify improvements for the second release.</a:t>
            </a:r>
            <a:endParaRPr lang="en-GB" sz="1100" dirty="0">
              <a:latin typeface="Tahoma"/>
              <a:ea typeface="Tahoma"/>
            </a:endParaRPr>
          </a:p>
          <a:p>
            <a:endParaRPr lang="en-GB" dirty="0"/>
          </a:p>
          <a:p>
            <a:pPr marL="541020" lvl="1" indent="-27432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97398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48DF7-B78F-9A2E-B044-037E244C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A042-C75F-F5F4-ECC5-7190B9C1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 (Part – 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BCA13-71B5-D8AE-07E8-9384754E28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US" b="1" dirty="0"/>
              <a:t>Task 04</a:t>
            </a:r>
            <a:r>
              <a:rPr lang="en-US" dirty="0"/>
              <a:t>: Evaluation of acceptance criteria (LO2)</a:t>
            </a:r>
          </a:p>
          <a:p>
            <a:r>
              <a:rPr lang="en-GB" b="1" dirty="0">
                <a:ea typeface="Tahoma"/>
                <a:cs typeface="Tahoma"/>
              </a:rPr>
              <a:t>Requirements:</a:t>
            </a:r>
          </a:p>
          <a:p>
            <a:pPr lvl="1"/>
            <a:r>
              <a:rPr lang="en-US" dirty="0"/>
              <a:t>Critically evaluate the clarity, measurability, relevance and coverage of the initial release acceptance criteria.</a:t>
            </a:r>
          </a:p>
          <a:p>
            <a:pPr lvl="1"/>
            <a:r>
              <a:rPr lang="en-US" dirty="0"/>
              <a:t>Execute acceptance tests against a clearly identified version of the solution and report results with supporting evidence.</a:t>
            </a:r>
          </a:p>
          <a:p>
            <a:pPr lvl="1"/>
            <a:r>
              <a:rPr lang="en-US" dirty="0"/>
              <a:t>Explain unmet criteria, limitations and justified revisions without hiding failures against the original criteria.</a:t>
            </a:r>
            <a:endParaRPr lang="en-GB" sz="1100" dirty="0">
              <a:latin typeface="Tahoma"/>
              <a:ea typeface="Tahoma"/>
            </a:endParaRPr>
          </a:p>
          <a:p>
            <a:endParaRPr lang="en-GB" dirty="0"/>
          </a:p>
          <a:p>
            <a:pPr marL="541020" lvl="1" indent="-27432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281514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F203F-A499-F2BB-BA73-CE797DD6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070F6-CABC-E047-49CF-E34665BB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9AF0B-57D6-96F7-F406-F47023FFBE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US" b="1" dirty="0"/>
              <a:t>Agile project delivery: </a:t>
            </a:r>
            <a:r>
              <a:rPr lang="en-US" dirty="0"/>
              <a:t>Project management and sprint evidence (LO3)</a:t>
            </a:r>
          </a:p>
          <a:p>
            <a:r>
              <a:rPr lang="en-GB" b="1" dirty="0">
                <a:ea typeface="Tahoma"/>
                <a:cs typeface="Tahoma"/>
              </a:rPr>
              <a:t>Requirements:</a:t>
            </a:r>
          </a:p>
          <a:p>
            <a:pPr lvl="1"/>
            <a:r>
              <a:rPr lang="en-US" dirty="0"/>
              <a:t>Maintain a </a:t>
            </a:r>
            <a:r>
              <a:rPr lang="en-US" dirty="0" err="1"/>
              <a:t>prioritised</a:t>
            </a:r>
            <a:r>
              <a:rPr lang="en-US" dirty="0"/>
              <a:t> product backlog and sprint backlogs with sprint goals, owners, estimates, acceptance conditions, dependencies and status.</a:t>
            </a:r>
          </a:p>
          <a:p>
            <a:pPr lvl="1"/>
            <a:r>
              <a:rPr lang="en-US" dirty="0"/>
              <a:t>Ensure every activity has a first owner and second owner, with clear progress updates and handover information.</a:t>
            </a:r>
          </a:p>
          <a:p>
            <a:pPr lvl="1"/>
            <a:r>
              <a:rPr lang="en-US" dirty="0"/>
              <a:t>Keep artefacts, code, notes, testing evidence and retrospective actions in the shared project workspace, using a clear definition of done.</a:t>
            </a:r>
          </a:p>
          <a:p>
            <a:pPr marL="541020" lvl="1" indent="-27432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3151978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4201-C54C-1801-3F2F-6779A88E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Marked Standups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1E58B-C3A7-F247-16B2-B8A88259DB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Two marked standups will assess individual progress, not attendance alone.</a:t>
            </a:r>
          </a:p>
          <a:p>
            <a:r>
              <a:rPr lang="en-US" dirty="0"/>
              <a:t>Each student must give a concise update on:</a:t>
            </a:r>
          </a:p>
          <a:p>
            <a:pPr lvl="1"/>
            <a:r>
              <a:rPr lang="en-US" dirty="0"/>
              <a:t>Completed work</a:t>
            </a:r>
          </a:p>
          <a:p>
            <a:pPr lvl="1"/>
            <a:r>
              <a:rPr lang="en-US" dirty="0"/>
              <a:t>Next actions</a:t>
            </a:r>
          </a:p>
          <a:p>
            <a:pPr lvl="1"/>
            <a:r>
              <a:rPr lang="en-US" dirty="0"/>
              <a:t>Blockers or risks</a:t>
            </a:r>
          </a:p>
          <a:p>
            <a:pPr lvl="1"/>
            <a:r>
              <a:rPr lang="en-US" dirty="0"/>
              <a:t>Dependencies and ownership</a:t>
            </a:r>
          </a:p>
          <a:p>
            <a:r>
              <a:rPr lang="en-US" dirty="0"/>
              <a:t>Students must show supporting evidence from the task board, repository, models or project workspace.</a:t>
            </a:r>
          </a:p>
          <a:p>
            <a:r>
              <a:rPr lang="en-US" dirty="0"/>
              <a:t>Students should explain progress towards the sprint goal and identify any second-owner support or handover required.</a:t>
            </a:r>
          </a:p>
          <a:p>
            <a:r>
              <a:rPr lang="en-US" dirty="0"/>
              <a:t>Marks are based on the quality, accuracy and evidence of the update, including how issues are identified and addressed.</a:t>
            </a:r>
          </a:p>
        </p:txBody>
      </p:sp>
    </p:spTree>
    <p:extLst>
      <p:ext uri="{BB962C8B-B14F-4D97-AF65-F5344CB8AC3E}">
        <p14:creationId xmlns:p14="http://schemas.microsoft.com/office/powerpoint/2010/main" val="320682440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1E3F-90EA-F431-0548-6C175395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Marked Sprint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ACDF3-FBDC-DD5B-4339-16BE8C28D6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Two marked sprint reviews will assess the group’s integrated project increment against the sprint goal and agreed acceptance conditions.</a:t>
            </a:r>
          </a:p>
          <a:p>
            <a:r>
              <a:rPr lang="en-US" dirty="0"/>
              <a:t>The group must demonstrate completed work, clearly distinguish unfinished work and explain key decisions, limitations and feedback received.</a:t>
            </a:r>
          </a:p>
          <a:p>
            <a:r>
              <a:rPr lang="en-US" dirty="0"/>
              <a:t>All members must be able to explain their own contribution to the sprint.</a:t>
            </a:r>
          </a:p>
          <a:p>
            <a:r>
              <a:rPr lang="en-US" b="1" dirty="0"/>
              <a:t>Sprint Review 3: </a:t>
            </a:r>
            <a:r>
              <a:rPr lang="en-US" dirty="0"/>
              <a:t>draft strategic BPMN and </a:t>
            </a:r>
            <a:r>
              <a:rPr lang="en-US" dirty="0" err="1"/>
              <a:t>i</a:t>
            </a:r>
            <a:r>
              <a:rPr lang="en-US" dirty="0"/>
              <a:t>* SD/SR models, with initial requirements traceability.</a:t>
            </a:r>
          </a:p>
          <a:p>
            <a:r>
              <a:rPr lang="en-US" b="1" dirty="0"/>
              <a:t>Sprint Review 4: </a:t>
            </a:r>
            <a:r>
              <a:rPr lang="en-US" dirty="0"/>
              <a:t>refined strategic and </a:t>
            </a:r>
            <a:r>
              <a:rPr lang="en-US" dirty="0" err="1"/>
              <a:t>i</a:t>
            </a:r>
            <a:r>
              <a:rPr lang="en-US" dirty="0"/>
              <a:t>* models, alignment evaluation and acceptance test evidence.</a:t>
            </a:r>
          </a:p>
        </p:txBody>
      </p:sp>
    </p:spTree>
    <p:extLst>
      <p:ext uri="{BB962C8B-B14F-4D97-AF65-F5344CB8AC3E}">
        <p14:creationId xmlns:p14="http://schemas.microsoft.com/office/powerpoint/2010/main" val="80742643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6DC0-D074-2C4A-03C3-2866A338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63497-DC67-AD48-8B2B-5574AD11E1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pPr marL="266382"/>
            <a:r>
              <a:rPr lang="en-US" sz="1500" b="1" dirty="0"/>
              <a:t>Task 01: </a:t>
            </a:r>
            <a:r>
              <a:rPr lang="en-GB" sz="1500" dirty="0">
                <a:cs typeface="Arial"/>
              </a:rPr>
              <a:t>Operational Model</a:t>
            </a:r>
          </a:p>
          <a:p>
            <a:pPr marL="541020" lvl="1"/>
            <a:r>
              <a:rPr lang="en-GB" sz="1500" dirty="0">
                <a:cs typeface="Arial"/>
              </a:rPr>
              <a:t>Develop a detailed operational BPMN model of the required business process.</a:t>
            </a:r>
          </a:p>
          <a:p>
            <a:pPr marL="541020" lvl="1"/>
            <a:r>
              <a:rPr lang="en-GB" sz="1500" dirty="0">
                <a:cs typeface="Arial"/>
              </a:rPr>
              <a:t>Identify participants, responsibilities, activities, messages, decisions, business rules and exceptions.</a:t>
            </a:r>
          </a:p>
          <a:p>
            <a:pPr marL="541020" lvl="1"/>
            <a:r>
              <a:rPr lang="en-GB" sz="1500" dirty="0">
                <a:cs typeface="Arial"/>
              </a:rPr>
              <a:t>Show the system boundary and external service or organisational interactions.</a:t>
            </a:r>
          </a:p>
          <a:p>
            <a:pPr marL="541020" lvl="1"/>
            <a:r>
              <a:rPr lang="en-GB" sz="1500" dirty="0">
                <a:cs typeface="Arial"/>
              </a:rPr>
              <a:t>Explain how the process supports the business requirements.</a:t>
            </a:r>
          </a:p>
          <a:p>
            <a:pPr marL="807720" lvl="2"/>
            <a:endParaRPr lang="en-GB" sz="1500" dirty="0">
              <a:cs typeface="Arial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899532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0FADA-2C16-8D9B-9CC0-C671CE0D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6751-D96E-51F9-B8A2-35856488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A3673-D362-4268-919F-B4980DB209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pPr marL="266382"/>
            <a:r>
              <a:rPr lang="en-US" sz="1500" b="1" dirty="0"/>
              <a:t>Task 02: </a:t>
            </a:r>
            <a:r>
              <a:rPr lang="en-US" sz="1500" dirty="0"/>
              <a:t>Acceptance Test Plan</a:t>
            </a:r>
          </a:p>
          <a:p>
            <a:pPr marL="541020" lvl="1"/>
            <a:r>
              <a:rPr lang="en-GB" sz="1500" dirty="0">
                <a:cs typeface="Arial"/>
              </a:rPr>
              <a:t>Define clear and measurable acceptance criteria linked to requirements or business rules.</a:t>
            </a:r>
          </a:p>
          <a:p>
            <a:pPr marL="541020" lvl="1"/>
            <a:r>
              <a:rPr lang="en-GB" sz="1500" dirty="0">
                <a:cs typeface="Arial"/>
              </a:rPr>
              <a:t>Include test scenarios, preconditions, test data, actions, expected outcomes and pass/fail conditions.</a:t>
            </a:r>
          </a:p>
          <a:p>
            <a:pPr marL="541020" lvl="1"/>
            <a:r>
              <a:rPr lang="en-GB" sz="1500" dirty="0">
                <a:cs typeface="Arial"/>
              </a:rPr>
              <a:t>Cover the main workflow, alternatives, exceptions and relevant non-functional expectations.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1023511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66F9E-E4B7-89EC-8653-4A4E480B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33EE-7BD0-1C07-16DA-4D9CB6FA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E6897-748D-CE0E-392B-20C8031C74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pPr marL="266382"/>
            <a:r>
              <a:rPr lang="en-US" sz="1500" b="1" dirty="0"/>
              <a:t>Task 03: </a:t>
            </a:r>
            <a:r>
              <a:rPr lang="en-US" sz="1500" dirty="0"/>
              <a:t>Justification of Model Decisions</a:t>
            </a:r>
          </a:p>
          <a:p>
            <a:pPr marL="541020" lvl="1"/>
            <a:r>
              <a:rPr lang="en-GB" sz="1500" dirty="0">
                <a:cs typeface="Arial"/>
              </a:rPr>
              <a:t>Justify process structure, participant boundaries, task allocation, gateways and exception handling.</a:t>
            </a:r>
          </a:p>
          <a:p>
            <a:pPr marL="541020" lvl="1"/>
            <a:r>
              <a:rPr lang="en-GB" sz="1500" dirty="0">
                <a:cs typeface="Arial"/>
              </a:rPr>
              <a:t>Discuss alternatives, assumptions and trade-offs.</a:t>
            </a:r>
          </a:p>
          <a:p>
            <a:pPr marL="541020" lvl="1"/>
            <a:r>
              <a:rPr lang="en-GB" sz="1500" dirty="0">
                <a:cs typeface="Arial"/>
              </a:rPr>
              <a:t>Evaluate the suitability of the design within the business and application context.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818695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C3DA-1C30-6135-9FCF-875A270D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Agile Delivery, Standups and Sprint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336F0-2991-0977-DE85-267390597F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Teams must maintain a </a:t>
            </a:r>
            <a:r>
              <a:rPr lang="en-US" dirty="0" err="1"/>
              <a:t>prioritised</a:t>
            </a:r>
            <a:r>
              <a:rPr lang="en-US" dirty="0"/>
              <a:t> product backlog and sprint backlog with sprint goals, owners, estimates, acceptance conditions, dependencies and status.</a:t>
            </a:r>
          </a:p>
          <a:p>
            <a:r>
              <a:rPr lang="en-US" dirty="0"/>
              <a:t>Each activity must have a first owner and second owner, with progress, handover notes and next actions recorded in the shared workspace.</a:t>
            </a:r>
          </a:p>
          <a:p>
            <a:r>
              <a:rPr lang="en-US" b="1" dirty="0"/>
              <a:t>Standup 1 </a:t>
            </a:r>
            <a:r>
              <a:rPr lang="en-US" dirty="0"/>
              <a:t>and </a:t>
            </a:r>
            <a:r>
              <a:rPr lang="en-US" b="1" dirty="0"/>
              <a:t>Standup 2</a:t>
            </a:r>
            <a:r>
              <a:rPr lang="en-US" dirty="0"/>
              <a:t> assess individual evidence of progress, next actions, blockers, ownership and handover support.</a:t>
            </a:r>
          </a:p>
          <a:p>
            <a:r>
              <a:rPr lang="en-US" b="1" dirty="0"/>
              <a:t>Sprint Review 1 </a:t>
            </a:r>
            <a:r>
              <a:rPr lang="en-US" dirty="0"/>
              <a:t>focuses on the initial operational BPMN, identified requirements and draft acceptance criteria.</a:t>
            </a:r>
          </a:p>
          <a:p>
            <a:r>
              <a:rPr lang="en-US" b="1" dirty="0"/>
              <a:t>Sprint Review 2 </a:t>
            </a:r>
            <a:r>
              <a:rPr lang="en-US" dirty="0"/>
              <a:t>focuses on the refined operational BPMN, acceptance test plan and justified modelling decisions.</a:t>
            </a:r>
          </a:p>
        </p:txBody>
      </p:sp>
    </p:spTree>
    <p:extLst>
      <p:ext uri="{BB962C8B-B14F-4D97-AF65-F5344CB8AC3E}">
        <p14:creationId xmlns:p14="http://schemas.microsoft.com/office/powerpoint/2010/main" val="3433756455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29F1-6779-0CE8-8B16-AD12A32A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Advance Information System Development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725468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491E-9D48-BD2B-16F5-47143232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Portfolio Exercise (Part – 1)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A2C5A-E9EA-5032-B1AD-50902BF48F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>
                <a:latin typeface="Calibri"/>
                <a:ea typeface="Tahoma"/>
                <a:cs typeface="Tahoma"/>
              </a:rPr>
              <a:t>Task 01: </a:t>
            </a:r>
            <a:r>
              <a:rPr lang="en-GB" dirty="0">
                <a:latin typeface="Calibri"/>
                <a:ea typeface="Tahoma"/>
                <a:cs typeface="Tahoma"/>
              </a:rPr>
              <a:t>Operational BPMN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Develop an executable BPMN model based on the case study and business requirements.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Represent participants, responsibilities, user tasks, service tasks, events, gateways and interactions.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Configure the model for deployment and demonstrate normal, alternative and exception paths.</a:t>
            </a:r>
            <a:endParaRPr lang="en-GB" sz="1500" dirty="0">
              <a:latin typeface="Arial"/>
              <a:ea typeface="Tahom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742810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491E-9D48-BD2B-16F5-47143232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Portfolio Exercise (Part – 2)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A2C5A-E9EA-5032-B1AD-50902BF48F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>
                <a:latin typeface="Calibri"/>
                <a:ea typeface="Tahoma"/>
                <a:cs typeface="Tahoma"/>
              </a:rPr>
              <a:t>Task 02: </a:t>
            </a:r>
            <a:r>
              <a:rPr lang="en-GB" dirty="0">
                <a:latin typeface="Calibri"/>
                <a:ea typeface="Tahoma"/>
                <a:cs typeface="Tahoma"/>
              </a:rPr>
              <a:t>External Workers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Implement external workers for automated process activities.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Show how variables are received, processed and returned to continue the workflow.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Address invalid inputs, service failures, testing evidence and configuration management.</a:t>
            </a:r>
            <a:endParaRPr lang="en-GB" sz="1500" dirty="0">
              <a:latin typeface="Arial"/>
              <a:ea typeface="Tahom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0109529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491E-9D48-BD2B-16F5-47143232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Portfolio Exercise (Part – 3)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A2C5A-E9EA-5032-B1AD-50902BF48F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>
                <a:latin typeface="Calibri"/>
                <a:ea typeface="Tahoma"/>
                <a:cs typeface="Tahoma"/>
              </a:rPr>
              <a:t>Task 03: </a:t>
            </a:r>
            <a:r>
              <a:rPr lang="en-GB" dirty="0">
                <a:latin typeface="Calibri"/>
                <a:ea typeface="Tahoma"/>
                <a:cs typeface="Tahoma"/>
              </a:rPr>
              <a:t>Camunda Forms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Create and connect forms to relevant user tasks.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Capture required information using clear labels, suitable controls and input validation.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Ensure variables are exchanged correctly and consider usability, accessibility and consistency.</a:t>
            </a:r>
            <a:endParaRPr lang="en-GB" sz="1500" dirty="0">
              <a:latin typeface="Arial"/>
              <a:ea typeface="Tahom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064691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491E-9D48-BD2B-16F5-47143232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Coursework (Part – 4)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A2C5A-E9EA-5032-B1AD-50902BF48F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>
                <a:latin typeface="Calibri"/>
                <a:ea typeface="Tahoma"/>
                <a:cs typeface="Tahoma"/>
              </a:rPr>
              <a:t>Task 04: </a:t>
            </a:r>
            <a:r>
              <a:rPr lang="en-GB" dirty="0">
                <a:latin typeface="Calibri"/>
                <a:ea typeface="Tahoma"/>
                <a:cs typeface="Tahoma"/>
              </a:rPr>
              <a:t>Demonstration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Demonstrate the integrated initial release using representative case-study scenarios.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Show BPMN execution, worker behaviour, form interactions and final outcomes.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Include alternative or failure scenarios and explain individual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2697827340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37A5-310F-D0E7-8E9D-EBA4CDFA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Agile Delivery, Testing, Standups and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4A701-C9B7-0CBC-18AB-974023EDC8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7886700" cy="4608512"/>
          </a:xfrm>
        </p:spPr>
        <p:txBody>
          <a:bodyPr/>
          <a:lstStyle/>
          <a:p>
            <a:r>
              <a:rPr lang="en-US" sz="2000" dirty="0"/>
              <a:t>Teams must maintain product and sprint backlogs with sprint goals, owners, estimates, acceptance conditions, dependencies and status.</a:t>
            </a:r>
          </a:p>
          <a:p>
            <a:r>
              <a:rPr lang="en-US" sz="2000" dirty="0"/>
              <a:t>Each activity must have a first owner and second owner, with progress, handover notes and next actions recorded in the shared workspace.</a:t>
            </a:r>
          </a:p>
          <a:p>
            <a:r>
              <a:rPr lang="en-US" sz="2000" dirty="0"/>
              <a:t>Testing evidence, configuration management and regular integration must be maintained throughout the sprint.</a:t>
            </a:r>
          </a:p>
          <a:p>
            <a:r>
              <a:rPr lang="en-US" sz="2000" b="1" dirty="0"/>
              <a:t>Standup 1 </a:t>
            </a:r>
            <a:r>
              <a:rPr lang="en-US" sz="2000" dirty="0"/>
              <a:t>and</a:t>
            </a:r>
            <a:r>
              <a:rPr lang="en-US" sz="2000" b="1" dirty="0"/>
              <a:t> Standup 2 </a:t>
            </a:r>
            <a:r>
              <a:rPr lang="en-US" sz="2000" dirty="0"/>
              <a:t>assess individual evidence of progress, next actions, blockers, ownership, handover support, and early Camunda workers/forms.</a:t>
            </a:r>
          </a:p>
          <a:p>
            <a:r>
              <a:rPr lang="en-US" sz="2000" b="1" dirty="0"/>
              <a:t>Sprint Review 1 </a:t>
            </a:r>
            <a:r>
              <a:rPr lang="en-US" sz="2000" dirty="0"/>
              <a:t>focuses on the initial executable BPMN increment, configuration management evidence and project plan.</a:t>
            </a:r>
          </a:p>
          <a:p>
            <a:r>
              <a:rPr lang="en-US" sz="2000" b="1" dirty="0"/>
              <a:t>Sprint Review 2 </a:t>
            </a:r>
            <a:r>
              <a:rPr lang="en-US" sz="2000" dirty="0"/>
              <a:t>focuses on the integrated workflow increment, including the operational model, external workers and Camunda Forms.</a:t>
            </a:r>
          </a:p>
        </p:txBody>
      </p:sp>
    </p:spTree>
    <p:extLst>
      <p:ext uri="{BB962C8B-B14F-4D97-AF65-F5344CB8AC3E}">
        <p14:creationId xmlns:p14="http://schemas.microsoft.com/office/powerpoint/2010/main" val="3986812052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491E-9D48-BD2B-16F5-47143232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Presentation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A2C5A-E9EA-5032-B1AD-50902BF48F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>
                <a:latin typeface="Calibri"/>
                <a:ea typeface="Tahoma"/>
                <a:cs typeface="Tahoma"/>
              </a:rPr>
              <a:t>Task 01: </a:t>
            </a:r>
            <a:r>
              <a:rPr lang="en-GB" dirty="0">
                <a:latin typeface="Calibri"/>
                <a:ea typeface="Tahoma"/>
                <a:cs typeface="Tahoma"/>
              </a:rPr>
              <a:t>Second Release Development Work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Review feedback and prioritise improvements to the operational BPMN, external workers, Camunda Forms and integration.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Demonstrate the second release against the initial release baseline.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Validate affected behaviour and explain remaining limitations.</a:t>
            </a:r>
            <a:endParaRPr lang="en-US" sz="1000" dirty="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08099053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4ECB8-BAD9-1E27-FF4D-1003F346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0CBB-ADA3-5F19-C735-C6F4650B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Presentation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426AD-09C8-E6DD-025C-0220E1FBEB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>
                <a:latin typeface="Calibri"/>
                <a:ea typeface="Tahoma"/>
                <a:cs typeface="Tahoma"/>
              </a:rPr>
              <a:t>Task 02: </a:t>
            </a:r>
            <a:r>
              <a:rPr lang="en-GB" dirty="0">
                <a:latin typeface="Calibri"/>
                <a:ea typeface="Tahoma"/>
                <a:cs typeface="Tahoma"/>
              </a:rPr>
              <a:t>Changes Made in Response to Feedback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Maintain a feedback response record linking feedback to decisions, actions, evidence and outcomes.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Explain how each implemented change addresses the issue.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Justify any feedback not implemented, including residual risks or future actions.</a:t>
            </a:r>
            <a:endParaRPr lang="en-US" sz="1000" dirty="0"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666995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44A8-8FC3-3ABE-E16F-A6005E8D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6323-5E38-A042-F8A4-FFB60DE9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Presentation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561DF-0B70-D026-9595-ED3BD9AB27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b="1" dirty="0">
                <a:latin typeface="Calibri"/>
                <a:ea typeface="Tahoma"/>
                <a:cs typeface="Tahoma"/>
              </a:rPr>
              <a:t>Task 03: </a:t>
            </a:r>
            <a:r>
              <a:rPr lang="en-GB" dirty="0">
                <a:latin typeface="Calibri"/>
                <a:ea typeface="Tahoma"/>
                <a:cs typeface="Tahoma"/>
              </a:rPr>
              <a:t>Evaluation and Justification of the Project Plan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Compare the original plan and revised plans against actual progress.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Evaluate scope, priorities, estimates, task allocation, dependencies, integration, risks and sprint outcomes.</a:t>
            </a:r>
          </a:p>
          <a:p>
            <a:pPr lvl="1"/>
            <a:r>
              <a:rPr lang="en-GB" dirty="0">
                <a:latin typeface="Calibri"/>
                <a:ea typeface="Tahoma"/>
                <a:cs typeface="Tahoma"/>
              </a:rPr>
              <a:t>Explain delays or changes using project evidence and identify improvements for future delivery.</a:t>
            </a:r>
          </a:p>
        </p:txBody>
      </p:sp>
    </p:spTree>
    <p:extLst>
      <p:ext uri="{BB962C8B-B14F-4D97-AF65-F5344CB8AC3E}">
        <p14:creationId xmlns:p14="http://schemas.microsoft.com/office/powerpoint/2010/main" val="1860347219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3DD4-2F71-C93A-C1A5-01CC6370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Agile Delivery, Standups and Sprint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CAF5B-3B25-379A-7275-770E327F55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7886700" cy="4608512"/>
          </a:xfrm>
        </p:spPr>
        <p:txBody>
          <a:bodyPr/>
          <a:lstStyle/>
          <a:p>
            <a:r>
              <a:rPr lang="en-US" dirty="0"/>
              <a:t>Teams must maintain product and sprint backlogs with sprint goals, owners, estimates, acceptance conditions, dependencies and status.</a:t>
            </a:r>
          </a:p>
          <a:p>
            <a:r>
              <a:rPr lang="en-US" dirty="0"/>
              <a:t>Each activity must have a first owner and second owner, with handover notes, current progress and next actions recorded in the shared workspace.</a:t>
            </a:r>
          </a:p>
          <a:p>
            <a:r>
              <a:rPr lang="en-US" dirty="0"/>
              <a:t>Teams must keep clear evidence of implementation, testing, configuration management, feedback responses and regular integration.</a:t>
            </a:r>
          </a:p>
          <a:p>
            <a:r>
              <a:rPr lang="en-US" b="1" dirty="0"/>
              <a:t>Standup 3</a:t>
            </a:r>
            <a:r>
              <a:rPr lang="en-US" dirty="0"/>
              <a:t> and </a:t>
            </a:r>
            <a:r>
              <a:rPr lang="en-US" b="1" dirty="0"/>
              <a:t>Standup 4</a:t>
            </a:r>
            <a:r>
              <a:rPr lang="en-US" dirty="0"/>
              <a:t> assess individual evidence of progress, next actions, blockers, ownership, follow-up actions and handover support.</a:t>
            </a:r>
          </a:p>
          <a:p>
            <a:r>
              <a:rPr lang="en-US" b="1" dirty="0"/>
              <a:t>Sprint Review 3 </a:t>
            </a:r>
            <a:r>
              <a:rPr lang="en-US" dirty="0"/>
              <a:t>focuses on </a:t>
            </a:r>
            <a:r>
              <a:rPr lang="en-US" dirty="0" err="1"/>
              <a:t>prioritised</a:t>
            </a:r>
            <a:r>
              <a:rPr lang="en-US" dirty="0"/>
              <a:t> feedback actions, implemented improvements and the revised sprint plan.</a:t>
            </a:r>
          </a:p>
          <a:p>
            <a:r>
              <a:rPr lang="en-US" b="1" dirty="0"/>
              <a:t>Sprint Review 4 </a:t>
            </a:r>
            <a:r>
              <a:rPr lang="en-US" dirty="0"/>
              <a:t>focuses on validated improvements, evidence of responses to feedback and evaluation of planned versus actual progress.</a:t>
            </a:r>
          </a:p>
        </p:txBody>
      </p:sp>
    </p:spTree>
    <p:extLst>
      <p:ext uri="{BB962C8B-B14F-4D97-AF65-F5344CB8AC3E}">
        <p14:creationId xmlns:p14="http://schemas.microsoft.com/office/powerpoint/2010/main" val="2004574604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6DC0-D074-2C4A-03C3-2866A338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 &amp; Individual Mark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0D2BE-C6B8-57C1-92B4-85AD32F5CF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580" y="1628800"/>
            <a:ext cx="3946596" cy="4536504"/>
          </a:xfrm>
        </p:spPr>
        <p:txBody>
          <a:bodyPr/>
          <a:lstStyle/>
          <a:p>
            <a:r>
              <a:rPr lang="en-US" sz="1600" dirty="0"/>
              <a:t>Assume a group receives:</a:t>
            </a:r>
          </a:p>
          <a:p>
            <a:pPr lvl="1"/>
            <a:r>
              <a:rPr lang="en-US" sz="1600" dirty="0"/>
              <a:t>Portfolio group mark – 70% </a:t>
            </a:r>
          </a:p>
          <a:p>
            <a:pPr lvl="1"/>
            <a:r>
              <a:rPr lang="en-US" sz="1600" dirty="0"/>
              <a:t>Sprint Review 1 – 68%</a:t>
            </a:r>
          </a:p>
          <a:p>
            <a:pPr lvl="1"/>
            <a:r>
              <a:rPr lang="en-US" sz="1600" dirty="0"/>
              <a:t>Sprint Review 2 – 70%</a:t>
            </a:r>
          </a:p>
          <a:p>
            <a:r>
              <a:rPr lang="en-US" sz="1600" dirty="0"/>
              <a:t>Student A:</a:t>
            </a:r>
          </a:p>
          <a:p>
            <a:pPr lvl="1"/>
            <a:r>
              <a:rPr lang="en-US" sz="1600" dirty="0"/>
              <a:t>Standup 1 individual mark: </a:t>
            </a:r>
            <a:r>
              <a:rPr lang="en-US" sz="1600" dirty="0">
                <a:solidFill>
                  <a:srgbClr val="00B050"/>
                </a:solidFill>
              </a:rPr>
              <a:t>75%</a:t>
            </a:r>
          </a:p>
          <a:p>
            <a:pPr lvl="1"/>
            <a:r>
              <a:rPr lang="en-US" sz="1600" dirty="0"/>
              <a:t>Standup 2 individual mark: </a:t>
            </a:r>
            <a:r>
              <a:rPr lang="en-US" sz="1600" dirty="0">
                <a:solidFill>
                  <a:srgbClr val="92D050"/>
                </a:solidFill>
              </a:rPr>
              <a:t>80%</a:t>
            </a:r>
          </a:p>
          <a:p>
            <a:pPr lvl="1"/>
            <a:r>
              <a:rPr lang="en-US" sz="1600" dirty="0"/>
              <a:t>Tutor-evidenced contribution – </a:t>
            </a:r>
            <a:r>
              <a:rPr lang="en-US" sz="1600" dirty="0">
                <a:solidFill>
                  <a:srgbClr val="00B050"/>
                </a:solidFill>
              </a:rPr>
              <a:t>26%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Group-agreed contribution – </a:t>
            </a:r>
            <a:r>
              <a:rPr lang="en-US" sz="1600" dirty="0">
                <a:solidFill>
                  <a:srgbClr val="00B0F0"/>
                </a:solidFill>
              </a:rPr>
              <a:t>25%</a:t>
            </a:r>
          </a:p>
          <a:p>
            <a:r>
              <a:rPr lang="en-US" sz="1600" dirty="0"/>
              <a:t>Final Contribution: </a:t>
            </a:r>
          </a:p>
          <a:p>
            <a:pPr lvl="1"/>
            <a:r>
              <a:rPr lang="en-US" sz="1600" dirty="0"/>
              <a:t>(</a:t>
            </a:r>
            <a:r>
              <a:rPr lang="en-US" sz="1600" dirty="0">
                <a:solidFill>
                  <a:srgbClr val="00B050"/>
                </a:solidFill>
              </a:rPr>
              <a:t>26%</a:t>
            </a:r>
            <a:r>
              <a:rPr lang="en-US" sz="1600" dirty="0"/>
              <a:t> × 60%) + (</a:t>
            </a:r>
            <a:r>
              <a:rPr lang="en-US" sz="1600" dirty="0">
                <a:solidFill>
                  <a:srgbClr val="00B0F0"/>
                </a:solidFill>
              </a:rPr>
              <a:t>25%</a:t>
            </a:r>
            <a:r>
              <a:rPr lang="en-US" sz="1600" dirty="0"/>
              <a:t> × 40%) = </a:t>
            </a:r>
            <a:r>
              <a:rPr lang="en-US" sz="1600" dirty="0">
                <a:solidFill>
                  <a:srgbClr val="16818D"/>
                </a:solidFill>
              </a:rPr>
              <a:t>25.6%</a:t>
            </a:r>
          </a:p>
          <a:p>
            <a:r>
              <a:rPr lang="en-US" sz="1600" dirty="0"/>
              <a:t>In a group of five students, the expected equal contribution is </a:t>
            </a:r>
            <a:r>
              <a:rPr lang="en-US" sz="1600" dirty="0">
                <a:solidFill>
                  <a:srgbClr val="7A7392"/>
                </a:solidFill>
              </a:rPr>
              <a:t>20%. </a:t>
            </a:r>
            <a:r>
              <a:rPr lang="en-US" sz="1600" dirty="0"/>
              <a:t>Therefore, Student A’s contribution factor is:</a:t>
            </a:r>
          </a:p>
          <a:p>
            <a:pPr lvl="1"/>
            <a:r>
              <a:rPr lang="en-US" sz="1600" dirty="0">
                <a:solidFill>
                  <a:srgbClr val="16818D"/>
                </a:solidFill>
              </a:rPr>
              <a:t>25.6%</a:t>
            </a:r>
            <a:r>
              <a:rPr lang="en-US" sz="1600" dirty="0"/>
              <a:t> ÷ </a:t>
            </a:r>
            <a:r>
              <a:rPr lang="en-US" sz="1600" dirty="0">
                <a:solidFill>
                  <a:srgbClr val="7A7392"/>
                </a:solidFill>
              </a:rPr>
              <a:t>20%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A65C45"/>
                </a:solidFill>
              </a:rPr>
              <a:t>1.28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D5EC3-D1DB-DC10-74BD-1D58DA2523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4738757" cy="4536504"/>
          </a:xfrm>
        </p:spPr>
        <p:txBody>
          <a:bodyPr/>
          <a:lstStyle/>
          <a:p>
            <a:r>
              <a:rPr lang="en-US" sz="1600" dirty="0"/>
              <a:t>Student A Final Mark</a:t>
            </a:r>
          </a:p>
          <a:p>
            <a:pPr lvl="1"/>
            <a:r>
              <a:rPr lang="en-US" sz="1600" dirty="0"/>
              <a:t>The group-based marks are adjusted using the contribution factor:</a:t>
            </a:r>
          </a:p>
          <a:p>
            <a:pPr lvl="2"/>
            <a:r>
              <a:rPr lang="en-US" sz="1600" dirty="0"/>
              <a:t>Adjusted final deliverables: 70 × </a:t>
            </a:r>
            <a:r>
              <a:rPr lang="en-US" sz="1600" dirty="0">
                <a:solidFill>
                  <a:srgbClr val="A65C45"/>
                </a:solidFill>
              </a:rPr>
              <a:t>1.28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00B0F0"/>
                </a:solidFill>
              </a:rPr>
              <a:t>89.6%</a:t>
            </a:r>
          </a:p>
          <a:p>
            <a:pPr lvl="2"/>
            <a:r>
              <a:rPr lang="en-US" sz="1600" dirty="0"/>
              <a:t>Adjusted Sprint Review 1: 68 × </a:t>
            </a:r>
            <a:r>
              <a:rPr lang="en-US" sz="1600" dirty="0">
                <a:solidFill>
                  <a:srgbClr val="A65C45"/>
                </a:solidFill>
              </a:rPr>
              <a:t>1.28</a:t>
            </a:r>
            <a:r>
              <a:rPr lang="en-US" sz="1600" dirty="0"/>
              <a:t> 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87.0%</a:t>
            </a:r>
          </a:p>
          <a:p>
            <a:pPr lvl="2"/>
            <a:r>
              <a:rPr lang="en-US" sz="1600" dirty="0"/>
              <a:t>Adjusted Sprint Review 2: 72 × </a:t>
            </a:r>
            <a:r>
              <a:rPr lang="en-US" sz="1600" dirty="0">
                <a:solidFill>
                  <a:srgbClr val="A65C45"/>
                </a:solidFill>
              </a:rPr>
              <a:t>1.28</a:t>
            </a:r>
            <a:r>
              <a:rPr lang="en-US" sz="1600" dirty="0"/>
              <a:t> =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92.2%</a:t>
            </a:r>
          </a:p>
          <a:p>
            <a:r>
              <a:rPr lang="en-US" sz="1600" dirty="0"/>
              <a:t>The Portfolio assessment is weights:</a:t>
            </a:r>
          </a:p>
          <a:p>
            <a:pPr lvl="1"/>
            <a:r>
              <a:rPr lang="en-US" sz="1600" dirty="0"/>
              <a:t>Final deliverables: 70%</a:t>
            </a:r>
          </a:p>
          <a:p>
            <a:pPr lvl="1"/>
            <a:r>
              <a:rPr lang="en-US" sz="1600" dirty="0"/>
              <a:t>Standup 1 &amp; 2 (Each): 5%</a:t>
            </a:r>
          </a:p>
          <a:p>
            <a:pPr lvl="1"/>
            <a:r>
              <a:rPr lang="en-US" sz="1600" dirty="0"/>
              <a:t>Sprint Review 1 &amp; 2 (Each): 10%</a:t>
            </a:r>
          </a:p>
          <a:p>
            <a:r>
              <a:rPr lang="en-US" sz="1600" dirty="0"/>
              <a:t>Final Portfolio Mark = (</a:t>
            </a:r>
            <a:r>
              <a:rPr lang="en-US" sz="1600" dirty="0">
                <a:solidFill>
                  <a:srgbClr val="00B0F0"/>
                </a:solidFill>
              </a:rPr>
              <a:t>89.6</a:t>
            </a:r>
            <a:r>
              <a:rPr lang="en-US" sz="1600" dirty="0"/>
              <a:t> × 0.70) + (</a:t>
            </a:r>
            <a:r>
              <a:rPr lang="en-US" sz="1600" dirty="0">
                <a:solidFill>
                  <a:srgbClr val="00B050"/>
                </a:solidFill>
              </a:rPr>
              <a:t>75</a:t>
            </a:r>
            <a:r>
              <a:rPr lang="en-US" sz="1600" dirty="0"/>
              <a:t> × 0.05) + (</a:t>
            </a:r>
            <a:r>
              <a:rPr lang="en-US" sz="1600" dirty="0">
                <a:solidFill>
                  <a:srgbClr val="92D050"/>
                </a:solidFill>
              </a:rPr>
              <a:t>80</a:t>
            </a:r>
            <a:r>
              <a:rPr lang="en-US" sz="1600" dirty="0"/>
              <a:t> × 0.05) + 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87.0</a:t>
            </a:r>
            <a:r>
              <a:rPr lang="en-US" sz="1600" dirty="0"/>
              <a:t> × 0.10) + (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92.2</a:t>
            </a:r>
            <a:r>
              <a:rPr lang="en-US" sz="1600" dirty="0"/>
              <a:t> × 0.10)</a:t>
            </a:r>
          </a:p>
          <a:p>
            <a:pPr lvl="1"/>
            <a:endParaRPr lang="en-US" sz="16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5789554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5381-257E-8B32-8253-3BDBE263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Group Allocation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B6646-BEE9-C045-D1EE-FB14AF2DAC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9434"/>
            <a:ext cx="3670390" cy="4599886"/>
          </a:xfrm>
        </p:spPr>
        <p:txBody>
          <a:bodyPr lIns="0" tIns="0" rIns="0" bIns="0" anchor="t"/>
          <a:lstStyle/>
          <a:p>
            <a:r>
              <a:rPr lang="en-GB" dirty="0">
                <a:ea typeface="Tahoma"/>
                <a:cs typeface="Tahoma"/>
              </a:rPr>
              <a:t>Group MUST have 5 members</a:t>
            </a:r>
          </a:p>
          <a:p>
            <a:r>
              <a:rPr lang="en-GB" dirty="0">
                <a:ea typeface="Tahoma"/>
                <a:cs typeface="Tahoma"/>
              </a:rPr>
              <a:t>All members must participate in all the activities</a:t>
            </a:r>
          </a:p>
          <a:p>
            <a:r>
              <a:rPr lang="en-GB" dirty="0">
                <a:ea typeface="Tahoma"/>
                <a:cs typeface="Tahoma"/>
              </a:rPr>
              <a:t>Induvial marks will be based on your contribution to the project</a:t>
            </a:r>
          </a:p>
          <a:p>
            <a:r>
              <a:rPr lang="en-GB" dirty="0">
                <a:ea typeface="Tahoma"/>
                <a:cs typeface="Tahoma"/>
              </a:rPr>
              <a:t>You cannot change your groups once allocated. </a:t>
            </a:r>
          </a:p>
          <a:p>
            <a:r>
              <a:rPr lang="en-GB" dirty="0">
                <a:ea typeface="Tahoma"/>
                <a:cs typeface="Tahoma"/>
              </a:rPr>
              <a:t>Your group allocation must be given to the module team on or before </a:t>
            </a:r>
            <a:r>
              <a:rPr lang="en-GB">
                <a:ea typeface="Tahoma"/>
                <a:cs typeface="Tahoma"/>
              </a:rPr>
              <a:t>the </a:t>
            </a:r>
            <a:r>
              <a:rPr lang="en-GB" sz="2000" b="1" u="sng">
                <a:solidFill>
                  <a:srgbClr val="FF0000"/>
                </a:solidFill>
                <a:ea typeface="Tahoma"/>
                <a:cs typeface="Tahoma"/>
              </a:rPr>
              <a:t>15</a:t>
            </a:r>
            <a:r>
              <a:rPr lang="en-GB" sz="2000" b="1" u="sng" baseline="30000">
                <a:solidFill>
                  <a:srgbClr val="FF0000"/>
                </a:solidFill>
                <a:ea typeface="Tahoma"/>
                <a:cs typeface="Tahoma"/>
              </a:rPr>
              <a:t>th </a:t>
            </a:r>
            <a:r>
              <a:rPr lang="en-GB" sz="2000" b="1" u="sng" dirty="0">
                <a:solidFill>
                  <a:srgbClr val="FF0000"/>
                </a:solidFill>
                <a:ea typeface="Tahoma"/>
                <a:cs typeface="Tahoma"/>
              </a:rPr>
              <a:t>September 2026 at 12</a:t>
            </a:r>
            <a:r>
              <a:rPr lang="en-GB" sz="2000" b="1" u="sng" dirty="0">
                <a:solidFill>
                  <a:srgbClr val="FF0000"/>
                </a:solidFill>
                <a:ea typeface="Tahoma"/>
                <a:cs typeface="Tahoma"/>
                <a:sym typeface="Wingdings" pitchFamily="2" charset="2"/>
              </a:rPr>
              <a:t>:00</a:t>
            </a:r>
            <a:endParaRPr lang="en-GB" b="1" u="sn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47611-6E97-CB25-17C4-EA8FDD49A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807" y="1702818"/>
            <a:ext cx="3769563" cy="282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28302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6810957" cy="2089585"/>
          </a:xfrm>
        </p:spPr>
        <p:txBody>
          <a:bodyPr>
            <a:normAutofit fontScale="90000"/>
          </a:bodyPr>
          <a:lstStyle/>
          <a:p>
            <a:r>
              <a:rPr lang="en-GB">
                <a:ea typeface="ＭＳ Ｐゴシック"/>
              </a:rPr>
              <a:t>Business Process Modelling and Enterprise Architecture</a:t>
            </a:r>
            <a:endParaRPr lang="en-US">
              <a:ea typeface="ＭＳ Ｐゴシック"/>
            </a:endParaRPr>
          </a:p>
          <a:p>
            <a:r>
              <a:rPr lang="en-GB">
                <a:ea typeface="ＭＳ Ｐゴシック"/>
              </a:rPr>
              <a:t>&amp;</a:t>
            </a:r>
            <a:br>
              <a:rPr lang="en-GB">
                <a:ea typeface="ＭＳ Ｐゴシック"/>
              </a:rPr>
            </a:br>
            <a:r>
              <a:rPr lang="en-US">
                <a:ea typeface="ＭＳ Ｐゴシック"/>
              </a:rPr>
              <a:t>Advanced Information Systems Development</a:t>
            </a:r>
            <a:br>
              <a:rPr lang="en-GB">
                <a:ea typeface="ＭＳ Ｐゴシック"/>
              </a:rPr>
            </a:br>
            <a:br>
              <a:rPr lang="en-GB">
                <a:ea typeface="ＭＳ Ｐゴシック"/>
              </a:rPr>
            </a:br>
            <a:r>
              <a:rPr lang="en-GB">
                <a:ea typeface="Calibri"/>
                <a:cs typeface="Calibri"/>
              </a:rPr>
              <a:t>Assessment &amp; Assessment Prep</a:t>
            </a:r>
            <a:endParaRPr lang="en-US"/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Dilshan </a:t>
            </a:r>
            <a:r>
              <a:rPr lang="en-GB" err="1"/>
              <a:t>Jayatilake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BF56F-8731-1BB7-9106-AAA3341AE6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509548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83B50C7-8859-BA4D-BF1D-41AD69591194}" vid="{F0544C57-6431-A54D-99B5-6A970AAA675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D2D201-97C8-4E70-BF77-76D11DC8600F}">
  <ds:schemaRefs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037ba92a-5764-4297-b5f7-6ea117412624"/>
    <ds:schemaRef ds:uri="http://schemas.microsoft.com/office/2006/documentManagement/types"/>
    <ds:schemaRef ds:uri="3a4ab234-afbc-41ab-b2db-358d80304e46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18277BB-DC5E-47BA-8CA9-13DFAB3B242A}">
  <ds:schemaRefs>
    <ds:schemaRef ds:uri="037ba92a-5764-4297-b5f7-6ea117412624"/>
    <ds:schemaRef ds:uri="3a4ab234-afbc-41ab-b2db-358d80304e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1183</TotalTime>
  <Words>1828</Words>
  <Application>Microsoft Macintosh PowerPoint</Application>
  <PresentationFormat>On-screen Show (4:3)</PresentationFormat>
  <Paragraphs>176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ＭＳ Ｐゴシック</vt:lpstr>
      <vt:lpstr>Arial</vt:lpstr>
      <vt:lpstr>Calibri</vt:lpstr>
      <vt:lpstr>Courier New</vt:lpstr>
      <vt:lpstr>Tahoma</vt:lpstr>
      <vt:lpstr>Custom Design</vt:lpstr>
      <vt:lpstr>Business Process Modelling and Enterprise Architecture &amp; Advanced Information Systems Development  Assessment &amp; Assessment Prep </vt:lpstr>
      <vt:lpstr>Session Plan</vt:lpstr>
      <vt:lpstr>Assessment Overview</vt:lpstr>
      <vt:lpstr>Business Process Modelling and Enterprise Architecture  </vt:lpstr>
      <vt:lpstr>Coursework (Part – 1)</vt:lpstr>
      <vt:lpstr>Coursework (part – 2)</vt:lpstr>
      <vt:lpstr>Coursework (Part – 3)</vt:lpstr>
      <vt:lpstr>Coursework (Part – 4)</vt:lpstr>
      <vt:lpstr>Coursework</vt:lpstr>
      <vt:lpstr>Marked Standups</vt:lpstr>
      <vt:lpstr>Marked Sprint Reviews</vt:lpstr>
      <vt:lpstr>Presentation</vt:lpstr>
      <vt:lpstr>Presentation</vt:lpstr>
      <vt:lpstr>Presentation</vt:lpstr>
      <vt:lpstr>Agile Delivery, Standups and Sprint Reviews</vt:lpstr>
      <vt:lpstr>Advance Information System Development  </vt:lpstr>
      <vt:lpstr>Portfolio Exercise (Part – 1)</vt:lpstr>
      <vt:lpstr>Portfolio Exercise (Part – 2)</vt:lpstr>
      <vt:lpstr>Portfolio Exercise (Part – 3)</vt:lpstr>
      <vt:lpstr>Coursework (Part – 4)</vt:lpstr>
      <vt:lpstr>Agile Delivery, Testing, Standups and Reviews</vt:lpstr>
      <vt:lpstr>Presentation</vt:lpstr>
      <vt:lpstr>Presentation</vt:lpstr>
      <vt:lpstr>Presentation</vt:lpstr>
      <vt:lpstr>Agile Delivery, Standups and Sprint Reviews</vt:lpstr>
      <vt:lpstr>Contribution &amp; Individual Mark</vt:lpstr>
      <vt:lpstr>Group Allocation</vt:lpstr>
      <vt:lpstr>Business Process Modelling and Enterprise Architecture &amp; Advanced Information Systems Development  Assessment &amp; Assessment Prep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– Oriented  Development  Assessment &amp; Assessment Prep </dc:title>
  <dc:creator>Dilshan Jayatilake</dc:creator>
  <cp:lastModifiedBy>Dilshan Jayatilake</cp:lastModifiedBy>
  <cp:revision>175</cp:revision>
  <cp:lastPrinted>2016-09-22T10:08:48Z</cp:lastPrinted>
  <dcterms:created xsi:type="dcterms:W3CDTF">2024-01-10T14:16:44Z</dcterms:created>
  <dcterms:modified xsi:type="dcterms:W3CDTF">2026-09-13T09:07:58Z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</Properties>
</file>