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5"/>
  </p:sldMasterIdLst>
  <p:notesMasterIdLst>
    <p:notesMasterId r:id="rId22"/>
  </p:notesMasterIdLst>
  <p:handoutMasterIdLst>
    <p:handoutMasterId r:id="rId23"/>
  </p:handoutMasterIdLst>
  <p:sldIdLst>
    <p:sldId id="256" r:id="rId6"/>
    <p:sldId id="327" r:id="rId7"/>
    <p:sldId id="270" r:id="rId8"/>
    <p:sldId id="271" r:id="rId9"/>
    <p:sldId id="272" r:id="rId10"/>
    <p:sldId id="273" r:id="rId11"/>
    <p:sldId id="274" r:id="rId12"/>
    <p:sldId id="277" r:id="rId13"/>
    <p:sldId id="313" r:id="rId14"/>
    <p:sldId id="314" r:id="rId15"/>
    <p:sldId id="317" r:id="rId16"/>
    <p:sldId id="318" r:id="rId17"/>
    <p:sldId id="319" r:id="rId18"/>
    <p:sldId id="320" r:id="rId19"/>
    <p:sldId id="325" r:id="rId20"/>
    <p:sldId id="328" r:id="rId21"/>
  </p:sldIdLst>
  <p:sldSz cx="9144000" cy="6858000" type="screen4x3"/>
  <p:notesSz cx="9144000" cy="6858000"/>
  <p:custDataLst>
    <p:tags r:id="rId2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PMN – Introduction, Tasks and Gateways" id="{4284EADD-FE41-494D-A42C-2B60CCFC2DE6}">
          <p14:sldIdLst>
            <p14:sldId id="256"/>
            <p14:sldId id="327"/>
            <p14:sldId id="270"/>
            <p14:sldId id="271"/>
            <p14:sldId id="272"/>
            <p14:sldId id="273"/>
            <p14:sldId id="274"/>
            <p14:sldId id="277"/>
            <p14:sldId id="313"/>
            <p14:sldId id="314"/>
            <p14:sldId id="317"/>
            <p14:sldId id="318"/>
            <p14:sldId id="319"/>
            <p14:sldId id="320"/>
            <p14:sldId id="325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AC"/>
    <a:srgbClr val="1A9DAC"/>
    <a:srgbClr val="16818D"/>
    <a:srgbClr val="1C9DAC"/>
    <a:srgbClr val="7A7392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D4F39B-1503-706E-7E1B-53B93C95936E}" v="6" dt="2024-09-12T10:53:55.382"/>
    <p1510:client id="{B671392F-6DB4-5EB2-305C-10F7BC009E0A}" v="18" dt="2024-09-12T10:53:17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04" autoAdjust="0"/>
    <p:restoredTop sz="84344"/>
  </p:normalViewPr>
  <p:slideViewPr>
    <p:cSldViewPr showGuides="1">
      <p:cViewPr varScale="1">
        <p:scale>
          <a:sx n="103" d="100"/>
          <a:sy n="103" d="100"/>
        </p:scale>
        <p:origin x="2688" y="176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-48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83" d="100"/>
          <a:sy n="183" d="100"/>
        </p:scale>
        <p:origin x="208" y="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gs" Target="tags/tag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shan Jayatilake" userId="S::dilshan.jayatilake@uwe.ac.uk::99872c75-69be-4616-b6f0-c2c108370a54" providerId="AD" clId="Web-{B671392F-6DB4-5EB2-305C-10F7BC009E0A}"/>
    <pc:docChg chg="addSld delSld modSld sldOrd modSection">
      <pc:chgData name="Dilshan Jayatilake" userId="S::dilshan.jayatilake@uwe.ac.uk::99872c75-69be-4616-b6f0-c2c108370a54" providerId="AD" clId="Web-{B671392F-6DB4-5EB2-305C-10F7BC009E0A}" dt="2024-09-12T10:53:17.359" v="16"/>
      <pc:docMkLst>
        <pc:docMk/>
      </pc:docMkLst>
      <pc:sldChg chg="modSp add del ord">
        <pc:chgData name="Dilshan Jayatilake" userId="S::dilshan.jayatilake@uwe.ac.uk::99872c75-69be-4616-b6f0-c2c108370a54" providerId="AD" clId="Web-{B671392F-6DB4-5EB2-305C-10F7BC009E0A}" dt="2024-09-12T10:52:55.515" v="5" actId="20577"/>
        <pc:sldMkLst>
          <pc:docMk/>
          <pc:sldMk cId="3764760811" sldId="256"/>
        </pc:sldMkLst>
        <pc:spChg chg="mod">
          <ac:chgData name="Dilshan Jayatilake" userId="S::dilshan.jayatilake@uwe.ac.uk::99872c75-69be-4616-b6f0-c2c108370a54" providerId="AD" clId="Web-{B671392F-6DB4-5EB2-305C-10F7BC009E0A}" dt="2024-09-12T10:52:55.515" v="5" actId="20577"/>
          <ac:spMkLst>
            <pc:docMk/>
            <pc:sldMk cId="3764760811" sldId="256"/>
            <ac:spMk id="2" creationId="{60EF4C6A-CA2E-4C35-8BA5-916C10203F2E}"/>
          </ac:spMkLst>
        </pc:spChg>
      </pc:sldChg>
      <pc:sldChg chg="del">
        <pc:chgData name="Dilshan Jayatilake" userId="S::dilshan.jayatilake@uwe.ac.uk::99872c75-69be-4616-b6f0-c2c108370a54" providerId="AD" clId="Web-{B671392F-6DB4-5EB2-305C-10F7BC009E0A}" dt="2024-09-12T10:53:17.359" v="16"/>
        <pc:sldMkLst>
          <pc:docMk/>
          <pc:sldMk cId="1719998758" sldId="258"/>
        </pc:sldMkLst>
      </pc:sldChg>
      <pc:sldChg chg="del">
        <pc:chgData name="Dilshan Jayatilake" userId="S::dilshan.jayatilake@uwe.ac.uk::99872c75-69be-4616-b6f0-c2c108370a54" providerId="AD" clId="Web-{B671392F-6DB4-5EB2-305C-10F7BC009E0A}" dt="2024-09-12T10:53:17.359" v="15"/>
        <pc:sldMkLst>
          <pc:docMk/>
          <pc:sldMk cId="2798873970" sldId="262"/>
        </pc:sldMkLst>
      </pc:sldChg>
      <pc:sldChg chg="del">
        <pc:chgData name="Dilshan Jayatilake" userId="S::dilshan.jayatilake@uwe.ac.uk::99872c75-69be-4616-b6f0-c2c108370a54" providerId="AD" clId="Web-{B671392F-6DB4-5EB2-305C-10F7BC009E0A}" dt="2024-09-12T10:53:17.359" v="14"/>
        <pc:sldMkLst>
          <pc:docMk/>
          <pc:sldMk cId="3233305448" sldId="263"/>
        </pc:sldMkLst>
      </pc:sldChg>
      <pc:sldChg chg="del">
        <pc:chgData name="Dilshan Jayatilake" userId="S::dilshan.jayatilake@uwe.ac.uk::99872c75-69be-4616-b6f0-c2c108370a54" providerId="AD" clId="Web-{B671392F-6DB4-5EB2-305C-10F7BC009E0A}" dt="2024-09-12T10:53:17.359" v="13"/>
        <pc:sldMkLst>
          <pc:docMk/>
          <pc:sldMk cId="768844920" sldId="264"/>
        </pc:sldMkLst>
      </pc:sldChg>
      <pc:sldChg chg="del">
        <pc:chgData name="Dilshan Jayatilake" userId="S::dilshan.jayatilake@uwe.ac.uk::99872c75-69be-4616-b6f0-c2c108370a54" providerId="AD" clId="Web-{B671392F-6DB4-5EB2-305C-10F7BC009E0A}" dt="2024-09-12T10:53:17.359" v="12"/>
        <pc:sldMkLst>
          <pc:docMk/>
          <pc:sldMk cId="3926889678" sldId="265"/>
        </pc:sldMkLst>
      </pc:sldChg>
      <pc:sldChg chg="del">
        <pc:chgData name="Dilshan Jayatilake" userId="S::dilshan.jayatilake@uwe.ac.uk::99872c75-69be-4616-b6f0-c2c108370a54" providerId="AD" clId="Web-{B671392F-6DB4-5EB2-305C-10F7BC009E0A}" dt="2024-09-12T10:53:17.359" v="11"/>
        <pc:sldMkLst>
          <pc:docMk/>
          <pc:sldMk cId="3838982781" sldId="266"/>
        </pc:sldMkLst>
      </pc:sldChg>
      <pc:sldChg chg="del">
        <pc:chgData name="Dilshan Jayatilake" userId="S::dilshan.jayatilake@uwe.ac.uk::99872c75-69be-4616-b6f0-c2c108370a54" providerId="AD" clId="Web-{B671392F-6DB4-5EB2-305C-10F7BC009E0A}" dt="2024-09-12T10:53:17.359" v="10"/>
        <pc:sldMkLst>
          <pc:docMk/>
          <pc:sldMk cId="2982337744" sldId="267"/>
        </pc:sldMkLst>
      </pc:sldChg>
      <pc:sldChg chg="del">
        <pc:chgData name="Dilshan Jayatilake" userId="S::dilshan.jayatilake@uwe.ac.uk::99872c75-69be-4616-b6f0-c2c108370a54" providerId="AD" clId="Web-{B671392F-6DB4-5EB2-305C-10F7BC009E0A}" dt="2024-09-12T10:53:17.359" v="9"/>
        <pc:sldMkLst>
          <pc:docMk/>
          <pc:sldMk cId="3367808651" sldId="268"/>
        </pc:sldMkLst>
      </pc:sldChg>
      <pc:sldChg chg="del">
        <pc:chgData name="Dilshan Jayatilake" userId="S::dilshan.jayatilake@uwe.ac.uk::99872c75-69be-4616-b6f0-c2c108370a54" providerId="AD" clId="Web-{B671392F-6DB4-5EB2-305C-10F7BC009E0A}" dt="2024-09-12T10:53:17.343" v="8"/>
        <pc:sldMkLst>
          <pc:docMk/>
          <pc:sldMk cId="4208259846" sldId="269"/>
        </pc:sldMkLst>
      </pc:sldChg>
      <pc:sldChg chg="modSp">
        <pc:chgData name="Dilshan Jayatilake" userId="S::dilshan.jayatilake@uwe.ac.uk::99872c75-69be-4616-b6f0-c2c108370a54" providerId="AD" clId="Web-{B671392F-6DB4-5EB2-305C-10F7BC009E0A}" dt="2024-09-12T10:53:07.062" v="7" actId="20577"/>
        <pc:sldMkLst>
          <pc:docMk/>
          <pc:sldMk cId="2390860247" sldId="327"/>
        </pc:sldMkLst>
        <pc:spChg chg="mod">
          <ac:chgData name="Dilshan Jayatilake" userId="S::dilshan.jayatilake@uwe.ac.uk::99872c75-69be-4616-b6f0-c2c108370a54" providerId="AD" clId="Web-{B671392F-6DB4-5EB2-305C-10F7BC009E0A}" dt="2024-09-12T10:53:07.062" v="7" actId="20577"/>
          <ac:spMkLst>
            <pc:docMk/>
            <pc:sldMk cId="2390860247" sldId="327"/>
            <ac:spMk id="3" creationId="{C6584B59-410C-81C3-BC72-FF8F078640BB}"/>
          </ac:spMkLst>
        </pc:spChg>
      </pc:sldChg>
    </pc:docChg>
  </pc:docChgLst>
  <pc:docChgLst>
    <pc:chgData name="Dilshan Jayatilake" userId="S::dilshan.jayatilake@uwe.ac.uk::99872c75-69be-4616-b6f0-c2c108370a54" providerId="AD" clId="Web-{D0CDBE13-3BE3-1E60-4558-51D3747099B7}"/>
    <pc:docChg chg="modSld">
      <pc:chgData name="Dilshan Jayatilake" userId="S::dilshan.jayatilake@uwe.ac.uk::99872c75-69be-4616-b6f0-c2c108370a54" providerId="AD" clId="Web-{D0CDBE13-3BE3-1E60-4558-51D3747099B7}" dt="2022-11-08T09:42:52.231" v="22"/>
      <pc:docMkLst>
        <pc:docMk/>
      </pc:docMkLst>
      <pc:sldChg chg="addSp delSp modSp">
        <pc:chgData name="Dilshan Jayatilake" userId="S::dilshan.jayatilake@uwe.ac.uk::99872c75-69be-4616-b6f0-c2c108370a54" providerId="AD" clId="Web-{D0CDBE13-3BE3-1E60-4558-51D3747099B7}" dt="2022-11-08T09:42:52.231" v="22"/>
        <pc:sldMkLst>
          <pc:docMk/>
          <pc:sldMk cId="51930946" sldId="272"/>
        </pc:sldMkLst>
        <pc:graphicFrameChg chg="add del mod">
          <ac:chgData name="Dilshan Jayatilake" userId="S::dilshan.jayatilake@uwe.ac.uk::99872c75-69be-4616-b6f0-c2c108370a54" providerId="AD" clId="Web-{D0CDBE13-3BE3-1E60-4558-51D3747099B7}" dt="2022-11-08T09:42:29.933" v="12"/>
          <ac:graphicFrameMkLst>
            <pc:docMk/>
            <pc:sldMk cId="51930946" sldId="272"/>
            <ac:graphicFrameMk id="7" creationId="{73D4B40C-65CB-5927-8E3E-559A879247DF}"/>
          </ac:graphicFrameMkLst>
        </pc:graphicFrameChg>
        <pc:graphicFrameChg chg="mod modGraphic">
          <ac:chgData name="Dilshan Jayatilake" userId="S::dilshan.jayatilake@uwe.ac.uk::99872c75-69be-4616-b6f0-c2c108370a54" providerId="AD" clId="Web-{D0CDBE13-3BE3-1E60-4558-51D3747099B7}" dt="2022-11-08T09:42:52.231" v="22"/>
          <ac:graphicFrameMkLst>
            <pc:docMk/>
            <pc:sldMk cId="51930946" sldId="272"/>
            <ac:graphicFrameMk id="17" creationId="{145285C6-4C6F-39B3-207B-C022D47B29AE}"/>
          </ac:graphicFrameMkLst>
        </pc:graphicFrameChg>
      </pc:sldChg>
    </pc:docChg>
  </pc:docChgLst>
  <pc:docChgLst>
    <pc:chgData name="Dilshan Jayatilake" userId="99872c75-69be-4616-b6f0-c2c108370a54" providerId="ADAL" clId="{ACAC496C-3BBB-014B-9166-E5D1FEB30D7B}"/>
    <pc:docChg chg="undo redo custSel addSld delSld modSld modSection">
      <pc:chgData name="Dilshan Jayatilake" userId="99872c75-69be-4616-b6f0-c2c108370a54" providerId="ADAL" clId="{ACAC496C-3BBB-014B-9166-E5D1FEB30D7B}" dt="2022-11-01T18:08:59.795" v="41" actId="403"/>
      <pc:docMkLst>
        <pc:docMk/>
      </pc:docMkLst>
      <pc:sldChg chg="modSp new mod">
        <pc:chgData name="Dilshan Jayatilake" userId="99872c75-69be-4616-b6f0-c2c108370a54" providerId="ADAL" clId="{ACAC496C-3BBB-014B-9166-E5D1FEB30D7B}" dt="2022-11-01T18:08:59.795" v="41" actId="403"/>
        <pc:sldMkLst>
          <pc:docMk/>
          <pc:sldMk cId="2390860247" sldId="327"/>
        </pc:sldMkLst>
        <pc:spChg chg="mod">
          <ac:chgData name="Dilshan Jayatilake" userId="99872c75-69be-4616-b6f0-c2c108370a54" providerId="ADAL" clId="{ACAC496C-3BBB-014B-9166-E5D1FEB30D7B}" dt="2022-11-01T18:06:54.111" v="14" actId="20577"/>
          <ac:spMkLst>
            <pc:docMk/>
            <pc:sldMk cId="2390860247" sldId="327"/>
            <ac:spMk id="2" creationId="{0EA647CC-C9BD-DAC0-7BB9-97F9E1FAC2FB}"/>
          </ac:spMkLst>
        </pc:spChg>
        <pc:spChg chg="mod">
          <ac:chgData name="Dilshan Jayatilake" userId="99872c75-69be-4616-b6f0-c2c108370a54" providerId="ADAL" clId="{ACAC496C-3BBB-014B-9166-E5D1FEB30D7B}" dt="2022-11-01T18:08:59.795" v="41" actId="403"/>
          <ac:spMkLst>
            <pc:docMk/>
            <pc:sldMk cId="2390860247" sldId="327"/>
            <ac:spMk id="3" creationId="{C6584B59-410C-81C3-BC72-FF8F078640BB}"/>
          </ac:spMkLst>
        </pc:spChg>
      </pc:sldChg>
      <pc:sldChg chg="new del">
        <pc:chgData name="Dilshan Jayatilake" userId="99872c75-69be-4616-b6f0-c2c108370a54" providerId="ADAL" clId="{ACAC496C-3BBB-014B-9166-E5D1FEB30D7B}" dt="2022-11-01T18:06:47.243" v="1" actId="2696"/>
        <pc:sldMkLst>
          <pc:docMk/>
          <pc:sldMk cId="3368195897" sldId="327"/>
        </pc:sldMkLst>
      </pc:sldChg>
    </pc:docChg>
  </pc:docChgLst>
  <pc:docChgLst>
    <pc:chgData name="Dilshan Jayatilake" userId="S::dilshan.jayatilake@uwe.ac.uk::99872c75-69be-4616-b6f0-c2c108370a54" providerId="AD" clId="Web-{06D4F39B-1503-706E-7E1B-53B93C95936E}"/>
    <pc:docChg chg="addSld delSld modSld modSection">
      <pc:chgData name="Dilshan Jayatilake" userId="S::dilshan.jayatilake@uwe.ac.uk::99872c75-69be-4616-b6f0-c2c108370a54" providerId="AD" clId="Web-{06D4F39B-1503-706E-7E1B-53B93C95936E}" dt="2024-09-12T10:53:55.382" v="5" actId="20577"/>
      <pc:docMkLst>
        <pc:docMk/>
      </pc:docMkLst>
      <pc:sldChg chg="del">
        <pc:chgData name="Dilshan Jayatilake" userId="S::dilshan.jayatilake@uwe.ac.uk::99872c75-69be-4616-b6f0-c2c108370a54" providerId="AD" clId="Web-{06D4F39B-1503-706E-7E1B-53B93C95936E}" dt="2024-09-12T10:53:46.007" v="0"/>
        <pc:sldMkLst>
          <pc:docMk/>
          <pc:sldMk cId="3715327331" sldId="326"/>
        </pc:sldMkLst>
      </pc:sldChg>
      <pc:sldChg chg="modSp add">
        <pc:chgData name="Dilshan Jayatilake" userId="S::dilshan.jayatilake@uwe.ac.uk::99872c75-69be-4616-b6f0-c2c108370a54" providerId="AD" clId="Web-{06D4F39B-1503-706E-7E1B-53B93C95936E}" dt="2024-09-12T10:53:55.382" v="5" actId="20577"/>
        <pc:sldMkLst>
          <pc:docMk/>
          <pc:sldMk cId="416969294" sldId="328"/>
        </pc:sldMkLst>
        <pc:spChg chg="mod">
          <ac:chgData name="Dilshan Jayatilake" userId="S::dilshan.jayatilake@uwe.ac.uk::99872c75-69be-4616-b6f0-c2c108370a54" providerId="AD" clId="Web-{06D4F39B-1503-706E-7E1B-53B93C95936E}" dt="2024-09-12T10:53:55.382" v="5" actId="20577"/>
          <ac:spMkLst>
            <pc:docMk/>
            <pc:sldMk cId="416969294" sldId="328"/>
            <ac:spMk id="2" creationId="{60EF4C6A-CA2E-4C35-8BA5-916C10203F2E}"/>
          </ac:spMkLst>
        </pc:spChg>
      </pc:sldChg>
    </pc:docChg>
  </pc:docChgLst>
  <pc:docChgLst>
    <pc:chgData name="Dilshan Jayatilake" userId="S::dilshan.jayatilake@uwe.ac.uk::99872c75-69be-4616-b6f0-c2c108370a54" providerId="AD" clId="Web-{5E9D0458-FE5E-FEFD-4159-3C697A28C767}"/>
    <pc:docChg chg="modSld">
      <pc:chgData name="Dilshan Jayatilake" userId="S::dilshan.jayatilake@uwe.ac.uk::99872c75-69be-4616-b6f0-c2c108370a54" providerId="AD" clId="Web-{5E9D0458-FE5E-FEFD-4159-3C697A28C767}" dt="2023-10-27T06:56:55.260" v="1" actId="20577"/>
      <pc:docMkLst>
        <pc:docMk/>
      </pc:docMkLst>
      <pc:sldChg chg="modSp">
        <pc:chgData name="Dilshan Jayatilake" userId="S::dilshan.jayatilake@uwe.ac.uk::99872c75-69be-4616-b6f0-c2c108370a54" providerId="AD" clId="Web-{5E9D0458-FE5E-FEFD-4159-3C697A28C767}" dt="2023-10-27T06:55:27.380" v="0" actId="20577"/>
        <pc:sldMkLst>
          <pc:docMk/>
          <pc:sldMk cId="3764760811" sldId="256"/>
        </pc:sldMkLst>
        <pc:spChg chg="mod">
          <ac:chgData name="Dilshan Jayatilake" userId="S::dilshan.jayatilake@uwe.ac.uk::99872c75-69be-4616-b6f0-c2c108370a54" providerId="AD" clId="Web-{5E9D0458-FE5E-FEFD-4159-3C697A28C767}" dt="2023-10-27T06:55:27.380" v="0" actId="20577"/>
          <ac:spMkLst>
            <pc:docMk/>
            <pc:sldMk cId="3764760811" sldId="256"/>
            <ac:spMk id="6" creationId="{8AF42F57-4342-4892-B2AD-019DCDCB61B2}"/>
          </ac:spMkLst>
        </pc:spChg>
      </pc:sldChg>
      <pc:sldChg chg="modSp">
        <pc:chgData name="Dilshan Jayatilake" userId="S::dilshan.jayatilake@uwe.ac.uk::99872c75-69be-4616-b6f0-c2c108370a54" providerId="AD" clId="Web-{5E9D0458-FE5E-FEFD-4159-3C697A28C767}" dt="2023-10-27T06:56:55.260" v="1" actId="20577"/>
        <pc:sldMkLst>
          <pc:docMk/>
          <pc:sldMk cId="3715327331" sldId="326"/>
        </pc:sldMkLst>
        <pc:spChg chg="mod">
          <ac:chgData name="Dilshan Jayatilake" userId="S::dilshan.jayatilake@uwe.ac.uk::99872c75-69be-4616-b6f0-c2c108370a54" providerId="AD" clId="Web-{5E9D0458-FE5E-FEFD-4159-3C697A28C767}" dt="2023-10-27T06:56:55.260" v="1" actId="20577"/>
          <ac:spMkLst>
            <pc:docMk/>
            <pc:sldMk cId="3715327331" sldId="326"/>
            <ac:spMk id="6" creationId="{8AF42F57-4342-4892-B2AD-019DCDCB61B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042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478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8A6BB3-15F9-4141-AB05-7BFCB398C0ED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843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8A6BB3-15F9-4141-AB05-7BFCB398C0ED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1246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Exclusive  Gateways  will  split  the  flow  when  they  have  two  or more outgoing paths. The Process (a token ) will continue down only one of them. Thus, when considering tokens , even though multiple outgoing Sequence Flow exist, only one token is passed on through one of those Sequence Flow.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0830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8A6BB3-15F9-4141-AB05-7BFCB398C0ED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2277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UWE-Logo-Botto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6326188"/>
            <a:ext cx="1081087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1871662"/>
            <a:ext cx="7020000" cy="4176337"/>
          </a:xfrm>
          <a:prstGeom prst="rect">
            <a:avLst/>
          </a:prstGeom>
        </p:spPr>
        <p:txBody>
          <a:bodyPr>
            <a:normAutofit/>
          </a:bodyPr>
          <a:lstStyle>
            <a:lvl1pPr marL="266700" indent="-266700">
              <a:spcAft>
                <a:spcPts val="600"/>
              </a:spcAft>
              <a:buClr>
                <a:srgbClr val="598752"/>
              </a:buClr>
              <a:buFont typeface="Arial" charset="0"/>
              <a:buChar char="•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spcAft>
                <a:spcPts val="400"/>
              </a:spcAft>
              <a:buClr>
                <a:srgbClr val="598752"/>
              </a:buClr>
              <a:buFont typeface="Courier New" panose="02070309020205020404" pitchFamily="49" charset="0"/>
              <a:buChar char="o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598752"/>
              </a:buClr>
              <a:buFont typeface="Arial" panose="020B0604020202020204" pitchFamily="34" charset="0"/>
              <a:buChar char="̶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28000" y="648000"/>
            <a:ext cx="7200000" cy="6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200"/>
              </a:lnSpc>
              <a:buFontTx/>
              <a:buNone/>
              <a:defRPr sz="3600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95937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6" r:id="rId14"/>
    <p:sldLayoutId id="2147483977" r:id="rId15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g.org/cgi-bin/doc?dtc/10-06-02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www.omg.org/spec/BPMN/2.0/About-BPMN/" TargetMode="External"/><Relationship Id="rId4" Type="http://schemas.openxmlformats.org/officeDocument/2006/relationships/hyperlink" Target="https://www.omg.org/oceb-2/documents/real-life-bpmn-CamundaOCEB-2-DownloadSection.pdf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ea typeface="Calibri"/>
                <a:cs typeface="Calibri"/>
              </a:rPr>
              <a:t>Business Process Modelling and Enterprise Architecture</a:t>
            </a:r>
            <a:endParaRPr lang="en-US" dirty="0"/>
          </a:p>
          <a:p>
            <a:r>
              <a:rPr lang="en-GB" dirty="0">
                <a:ea typeface="ＭＳ Ｐゴシック"/>
              </a:rPr>
              <a:t> </a:t>
            </a:r>
            <a:br>
              <a:rPr lang="en-GB" dirty="0"/>
            </a:br>
            <a:br>
              <a:rPr lang="en-GB" dirty="0"/>
            </a:br>
            <a:r>
              <a:rPr lang="en-GB" dirty="0">
                <a:ea typeface="ＭＳ Ｐゴシック"/>
              </a:rPr>
              <a:t>BPMN – Introduction, Tasks and Gateways (2/2)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55B111-D3BF-55B5-3BCD-31998440C55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E54FEF-F84A-486C-71FF-CF5B931013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6081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647CC-C9BD-DAC0-7BB9-97F9E1FAC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Session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84B59-410C-81C3-BC72-FF8F078640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pPr marL="9525" indent="0">
              <a:buNone/>
            </a:pPr>
            <a:endParaRPr lang="en-GB" sz="2400" dirty="0"/>
          </a:p>
          <a:p>
            <a:r>
              <a:rPr lang="en-GB" sz="2400" dirty="0"/>
              <a:t>BPMN Basic Elements</a:t>
            </a:r>
          </a:p>
          <a:p>
            <a:r>
              <a:rPr lang="en-GB" sz="2400" dirty="0"/>
              <a:t>BPMN aspects modelling </a:t>
            </a:r>
          </a:p>
          <a:p>
            <a:r>
              <a:rPr lang="en-GB" sz="2400" dirty="0"/>
              <a:t>BPMN Activity</a:t>
            </a:r>
          </a:p>
          <a:p>
            <a:r>
              <a:rPr lang="en-GB" sz="2400" dirty="0"/>
              <a:t>BPMN Basic Task Types</a:t>
            </a:r>
          </a:p>
          <a:p>
            <a:r>
              <a:rPr lang="en-GB" sz="2400" dirty="0"/>
              <a:t>BPMN Gateway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9086024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04EDD-37CF-393A-051F-495D1D7D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BPMN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30032-0BE8-127B-75A1-7B57E6A642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400" dirty="0"/>
              <a:t>An activity represents an unit of work performed. </a:t>
            </a:r>
          </a:p>
          <a:p>
            <a:pPr lvl="1"/>
            <a:r>
              <a:rPr lang="en-GB" sz="2400" dirty="0"/>
              <a:t>A step inside a process</a:t>
            </a:r>
          </a:p>
          <a:p>
            <a:pPr lvl="1"/>
            <a:r>
              <a:rPr lang="en-GB" sz="2400" dirty="0"/>
              <a:t>It is </a:t>
            </a:r>
            <a:r>
              <a:rPr lang="en-GB" sz="2400" b="1" dirty="0"/>
              <a:t>labelled</a:t>
            </a:r>
            <a:r>
              <a:rPr lang="en-GB" sz="2400" dirty="0"/>
              <a:t> as </a:t>
            </a:r>
            <a:r>
              <a:rPr lang="en-GB" sz="2400" b="1" dirty="0"/>
              <a:t>Verb + Object</a:t>
            </a:r>
            <a:r>
              <a:rPr lang="en-GB" sz="2400" dirty="0"/>
              <a:t>, adhering to OO principles</a:t>
            </a:r>
          </a:p>
          <a:p>
            <a:pPr lvl="2"/>
            <a:r>
              <a:rPr lang="en-GB" sz="2400" dirty="0"/>
              <a:t>E.g. “acquire payment” not “first take care of payment” </a:t>
            </a:r>
          </a:p>
          <a:p>
            <a:pPr lvl="1"/>
            <a:r>
              <a:rPr lang="en-GB" sz="2400" dirty="0"/>
              <a:t>There are two types of activities</a:t>
            </a:r>
          </a:p>
          <a:p>
            <a:endParaRPr lang="en-GB" sz="2400" dirty="0"/>
          </a:p>
        </p:txBody>
      </p:sp>
      <p:pic>
        <p:nvPicPr>
          <p:cNvPr id="4" name="Picture 3" descr="activity">
            <a:extLst>
              <a:ext uri="{FF2B5EF4-FFF2-40B4-BE49-F238E27FC236}">
                <a16:creationId xmlns:a16="http://schemas.microsoft.com/office/drawing/2014/main" id="{787A089D-4E56-C98E-872E-F4D859356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992" y="4581128"/>
            <a:ext cx="4803898" cy="189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09670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572AD-261C-A2D3-569C-ECABF29C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BPMN Basic Task Types</a:t>
            </a:r>
          </a:p>
        </p:txBody>
      </p: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145285C6-4C6F-39B3-207B-C022D47B2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738213"/>
              </p:ext>
            </p:extLst>
          </p:nvPr>
        </p:nvGraphicFramePr>
        <p:xfrm>
          <a:off x="1127397" y="1556793"/>
          <a:ext cx="7658894" cy="5112567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148459">
                  <a:extLst>
                    <a:ext uri="{9D8B030D-6E8A-4147-A177-3AD203B41FA5}">
                      <a16:colId xmlns:a16="http://schemas.microsoft.com/office/drawing/2014/main" val="420213785"/>
                    </a:ext>
                  </a:extLst>
                </a:gridCol>
                <a:gridCol w="5510435">
                  <a:extLst>
                    <a:ext uri="{9D8B030D-6E8A-4147-A177-3AD203B41FA5}">
                      <a16:colId xmlns:a16="http://schemas.microsoft.com/office/drawing/2014/main" val="3783249892"/>
                    </a:ext>
                  </a:extLst>
                </a:gridCol>
              </a:tblGrid>
              <a:tr h="105664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None Task: </a:t>
                      </a:r>
                      <a:r>
                        <a:rPr lang="en-GB" sz="1600" b="0" dirty="0"/>
                        <a:t>This is the generic representation of a task and the one you will use more than 90% of the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127101"/>
                  </a:ext>
                </a:extLst>
              </a:tr>
              <a:tr h="109733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5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/>
                        <a:t>Service Task</a:t>
                      </a:r>
                      <a:r>
                        <a:rPr lang="en-GB" sz="1600" dirty="0"/>
                        <a:t>: </a:t>
                      </a:r>
                      <a:r>
                        <a:rPr lang="en-GB" sz="1600" b="0" dirty="0"/>
                        <a:t>represents work that is performed by an external system where there is no human intervention, like a </a:t>
                      </a:r>
                      <a:r>
                        <a:rPr lang="en-GB" sz="1600" b="0" dirty="0" err="1"/>
                        <a:t>webservice</a:t>
                      </a:r>
                      <a:r>
                        <a:rPr lang="en-GB" sz="1600" b="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772369"/>
                  </a:ext>
                </a:extLst>
              </a:tr>
              <a:tr h="94550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Send Task</a:t>
                      </a:r>
                      <a:r>
                        <a:rPr lang="en-GB" sz="1600" dirty="0"/>
                        <a:t>: represents sending a message to an external participant. Once sent, the task is 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17398"/>
                  </a:ext>
                </a:extLst>
              </a:tr>
              <a:tr h="91575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Receive</a:t>
                      </a:r>
                      <a:r>
                        <a:rPr lang="en-GB" sz="1600" b="1" baseline="0" dirty="0"/>
                        <a:t> Task: </a:t>
                      </a:r>
                      <a:r>
                        <a:rPr lang="en-GB" sz="1600" b="0" baseline="0" dirty="0"/>
                        <a:t>waits for the arrival of a message from an external participant</a:t>
                      </a:r>
                      <a:endParaRPr lang="en-GB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647548"/>
                  </a:ext>
                </a:extLst>
              </a:tr>
              <a:tr h="109733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User Task</a:t>
                      </a:r>
                      <a:r>
                        <a:rPr lang="en-GB" sz="1600" dirty="0"/>
                        <a:t>: represents work that is performed by a human user with the help of the BPM engine or another software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644932"/>
                  </a:ext>
                </a:extLst>
              </a:tr>
            </a:tbl>
          </a:graphicData>
        </a:graphic>
      </p:graphicFrame>
      <p:pic>
        <p:nvPicPr>
          <p:cNvPr id="18" name="Picture 2" descr="ctivity">
            <a:extLst>
              <a:ext uri="{FF2B5EF4-FFF2-40B4-BE49-F238E27FC236}">
                <a16:creationId xmlns:a16="http://schemas.microsoft.com/office/drawing/2014/main" id="{EAC959C6-D649-04E8-4151-E46B7F55F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2" y="1725121"/>
            <a:ext cx="84772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ask Service">
            <a:extLst>
              <a:ext uri="{FF2B5EF4-FFF2-40B4-BE49-F238E27FC236}">
                <a16:creationId xmlns:a16="http://schemas.microsoft.com/office/drawing/2014/main" id="{D8D856E4-A4E6-397C-C65E-41AC457B7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1" y="2793513"/>
            <a:ext cx="84772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ask Send">
            <a:extLst>
              <a:ext uri="{FF2B5EF4-FFF2-40B4-BE49-F238E27FC236}">
                <a16:creationId xmlns:a16="http://schemas.microsoft.com/office/drawing/2014/main" id="{22F1E59F-6A5F-044E-261C-B60CCE8A8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0" y="3861048"/>
            <a:ext cx="84772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ask Receive">
            <a:extLst>
              <a:ext uri="{FF2B5EF4-FFF2-40B4-BE49-F238E27FC236}">
                <a16:creationId xmlns:a16="http://schemas.microsoft.com/office/drawing/2014/main" id="{1ABBDCEE-AEF7-93F2-989F-631FD8D0D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0" y="4869160"/>
            <a:ext cx="848627" cy="70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ask User">
            <a:extLst>
              <a:ext uri="{FF2B5EF4-FFF2-40B4-BE49-F238E27FC236}">
                <a16:creationId xmlns:a16="http://schemas.microsoft.com/office/drawing/2014/main" id="{134ADCD5-7EC8-A7B7-CBAF-ADCB564A1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59" y="5805264"/>
            <a:ext cx="84772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530655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572AD-261C-A2D3-569C-ECABF29C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BPMN Basic Task Types</a:t>
            </a:r>
          </a:p>
        </p:txBody>
      </p: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145285C6-4C6F-39B3-207B-C022D47B2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604807"/>
              </p:ext>
            </p:extLst>
          </p:nvPr>
        </p:nvGraphicFramePr>
        <p:xfrm>
          <a:off x="1127397" y="1556793"/>
          <a:ext cx="7658894" cy="3099479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148459">
                  <a:extLst>
                    <a:ext uri="{9D8B030D-6E8A-4147-A177-3AD203B41FA5}">
                      <a16:colId xmlns:a16="http://schemas.microsoft.com/office/drawing/2014/main" val="420213785"/>
                    </a:ext>
                  </a:extLst>
                </a:gridCol>
                <a:gridCol w="5510435">
                  <a:extLst>
                    <a:ext uri="{9D8B030D-6E8A-4147-A177-3AD203B41FA5}">
                      <a16:colId xmlns:a16="http://schemas.microsoft.com/office/drawing/2014/main" val="3783249892"/>
                    </a:ext>
                  </a:extLst>
                </a:gridCol>
              </a:tblGrid>
              <a:tr h="105664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dirty="0">
                          <a:latin typeface="Calibri"/>
                        </a:rPr>
                        <a:t>Manual Task:</a:t>
                      </a:r>
                      <a:r>
                        <a:rPr lang="en-US" sz="1600" b="0" i="0" u="none" strike="noStrike" noProof="0" dirty="0">
                          <a:latin typeface="Calibri"/>
                        </a:rPr>
                        <a:t> represents work that is not automated and is performed outside the control of the BPM engine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127101"/>
                  </a:ext>
                </a:extLst>
              </a:tr>
              <a:tr h="109733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 dirty="0">
                          <a:latin typeface="Calibri"/>
                        </a:rPr>
                        <a:t>Business Rule Task: </a:t>
                      </a:r>
                      <a:r>
                        <a:rPr lang="en-US" sz="1600" b="0" i="0" u="none" strike="noStrike" noProof="0" dirty="0">
                          <a:latin typeface="Calibri"/>
                        </a:rPr>
                        <a:t>represents work executed at run-time in a business rule engine, generally, a complex decision..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772369"/>
                  </a:ext>
                </a:extLst>
              </a:tr>
              <a:tr h="94550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dirty="0">
                          <a:latin typeface="Calibri"/>
                        </a:rPr>
                        <a:t>Script Task: </a:t>
                      </a:r>
                      <a:r>
                        <a:rPr lang="en-US" sz="1600" b="0" i="0" u="none" strike="noStrike" noProof="0" dirty="0">
                          <a:latin typeface="Calibri"/>
                        </a:rPr>
                        <a:t>represents work that is performed by the BPM engine as an automated function written in a script language like </a:t>
                      </a:r>
                      <a:r>
                        <a:rPr lang="en-US" sz="1600" b="0" i="0" u="none" strike="noStrike" noProof="0" dirty="0" err="1">
                          <a:latin typeface="Calibri"/>
                        </a:rPr>
                        <a:t>Javascript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17398"/>
                  </a:ext>
                </a:extLst>
              </a:tr>
            </a:tbl>
          </a:graphicData>
        </a:graphic>
      </p:graphicFrame>
      <p:pic>
        <p:nvPicPr>
          <p:cNvPr id="3" name="Picture 2" descr="ask Manual">
            <a:extLst>
              <a:ext uri="{FF2B5EF4-FFF2-40B4-BE49-F238E27FC236}">
                <a16:creationId xmlns:a16="http://schemas.microsoft.com/office/drawing/2014/main" id="{C80DC1A1-D80A-B304-1DE1-296B1AD39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067" y="1659542"/>
            <a:ext cx="84772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sk Business Rule">
            <a:extLst>
              <a:ext uri="{FF2B5EF4-FFF2-40B4-BE49-F238E27FC236}">
                <a16:creationId xmlns:a16="http://schemas.microsoft.com/office/drawing/2014/main" id="{77DCB41D-F7DA-162F-0D49-F21EDAD06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49" y="2780928"/>
            <a:ext cx="84772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sk Script">
            <a:extLst>
              <a:ext uri="{FF2B5EF4-FFF2-40B4-BE49-F238E27FC236}">
                <a16:creationId xmlns:a16="http://schemas.microsoft.com/office/drawing/2014/main" id="{FBAFF5D2-A192-D011-93F8-02B78B919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75" y="3876278"/>
            <a:ext cx="84772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93094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7F2D-93AC-2EA7-B93E-479AA059B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 simple BPMN Process</a:t>
            </a:r>
          </a:p>
        </p:txBody>
      </p:sp>
      <p:pic>
        <p:nvPicPr>
          <p:cNvPr id="4" name="Picture 3" descr="A simple BPMN Process">
            <a:extLst>
              <a:ext uri="{FF2B5EF4-FFF2-40B4-BE49-F238E27FC236}">
                <a16:creationId xmlns:a16="http://schemas.microsoft.com/office/drawing/2014/main" id="{D938F4EA-5B35-99A0-4DAD-3CCDDEB8C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76500"/>
            <a:ext cx="82296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6627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F5AF-32D9-F4BC-F7C2-944D7A507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 simple BPMN Process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BC5C556-AA0B-8A34-4C32-282D6A848C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000" dirty="0"/>
              <a:t>Sequence Flow</a:t>
            </a:r>
          </a:p>
          <a:p>
            <a:pPr lvl="1"/>
            <a:r>
              <a:rPr lang="en-GB" sz="2000" dirty="0"/>
              <a:t>The generic Representation of a flow</a:t>
            </a:r>
          </a:p>
          <a:p>
            <a:r>
              <a:rPr lang="en-GB" sz="2000" dirty="0"/>
              <a:t>Conditional Sequence Flow</a:t>
            </a:r>
          </a:p>
          <a:p>
            <a:pPr lvl="1"/>
            <a:r>
              <a:rPr lang="en-GB" sz="2000" dirty="0"/>
              <a:t>Used when specific conditions are met at a decision gate</a:t>
            </a:r>
          </a:p>
          <a:p>
            <a:r>
              <a:rPr lang="en-GB" sz="2000" dirty="0"/>
              <a:t>Default Sequence Flow</a:t>
            </a:r>
          </a:p>
          <a:p>
            <a:pPr lvl="1"/>
            <a:r>
              <a:rPr lang="en-GB" sz="2000" dirty="0"/>
              <a:t>Are used when </a:t>
            </a:r>
            <a:r>
              <a:rPr lang="en-GB" sz="2000" b="1" dirty="0"/>
              <a:t>no other </a:t>
            </a:r>
            <a:r>
              <a:rPr lang="en-GB" sz="2000" dirty="0"/>
              <a:t>conditions are met</a:t>
            </a:r>
          </a:p>
          <a:p>
            <a:pPr lvl="1"/>
            <a:r>
              <a:rPr lang="en-GB" sz="2000" dirty="0"/>
              <a:t>Similar to default option of Switch/Case statements, used to avoid deadlocks Association is used to link information and artefacts with flow objects</a:t>
            </a:r>
          </a:p>
          <a:p>
            <a:r>
              <a:rPr lang="en-GB" sz="2000" dirty="0"/>
              <a:t>It is used with the data object notations</a:t>
            </a:r>
          </a:p>
          <a:p>
            <a:pPr lvl="1"/>
            <a:r>
              <a:rPr lang="en-GB" sz="2000" dirty="0"/>
              <a:t>Association</a:t>
            </a:r>
          </a:p>
          <a:p>
            <a:pPr lvl="1"/>
            <a:r>
              <a:rPr lang="en-GB" sz="2000" dirty="0"/>
              <a:t>Directional Association</a:t>
            </a:r>
          </a:p>
          <a:p>
            <a:pPr lvl="1"/>
            <a:r>
              <a:rPr lang="en-GB" sz="2000" dirty="0"/>
              <a:t>Bi-directional Association </a:t>
            </a:r>
          </a:p>
          <a:p>
            <a:endParaRPr lang="en-GB" sz="1600" dirty="0"/>
          </a:p>
        </p:txBody>
      </p:sp>
      <p:pic>
        <p:nvPicPr>
          <p:cNvPr id="5" name="Picture 4" descr="Sequence">
            <a:extLst>
              <a:ext uri="{FF2B5EF4-FFF2-40B4-BE49-F238E27FC236}">
                <a16:creationId xmlns:a16="http://schemas.microsoft.com/office/drawing/2014/main" id="{75FD9157-69DB-9C32-D9F7-6E7F5436B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974" y="1769743"/>
            <a:ext cx="1397000" cy="241300"/>
          </a:xfrm>
          <a:prstGeom prst="rect">
            <a:avLst/>
          </a:prstGeom>
        </p:spPr>
      </p:pic>
      <p:pic>
        <p:nvPicPr>
          <p:cNvPr id="6" name="Picture 5" descr="Default Sequence ">
            <a:extLst>
              <a:ext uri="{FF2B5EF4-FFF2-40B4-BE49-F238E27FC236}">
                <a16:creationId xmlns:a16="http://schemas.microsoft.com/office/drawing/2014/main" id="{F6FB3EB5-8560-1A40-3C0A-2070877ED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3569607"/>
            <a:ext cx="1460500" cy="266700"/>
          </a:xfrm>
          <a:prstGeom prst="rect">
            <a:avLst/>
          </a:prstGeom>
        </p:spPr>
      </p:pic>
      <p:pic>
        <p:nvPicPr>
          <p:cNvPr id="7" name="Picture 2" descr="Conditional Sequence Flow&#10;">
            <a:extLst>
              <a:ext uri="{FF2B5EF4-FFF2-40B4-BE49-F238E27FC236}">
                <a16:creationId xmlns:a16="http://schemas.microsoft.com/office/drawing/2014/main" id="{C98266B9-B718-3DBD-CD99-632D50D17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1189" y="2528387"/>
            <a:ext cx="1333570" cy="198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low Association">
            <a:extLst>
              <a:ext uri="{FF2B5EF4-FFF2-40B4-BE49-F238E27FC236}">
                <a16:creationId xmlns:a16="http://schemas.microsoft.com/office/drawing/2014/main" id="{4C6E6286-B3AE-F460-8D60-5CBE2C81B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538" y="5315586"/>
            <a:ext cx="1700221" cy="10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low Association One">
            <a:extLst>
              <a:ext uri="{FF2B5EF4-FFF2-40B4-BE49-F238E27FC236}">
                <a16:creationId xmlns:a16="http://schemas.microsoft.com/office/drawing/2014/main" id="{D2EE78BD-885C-EB56-4D61-93AD4C408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5569214"/>
            <a:ext cx="1315500" cy="23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low Association both">
            <a:extLst>
              <a:ext uri="{FF2B5EF4-FFF2-40B4-BE49-F238E27FC236}">
                <a16:creationId xmlns:a16="http://schemas.microsoft.com/office/drawing/2014/main" id="{B4838DFA-3C80-5ADD-D9AB-19DCF6390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538" y="6010478"/>
            <a:ext cx="1352781" cy="23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25073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A72F-EFBA-F63D-9F96-96CE05EFA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BPMN Gateway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ABAF4-E8BC-C4B5-00D2-16DC7C0397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400" dirty="0"/>
              <a:t>Modelling notation aimed at:</a:t>
            </a:r>
          </a:p>
          <a:p>
            <a:pPr lvl="1"/>
            <a:r>
              <a:rPr lang="en-GB" sz="2400" b="1" dirty="0"/>
              <a:t>Control</a:t>
            </a:r>
            <a:r>
              <a:rPr lang="en-GB" sz="2400" dirty="0"/>
              <a:t> how sequence flows</a:t>
            </a:r>
          </a:p>
          <a:p>
            <a:pPr lvl="1"/>
            <a:r>
              <a:rPr lang="en-GB" sz="2400" b="1" dirty="0"/>
              <a:t>Split</a:t>
            </a:r>
            <a:r>
              <a:rPr lang="en-GB" sz="2400" dirty="0"/>
              <a:t> a process</a:t>
            </a:r>
          </a:p>
          <a:p>
            <a:pPr lvl="1"/>
            <a:r>
              <a:rPr lang="en-GB" sz="2400" b="1" dirty="0"/>
              <a:t>Merge</a:t>
            </a:r>
            <a:r>
              <a:rPr lang="en-GB" sz="2400" dirty="0"/>
              <a:t> a process</a:t>
            </a:r>
          </a:p>
          <a:p>
            <a:pPr lvl="1"/>
            <a:r>
              <a:rPr lang="en-GB" sz="2400" b="1" dirty="0"/>
              <a:t>Fork</a:t>
            </a:r>
            <a:r>
              <a:rPr lang="en-GB" sz="2400" dirty="0"/>
              <a:t> a process</a:t>
            </a:r>
          </a:p>
          <a:p>
            <a:r>
              <a:rPr lang="en-GB" sz="2400" dirty="0"/>
              <a:t>Can be thought as a </a:t>
            </a:r>
            <a:r>
              <a:rPr lang="en-GB" sz="2400" b="1" dirty="0"/>
              <a:t>question</a:t>
            </a:r>
            <a:r>
              <a:rPr lang="en-GB" sz="2400" dirty="0"/>
              <a:t> asked at the point of the process flow</a:t>
            </a:r>
          </a:p>
          <a:p>
            <a:pPr lvl="1"/>
            <a:r>
              <a:rPr lang="en-GB" sz="2400" dirty="0"/>
              <a:t>Exclusive OR (XOR)</a:t>
            </a:r>
          </a:p>
          <a:p>
            <a:pPr lvl="1"/>
            <a:r>
              <a:rPr lang="en-GB" sz="2400" dirty="0"/>
              <a:t>AND Parallel forking and joining</a:t>
            </a:r>
          </a:p>
          <a:p>
            <a:pPr lvl="1"/>
            <a:r>
              <a:rPr lang="en-GB" sz="2400" dirty="0"/>
              <a:t>Inclusive OR</a:t>
            </a:r>
          </a:p>
          <a:p>
            <a:pPr lvl="1"/>
            <a:r>
              <a:rPr lang="en-GB" sz="2400" dirty="0"/>
              <a:t>Complex Decision Merges</a:t>
            </a:r>
          </a:p>
        </p:txBody>
      </p:sp>
    </p:spTree>
    <p:extLst>
      <p:ext uri="{BB962C8B-B14F-4D97-AF65-F5344CB8AC3E}">
        <p14:creationId xmlns:p14="http://schemas.microsoft.com/office/powerpoint/2010/main" val="3165594564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601794"/>
              </p:ext>
            </p:extLst>
          </p:nvPr>
        </p:nvGraphicFramePr>
        <p:xfrm>
          <a:off x="828000" y="1659542"/>
          <a:ext cx="7200007" cy="456441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072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7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7118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Exclusive</a:t>
                      </a:r>
                      <a:r>
                        <a:rPr lang="en-GB" sz="1800" baseline="0" dirty="0"/>
                        <a:t> OR (XOR)</a:t>
                      </a:r>
                      <a:r>
                        <a:rPr lang="en-GB" sz="1800" dirty="0"/>
                        <a:t>: </a:t>
                      </a:r>
                      <a:r>
                        <a:rPr lang="en-GB" sz="1800" b="0" dirty="0"/>
                        <a:t>send  a token down </a:t>
                      </a:r>
                      <a:r>
                        <a:rPr lang="en-GB" sz="1800" b="0" u="sng" dirty="0"/>
                        <a:t>only one outgoing path</a:t>
                      </a:r>
                      <a:r>
                        <a:rPr lang="en-GB" sz="1800" b="0" dirty="0"/>
                        <a:t> (exclusively). </a:t>
                      </a:r>
                      <a:br>
                        <a:rPr lang="en-GB" sz="1800" b="0" dirty="0"/>
                      </a:br>
                      <a:r>
                        <a:rPr lang="en-GB" sz="1800" b="0" dirty="0"/>
                        <a:t>Merging : the Gateway  will  “pass  through”  any token from  any incoming paths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9932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5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Parallel AND</a:t>
                      </a:r>
                      <a:r>
                        <a:rPr lang="en-GB" sz="1800" dirty="0"/>
                        <a:t>: </a:t>
                      </a:r>
                      <a:r>
                        <a:rPr lang="en-GB" sz="1800" b="0" dirty="0"/>
                        <a:t>send</a:t>
                      </a:r>
                      <a:r>
                        <a:rPr lang="en-GB" sz="1800" b="0" baseline="0" dirty="0"/>
                        <a:t> </a:t>
                      </a:r>
                      <a:r>
                        <a:rPr lang="en-GB" sz="1800" b="0" dirty="0"/>
                        <a:t>a token down </a:t>
                      </a:r>
                      <a:r>
                        <a:rPr lang="en-GB" sz="1800" b="0" u="sng" dirty="0"/>
                        <a:t>all outgoing</a:t>
                      </a:r>
                      <a:r>
                        <a:rPr lang="en-GB" sz="1800" b="0" dirty="0"/>
                        <a:t> paths (in parallel). </a:t>
                      </a:r>
                      <a:br>
                        <a:rPr lang="en-GB" sz="1800" b="0" dirty="0"/>
                      </a:br>
                      <a:r>
                        <a:rPr lang="en-GB" sz="1800" b="0" dirty="0"/>
                        <a:t>Merging : the Gateway will wait for a token from all incoming paths.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274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Inclusive</a:t>
                      </a:r>
                      <a:r>
                        <a:rPr lang="en-GB" sz="1800" b="1" baseline="0" dirty="0"/>
                        <a:t> OR: </a:t>
                      </a:r>
                      <a:r>
                        <a:rPr lang="en-GB" sz="1800" dirty="0"/>
                        <a:t>send a token down </a:t>
                      </a:r>
                      <a:r>
                        <a:rPr lang="en-GB" sz="1800" u="sng" dirty="0"/>
                        <a:t>one  to  al</a:t>
                      </a:r>
                      <a:r>
                        <a:rPr lang="en-GB" sz="1800" dirty="0"/>
                        <a:t>l outgoing paths  (inclusively)  depending on the evaluation of </a:t>
                      </a:r>
                      <a:r>
                        <a:rPr lang="en-GB" sz="1800" u="sng" dirty="0"/>
                        <a:t>all Sequence Flow conditions</a:t>
                      </a:r>
                      <a:br>
                        <a:rPr lang="en-GB" sz="1800" dirty="0"/>
                      </a:br>
                      <a:r>
                        <a:rPr lang="en-GB" sz="1800" dirty="0"/>
                        <a:t>Merging:</a:t>
                      </a:r>
                      <a:r>
                        <a:rPr lang="en-GB" sz="1800" baseline="0" dirty="0"/>
                        <a:t> the Gateway will wait for a token from </a:t>
                      </a:r>
                      <a:r>
                        <a:rPr lang="en-GB" sz="1800" u="sng" baseline="0" dirty="0"/>
                        <a:t>one to all in- coming paths </a:t>
                      </a:r>
                      <a:r>
                        <a:rPr lang="en-GB" sz="1800" baseline="0" dirty="0"/>
                        <a:t>depending on which paths are expecting a token .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074" name="Picture 2" descr="atew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137" y="1947862"/>
            <a:ext cx="600076" cy="60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teway Exclusive Mark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949" y="1953298"/>
            <a:ext cx="594639" cy="594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ateway Paralle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4" y="3410306"/>
            <a:ext cx="718464" cy="71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teway Inclusiv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813" y="4991138"/>
            <a:ext cx="743625" cy="74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4543C3-C0E7-260C-63BA-FFDC35A79C54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rtl="0" eaLnBrk="1" fontAlgn="base" hangingPunct="1"/>
            <a:r>
              <a:rPr lang="en-GB" sz="3600" b="0" i="0" kern="1200" dirty="0">
                <a:solidFill>
                  <a:srgbClr val="1A9DAC"/>
                </a:solidFill>
                <a:effectLst/>
                <a:latin typeface="Calibri" panose="020F0502020204030204" pitchFamily="34" charset="0"/>
                <a:ea typeface="ＭＳ Ｐゴシック" panose="020B0600070205080204" pitchFamily="34" charset="-128"/>
                <a:cs typeface="Georgia" panose="02040502050405020303" pitchFamily="18" charset="0"/>
              </a:rPr>
              <a:t>BPMN Basic Gateways </a:t>
            </a:r>
            <a:endParaRPr lang="en-GB" dirty="0">
              <a:effectLst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80369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625972"/>
              </p:ext>
            </p:extLst>
          </p:nvPr>
        </p:nvGraphicFramePr>
        <p:xfrm>
          <a:off x="828000" y="1659542"/>
          <a:ext cx="7200005" cy="32004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386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3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222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Complex:</a:t>
                      </a:r>
                      <a:r>
                        <a:rPr lang="en-GB" sz="1800" b="1" baseline="0" dirty="0"/>
                        <a:t> t</a:t>
                      </a:r>
                      <a:r>
                        <a:rPr lang="en-GB" sz="1800" b="0" baseline="0" dirty="0"/>
                        <a:t>he Gateway will send a token down </a:t>
                      </a:r>
                      <a:r>
                        <a:rPr lang="en-GB" sz="1800" b="0" u="sng" baseline="0" dirty="0"/>
                        <a:t>one  to  all outgoing paths  (inclusively)  </a:t>
                      </a:r>
                      <a:r>
                        <a:rPr lang="en-GB" sz="1800" b="0" baseline="0" dirty="0"/>
                        <a:t>depending  on  the evaluation </a:t>
                      </a:r>
                      <a:r>
                        <a:rPr lang="en-GB" sz="1800" b="0" u="sng" baseline="0" dirty="0"/>
                        <a:t>of single Gateway condition</a:t>
                      </a:r>
                      <a:r>
                        <a:rPr lang="en-GB" sz="1800" b="0" baseline="0" dirty="0"/>
                        <a:t>. </a:t>
                      </a:r>
                      <a:br>
                        <a:rPr lang="en-GB" sz="1800" b="0" baseline="0" dirty="0"/>
                      </a:br>
                      <a:r>
                        <a:rPr lang="en-GB" sz="1800" b="0" baseline="0" dirty="0"/>
                        <a:t>Merging : the Gateway will wait for a token from </a:t>
                      </a:r>
                      <a:r>
                        <a:rPr lang="en-GB" sz="1800" b="0" u="sng" baseline="0" dirty="0"/>
                        <a:t>one to all </a:t>
                      </a:r>
                      <a:r>
                        <a:rPr lang="en-GB" sz="1800" b="0" baseline="0" dirty="0"/>
                        <a:t>incoming paths depending  on  the  evaluation  </a:t>
                      </a:r>
                      <a:r>
                        <a:rPr lang="en-GB" sz="1800" b="0" u="sng" baseline="0" dirty="0"/>
                        <a:t>of  a  single  Gateway condition</a:t>
                      </a:r>
                      <a:endParaRPr lang="en-GB" sz="1800" b="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5558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5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Event</a:t>
                      </a:r>
                      <a:r>
                        <a:rPr lang="en-GB" sz="1800" dirty="0"/>
                        <a:t>: t</a:t>
                      </a:r>
                      <a:r>
                        <a:rPr lang="en-GB" sz="1800" b="0" dirty="0"/>
                        <a:t>he  Gateway  sends  a token down  only </a:t>
                      </a:r>
                      <a:r>
                        <a:rPr lang="en-GB" sz="1800" b="0" u="sng" dirty="0"/>
                        <a:t>one outgoing path (exclusively) </a:t>
                      </a:r>
                      <a:r>
                        <a:rPr lang="en-GB" sz="1800" b="0" dirty="0"/>
                        <a:t>depending on the occurrence of a </a:t>
                      </a:r>
                      <a:r>
                        <a:rPr lang="en-GB" sz="1800" b="0" u="sng" dirty="0"/>
                        <a:t>specified Event </a:t>
                      </a:r>
                      <a:r>
                        <a:rPr lang="en-GB" sz="1800" b="0" dirty="0"/>
                        <a:t>(e.g., the arrival of a message ). </a:t>
                      </a:r>
                      <a:br>
                        <a:rPr lang="en-GB" sz="1800" b="0" dirty="0"/>
                      </a:br>
                      <a:r>
                        <a:rPr lang="en-GB" sz="1800" b="0" dirty="0"/>
                        <a:t>Merging : the Gateway will “pass through” any token from any incoming paths.</a:t>
                      </a:r>
                      <a:endParaRPr lang="en-GB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098" name="Picture 2" descr="ateway Comple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05036"/>
            <a:ext cx="671513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teway Event Bas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893" y="3574256"/>
            <a:ext cx="759620" cy="759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669BB8-6B7A-58BD-3AE1-3B0982A24BD2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rtl="0" eaLnBrk="1" fontAlgn="base" hangingPunct="1"/>
            <a:r>
              <a:rPr lang="en-GB" sz="3600" b="0" i="0" kern="1200" dirty="0">
                <a:solidFill>
                  <a:srgbClr val="1A9DAC"/>
                </a:solidFill>
                <a:effectLst/>
                <a:latin typeface="Calibri" panose="020F0502020204030204" pitchFamily="34" charset="0"/>
                <a:ea typeface="ＭＳ Ｐゴシック" panose="020B0600070205080204" pitchFamily="34" charset="-128"/>
                <a:cs typeface="Georgia" panose="02040502050405020303" pitchFamily="18" charset="0"/>
              </a:rPr>
              <a:t>BPMN Basic Gateways</a:t>
            </a:r>
            <a:endParaRPr lang="en-GB" dirty="0">
              <a:effectLst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2475812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EB622-F67E-E229-C271-1019A4BB9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Exclusive Gateway Splitting Behaviour</a:t>
            </a:r>
          </a:p>
        </p:txBody>
      </p:sp>
      <p:pic>
        <p:nvPicPr>
          <p:cNvPr id="8" name="Picture 7" descr="Exclusive  Gateways  ">
            <a:extLst>
              <a:ext uri="{FF2B5EF4-FFF2-40B4-BE49-F238E27FC236}">
                <a16:creationId xmlns:a16="http://schemas.microsoft.com/office/drawing/2014/main" id="{7606FD3D-708C-F61D-FD86-5D91E584C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84" y="1958541"/>
            <a:ext cx="7881660" cy="294091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9041D627-E99A-0E57-F0B7-E504C63C7210}"/>
              </a:ext>
            </a:extLst>
          </p:cNvPr>
          <p:cNvSpPr/>
          <p:nvPr/>
        </p:nvSpPr>
        <p:spPr>
          <a:xfrm>
            <a:off x="902592" y="2564904"/>
            <a:ext cx="648072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5984650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907 0 " pathEditMode="fixed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906 -2.22222E-6 L 0.3816 -2.22222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16 -2.22222E-6 L 0.57049 -2.22222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7049 -2.22222E-6 L 0.74375 -2.22222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9" grpId="3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574A6-0671-7080-1432-A0E5F9F1B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XOR Gateway spit behaviour </a:t>
            </a:r>
          </a:p>
        </p:txBody>
      </p:sp>
      <p:pic>
        <p:nvPicPr>
          <p:cNvPr id="7" name="Picture 6" descr="OR gate">
            <a:extLst>
              <a:ext uri="{FF2B5EF4-FFF2-40B4-BE49-F238E27FC236}">
                <a16:creationId xmlns:a16="http://schemas.microsoft.com/office/drawing/2014/main" id="{F9B3B416-0D0E-EC7E-5640-6BA17ACE1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49" y="1562100"/>
            <a:ext cx="6622773" cy="409914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B5297F7-CD74-60C4-5749-2A745CD1BCBA}"/>
              </a:ext>
            </a:extLst>
          </p:cNvPr>
          <p:cNvSpPr/>
          <p:nvPr/>
        </p:nvSpPr>
        <p:spPr>
          <a:xfrm>
            <a:off x="1573396" y="3284984"/>
            <a:ext cx="648072" cy="6480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971A91-5515-2033-A059-741CB8DAB1EA}"/>
              </a:ext>
            </a:extLst>
          </p:cNvPr>
          <p:cNvSpPr/>
          <p:nvPr/>
        </p:nvSpPr>
        <p:spPr>
          <a:xfrm>
            <a:off x="5076056" y="3284984"/>
            <a:ext cx="648072" cy="648072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68724176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02 0.00046 L 0.18229 0.005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63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29 0.00532 L 0.38697 0.0053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697 0.00532 L 0.38697 -0.19422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697 -0.19422 L 0.58385 -0.1942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44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59259E-6 L 0.00381 0.194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1 0.19444 L 0.20869 0.19444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928DC-35CF-464D-9177-ACCE16EE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XOR Gateway Merging Behaviour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9538BA1-1985-F67D-7624-CBE23C8D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48608"/>
            <a:ext cx="7773571" cy="303657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5CC2F8C-8E2A-608B-9CE6-C4300C881877}"/>
              </a:ext>
            </a:extLst>
          </p:cNvPr>
          <p:cNvSpPr/>
          <p:nvPr/>
        </p:nvSpPr>
        <p:spPr>
          <a:xfrm>
            <a:off x="4039675" y="2312876"/>
            <a:ext cx="648072" cy="6480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633F1E-318C-F9C7-0A9A-492AED2A88CF}"/>
              </a:ext>
            </a:extLst>
          </p:cNvPr>
          <p:cNvSpPr/>
          <p:nvPr/>
        </p:nvSpPr>
        <p:spPr>
          <a:xfrm>
            <a:off x="4067944" y="4221088"/>
            <a:ext cx="648072" cy="648072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3092425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02 0.00046 L 0.16146 -0.01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0" y="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146 -0.0162 L 0.16146 0.13125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146 0.13125 L 0.29045 0.1365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41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045 0.13657 L 0.41649 0.13657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48148E-6 L 0.16146 -0.0053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0"/>
                            </p:stCondLst>
                            <p:childTnLst>
                              <p:par>
                                <p:cTn id="2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146 -0.00532 L 0.15851 -0.14699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0"/>
                            </p:stCondLst>
                            <p:childTnLst>
                              <p:par>
                                <p:cTn id="23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851 -0.14699 L 0.2875 -0.14167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41" y="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4000"/>
                            </p:stCondLst>
                            <p:childTnLst>
                              <p:par>
                                <p:cTn id="26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75 -0.14167 L 0.41354 -0.13125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C176465-9731-2FFA-603C-D7B8AEA06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47" y="2280901"/>
            <a:ext cx="7772400" cy="26203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8928DC-35CF-464D-9177-ACCE16EE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AND Gateway Merging Behaviour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5CC2F8C-8E2A-608B-9CE6-C4300C881877}"/>
              </a:ext>
            </a:extLst>
          </p:cNvPr>
          <p:cNvSpPr/>
          <p:nvPr/>
        </p:nvSpPr>
        <p:spPr>
          <a:xfrm>
            <a:off x="4039675" y="2312876"/>
            <a:ext cx="648072" cy="6480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633F1E-318C-F9C7-0A9A-492AED2A88CF}"/>
              </a:ext>
            </a:extLst>
          </p:cNvPr>
          <p:cNvSpPr/>
          <p:nvPr/>
        </p:nvSpPr>
        <p:spPr>
          <a:xfrm>
            <a:off x="4067944" y="4221088"/>
            <a:ext cx="648072" cy="648072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50629372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02 0.00046 L 0.16146 -0.01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0" y="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146 -0.0162 L 0.16146 0.13125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48148E-6 L 0.16146 -0.0053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146 -0.00532 L 0.1585 -0.14699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" y="-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851 -0.14699 L 0.2875 -0.14167 " pathEditMode="relative" rAng="0" ptsTypes="AA">
                                      <p:cBhvr>
                                        <p:cTn id="18" dur="2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41" y="78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146 0.13125 L 0.29045 0.1365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41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250"/>
                            </p:stCondLst>
                            <p:childTnLst>
                              <p:par>
                                <p:cTn id="22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75 -0.14167 L 0.41354 -0.13125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509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045 0.13657 L 0.41649 0.13657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>
            <a:normAutofit fontScale="92500"/>
          </a:bodyPr>
          <a:lstStyle/>
          <a:p>
            <a:pPr indent="-257175">
              <a:spcAft>
                <a:spcPct val="0"/>
              </a:spcAft>
              <a:buClr>
                <a:srgbClr val="1A9DAC"/>
              </a:buClr>
            </a:pPr>
            <a:r>
              <a:rPr lang="en-US" sz="2800" dirty="0">
                <a:latin typeface="+mn-lt"/>
              </a:rPr>
              <a:t>BPMN 2.0 by example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 </a:t>
            </a:r>
            <a:r>
              <a:rPr lang="en-US" sz="2800" dirty="0">
                <a:latin typeface="+mn-lt"/>
                <a:hlinkClick r:id="rId3"/>
              </a:rPr>
              <a:t>https://www.omg.org/cgi-bin/doc?dtc/10-06-02.pdf</a:t>
            </a:r>
            <a:r>
              <a:rPr lang="en-US" sz="2800" dirty="0">
                <a:latin typeface="+mn-lt"/>
              </a:rPr>
              <a:t> </a:t>
            </a:r>
          </a:p>
          <a:p>
            <a:pPr indent="-257175">
              <a:spcAft>
                <a:spcPct val="0"/>
              </a:spcAft>
              <a:buClr>
                <a:srgbClr val="1A9DAC"/>
              </a:buClr>
            </a:pPr>
            <a:r>
              <a:rPr lang="en-US" sz="2800" dirty="0">
                <a:latin typeface="+mn-lt"/>
              </a:rPr>
              <a:t>Real-life BPMN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  <a:hlinkClick r:id="rId4"/>
              </a:rPr>
              <a:t>https://www.omg.org/oceb-2/documents/real-life-bpmn-CamundaOCEB-2-DownloadSection.pdf</a:t>
            </a:r>
            <a:r>
              <a:rPr lang="en-US" sz="2800" dirty="0">
                <a:latin typeface="+mn-lt"/>
              </a:rPr>
              <a:t> </a:t>
            </a:r>
          </a:p>
          <a:p>
            <a:pPr indent="-257175">
              <a:spcAft>
                <a:spcPct val="0"/>
              </a:spcAft>
              <a:buClr>
                <a:srgbClr val="1A9DAC"/>
              </a:buClr>
            </a:pPr>
            <a:r>
              <a:rPr lang="en-US" sz="2800" dirty="0">
                <a:latin typeface="+mn-lt"/>
              </a:rPr>
              <a:t>BPMN Specification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  <a:hlinkClick r:id="rId5"/>
              </a:rPr>
              <a:t>https://www.omg.org/spec/BPMN/2.0/About-BPMN/</a:t>
            </a:r>
            <a:r>
              <a:rPr lang="en-US" sz="2800" dirty="0">
                <a:latin typeface="+mn-lt"/>
              </a:rPr>
              <a:t> </a:t>
            </a:r>
            <a:br>
              <a:rPr lang="en-US" sz="2800" dirty="0">
                <a:latin typeface="+mn-lt"/>
              </a:rPr>
            </a:br>
            <a:endParaRPr lang="en-US" sz="2800" dirty="0">
              <a:latin typeface="+mn-lt"/>
            </a:endParaRPr>
          </a:p>
          <a:p>
            <a:pPr indent="-257175">
              <a:spcAft>
                <a:spcPct val="0"/>
              </a:spcAft>
              <a:buClr>
                <a:srgbClr val="1A9DAC"/>
              </a:buClr>
            </a:pPr>
            <a:endParaRPr lang="en-US" sz="2800" dirty="0">
              <a:latin typeface="+mn-lt"/>
            </a:endParaRPr>
          </a:p>
          <a:p>
            <a:pPr indent="-257175">
              <a:spcAft>
                <a:spcPct val="0"/>
              </a:spcAft>
              <a:buClr>
                <a:srgbClr val="1A9DAC"/>
              </a:buClr>
            </a:pPr>
            <a:endParaRPr sz="2800" dirty="0">
              <a:latin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4A1D50-D7FF-9E60-4D17-92B1C0AC94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27584" y="692697"/>
            <a:ext cx="7886700" cy="792088"/>
          </a:xfrm>
        </p:spPr>
        <p:txBody>
          <a:bodyPr/>
          <a:lstStyle/>
          <a:p>
            <a:pPr rtl="0" eaLnBrk="1" fontAlgn="base" hangingPunct="1"/>
            <a:r>
              <a:rPr lang="en-GB" sz="3600" b="0" i="0" kern="1200" dirty="0">
                <a:solidFill>
                  <a:srgbClr val="1A9DAC"/>
                </a:solidFill>
                <a:effectLst/>
                <a:latin typeface="Calibri" panose="020F0502020204030204" pitchFamily="34" charset="0"/>
                <a:ea typeface="ＭＳ Ｐゴシック" panose="020B0600070205080204" pitchFamily="34" charset="-128"/>
                <a:cs typeface="Georgia" panose="02040502050405020303" pitchFamily="18" charset="0"/>
              </a:rPr>
              <a:t>References and Further Reading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36702593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ea typeface="Calibri"/>
                <a:cs typeface="Calibri"/>
              </a:rPr>
              <a:t>Business Process Modelling and Enterprise Architecture</a:t>
            </a:r>
            <a:endParaRPr lang="en-US" dirty="0"/>
          </a:p>
          <a:p>
            <a:r>
              <a:rPr lang="en-GB" dirty="0">
                <a:ea typeface="ＭＳ Ｐゴシック"/>
              </a:rPr>
              <a:t> </a:t>
            </a:r>
            <a:br>
              <a:rPr lang="en-GB" dirty="0"/>
            </a:br>
            <a:br>
              <a:rPr lang="en-GB" dirty="0"/>
            </a:br>
            <a:r>
              <a:rPr lang="en-GB" dirty="0">
                <a:ea typeface="ＭＳ Ｐゴシック"/>
              </a:rPr>
              <a:t>BPMN – Introduction, Tasks and Gateways (2/2) 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CA5162-E5EB-2139-7EE6-0FADD261AF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F85F6F-2720-4BB3-F1CD-C1B12FE75A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9294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standard" id="{52560AC1-BBE7-DA4F-9F42-B907461B0F24}" vid="{5E483FDD-D17B-7F42-8614-BB348032E13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C3F4283AECA48BCBDDFCF4103160C" ma:contentTypeVersion="2" ma:contentTypeDescription="Create a new document." ma:contentTypeScope="" ma:versionID="71a29f68b18f52e7e0b329625759c092">
  <xsd:schema xmlns:xsd="http://www.w3.org/2001/XMLSchema" xmlns:xs="http://www.w3.org/2001/XMLSchema" xmlns:p="http://schemas.microsoft.com/office/2006/metadata/properties" xmlns:ns2="037ba92a-5764-4297-b5f7-6ea117412624" xmlns:ns3="3a4ab234-afbc-41ab-b2db-358d80304e46" targetNamespace="http://schemas.microsoft.com/office/2006/metadata/properties" ma:root="true" ma:fieldsID="a458c3587d291faf4ca1653387720a89" ns2:_="" ns3:_="">
    <xsd:import namespace="037ba92a-5764-4297-b5f7-6ea117412624"/>
    <xsd:import namespace="3a4ab234-afbc-41ab-b2db-358d80304e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ba92a-5764-4297-b5f7-6ea11741262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ab234-afbc-41ab-b2db-358d80304e4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default="Main Issue" ma:description="Specify type of document to help with filtered views" ma:format="Dropdown" ma:internalName="Document_x0020_Type">
      <xsd:simpleType>
        <xsd:restriction base="dms:Choice">
          <xsd:enumeration value="Main Issue"/>
          <xsd:enumeration value="Supporting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Type xmlns="3a4ab234-afbc-41ab-b2db-358d80304e46">Main Issue</Document_x0020_Type>
    <_dlc_DocId xmlns="037ba92a-5764-4297-b5f7-6ea117412624">NAYYJSKVSPAS-2-1608</_dlc_DocId>
    <_dlc_DocIdUrl xmlns="037ba92a-5764-4297-b5f7-6ea117412624">
      <Url>https://docs.uwe.ac.uk/ou/Communications/_layouts/15/DocIdRedir.aspx?ID=NAYYJSKVSPAS-2-1608</Url>
      <Description>NAYYJSKVSPAS-2-1608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8277BB-DC5E-47BA-8CA9-13DFAB3B2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7ba92a-5764-4297-b5f7-6ea117412624"/>
    <ds:schemaRef ds:uri="3a4ab234-afbc-41ab-b2db-358d80304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D2D201-97C8-4E70-BF77-76D11DC8600F}">
  <ds:schemaRefs>
    <ds:schemaRef ds:uri="http://purl.org/dc/terms/"/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037ba92a-5764-4297-b5f7-6ea117412624"/>
    <ds:schemaRef ds:uri="http://schemas.openxmlformats.org/package/2006/metadata/core-properties"/>
    <ds:schemaRef ds:uri="3a4ab234-afbc-41ab-b2db-358d80304e46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F364826-19C1-4551-92C2-A6C074B09DC4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c0de803-e079-4d4f-96bc-6f3b3b6923e3}" enabled="1" method="Privileged" siteId="{07ef1208-413c-4b5e-9cdd-64ef305754f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1225</TotalTime>
  <Words>778</Words>
  <Application>Microsoft Macintosh PowerPoint</Application>
  <PresentationFormat>On-screen Show (4:3)</PresentationFormat>
  <Paragraphs>82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ＭＳ Ｐゴシック</vt:lpstr>
      <vt:lpstr>Arial</vt:lpstr>
      <vt:lpstr>Calibri</vt:lpstr>
      <vt:lpstr>Courier New</vt:lpstr>
      <vt:lpstr>Georgia</vt:lpstr>
      <vt:lpstr>Tahoma</vt:lpstr>
      <vt:lpstr>Custom Design</vt:lpstr>
      <vt:lpstr>Business Process Modelling and Enterprise Architecture    BPMN – Introduction, Tasks and Gateways (2/2)  </vt:lpstr>
      <vt:lpstr>Session Plan</vt:lpstr>
      <vt:lpstr>BPMN Activity</vt:lpstr>
      <vt:lpstr>BPMN Basic Task Types</vt:lpstr>
      <vt:lpstr>BPMN Basic Task Types</vt:lpstr>
      <vt:lpstr>A simple BPMN Process</vt:lpstr>
      <vt:lpstr>A simple BPMN Process</vt:lpstr>
      <vt:lpstr>BPMN Gateway</vt:lpstr>
      <vt:lpstr>BPMN Basic Gateways  </vt:lpstr>
      <vt:lpstr>BPMN Basic Gateways </vt:lpstr>
      <vt:lpstr>Exclusive Gateway Splitting Behaviour</vt:lpstr>
      <vt:lpstr>XOR Gateway spit behaviour </vt:lpstr>
      <vt:lpstr>XOR Gateway Merging Behaviour</vt:lpstr>
      <vt:lpstr>AND Gateway Merging Behaviour</vt:lpstr>
      <vt:lpstr>References and Further Reading</vt:lpstr>
      <vt:lpstr>Business Process Modelling and Enterprise Architecture    BPMN – Introduction, Tasks and Gateways (2/2)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UFCFAF-30-3  Development of Information Systems Projects   BPMN – Introduction, Tasks and Gateways  </dc:title>
  <dc:creator>Dilshan Jayatilake</dc:creator>
  <cp:lastModifiedBy>Dilshan Jayatilake</cp:lastModifiedBy>
  <cp:revision>23</cp:revision>
  <cp:lastPrinted>2016-09-22T10:08:48Z</cp:lastPrinted>
  <dcterms:created xsi:type="dcterms:W3CDTF">2022-10-31T21:43:06Z</dcterms:created>
  <dcterms:modified xsi:type="dcterms:W3CDTF">2026-09-16T08:12:21Z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0x01010072FC3F4283AECA48BCBDDFCF4103160C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dlc_DocIdItemGuid">
    <vt:lpwstr>0beaf668-18bc-407e-89e0-ef66d74dcf56</vt:lpwstr>
  </property>
</Properties>
</file>