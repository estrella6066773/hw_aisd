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84" d="100"/>
          <a:sy n="84" d="100"/>
        </p:scale>
        <p:origin x="96" y="7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3" name="Rectangle 2"/>
          <p:cNvSpPr/>
          <p:nvPr/>
        </p:nvSpPr>
        <p:spPr>
          <a:xfrm>
            <a:off x="502920" y="1417320"/>
            <a:ext cx="1371600" cy="50292"/>
          </a:xfrm>
          <a:prstGeom prst="rect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11185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F5C8B"/>
                </a:solidFill>
                <a:latin typeface="Segoe UI" panose="020B0502040204020203"/>
              </a:rPr>
              <a:t>AISD · BUSINESS PROCESS MODELLING · PART 2</a:t>
            </a:r>
            <a:endParaRPr sz="1100" b="1">
              <a:solidFill>
                <a:srgbClr val="1F5C8B"/>
              </a:solidFill>
              <a:latin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2011680"/>
            <a:ext cx="11185855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1A2634"/>
                </a:solidFill>
                <a:latin typeface="Segoe UI" panose="020B0502040204020203"/>
              </a:rPr>
              <a:t>Hospital Pathway</a:t>
            </a:r>
            <a:endParaRPr sz="4200" b="1">
              <a:solidFill>
                <a:srgbClr val="1A2634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2834640"/>
            <a:ext cx="11185855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5A6B7B"/>
                </a:solidFill>
                <a:latin typeface="Segoe UI" panose="020B0502040204020203"/>
              </a:rPr>
              <a:t>An operable process model, running on Camunda 8</a:t>
            </a:r>
            <a:endParaRPr sz="2000" b="0">
              <a:solidFill>
                <a:srgbClr val="5A6B7B"/>
              </a:solidFill>
              <a:latin typeface="Segoe UI" panose="020B05020402040202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3931920"/>
            <a:ext cx="11185855" cy="10972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502920" y="4160520"/>
            <a:ext cx="2604439" cy="1234440"/>
          </a:xfrm>
          <a:prstGeom prst="rect">
            <a:avLst/>
          </a:prstGeom>
          <a:solidFill>
            <a:srgbClr val="F3F7FA"/>
          </a:solidFill>
          <a:ln w="9525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9" name="Rectangle 8"/>
          <p:cNvSpPr/>
          <p:nvPr/>
        </p:nvSpPr>
        <p:spPr>
          <a:xfrm>
            <a:off x="502920" y="4160520"/>
            <a:ext cx="2604439" cy="41148"/>
          </a:xfrm>
          <a:prstGeom prst="rect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9224" y="4315968"/>
            <a:ext cx="231183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F5C8B"/>
                </a:solidFill>
                <a:latin typeface="Segoe UI" panose="020B0502040204020203"/>
              </a:rPr>
              <a:t>A · Ruby</a:t>
            </a:r>
            <a:endParaRPr sz="1050" b="1">
              <a:solidFill>
                <a:srgbClr val="1F5C8B"/>
              </a:solidFill>
              <a:latin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9224" y="4553712"/>
            <a:ext cx="231183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A2634"/>
                </a:solidFill>
                <a:latin typeface="Segoe UI" panose="020B0502040204020203"/>
              </a:rPr>
              <a:t>Money</a:t>
            </a:r>
            <a:endParaRPr sz="1300" b="1">
              <a:solidFill>
                <a:srgbClr val="1A2634"/>
              </a:solidFill>
              <a:latin typeface="Segoe UI" panose="020B05020402040202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9224" y="4828032"/>
            <a:ext cx="2311831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B"/>
                </a:solidFill>
                <a:latin typeface="Segoe UI" panose="020B0502040204020203"/>
              </a:rPr>
              <a:t>P5 / P7 / P13 · request-payment
payment_ledger</a:t>
            </a:r>
            <a:endParaRPr sz="800" b="0">
              <a:solidFill>
                <a:srgbClr val="5A6B7B"/>
              </a:solidFill>
              <a:latin typeface="Segoe UI" panose="020B0502040204020203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363391" y="4160520"/>
            <a:ext cx="2604439" cy="1234440"/>
          </a:xfrm>
          <a:prstGeom prst="rect">
            <a:avLst/>
          </a:prstGeom>
          <a:solidFill>
            <a:srgbClr val="F3F7FA"/>
          </a:solidFill>
          <a:ln w="9525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14" name="Rectangle 13"/>
          <p:cNvSpPr/>
          <p:nvPr/>
        </p:nvSpPr>
        <p:spPr>
          <a:xfrm>
            <a:off x="3363391" y="4160520"/>
            <a:ext cx="2604439" cy="41148"/>
          </a:xfrm>
          <a:prstGeom prst="rect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3509695" y="4315968"/>
            <a:ext cx="231183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F5C8B"/>
                </a:solidFill>
                <a:latin typeface="Segoe UI" panose="020B0502040204020203"/>
              </a:rPr>
              <a:t>B · Estrella</a:t>
            </a:r>
            <a:endParaRPr sz="1050" b="1">
              <a:solidFill>
                <a:srgbClr val="1F5C8B"/>
              </a:solidFill>
              <a:latin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09695" y="4553712"/>
            <a:ext cx="231183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A2634"/>
                </a:solidFill>
                <a:latin typeface="Segoe UI" panose="020B0502040204020203"/>
              </a:rPr>
              <a:t>Slots</a:t>
            </a:r>
            <a:endParaRPr sz="1300" b="1">
              <a:solidFill>
                <a:srgbClr val="1A2634"/>
              </a:solidFill>
              <a:latin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509695" y="4828032"/>
            <a:ext cx="2311831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B"/>
                </a:solidFill>
                <a:latin typeface="Segoe UI" panose="020B0502040204020203"/>
              </a:rPr>
              <a:t>P3 / P4 / P6 · send-booking-confirmation
booking_slot</a:t>
            </a:r>
            <a:endParaRPr sz="800" b="0">
              <a:solidFill>
                <a:srgbClr val="5A6B7B"/>
              </a:solidFill>
              <a:latin typeface="Segoe UI" panose="020B0502040204020203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23863" y="4160520"/>
            <a:ext cx="2604439" cy="1234440"/>
          </a:xfrm>
          <a:prstGeom prst="rect">
            <a:avLst/>
          </a:prstGeom>
          <a:solidFill>
            <a:srgbClr val="F3F7FA"/>
          </a:solidFill>
          <a:ln w="9525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19" name="Rectangle 18"/>
          <p:cNvSpPr/>
          <p:nvPr/>
        </p:nvSpPr>
        <p:spPr>
          <a:xfrm>
            <a:off x="6223863" y="4160520"/>
            <a:ext cx="2604439" cy="41148"/>
          </a:xfrm>
          <a:prstGeom prst="rect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370167" y="4315968"/>
            <a:ext cx="231183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F5C8B"/>
                </a:solidFill>
                <a:latin typeface="Segoe UI" panose="020B0502040204020203"/>
              </a:rPr>
              <a:t>C · Ender</a:t>
            </a:r>
            <a:endParaRPr sz="1050" b="1">
              <a:solidFill>
                <a:srgbClr val="1F5C8B"/>
              </a:solidFill>
              <a:latin typeface="Segoe UI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70167" y="4553712"/>
            <a:ext cx="231183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A2634"/>
                </a:solidFill>
                <a:latin typeface="Segoe UI" panose="020B0502040204020203"/>
              </a:rPr>
              <a:t>Letters</a:t>
            </a:r>
            <a:endParaRPr sz="1300" b="1">
              <a:solidFill>
                <a:srgbClr val="1A2634"/>
              </a:solidFill>
              <a:latin typeface="Segoe UI" panose="020B05020402040202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70167" y="4828032"/>
            <a:ext cx="2311831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B"/>
                </a:solidFill>
                <a:latin typeface="Segoe UI" panose="020B0502040204020203"/>
              </a:rPr>
              <a:t>P9 / P2 · dispatch-clinic-letter
notify-referrer · audit_event</a:t>
            </a:r>
            <a:endParaRPr sz="800" b="0">
              <a:solidFill>
                <a:srgbClr val="5A6B7B"/>
              </a:solidFill>
              <a:latin typeface="Segoe UI" panose="020B0502040204020203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9084335" y="4160520"/>
            <a:ext cx="2604439" cy="1234440"/>
          </a:xfrm>
          <a:prstGeom prst="rect">
            <a:avLst/>
          </a:prstGeom>
          <a:solidFill>
            <a:srgbClr val="F3F7FA"/>
          </a:solidFill>
          <a:ln w="9525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24" name="Rectangle 23"/>
          <p:cNvSpPr/>
          <p:nvPr/>
        </p:nvSpPr>
        <p:spPr>
          <a:xfrm>
            <a:off x="9084335" y="4160520"/>
            <a:ext cx="2604439" cy="41148"/>
          </a:xfrm>
          <a:prstGeom prst="rect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9230639" y="4315968"/>
            <a:ext cx="231183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F5C8B"/>
                </a:solidFill>
                <a:latin typeface="Segoe UI" panose="020B0502040204020203"/>
              </a:rPr>
              <a:t>D · Ryan</a:t>
            </a:r>
            <a:endParaRPr sz="1050" b="1">
              <a:solidFill>
                <a:srgbClr val="1F5C8B"/>
              </a:solidFill>
              <a:latin typeface="Segoe UI" panose="020B05020402040202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230639" y="4553712"/>
            <a:ext cx="231183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A2634"/>
                </a:solidFill>
                <a:latin typeface="Segoe UI" panose="020B0502040204020203"/>
              </a:rPr>
              <a:t>Care change</a:t>
            </a:r>
            <a:endParaRPr sz="1300" b="1">
              <a:solidFill>
                <a:srgbClr val="1A2634"/>
              </a:solidFill>
              <a:latin typeface="Segoe UI" panose="020B0502040204020203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230639" y="4828032"/>
            <a:ext cx="2311831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B"/>
                </a:solidFill>
                <a:latin typeface="Segoe UI" panose="020B0502040204020203"/>
              </a:rPr>
              <a:t>P11 / P12 · notify-care-change
audit_event</a:t>
            </a:r>
            <a:endParaRPr sz="800" b="0">
              <a:solidFill>
                <a:srgbClr val="5A6B7B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F5C8B"/>
                </a:solidFill>
                <a:latin typeface="Segoe UI" panose="020B0502040204020203"/>
              </a:rPr>
              <a:t>TASK 01 · OPERATIONAL MODEL</a:t>
            </a:r>
            <a:endParaRPr sz="1050" b="1">
              <a:solidFill>
                <a:srgbClr val="1F5C8B"/>
              </a:solidFill>
              <a:latin typeface="Segoe UI" panose="020B05020402040202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8585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>
                <a:solidFill>
                  <a:srgbClr val="1A2634"/>
                </a:solidFill>
                <a:latin typeface="Segoe UI" panose="020B0502040204020203"/>
              </a:rPr>
              <a:t>Normal path — one self-pay patient, referral to discharge</a:t>
            </a:r>
            <a:endParaRPr sz="2300" b="1">
              <a:solidFill>
                <a:srgbClr val="1A2634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85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A6B7B"/>
                </a:solidFill>
                <a:latin typeface="Segoe UI" panose="020B0502040204020203"/>
              </a:rPr>
              <a:t>Route 10 (Pay &amp; Treat). Blue = human task · Green = Java worker · Amber = exclusive gateway · Grey = event.</a:t>
            </a:r>
            <a:endParaRPr sz="1050" b="0">
              <a:solidFill>
                <a:srgbClr val="5A6B7B"/>
              </a:solidFill>
              <a:latin typeface="Segoe UI" panose="020B0502040204020203"/>
            </a:endParaRPr>
          </a:p>
        </p:txBody>
      </p:sp>
      <p:sp>
        <p:nvSpPr>
          <p:cNvPr id="5" name="Oval 4"/>
          <p:cNvSpPr/>
          <p:nvPr/>
        </p:nvSpPr>
        <p:spPr>
          <a:xfrm>
            <a:off x="633953" y="1481328"/>
            <a:ext cx="1975104" cy="932688"/>
          </a:xfrm>
          <a:prstGeom prst="ellipse">
            <a:avLst/>
          </a:prstGeom>
          <a:solidFill>
            <a:srgbClr val="E9EEF2"/>
          </a:solidFill>
          <a:ln w="12700">
            <a:solidFill>
              <a:srgbClr val="7A8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1A2634"/>
                </a:solidFill>
                <a:latin typeface="Segoe UI" panose="020B0502040204020203"/>
              </a:rPr>
              <a:t>Start request</a:t>
            </a:r>
            <a:endParaRPr sz="950" b="1">
              <a:solidFill>
                <a:srgbClr val="1A2634"/>
              </a:solidFill>
              <a:latin typeface="Segoe UI" panose="020B0502040204020203"/>
            </a:endParaRPr>
          </a:p>
          <a:p>
            <a:pPr algn="ctr">
              <a:lnSpc>
                <a:spcPct val="95000"/>
              </a:lnSpc>
            </a:pPr>
            <a:r>
              <a:rPr sz="750" b="0">
                <a:solidFill>
                  <a:srgbClr val="5A6B7B"/>
                </a:solidFill>
                <a:latin typeface="Segoe UI" panose="020B0502040204020203"/>
              </a:rPr>
              <a:t>start event</a:t>
            </a:r>
            <a:endParaRPr sz="750" b="0">
              <a:solidFill>
                <a:srgbClr val="5A6B7B"/>
              </a:solidFill>
              <a:latin typeface="Segoe UI" panose="020B0502040204020203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871124" y="1481328"/>
            <a:ext cx="1975104" cy="932688"/>
          </a:xfrm>
          <a:prstGeom prst="roundRect">
            <a:avLst>
              <a:gd name="adj" fmla="val 10000"/>
            </a:avLst>
          </a:prstGeom>
          <a:solidFill>
            <a:srgbClr val="DCE9F7"/>
          </a:solidFill>
          <a:ln w="12700">
            <a:solidFill>
              <a:srgbClr val="4A7E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1A2634"/>
                </a:solidFill>
                <a:latin typeface="Segoe UI" panose="020B0502040204020203"/>
              </a:rPr>
              <a:t>Register request</a:t>
            </a:r>
            <a:endParaRPr sz="950" b="1">
              <a:solidFill>
                <a:srgbClr val="1A2634"/>
              </a:solidFill>
              <a:latin typeface="Segoe UI" panose="020B0502040204020203"/>
            </a:endParaRPr>
          </a:p>
          <a:p>
            <a:pPr algn="ctr">
              <a:lnSpc>
                <a:spcPct val="95000"/>
              </a:lnSpc>
            </a:pPr>
            <a:r>
              <a:rPr sz="750" b="0">
                <a:solidFill>
                  <a:srgbClr val="5A6B7B"/>
                </a:solidFill>
                <a:latin typeface="Segoe UI" panose="020B0502040204020203"/>
              </a:rPr>
              <a:t>P1 · register_request · Admin</a:t>
            </a:r>
            <a:endParaRPr sz="750" b="0">
              <a:solidFill>
                <a:srgbClr val="5A6B7B"/>
              </a:solidFill>
              <a:latin typeface="Segoe UI" panose="020B050204020402020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108295" y="1481328"/>
            <a:ext cx="1975104" cy="932688"/>
          </a:xfrm>
          <a:prstGeom prst="roundRect">
            <a:avLst>
              <a:gd name="adj" fmla="val 10000"/>
            </a:avLst>
          </a:prstGeom>
          <a:solidFill>
            <a:srgbClr val="DCE9F7"/>
          </a:solidFill>
          <a:ln w="12700">
            <a:solidFill>
              <a:srgbClr val="4A7E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1A2634"/>
                </a:solidFill>
                <a:latin typeface="Segoe UI" panose="020B0502040204020203"/>
              </a:rPr>
              <a:t>Review referral</a:t>
            </a:r>
            <a:endParaRPr sz="950" b="1">
              <a:solidFill>
                <a:srgbClr val="1A2634"/>
              </a:solidFill>
              <a:latin typeface="Segoe UI" panose="020B0502040204020203"/>
            </a:endParaRPr>
          </a:p>
          <a:p>
            <a:pPr algn="ctr">
              <a:lnSpc>
                <a:spcPct val="95000"/>
              </a:lnSpc>
            </a:pPr>
            <a:r>
              <a:rPr sz="750" b="0">
                <a:solidFill>
                  <a:srgbClr val="5A6B7B"/>
                </a:solidFill>
                <a:latin typeface="Segoe UI" panose="020B0502040204020203"/>
              </a:rPr>
              <a:t>P2 · review_referral · Clinical</a:t>
            </a:r>
            <a:endParaRPr sz="750" b="0">
              <a:solidFill>
                <a:srgbClr val="5A6B7B"/>
              </a:solidFill>
              <a:latin typeface="Segoe UI" panose="020B050204020402020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45466" y="1481328"/>
            <a:ext cx="1975104" cy="932688"/>
          </a:xfrm>
          <a:prstGeom prst="roundRect">
            <a:avLst>
              <a:gd name="adj" fmla="val 10000"/>
            </a:avLst>
          </a:prstGeom>
          <a:solidFill>
            <a:srgbClr val="DCE9F7"/>
          </a:solidFill>
          <a:ln w="12700">
            <a:solidFill>
              <a:srgbClr val="4A7E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1A2634"/>
                </a:solidFill>
                <a:latin typeface="Segoe UI" panose="020B0502040204020203"/>
              </a:rPr>
              <a:t>Book visit</a:t>
            </a:r>
            <a:endParaRPr sz="950" b="1">
              <a:solidFill>
                <a:srgbClr val="1A2634"/>
              </a:solidFill>
              <a:latin typeface="Segoe UI" panose="020B0502040204020203"/>
            </a:endParaRPr>
          </a:p>
          <a:p>
            <a:pPr algn="ctr">
              <a:lnSpc>
                <a:spcPct val="95000"/>
              </a:lnSpc>
            </a:pPr>
            <a:r>
              <a:rPr sz="750" b="0">
                <a:solidFill>
                  <a:srgbClr val="5A6B7B"/>
                </a:solidFill>
                <a:latin typeface="Segoe UI" panose="020B0502040204020203"/>
              </a:rPr>
              <a:t>P3/P4 · book_visit · Admin</a:t>
            </a:r>
            <a:endParaRPr sz="750" b="0">
              <a:solidFill>
                <a:srgbClr val="5A6B7B"/>
              </a:solidFill>
              <a:latin typeface="Segoe UI" panose="020B0502040204020203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582637" y="1481328"/>
            <a:ext cx="1975104" cy="932688"/>
          </a:xfrm>
          <a:prstGeom prst="roundRect">
            <a:avLst>
              <a:gd name="adj" fmla="val 10000"/>
            </a:avLst>
          </a:prstGeom>
          <a:solidFill>
            <a:srgbClr val="DCE9F7"/>
          </a:solidFill>
          <a:ln w="12700">
            <a:solidFill>
              <a:srgbClr val="4A7E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1A2634"/>
                </a:solidFill>
                <a:latin typeface="Segoe UI" panose="020B0502040204020203"/>
              </a:rPr>
              <a:t>Consult / treat</a:t>
            </a:r>
            <a:endParaRPr sz="950" b="1">
              <a:solidFill>
                <a:srgbClr val="1A2634"/>
              </a:solidFill>
              <a:latin typeface="Segoe UI" panose="020B0502040204020203"/>
            </a:endParaRPr>
          </a:p>
          <a:p>
            <a:pPr algn="ctr">
              <a:lnSpc>
                <a:spcPct val="95000"/>
              </a:lnSpc>
            </a:pPr>
            <a:r>
              <a:rPr sz="750" b="0">
                <a:solidFill>
                  <a:srgbClr val="5A6B7B"/>
                </a:solidFill>
                <a:latin typeface="Segoe UI" panose="020B0502040204020203"/>
              </a:rPr>
              <a:t>P5 · clinical_care · Clinical</a:t>
            </a:r>
            <a:endParaRPr sz="750" b="0">
              <a:solidFill>
                <a:srgbClr val="5A6B7B"/>
              </a:solidFill>
              <a:latin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582637" y="3017520"/>
            <a:ext cx="1975104" cy="932688"/>
          </a:xfrm>
          <a:prstGeom prst="roundRect">
            <a:avLst>
              <a:gd name="adj" fmla="val 10000"/>
            </a:avLst>
          </a:prstGeom>
          <a:solidFill>
            <a:srgbClr val="D9EDE0"/>
          </a:solidFill>
          <a:ln w="12700">
            <a:solidFill>
              <a:srgbClr val="4E8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1A2634"/>
                </a:solidFill>
                <a:latin typeface="Segoe UI" panose="020B0502040204020203"/>
              </a:rPr>
              <a:t>Dispatch clinic letter</a:t>
            </a:r>
            <a:endParaRPr sz="950" b="1">
              <a:solidFill>
                <a:srgbClr val="1A2634"/>
              </a:solidFill>
              <a:latin typeface="Segoe UI" panose="020B0502040204020203"/>
            </a:endParaRPr>
          </a:p>
          <a:p>
            <a:pPr algn="ctr">
              <a:lnSpc>
                <a:spcPct val="95000"/>
              </a:lnSpc>
            </a:pPr>
            <a:r>
              <a:rPr sz="750" b="0">
                <a:solidFill>
                  <a:srgbClr val="5A6B7B"/>
                </a:solidFill>
                <a:latin typeface="Segoe UI" panose="020B0502040204020203"/>
              </a:rPr>
              <a:t>P9 · dispatch-clinic-letter · Admin</a:t>
            </a:r>
            <a:endParaRPr sz="750" b="0">
              <a:solidFill>
                <a:srgbClr val="5A6B7B"/>
              </a:solidFill>
              <a:latin typeface="Segoe UI" panose="020B0502040204020203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345466" y="3017520"/>
            <a:ext cx="1975104" cy="932688"/>
          </a:xfrm>
          <a:prstGeom prst="roundRect">
            <a:avLst>
              <a:gd name="adj" fmla="val 10000"/>
            </a:avLst>
          </a:prstGeom>
          <a:solidFill>
            <a:srgbClr val="DCE9F7"/>
          </a:solidFill>
          <a:ln w="12700">
            <a:solidFill>
              <a:srgbClr val="4A7E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1A2634"/>
                </a:solidFill>
                <a:latin typeface="Segoe UI" panose="020B0502040204020203"/>
              </a:rPr>
              <a:t>Assess funding</a:t>
            </a:r>
            <a:endParaRPr sz="950" b="1">
              <a:solidFill>
                <a:srgbClr val="1A2634"/>
              </a:solidFill>
              <a:latin typeface="Segoe UI" panose="020B0502040204020203"/>
            </a:endParaRPr>
          </a:p>
          <a:p>
            <a:pPr algn="ctr">
              <a:lnSpc>
                <a:spcPct val="95000"/>
              </a:lnSpc>
            </a:pPr>
            <a:r>
              <a:rPr sz="750" b="0">
                <a:solidFill>
                  <a:srgbClr val="5A6B7B"/>
                </a:solidFill>
                <a:latin typeface="Segoe UI" panose="020B0502040204020203"/>
              </a:rPr>
              <a:t>P7 · funding_assessment · Finance</a:t>
            </a:r>
            <a:endParaRPr sz="750" b="0">
              <a:solidFill>
                <a:srgbClr val="5A6B7B"/>
              </a:solidFill>
              <a:latin typeface="Segoe UI" panose="020B050204020402020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108295" y="3017520"/>
            <a:ext cx="1975104" cy="932688"/>
          </a:xfrm>
          <a:prstGeom prst="roundRect">
            <a:avLst>
              <a:gd name="adj" fmla="val 10000"/>
            </a:avLst>
          </a:prstGeom>
          <a:solidFill>
            <a:srgbClr val="D9EDE0"/>
          </a:solidFill>
          <a:ln w="12700">
            <a:solidFill>
              <a:srgbClr val="4E8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1A2634"/>
                </a:solidFill>
                <a:latin typeface="Segoe UI" panose="020B0502040204020203"/>
              </a:rPr>
              <a:t>Request payment</a:t>
            </a:r>
            <a:endParaRPr sz="950" b="1">
              <a:solidFill>
                <a:srgbClr val="1A2634"/>
              </a:solidFill>
              <a:latin typeface="Segoe UI" panose="020B0502040204020203"/>
            </a:endParaRPr>
          </a:p>
          <a:p>
            <a:pPr algn="ctr">
              <a:lnSpc>
                <a:spcPct val="95000"/>
              </a:lnSpc>
            </a:pPr>
            <a:r>
              <a:rPr sz="750" b="0">
                <a:solidFill>
                  <a:srgbClr val="5A6B7B"/>
                </a:solidFill>
                <a:latin typeface="Segoe UI" panose="020B0502040204020203"/>
              </a:rPr>
              <a:t>P7 · request-payment  [Java 1]</a:t>
            </a:r>
            <a:endParaRPr sz="750" b="0">
              <a:solidFill>
                <a:srgbClr val="5A6B7B"/>
              </a:solidFill>
              <a:latin typeface="Segoe UI" panose="020B0502040204020203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2871124" y="3017520"/>
            <a:ext cx="1975104" cy="932688"/>
          </a:xfrm>
          <a:prstGeom prst="ellipse">
            <a:avLst/>
          </a:prstGeom>
          <a:solidFill>
            <a:srgbClr val="E9EEF2"/>
          </a:solidFill>
          <a:ln w="12700">
            <a:solidFill>
              <a:srgbClr val="7A8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1A2634"/>
                </a:solidFill>
                <a:latin typeface="Segoe UI" panose="020B0502040204020203"/>
              </a:rPr>
              <a:t>Payment result</a:t>
            </a:r>
            <a:endParaRPr sz="950" b="1">
              <a:solidFill>
                <a:srgbClr val="1A2634"/>
              </a:solidFill>
              <a:latin typeface="Segoe UI" panose="020B0502040204020203"/>
            </a:endParaRPr>
          </a:p>
          <a:p>
            <a:pPr algn="ctr">
              <a:lnSpc>
                <a:spcPct val="95000"/>
              </a:lnSpc>
            </a:pPr>
            <a:r>
              <a:rPr sz="750" b="0">
                <a:solidFill>
                  <a:srgbClr val="5A6B7B"/>
                </a:solidFill>
                <a:latin typeface="Segoe UI" panose="020B0502040204020203"/>
              </a:rPr>
              <a:t>P7 · message catch · payment-result</a:t>
            </a:r>
            <a:endParaRPr sz="750" b="0">
              <a:solidFill>
                <a:srgbClr val="5A6B7B"/>
              </a:solidFill>
              <a:latin typeface="Segoe UI" panose="020B0502040204020203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33953" y="3017520"/>
            <a:ext cx="1975104" cy="932688"/>
          </a:xfrm>
          <a:prstGeom prst="roundRect">
            <a:avLst>
              <a:gd name="adj" fmla="val 10000"/>
            </a:avLst>
          </a:prstGeom>
          <a:solidFill>
            <a:srgbClr val="DCE9F7"/>
          </a:solidFill>
          <a:ln w="12700">
            <a:solidFill>
              <a:srgbClr val="4A7E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1A2634"/>
                </a:solidFill>
                <a:latin typeface="Segoe UI" panose="020B0502040204020203"/>
              </a:rPr>
              <a:t>Confirm treatment booking</a:t>
            </a:r>
            <a:endParaRPr sz="950" b="1">
              <a:solidFill>
                <a:srgbClr val="1A2634"/>
              </a:solidFill>
              <a:latin typeface="Segoe UI" panose="020B0502040204020203"/>
            </a:endParaRPr>
          </a:p>
          <a:p>
            <a:pPr algn="ctr">
              <a:lnSpc>
                <a:spcPct val="95000"/>
              </a:lnSpc>
            </a:pPr>
            <a:r>
              <a:rPr sz="750" b="0">
                <a:solidFill>
                  <a:srgbClr val="5A6B7B"/>
                </a:solidFill>
                <a:latin typeface="Segoe UI" panose="020B0502040204020203"/>
              </a:rPr>
              <a:t>P6 · book_treatment · Admin</a:t>
            </a:r>
            <a:endParaRPr sz="750" b="0">
              <a:solidFill>
                <a:srgbClr val="5A6B7B"/>
              </a:solidFill>
              <a:latin typeface="Segoe UI" panose="020B0502040204020203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33953" y="4553712"/>
            <a:ext cx="1975104" cy="932688"/>
          </a:xfrm>
          <a:prstGeom prst="roundRect">
            <a:avLst>
              <a:gd name="adj" fmla="val 10000"/>
            </a:avLst>
          </a:prstGeom>
          <a:solidFill>
            <a:srgbClr val="D9EDE0"/>
          </a:solidFill>
          <a:ln w="12700">
            <a:solidFill>
              <a:srgbClr val="4E8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1A2634"/>
                </a:solidFill>
                <a:latin typeface="Segoe UI" panose="020B0502040204020203"/>
              </a:rPr>
              <a:t>Send booking confirmation</a:t>
            </a:r>
            <a:endParaRPr sz="950" b="1">
              <a:solidFill>
                <a:srgbClr val="1A2634"/>
              </a:solidFill>
              <a:latin typeface="Segoe UI" panose="020B0502040204020203"/>
            </a:endParaRPr>
          </a:p>
          <a:p>
            <a:pPr algn="ctr">
              <a:lnSpc>
                <a:spcPct val="95000"/>
              </a:lnSpc>
            </a:pPr>
            <a:r>
              <a:rPr sz="750" b="0">
                <a:solidFill>
                  <a:srgbClr val="5A6B7B"/>
                </a:solidFill>
                <a:latin typeface="Segoe UI" panose="020B0502040204020203"/>
              </a:rPr>
              <a:t>P6 · send-booking-confirmation  [Java 2]</a:t>
            </a:r>
            <a:endParaRPr sz="750" b="0">
              <a:solidFill>
                <a:srgbClr val="5A6B7B"/>
              </a:solidFill>
              <a:latin typeface="Segoe UI" panose="020B0502040204020203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871124" y="4553712"/>
            <a:ext cx="1975104" cy="932688"/>
          </a:xfrm>
          <a:prstGeom prst="roundRect">
            <a:avLst>
              <a:gd name="adj" fmla="val 10000"/>
            </a:avLst>
          </a:prstGeom>
          <a:solidFill>
            <a:srgbClr val="DCE9F7"/>
          </a:solidFill>
          <a:ln w="12700">
            <a:solidFill>
              <a:srgbClr val="4A7E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1A2634"/>
                </a:solidFill>
                <a:latin typeface="Segoe UI" panose="020B0502040204020203"/>
              </a:rPr>
              <a:t>Consult / treat (2nd)</a:t>
            </a:r>
            <a:endParaRPr sz="950" b="1">
              <a:solidFill>
                <a:srgbClr val="1A2634"/>
              </a:solidFill>
              <a:latin typeface="Segoe UI" panose="020B0502040204020203"/>
            </a:endParaRPr>
          </a:p>
          <a:p>
            <a:pPr algn="ctr">
              <a:lnSpc>
                <a:spcPct val="95000"/>
              </a:lnSpc>
            </a:pPr>
            <a:r>
              <a:rPr sz="750" b="0">
                <a:solidFill>
                  <a:srgbClr val="5A6B7B"/>
                </a:solidFill>
                <a:latin typeface="Segoe UI" panose="020B0502040204020203"/>
              </a:rPr>
              <a:t>P5 · clinical_care · Clinical</a:t>
            </a:r>
            <a:endParaRPr sz="750" b="0">
              <a:solidFill>
                <a:srgbClr val="5A6B7B"/>
              </a:solidFill>
              <a:latin typeface="Segoe UI" panose="020B0502040204020203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108295" y="4553712"/>
            <a:ext cx="1975104" cy="932688"/>
          </a:xfrm>
          <a:prstGeom prst="roundRect">
            <a:avLst>
              <a:gd name="adj" fmla="val 10000"/>
            </a:avLst>
          </a:prstGeom>
          <a:solidFill>
            <a:srgbClr val="D9EDE0"/>
          </a:solidFill>
          <a:ln w="12700">
            <a:solidFill>
              <a:srgbClr val="4E8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1A2634"/>
                </a:solidFill>
                <a:latin typeface="Segoe UI" panose="020B0502040204020203"/>
              </a:rPr>
              <a:t>Dispatch clinic letter (2nd)</a:t>
            </a:r>
            <a:endParaRPr sz="950" b="1">
              <a:solidFill>
                <a:srgbClr val="1A2634"/>
              </a:solidFill>
              <a:latin typeface="Segoe UI" panose="020B0502040204020203"/>
            </a:endParaRPr>
          </a:p>
          <a:p>
            <a:pPr algn="ctr">
              <a:lnSpc>
                <a:spcPct val="95000"/>
              </a:lnSpc>
            </a:pPr>
            <a:r>
              <a:rPr sz="750" b="0">
                <a:solidFill>
                  <a:srgbClr val="5A6B7B"/>
                </a:solidFill>
                <a:latin typeface="Segoe UI" panose="020B0502040204020203"/>
              </a:rPr>
              <a:t>P9 · dispatch-clinic-letter · Admin</a:t>
            </a:r>
            <a:endParaRPr sz="750" b="0">
              <a:solidFill>
                <a:srgbClr val="5A6B7B"/>
              </a:solidFill>
              <a:latin typeface="Segoe UI" panose="020B0502040204020203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7345466" y="4553712"/>
            <a:ext cx="1975104" cy="932688"/>
          </a:xfrm>
          <a:prstGeom prst="ellipse">
            <a:avLst/>
          </a:prstGeom>
          <a:solidFill>
            <a:srgbClr val="E9EEF2"/>
          </a:solidFill>
          <a:ln w="12700">
            <a:solidFill>
              <a:srgbClr val="7A8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1A2634"/>
                </a:solidFill>
                <a:latin typeface="Segoe UI" panose="020B0502040204020203"/>
              </a:rPr>
              <a:t>Care episode ended</a:t>
            </a:r>
            <a:endParaRPr sz="950" b="1">
              <a:solidFill>
                <a:srgbClr val="1A2634"/>
              </a:solidFill>
              <a:latin typeface="Segoe UI" panose="020B0502040204020203"/>
            </a:endParaRPr>
          </a:p>
          <a:p>
            <a:pPr algn="ctr">
              <a:lnSpc>
                <a:spcPct val="95000"/>
              </a:lnSpc>
            </a:pPr>
            <a:r>
              <a:rPr sz="750" b="0">
                <a:solidFill>
                  <a:srgbClr val="5A6B7B"/>
                </a:solidFill>
                <a:latin typeface="Segoe UI" panose="020B0502040204020203"/>
              </a:rPr>
              <a:t>end event</a:t>
            </a:r>
            <a:endParaRPr sz="750" b="0">
              <a:solidFill>
                <a:srgbClr val="5A6B7B"/>
              </a:solidFill>
              <a:latin typeface="Segoe UI" panose="020B0502040204020203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2627345" y="1947672"/>
            <a:ext cx="225491" cy="0"/>
          </a:xfrm>
          <a:prstGeom prst="line">
            <a:avLst/>
          </a:prstGeom>
          <a:ln w="15875">
            <a:solidFill>
              <a:srgbClr val="6B7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864516" y="1947672"/>
            <a:ext cx="225491" cy="0"/>
          </a:xfrm>
          <a:prstGeom prst="line">
            <a:avLst/>
          </a:prstGeom>
          <a:ln w="15875">
            <a:solidFill>
              <a:srgbClr val="6B7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101687" y="1947672"/>
            <a:ext cx="225491" cy="0"/>
          </a:xfrm>
          <a:prstGeom prst="line">
            <a:avLst/>
          </a:prstGeom>
          <a:ln w="15875">
            <a:solidFill>
              <a:srgbClr val="6B7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338858" y="1947672"/>
            <a:ext cx="225491" cy="0"/>
          </a:xfrm>
          <a:prstGeom prst="line">
            <a:avLst/>
          </a:prstGeom>
          <a:ln w="15875">
            <a:solidFill>
              <a:srgbClr val="6B7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570189" y="2432304"/>
            <a:ext cx="0" cy="566928"/>
          </a:xfrm>
          <a:prstGeom prst="line">
            <a:avLst/>
          </a:prstGeom>
          <a:ln w="15875">
            <a:solidFill>
              <a:srgbClr val="6B7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9338858" y="3483863"/>
            <a:ext cx="225491" cy="0"/>
          </a:xfrm>
          <a:prstGeom prst="line">
            <a:avLst/>
          </a:prstGeom>
          <a:ln w="15875">
            <a:solidFill>
              <a:srgbClr val="6B7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7101687" y="3483863"/>
            <a:ext cx="225491" cy="0"/>
          </a:xfrm>
          <a:prstGeom prst="line">
            <a:avLst/>
          </a:prstGeom>
          <a:ln w="15875">
            <a:solidFill>
              <a:srgbClr val="6B7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4864516" y="3483863"/>
            <a:ext cx="225491" cy="0"/>
          </a:xfrm>
          <a:prstGeom prst="line">
            <a:avLst/>
          </a:prstGeom>
          <a:ln w="15875">
            <a:solidFill>
              <a:srgbClr val="6B7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2627345" y="3483863"/>
            <a:ext cx="225491" cy="0"/>
          </a:xfrm>
          <a:prstGeom prst="line">
            <a:avLst/>
          </a:prstGeom>
          <a:ln w="15875">
            <a:solidFill>
              <a:srgbClr val="6B7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21505" y="3968496"/>
            <a:ext cx="0" cy="566928"/>
          </a:xfrm>
          <a:prstGeom prst="line">
            <a:avLst/>
          </a:prstGeom>
          <a:ln w="15875">
            <a:solidFill>
              <a:srgbClr val="6B7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627345" y="5020056"/>
            <a:ext cx="225491" cy="0"/>
          </a:xfrm>
          <a:prstGeom prst="line">
            <a:avLst/>
          </a:prstGeom>
          <a:ln w="15875">
            <a:solidFill>
              <a:srgbClr val="6B7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864516" y="5020056"/>
            <a:ext cx="225491" cy="0"/>
          </a:xfrm>
          <a:prstGeom prst="line">
            <a:avLst/>
          </a:prstGeom>
          <a:ln w="15875">
            <a:solidFill>
              <a:srgbClr val="6B7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101687" y="5020056"/>
            <a:ext cx="225491" cy="0"/>
          </a:xfrm>
          <a:prstGeom prst="line">
            <a:avLst/>
          </a:prstGeom>
          <a:ln w="15875">
            <a:solidFill>
              <a:srgbClr val="6B7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154015" y="244144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00" b="0">
                <a:solidFill>
                  <a:srgbClr val="1F5C8B"/>
                </a:solidFill>
                <a:latin typeface="Segoe UI" panose="020B0502040204020203"/>
              </a:rPr>
              <a:t>referralDecision = accept</a:t>
            </a:r>
            <a:endParaRPr sz="700" b="0">
              <a:solidFill>
                <a:srgbClr val="1F5C8B"/>
              </a:solidFill>
              <a:latin typeface="Segoe UI" panose="020B0502040204020203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391186" y="244144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00" b="0">
                <a:solidFill>
                  <a:srgbClr val="1F5C8B"/>
                </a:solidFill>
                <a:latin typeface="Segoe UI" panose="020B0502040204020203"/>
              </a:rPr>
              <a:t>visitOutcome = attended</a:t>
            </a:r>
            <a:endParaRPr sz="700" b="0">
              <a:solidFill>
                <a:srgbClr val="1F5C8B"/>
              </a:solidFill>
              <a:latin typeface="Segoe UI" panose="020B0502040204020203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628357" y="244144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00" b="0">
                <a:solidFill>
                  <a:srgbClr val="1F5C8B"/>
                </a:solidFill>
                <a:latin typeface="Segoe UI" panose="020B0502040204020203"/>
              </a:rPr>
              <a:t>careDecision = treatment</a:t>
            </a:r>
            <a:endParaRPr sz="700" b="0">
              <a:solidFill>
                <a:srgbClr val="1F5C8B"/>
              </a:solidFill>
              <a:latin typeface="Segoe UI" panose="020B0502040204020203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916844" y="397764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00" b="0">
                <a:solidFill>
                  <a:srgbClr val="1F5C8B"/>
                </a:solidFill>
                <a:latin typeface="Segoe UI" panose="020B0502040204020203"/>
              </a:rPr>
              <a:t>fundingStatus = patient_payment_required</a:t>
            </a:r>
            <a:endParaRPr sz="700" b="0">
              <a:solidFill>
                <a:srgbClr val="1F5C8B"/>
              </a:solidFill>
              <a:latin typeface="Segoe UI" panose="020B0502040204020203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79673" y="397764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00" b="0">
                <a:solidFill>
                  <a:srgbClr val="1F5C8B"/>
                </a:solidFill>
                <a:latin typeface="Segoe UI" panose="020B0502040204020203"/>
              </a:rPr>
              <a:t>payment_status = successful</a:t>
            </a:r>
            <a:endParaRPr sz="700" b="0">
              <a:solidFill>
                <a:srgbClr val="1F5C8B"/>
              </a:solidFill>
              <a:latin typeface="Segoe UI" panose="020B0502040204020203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154015" y="551383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00" b="0">
                <a:solidFill>
                  <a:srgbClr val="1F5C8B"/>
                </a:solidFill>
                <a:latin typeface="Segoe UI" panose="020B0502040204020203"/>
              </a:rPr>
              <a:t>careDecision = discharge</a:t>
            </a:r>
            <a:endParaRPr sz="700" b="0">
              <a:solidFill>
                <a:srgbClr val="1F5C8B"/>
              </a:solidFill>
              <a:latin typeface="Segoe UI" panose="020B0502040204020203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502920" y="5779008"/>
            <a:ext cx="237744" cy="146304"/>
          </a:xfrm>
          <a:prstGeom prst="rect">
            <a:avLst/>
          </a:prstGeom>
          <a:solidFill>
            <a:srgbClr val="DCE9F7"/>
          </a:solidFill>
          <a:ln w="9525">
            <a:solidFill>
              <a:srgbClr val="4A7E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39" name="TextBox 38"/>
          <p:cNvSpPr txBox="1"/>
          <p:nvPr/>
        </p:nvSpPr>
        <p:spPr>
          <a:xfrm>
            <a:off x="804672" y="5742432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A6B7B"/>
                </a:solidFill>
                <a:latin typeface="Segoe UI" panose="020B0502040204020203"/>
              </a:rPr>
              <a:t>Human task (Camunda Tasklist)</a:t>
            </a:r>
            <a:endParaRPr sz="850" b="0">
              <a:solidFill>
                <a:srgbClr val="5A6B7B"/>
              </a:solidFill>
              <a:latin typeface="Segoe UI" panose="020B0502040204020203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154680" y="5779008"/>
            <a:ext cx="237744" cy="146304"/>
          </a:xfrm>
          <a:prstGeom prst="rect">
            <a:avLst/>
          </a:prstGeom>
          <a:solidFill>
            <a:srgbClr val="D9EDE0"/>
          </a:solidFill>
          <a:ln w="9525">
            <a:solidFill>
              <a:srgbClr val="4E8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41" name="TextBox 40"/>
          <p:cNvSpPr txBox="1"/>
          <p:nvPr/>
        </p:nvSpPr>
        <p:spPr>
          <a:xfrm>
            <a:off x="3456432" y="5742432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A6B7B"/>
                </a:solidFill>
                <a:latin typeface="Segoe UI" panose="020B0502040204020203"/>
              </a:rPr>
              <a:t>Java worker (service / send task)</a:t>
            </a:r>
            <a:endParaRPr sz="850" b="0">
              <a:solidFill>
                <a:srgbClr val="5A6B7B"/>
              </a:solidFill>
              <a:latin typeface="Segoe UI" panose="020B0502040204020203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806440" y="5779008"/>
            <a:ext cx="237744" cy="146304"/>
          </a:xfrm>
          <a:prstGeom prst="rect">
            <a:avLst/>
          </a:prstGeom>
          <a:solidFill>
            <a:srgbClr val="FBEBD3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6108192" y="5742432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A6B7B"/>
                </a:solidFill>
                <a:latin typeface="Segoe UI" panose="020B0502040204020203"/>
              </a:rPr>
              <a:t>Exclusive gateway</a:t>
            </a:r>
            <a:endParaRPr sz="850" b="0">
              <a:solidFill>
                <a:srgbClr val="5A6B7B"/>
              </a:solidFill>
              <a:latin typeface="Segoe UI" panose="020B0502040204020203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8458200" y="5779008"/>
            <a:ext cx="237744" cy="146304"/>
          </a:xfrm>
          <a:prstGeom prst="rect">
            <a:avLst/>
          </a:prstGeom>
          <a:solidFill>
            <a:srgbClr val="E9EEF2"/>
          </a:solidFill>
          <a:ln w="9525">
            <a:solidFill>
              <a:srgbClr val="7A8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45" name="TextBox 44"/>
          <p:cNvSpPr txBox="1"/>
          <p:nvPr/>
        </p:nvSpPr>
        <p:spPr>
          <a:xfrm>
            <a:off x="8759952" y="5742432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A6B7B"/>
                </a:solidFill>
                <a:latin typeface="Segoe UI" panose="020B0502040204020203"/>
              </a:rPr>
              <a:t>Event</a:t>
            </a:r>
            <a:endParaRPr sz="850" b="0">
              <a:solidFill>
                <a:srgbClr val="5A6B7B"/>
              </a:solidFill>
              <a:latin typeface="Segoe UI" panose="020B0502040204020203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502920" y="6419088"/>
            <a:ext cx="11185855" cy="10972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502920" y="6473952"/>
            <a:ext cx="106372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5A6B7B"/>
                </a:solidFill>
                <a:latin typeface="Segoe UI" panose="020B0502040204020203"/>
              </a:rPr>
              <a:t>Hospital Pathway · Camunda 8 · AISD Part 2</a:t>
            </a:r>
            <a:endParaRPr sz="800" b="0">
              <a:solidFill>
                <a:srgbClr val="5A6B7B"/>
              </a:solidFill>
              <a:latin typeface="Segoe UI" panose="020B0502040204020203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1140135" y="6473952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5A6B7B"/>
                </a:solidFill>
                <a:latin typeface="Segoe UI" panose="020B0502040204020203"/>
              </a:rPr>
              <a:t>2</a:t>
            </a:r>
            <a:endParaRPr sz="800" b="0">
              <a:solidFill>
                <a:srgbClr val="5A6B7B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F5C8B"/>
                </a:solidFill>
                <a:latin typeface="Segoe UI" panose="020B0502040204020203"/>
              </a:rPr>
              <a:t>TASK 01 · OPERATIONAL MODEL</a:t>
            </a:r>
            <a:endParaRPr sz="1050" b="1">
              <a:solidFill>
                <a:srgbClr val="1F5C8B"/>
              </a:solidFill>
              <a:latin typeface="Segoe UI" panose="020B05020402040202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8585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>
                <a:solidFill>
                  <a:srgbClr val="1A2634"/>
                </a:solidFill>
                <a:latin typeface="Segoe UI" panose="020B0502040204020203"/>
              </a:rPr>
              <a:t>Alternative and exception paths</a:t>
            </a:r>
            <a:endParaRPr sz="2300" b="1">
              <a:solidFill>
                <a:srgbClr val="1A2634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85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A6B7B"/>
                </a:solidFill>
                <a:latin typeface="Segoe UI" panose="020B0502040204020203"/>
              </a:rPr>
              <a:t>The same model, routed by data. Each branch is a real gateway condition read from the deployed BPMN.</a:t>
            </a:r>
            <a:endParaRPr sz="1050" b="0">
              <a:solidFill>
                <a:srgbClr val="5A6B7B"/>
              </a:solidFill>
              <a:latin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352135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F5C8B"/>
                </a:solidFill>
                <a:latin typeface="Segoe UI" panose="020B0502040204020203"/>
              </a:rPr>
              <a:t>Alternative — funding already settled</a:t>
            </a:r>
            <a:endParaRPr sz="1050" b="1">
              <a:solidFill>
                <a:srgbClr val="1F5C8B"/>
              </a:solidFill>
              <a:latin typeface="Segoe UI" panose="020B0502040204020203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2648" y="1554480"/>
            <a:ext cx="3521354" cy="20116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612648" y="1645920"/>
            <a:ext cx="3301898" cy="603504"/>
          </a:xfrm>
          <a:prstGeom prst="roundRect">
            <a:avLst>
              <a:gd name="adj" fmla="val 10000"/>
            </a:avLst>
          </a:prstGeom>
          <a:solidFill>
            <a:srgbClr val="DCE9F7"/>
          </a:solidFill>
          <a:ln w="12700">
            <a:solidFill>
              <a:srgbClr val="4A7E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95000"/>
              </a:lnSpc>
            </a:pPr>
            <a:r>
              <a:rPr sz="900" b="1">
                <a:solidFill>
                  <a:srgbClr val="1A2634"/>
                </a:solidFill>
                <a:latin typeface="Segoe UI" panose="020B0502040204020203"/>
              </a:rPr>
              <a:t>Assess funding</a:t>
            </a:r>
            <a:endParaRPr sz="900" b="1">
              <a:solidFill>
                <a:srgbClr val="1A2634"/>
              </a:solidFill>
              <a:latin typeface="Segoe UI" panose="020B0502040204020203"/>
            </a:endParaRPr>
          </a:p>
          <a:p>
            <a:pPr algn="ctr">
              <a:lnSpc>
                <a:spcPct val="95000"/>
              </a:lnSpc>
            </a:pPr>
            <a:r>
              <a:rPr sz="700" b="0">
                <a:solidFill>
                  <a:srgbClr val="5A6B7B"/>
                </a:solidFill>
                <a:latin typeface="Segoe UI" panose="020B0502040204020203"/>
              </a:rPr>
              <a:t>P7 · funding_assessment</a:t>
            </a:r>
            <a:endParaRPr sz="700" b="0">
              <a:solidFill>
                <a:srgbClr val="5A6B7B"/>
              </a:solidFill>
              <a:latin typeface="Segoe UI" panose="020B0502040204020203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2263597" y="2267712"/>
            <a:ext cx="0" cy="109728"/>
          </a:xfrm>
          <a:prstGeom prst="line">
            <a:avLst/>
          </a:prstGeom>
          <a:ln w="15875">
            <a:solidFill>
              <a:srgbClr val="6B7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iamond 8"/>
          <p:cNvSpPr/>
          <p:nvPr/>
        </p:nvSpPr>
        <p:spPr>
          <a:xfrm>
            <a:off x="612648" y="2395728"/>
            <a:ext cx="3301898" cy="603504"/>
          </a:xfrm>
          <a:prstGeom prst="diamond">
            <a:avLst/>
          </a:prstGeom>
          <a:solidFill>
            <a:srgbClr val="FBEBD3"/>
          </a:solidFill>
          <a:ln w="12700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95000"/>
              </a:lnSpc>
            </a:pPr>
            <a:r>
              <a:rPr sz="900" b="1">
                <a:solidFill>
                  <a:srgbClr val="1A2634"/>
                </a:solidFill>
                <a:latin typeface="Segoe UI" panose="020B0502040204020203"/>
              </a:rPr>
              <a:t>Funding status?</a:t>
            </a:r>
            <a:endParaRPr sz="900" b="1">
              <a:solidFill>
                <a:srgbClr val="1A2634"/>
              </a:solidFill>
              <a:latin typeface="Segoe UI" panose="020B0502040204020203"/>
            </a:endParaRPr>
          </a:p>
          <a:p>
            <a:pPr algn="ctr">
              <a:lnSpc>
                <a:spcPct val="95000"/>
              </a:lnSpc>
            </a:pPr>
            <a:r>
              <a:rPr sz="700" b="0">
                <a:solidFill>
                  <a:srgbClr val="5A6B7B"/>
                </a:solidFill>
                <a:latin typeface="Segoe UI" panose="020B0502040204020203"/>
              </a:rPr>
              <a:t>hospital_funded / insurer_approved</a:t>
            </a:r>
            <a:endParaRPr sz="700" b="0">
              <a:solidFill>
                <a:srgbClr val="5A6B7B"/>
              </a:solidFill>
              <a:latin typeface="Segoe UI" panose="020B0502040204020203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2263597" y="3017520"/>
            <a:ext cx="0" cy="109728"/>
          </a:xfrm>
          <a:prstGeom prst="line">
            <a:avLst/>
          </a:prstGeom>
          <a:ln w="15875">
            <a:solidFill>
              <a:srgbClr val="6B7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12648" y="3145536"/>
            <a:ext cx="3301898" cy="603504"/>
          </a:xfrm>
          <a:prstGeom prst="roundRect">
            <a:avLst>
              <a:gd name="adj" fmla="val 10000"/>
            </a:avLst>
          </a:prstGeom>
          <a:solidFill>
            <a:srgbClr val="DCE9F7"/>
          </a:solidFill>
          <a:ln w="12700">
            <a:solidFill>
              <a:srgbClr val="4A7E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95000"/>
              </a:lnSpc>
            </a:pPr>
            <a:r>
              <a:rPr sz="900" b="1">
                <a:solidFill>
                  <a:srgbClr val="1A2634"/>
                </a:solidFill>
                <a:latin typeface="Segoe UI" panose="020B0502040204020203"/>
              </a:rPr>
              <a:t>Confirm treatment booking</a:t>
            </a:r>
            <a:endParaRPr sz="900" b="1">
              <a:solidFill>
                <a:srgbClr val="1A2634"/>
              </a:solidFill>
              <a:latin typeface="Segoe UI" panose="020B0502040204020203"/>
            </a:endParaRPr>
          </a:p>
          <a:p>
            <a:pPr algn="ctr">
              <a:lnSpc>
                <a:spcPct val="95000"/>
              </a:lnSpc>
            </a:pPr>
            <a:r>
              <a:rPr sz="700" b="0">
                <a:solidFill>
                  <a:srgbClr val="5A6B7B"/>
                </a:solidFill>
                <a:latin typeface="Segoe UI" panose="020B0502040204020203"/>
              </a:rPr>
              <a:t>P6 · book_treatment · no payment call</a:t>
            </a:r>
            <a:endParaRPr sz="700" b="0">
              <a:solidFill>
                <a:srgbClr val="5A6B7B"/>
              </a:solidFill>
              <a:latin typeface="Segoe UI" panose="020B0502040204020203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2263597" y="3767327"/>
            <a:ext cx="0" cy="109729"/>
          </a:xfrm>
          <a:prstGeom prst="line">
            <a:avLst/>
          </a:prstGeom>
          <a:ln w="15875">
            <a:solidFill>
              <a:srgbClr val="6B7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12648" y="3895344"/>
            <a:ext cx="3301898" cy="603504"/>
          </a:xfrm>
          <a:prstGeom prst="roundRect">
            <a:avLst>
              <a:gd name="adj" fmla="val 10000"/>
            </a:avLst>
          </a:prstGeom>
          <a:solidFill>
            <a:srgbClr val="D9EDE0"/>
          </a:solidFill>
          <a:ln w="12700">
            <a:solidFill>
              <a:srgbClr val="4E8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95000"/>
              </a:lnSpc>
            </a:pPr>
            <a:r>
              <a:rPr sz="900" b="1">
                <a:solidFill>
                  <a:srgbClr val="1A2634"/>
                </a:solidFill>
                <a:latin typeface="Segoe UI" panose="020B0502040204020203"/>
              </a:rPr>
              <a:t>Send booking confirmation</a:t>
            </a:r>
            <a:endParaRPr sz="900" b="1">
              <a:solidFill>
                <a:srgbClr val="1A2634"/>
              </a:solidFill>
              <a:latin typeface="Segoe UI" panose="020B0502040204020203"/>
            </a:endParaRPr>
          </a:p>
          <a:p>
            <a:pPr algn="ctr">
              <a:lnSpc>
                <a:spcPct val="95000"/>
              </a:lnSpc>
            </a:pPr>
            <a:r>
              <a:rPr sz="700" b="0">
                <a:solidFill>
                  <a:srgbClr val="5A6B7B"/>
                </a:solidFill>
                <a:latin typeface="Segoe UI" panose="020B0502040204020203"/>
              </a:rPr>
              <a:t>P6 · send-booking-confirmation</a:t>
            </a:r>
            <a:endParaRPr sz="700" b="0">
              <a:solidFill>
                <a:srgbClr val="5A6B7B"/>
              </a:solidFill>
              <a:latin typeface="Segoe UI" panose="020B0502040204020203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12648" y="4645152"/>
            <a:ext cx="3521354" cy="1444752"/>
          </a:xfrm>
          <a:prstGeom prst="rect">
            <a:avLst/>
          </a:prstGeom>
          <a:solidFill>
            <a:srgbClr val="F3F7FA"/>
          </a:solidFill>
          <a:ln w="9525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722376" y="4745736"/>
            <a:ext cx="3301898" cy="1261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5A6B7B"/>
                </a:solidFill>
                <a:latin typeface="Segoe UI" panose="020B0502040204020203"/>
              </a:rPr>
              <a:t>Other branch: urgent_review → P8 clinician authorises urgent care → P8 finance follow-up → back to funding.</a:t>
            </a:r>
            <a:endParaRPr sz="800" b="0">
              <a:solidFill>
                <a:srgbClr val="5A6B7B"/>
              </a:solidFill>
              <a:latin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44898" y="1298448"/>
            <a:ext cx="352135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F5C8B"/>
                </a:solidFill>
                <a:latin typeface="Segoe UI" panose="020B0502040204020203"/>
              </a:rPr>
              <a:t>Exception — the payment fails</a:t>
            </a:r>
            <a:endParaRPr sz="1050" b="1">
              <a:solidFill>
                <a:srgbClr val="1F5C8B"/>
              </a:solidFill>
              <a:latin typeface="Segoe UI" panose="020B0502040204020203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444898" y="1554480"/>
            <a:ext cx="3521354" cy="20116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4444898" y="1645920"/>
            <a:ext cx="3301898" cy="603504"/>
          </a:xfrm>
          <a:prstGeom prst="roundRect">
            <a:avLst>
              <a:gd name="adj" fmla="val 10000"/>
            </a:avLst>
          </a:prstGeom>
          <a:solidFill>
            <a:srgbClr val="D9EDE0"/>
          </a:solidFill>
          <a:ln w="12700">
            <a:solidFill>
              <a:srgbClr val="4E8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95000"/>
              </a:lnSpc>
            </a:pPr>
            <a:r>
              <a:rPr sz="900" b="1">
                <a:solidFill>
                  <a:srgbClr val="1A2634"/>
                </a:solidFill>
                <a:latin typeface="Segoe UI" panose="020B0502040204020203"/>
              </a:rPr>
              <a:t>Request payment</a:t>
            </a:r>
            <a:endParaRPr sz="900" b="1">
              <a:solidFill>
                <a:srgbClr val="1A2634"/>
              </a:solidFill>
              <a:latin typeface="Segoe UI" panose="020B0502040204020203"/>
            </a:endParaRPr>
          </a:p>
          <a:p>
            <a:pPr algn="ctr">
              <a:lnSpc>
                <a:spcPct val="95000"/>
              </a:lnSpc>
            </a:pPr>
            <a:r>
              <a:rPr sz="700" b="0">
                <a:solidFill>
                  <a:srgbClr val="5A6B7B"/>
                </a:solidFill>
                <a:latin typeface="Segoe UI" panose="020B0502040204020203"/>
              </a:rPr>
              <a:t>P7 · request-payment · amount ends in 0</a:t>
            </a:r>
            <a:endParaRPr sz="700" b="0">
              <a:solidFill>
                <a:srgbClr val="5A6B7B"/>
              </a:solidFill>
              <a:latin typeface="Segoe UI" panose="020B0502040204020203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6095847" y="2267712"/>
            <a:ext cx="0" cy="109728"/>
          </a:xfrm>
          <a:prstGeom prst="line">
            <a:avLst/>
          </a:prstGeom>
          <a:ln w="15875">
            <a:solidFill>
              <a:srgbClr val="6B7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Diamond 19"/>
          <p:cNvSpPr/>
          <p:nvPr/>
        </p:nvSpPr>
        <p:spPr>
          <a:xfrm>
            <a:off x="4444898" y="2395728"/>
            <a:ext cx="3301898" cy="603504"/>
          </a:xfrm>
          <a:prstGeom prst="diamond">
            <a:avLst/>
          </a:prstGeom>
          <a:solidFill>
            <a:srgbClr val="FBEBD3"/>
          </a:solidFill>
          <a:ln w="12700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95000"/>
              </a:lnSpc>
            </a:pPr>
            <a:r>
              <a:rPr sz="900" b="1">
                <a:solidFill>
                  <a:srgbClr val="1A2634"/>
                </a:solidFill>
                <a:latin typeface="Segoe UI" panose="020B0502040204020203"/>
              </a:rPr>
              <a:t>Payment result?</a:t>
            </a:r>
            <a:endParaRPr sz="900" b="1">
              <a:solidFill>
                <a:srgbClr val="1A2634"/>
              </a:solidFill>
              <a:latin typeface="Segoe UI" panose="020B0502040204020203"/>
            </a:endParaRPr>
          </a:p>
          <a:p>
            <a:pPr algn="ctr">
              <a:lnSpc>
                <a:spcPct val="95000"/>
              </a:lnSpc>
            </a:pPr>
            <a:r>
              <a:rPr sz="700" b="0">
                <a:solidFill>
                  <a:srgbClr val="5A6B7B"/>
                </a:solidFill>
                <a:latin typeface="Segoe UI" panose="020B0502040204020203"/>
              </a:rPr>
              <a:t>payment_status ≠ successful</a:t>
            </a:r>
            <a:endParaRPr sz="700" b="0">
              <a:solidFill>
                <a:srgbClr val="5A6B7B"/>
              </a:solidFill>
              <a:latin typeface="Segoe UI" panose="020B0502040204020203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6095847" y="3017520"/>
            <a:ext cx="0" cy="109728"/>
          </a:xfrm>
          <a:prstGeom prst="line">
            <a:avLst/>
          </a:prstGeom>
          <a:ln w="15875">
            <a:solidFill>
              <a:srgbClr val="6B7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444898" y="3145536"/>
            <a:ext cx="3301898" cy="603504"/>
          </a:xfrm>
          <a:prstGeom prst="roundRect">
            <a:avLst>
              <a:gd name="adj" fmla="val 10000"/>
            </a:avLst>
          </a:prstGeom>
          <a:solidFill>
            <a:srgbClr val="D9EDE0"/>
          </a:solidFill>
          <a:ln w="12700">
            <a:solidFill>
              <a:srgbClr val="4E8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95000"/>
              </a:lnSpc>
            </a:pPr>
            <a:r>
              <a:rPr sz="900" b="1">
                <a:solidFill>
                  <a:srgbClr val="1A2634"/>
                </a:solidFill>
                <a:latin typeface="Segoe UI" panose="020B0502040204020203"/>
              </a:rPr>
              <a:t>Mark payment investigate</a:t>
            </a:r>
            <a:endParaRPr sz="900" b="1">
              <a:solidFill>
                <a:srgbClr val="1A2634"/>
              </a:solidFill>
              <a:latin typeface="Segoe UI" panose="020B0502040204020203"/>
            </a:endParaRPr>
          </a:p>
          <a:p>
            <a:pPr algn="ctr">
              <a:lnSpc>
                <a:spcPct val="95000"/>
              </a:lnSpc>
            </a:pPr>
            <a:r>
              <a:rPr sz="700" b="0">
                <a:solidFill>
                  <a:srgbClr val="5A6B7B"/>
                </a:solidFill>
                <a:latin typeface="Segoe UI" panose="020B0502040204020203"/>
              </a:rPr>
              <a:t>mark-payment-investigate → ledger INVESTIGATE</a:t>
            </a:r>
            <a:endParaRPr sz="700" b="0">
              <a:solidFill>
                <a:srgbClr val="5A6B7B"/>
              </a:solidFill>
              <a:latin typeface="Segoe UI" panose="020B0502040204020203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6095847" y="3767327"/>
            <a:ext cx="0" cy="109729"/>
          </a:xfrm>
          <a:prstGeom prst="line">
            <a:avLst/>
          </a:prstGeom>
          <a:ln w="15875">
            <a:solidFill>
              <a:srgbClr val="6B7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444898" y="3895344"/>
            <a:ext cx="3301898" cy="603504"/>
          </a:xfrm>
          <a:prstGeom prst="roundRect">
            <a:avLst>
              <a:gd name="adj" fmla="val 10000"/>
            </a:avLst>
          </a:prstGeom>
          <a:solidFill>
            <a:srgbClr val="DCE9F7"/>
          </a:solidFill>
          <a:ln w="12700">
            <a:solidFill>
              <a:srgbClr val="4A7E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95000"/>
              </a:lnSpc>
            </a:pPr>
            <a:r>
              <a:rPr sz="900" b="1">
                <a:solidFill>
                  <a:srgbClr val="1A2634"/>
                </a:solidFill>
                <a:latin typeface="Segoe UI" panose="020B0502040204020203"/>
              </a:rPr>
              <a:t>Resolve funding issue</a:t>
            </a:r>
            <a:endParaRPr sz="900" b="1">
              <a:solidFill>
                <a:srgbClr val="1A2634"/>
              </a:solidFill>
              <a:latin typeface="Segoe UI" panose="020B0502040204020203"/>
            </a:endParaRPr>
          </a:p>
          <a:p>
            <a:pPr algn="ctr">
              <a:lnSpc>
                <a:spcPct val="95000"/>
              </a:lnSpc>
            </a:pPr>
            <a:r>
              <a:rPr sz="700" b="0">
                <a:solidFill>
                  <a:srgbClr val="5A6B7B"/>
                </a:solidFill>
                <a:latin typeface="Segoe UI" panose="020B0502040204020203"/>
              </a:rPr>
              <a:t>P7 · simple_record · human decision</a:t>
            </a:r>
            <a:endParaRPr sz="700" b="0">
              <a:solidFill>
                <a:srgbClr val="5A6B7B"/>
              </a:solidFill>
              <a:latin typeface="Segoe UI" panose="020B0502040204020203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6095847" y="4517136"/>
            <a:ext cx="0" cy="109728"/>
          </a:xfrm>
          <a:prstGeom prst="line">
            <a:avLst/>
          </a:prstGeom>
          <a:ln w="15875">
            <a:solidFill>
              <a:srgbClr val="6B7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444898" y="4645152"/>
            <a:ext cx="3301898" cy="603504"/>
          </a:xfrm>
          <a:prstGeom prst="roundRect">
            <a:avLst>
              <a:gd name="adj" fmla="val 10000"/>
            </a:avLst>
          </a:prstGeom>
          <a:solidFill>
            <a:srgbClr val="D9EDE0"/>
          </a:solidFill>
          <a:ln w="12700">
            <a:solidFill>
              <a:srgbClr val="4E8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95000"/>
              </a:lnSpc>
            </a:pPr>
            <a:r>
              <a:rPr sz="900" b="1">
                <a:solidFill>
                  <a:srgbClr val="1A2634"/>
                </a:solidFill>
                <a:latin typeface="Segoe UI" panose="020B0502040204020203"/>
              </a:rPr>
              <a:t>Approve and record refund</a:t>
            </a:r>
            <a:endParaRPr sz="900" b="1">
              <a:solidFill>
                <a:srgbClr val="1A2634"/>
              </a:solidFill>
              <a:latin typeface="Segoe UI" panose="020B0502040204020203"/>
            </a:endParaRPr>
          </a:p>
          <a:p>
            <a:pPr algn="ctr">
              <a:lnSpc>
                <a:spcPct val="95000"/>
              </a:lnSpc>
            </a:pPr>
            <a:r>
              <a:rPr sz="700" b="0">
                <a:solidFill>
                  <a:srgbClr val="5A6B7B"/>
                </a:solidFill>
                <a:latin typeface="Segoe UI" panose="020B0502040204020203"/>
              </a:rPr>
              <a:t>request-refund · resolved → SUCCESSFUL</a:t>
            </a:r>
            <a:endParaRPr sz="700" b="0">
              <a:solidFill>
                <a:srgbClr val="5A6B7B"/>
              </a:solidFill>
              <a:latin typeface="Segoe UI" panose="020B0502040204020203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444898" y="5394960"/>
            <a:ext cx="3521354" cy="694943"/>
          </a:xfrm>
          <a:prstGeom prst="rect">
            <a:avLst/>
          </a:prstGeom>
          <a:solidFill>
            <a:srgbClr val="F3F7FA"/>
          </a:solidFill>
          <a:ln w="9525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4554626" y="5495544"/>
            <a:ext cx="3301898" cy="5120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5A6B7B"/>
                </a:solidFill>
                <a:latin typeface="Segoe UI" panose="020B0502040204020203"/>
              </a:rPr>
              <a:t>Guard: payment_requested_once = true, so the engine never charges the patient a second time. Ledger rows stay at 1.</a:t>
            </a:r>
            <a:endParaRPr sz="800" b="0">
              <a:solidFill>
                <a:srgbClr val="5A6B7B"/>
              </a:solidFill>
              <a:latin typeface="Segoe UI" panose="020B0502040204020203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277148" y="1298448"/>
            <a:ext cx="352135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F5C8B"/>
                </a:solidFill>
                <a:latin typeface="Segoe UI" panose="020B0502040204020203"/>
              </a:rPr>
              <a:t>Exception — a care change that moves money</a:t>
            </a:r>
            <a:endParaRPr sz="1050" b="1">
              <a:solidFill>
                <a:srgbClr val="1F5C8B"/>
              </a:solidFill>
              <a:latin typeface="Segoe UI" panose="020B0502040204020203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277148" y="1554480"/>
            <a:ext cx="3521354" cy="20116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31" name="Rounded Rectangle 30"/>
          <p:cNvSpPr/>
          <p:nvPr/>
        </p:nvSpPr>
        <p:spPr>
          <a:xfrm>
            <a:off x="8277148" y="1645920"/>
            <a:ext cx="3301898" cy="603504"/>
          </a:xfrm>
          <a:prstGeom prst="roundRect">
            <a:avLst>
              <a:gd name="adj" fmla="val 10000"/>
            </a:avLst>
          </a:prstGeom>
          <a:solidFill>
            <a:srgbClr val="DCE9F7"/>
          </a:solidFill>
          <a:ln w="12700">
            <a:solidFill>
              <a:srgbClr val="4A7E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95000"/>
              </a:lnSpc>
            </a:pPr>
            <a:r>
              <a:rPr sz="900" b="1">
                <a:solidFill>
                  <a:srgbClr val="1A2634"/>
                </a:solidFill>
                <a:latin typeface="Segoe UI" panose="020B0502040204020203"/>
              </a:rPr>
              <a:t>Authorise modification</a:t>
            </a:r>
            <a:endParaRPr sz="900" b="1">
              <a:solidFill>
                <a:srgbClr val="1A2634"/>
              </a:solidFill>
              <a:latin typeface="Segoe UI" panose="020B0502040204020203"/>
            </a:endParaRPr>
          </a:p>
          <a:p>
            <a:pPr algn="ctr">
              <a:lnSpc>
                <a:spcPct val="95000"/>
              </a:lnSpc>
            </a:pPr>
            <a:r>
              <a:rPr sz="700" b="0">
                <a:solidFill>
                  <a:srgbClr val="5A6B7B"/>
                </a:solidFill>
                <a:latin typeface="Segoe UI" panose="020B0502040204020203"/>
              </a:rPr>
              <a:t>P11/P12 · clinical_change</a:t>
            </a:r>
            <a:endParaRPr sz="700" b="0">
              <a:solidFill>
                <a:srgbClr val="5A6B7B"/>
              </a:solidFill>
              <a:latin typeface="Segoe UI" panose="020B0502040204020203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9928098" y="2267712"/>
            <a:ext cx="0" cy="109728"/>
          </a:xfrm>
          <a:prstGeom prst="line">
            <a:avLst/>
          </a:prstGeom>
          <a:ln w="15875">
            <a:solidFill>
              <a:srgbClr val="6B7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Diamond 32"/>
          <p:cNvSpPr/>
          <p:nvPr/>
        </p:nvSpPr>
        <p:spPr>
          <a:xfrm>
            <a:off x="8277148" y="2395728"/>
            <a:ext cx="3301898" cy="603504"/>
          </a:xfrm>
          <a:prstGeom prst="diamond">
            <a:avLst/>
          </a:prstGeom>
          <a:solidFill>
            <a:srgbClr val="FBEBD3"/>
          </a:solidFill>
          <a:ln w="12700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95000"/>
              </a:lnSpc>
            </a:pPr>
            <a:r>
              <a:rPr sz="900" b="1">
                <a:solidFill>
                  <a:srgbClr val="1A2634"/>
                </a:solidFill>
                <a:latin typeface="Segoe UI" panose="020B0502040204020203"/>
              </a:rPr>
              <a:t>Formal request authorised?</a:t>
            </a:r>
            <a:endParaRPr sz="900" b="1">
              <a:solidFill>
                <a:srgbClr val="1A2634"/>
              </a:solidFill>
              <a:latin typeface="Segoe UI" panose="020B0502040204020203"/>
            </a:endParaRPr>
          </a:p>
          <a:p>
            <a:pPr algn="ctr">
              <a:lnSpc>
                <a:spcPct val="95000"/>
              </a:lnSpc>
            </a:pPr>
            <a:r>
              <a:rPr sz="700" b="0">
                <a:solidFill>
                  <a:srgbClr val="5A6B7B"/>
                </a:solidFill>
                <a:latin typeface="Segoe UI" panose="020B0502040204020203"/>
              </a:rPr>
              <a:t>changeTarget ≠ invalid</a:t>
            </a:r>
            <a:endParaRPr sz="700" b="0">
              <a:solidFill>
                <a:srgbClr val="5A6B7B"/>
              </a:solidFill>
              <a:latin typeface="Segoe UI" panose="020B0502040204020203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9928098" y="3017520"/>
            <a:ext cx="0" cy="109728"/>
          </a:xfrm>
          <a:prstGeom prst="line">
            <a:avLst/>
          </a:prstGeom>
          <a:ln w="15875">
            <a:solidFill>
              <a:srgbClr val="6B7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277148" y="3145536"/>
            <a:ext cx="3301898" cy="603504"/>
          </a:xfrm>
          <a:prstGeom prst="roundRect">
            <a:avLst>
              <a:gd name="adj" fmla="val 10000"/>
            </a:avLst>
          </a:prstGeom>
          <a:solidFill>
            <a:srgbClr val="D9EDE0"/>
          </a:solidFill>
          <a:ln w="12700">
            <a:solidFill>
              <a:srgbClr val="4E8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95000"/>
              </a:lnSpc>
            </a:pPr>
            <a:r>
              <a:rPr sz="900" b="1">
                <a:solidFill>
                  <a:srgbClr val="1A2634"/>
                </a:solidFill>
                <a:latin typeface="Segoe UI" panose="020B0502040204020203"/>
              </a:rPr>
              <a:t>Notify care change</a:t>
            </a:r>
            <a:endParaRPr sz="900" b="1">
              <a:solidFill>
                <a:srgbClr val="1A2634"/>
              </a:solidFill>
              <a:latin typeface="Segoe UI" panose="020B0502040204020203"/>
            </a:endParaRPr>
          </a:p>
          <a:p>
            <a:pPr algn="ctr">
              <a:lnSpc>
                <a:spcPct val="95000"/>
              </a:lnSpc>
            </a:pPr>
            <a:r>
              <a:rPr sz="700" b="0">
                <a:solidFill>
                  <a:srgbClr val="5A6B7B"/>
                </a:solidFill>
                <a:latin typeface="Segoe UI" panose="020B0502040204020203"/>
              </a:rPr>
              <a:t>notify-care-change → SENT / REVIEW</a:t>
            </a:r>
            <a:endParaRPr sz="700" b="0">
              <a:solidFill>
                <a:srgbClr val="5A6B7B"/>
              </a:solidFill>
              <a:latin typeface="Segoe UI" panose="020B0502040204020203"/>
            </a:endParaRPr>
          </a:p>
        </p:txBody>
      </p:sp>
      <p:cxnSp>
        <p:nvCxnSpPr>
          <p:cNvPr id="36" name="Connector 35"/>
          <p:cNvCxnSpPr/>
          <p:nvPr/>
        </p:nvCxnSpPr>
        <p:spPr>
          <a:xfrm>
            <a:off x="9928098" y="3767327"/>
            <a:ext cx="0" cy="109729"/>
          </a:xfrm>
          <a:prstGeom prst="line">
            <a:avLst/>
          </a:prstGeom>
          <a:ln w="15875">
            <a:solidFill>
              <a:srgbClr val="6B7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Diamond 36"/>
          <p:cNvSpPr/>
          <p:nvPr/>
        </p:nvSpPr>
        <p:spPr>
          <a:xfrm>
            <a:off x="8277148" y="3895344"/>
            <a:ext cx="3301898" cy="603504"/>
          </a:xfrm>
          <a:prstGeom prst="diamond">
            <a:avLst/>
          </a:prstGeom>
          <a:solidFill>
            <a:srgbClr val="FBEBD3"/>
          </a:solidFill>
          <a:ln w="12700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95000"/>
              </a:lnSpc>
            </a:pPr>
            <a:r>
              <a:rPr sz="900" b="1">
                <a:solidFill>
                  <a:srgbClr val="1A2634"/>
                </a:solidFill>
                <a:latin typeface="Segoe UI" panose="020B0502040204020203"/>
              </a:rPr>
              <a:t>Financial impact?</a:t>
            </a:r>
            <a:endParaRPr sz="900" b="1">
              <a:solidFill>
                <a:srgbClr val="1A2634"/>
              </a:solidFill>
              <a:latin typeface="Segoe UI" panose="020B0502040204020203"/>
            </a:endParaRPr>
          </a:p>
          <a:p>
            <a:pPr algn="ctr">
              <a:lnSpc>
                <a:spcPct val="95000"/>
              </a:lnSpc>
            </a:pPr>
            <a:r>
              <a:rPr sz="700" b="0">
                <a:solidFill>
                  <a:srgbClr val="5A6B7B"/>
                </a:solidFill>
                <a:latin typeface="Segoe UI" panose="020B0502040204020203"/>
              </a:rPr>
              <a:t>moneyAffected = true</a:t>
            </a:r>
            <a:endParaRPr sz="700" b="0">
              <a:solidFill>
                <a:srgbClr val="5A6B7B"/>
              </a:solidFill>
              <a:latin typeface="Segoe UI" panose="020B0502040204020203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9928098" y="4517136"/>
            <a:ext cx="0" cy="109728"/>
          </a:xfrm>
          <a:prstGeom prst="line">
            <a:avLst/>
          </a:prstGeom>
          <a:ln w="15875">
            <a:solidFill>
              <a:srgbClr val="6B7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277148" y="4645152"/>
            <a:ext cx="3301898" cy="603504"/>
          </a:xfrm>
          <a:prstGeom prst="roundRect">
            <a:avLst>
              <a:gd name="adj" fmla="val 10000"/>
            </a:avLst>
          </a:prstGeom>
          <a:solidFill>
            <a:srgbClr val="D9EDE0"/>
          </a:solidFill>
          <a:ln w="12700">
            <a:solidFill>
              <a:srgbClr val="4E8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95000"/>
              </a:lnSpc>
            </a:pPr>
            <a:r>
              <a:rPr sz="900" b="1">
                <a:solidFill>
                  <a:srgbClr val="1A2634"/>
                </a:solidFill>
                <a:latin typeface="Segoe UI" panose="020B0502040204020203"/>
              </a:rPr>
              <a:t>Approve and record refund</a:t>
            </a:r>
            <a:endParaRPr sz="900" b="1">
              <a:solidFill>
                <a:srgbClr val="1A2634"/>
              </a:solidFill>
              <a:latin typeface="Segoe UI" panose="020B0502040204020203"/>
            </a:endParaRPr>
          </a:p>
          <a:p>
            <a:pPr algn="ctr">
              <a:lnSpc>
                <a:spcPct val="95000"/>
              </a:lnSpc>
            </a:pPr>
            <a:r>
              <a:rPr sz="700" b="0">
                <a:solidFill>
                  <a:srgbClr val="5A6B7B"/>
                </a:solidFill>
                <a:latin typeface="Segoe UI" panose="020B0502040204020203"/>
              </a:rPr>
              <a:t>request-refund · decided by Finance</a:t>
            </a:r>
            <a:endParaRPr sz="700" b="0">
              <a:solidFill>
                <a:srgbClr val="5A6B7B"/>
              </a:solidFill>
              <a:latin typeface="Segoe UI" panose="020B0502040204020203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8277148" y="5394960"/>
            <a:ext cx="3521354" cy="694943"/>
          </a:xfrm>
          <a:prstGeom prst="rect">
            <a:avLst/>
          </a:prstGeom>
          <a:solidFill>
            <a:srgbClr val="F3F7FA"/>
          </a:solidFill>
          <a:ln w="9525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41" name="TextBox 40"/>
          <p:cNvSpPr txBox="1"/>
          <p:nvPr/>
        </p:nvSpPr>
        <p:spPr>
          <a:xfrm>
            <a:off x="8386876" y="5495544"/>
            <a:ext cx="3301898" cy="5120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5A6B7B"/>
                </a:solidFill>
                <a:latin typeface="Segoe UI" panose="020B0502040204020203"/>
              </a:rPr>
              <a:t>Skipped branch: changeTarget = invalid → SKIPPED_UNAUTHORISED, no notice sent, token returns for records.</a:t>
            </a:r>
            <a:endParaRPr sz="800" b="0">
              <a:solidFill>
                <a:srgbClr val="5A6B7B"/>
              </a:solidFill>
              <a:latin typeface="Segoe UI" panose="020B0502040204020203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02920" y="6419088"/>
            <a:ext cx="11185855" cy="10972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502920" y="6473952"/>
            <a:ext cx="106372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5A6B7B"/>
                </a:solidFill>
                <a:latin typeface="Segoe UI" panose="020B0502040204020203"/>
              </a:rPr>
              <a:t>Hospital Pathway · Camunda 8 · AISD Part 2</a:t>
            </a:r>
            <a:endParaRPr sz="800" b="0">
              <a:solidFill>
                <a:srgbClr val="5A6B7B"/>
              </a:solidFill>
              <a:latin typeface="Segoe UI" panose="020B0502040204020203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1140135" y="6473952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5A6B7B"/>
                </a:solidFill>
                <a:latin typeface="Segoe UI" panose="020B0502040204020203"/>
              </a:rPr>
              <a:t>3</a:t>
            </a:r>
            <a:endParaRPr sz="800" b="0">
              <a:solidFill>
                <a:srgbClr val="5A6B7B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F5C8B"/>
                </a:solidFill>
                <a:latin typeface="Segoe UI" panose="020B0502040204020203"/>
              </a:rPr>
              <a:t>TASK 02 · ACCEPTANCE TEST PLAN (1 OF 2)</a:t>
            </a:r>
            <a:endParaRPr sz="1050" b="1">
              <a:solidFill>
                <a:srgbClr val="1F5C8B"/>
              </a:solidFill>
              <a:latin typeface="Segoe UI" panose="020B05020402040202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8585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>
                <a:solidFill>
                  <a:srgbClr val="1A2634"/>
                </a:solidFill>
                <a:latin typeface="Segoe UI" panose="020B0502040204020203"/>
              </a:rPr>
              <a:t>Measurable acceptance criteria — process scenarios</a:t>
            </a:r>
            <a:endParaRPr sz="2300" b="1">
              <a:solidFill>
                <a:srgbClr val="1A2634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85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A6B7B"/>
                </a:solidFill>
                <a:latin typeface="Segoe UI" panose="020B0502040204020203"/>
              </a:rPr>
              <a:t>Each row carries all six required elements: scenario · preconditions · test data · actions · expected outcome · pass / fail.</a:t>
            </a:r>
            <a:endParaRPr sz="1050" b="0">
              <a:solidFill>
                <a:srgbClr val="5A6B7B"/>
              </a:solidFill>
              <a:latin typeface="Segoe UI" panose="020B0502040204020203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61872"/>
          <a:ext cx="11185851" cy="4974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972"/>
                <a:gridCol w="1481691"/>
                <a:gridCol w="1353643"/>
                <a:gridCol w="1390228"/>
                <a:gridCol w="2213390"/>
                <a:gridCol w="2396315"/>
                <a:gridCol w="2039612"/>
              </a:tblGrid>
              <a:tr h="310896">
                <a:tc>
                  <a:txBody>
                    <a:bodyPr/>
                    <a:lstStyle/>
                    <a:p>
                      <a:r>
                        <a:rPr sz="840" b="1">
                          <a:solidFill>
                            <a:srgbClr val="FFFFFF"/>
                          </a:solidFill>
                          <a:latin typeface="Segoe UI" panose="020B0502040204020203"/>
                        </a:rPr>
                        <a:t>#</a:t>
                      </a:r>
                      <a:endParaRPr sz="840" b="1">
                        <a:solidFill>
                          <a:srgbClr val="FFFFFF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27432" marB="27432" anchor="ctr">
                    <a:solidFill>
                      <a:srgbClr val="1F5C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0" b="1">
                          <a:solidFill>
                            <a:srgbClr val="FFFFFF"/>
                          </a:solidFill>
                          <a:latin typeface="Segoe UI" panose="020B0502040204020203"/>
                        </a:rPr>
                        <a:t>Test scenario</a:t>
                      </a:r>
                      <a:endParaRPr sz="840" b="1">
                        <a:solidFill>
                          <a:srgbClr val="FFFFFF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27432" marB="27432" anchor="ctr">
                    <a:solidFill>
                      <a:srgbClr val="1F5C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0" b="1">
                          <a:solidFill>
                            <a:srgbClr val="FFFFFF"/>
                          </a:solidFill>
                          <a:latin typeface="Segoe UI" panose="020B0502040204020203"/>
                        </a:rPr>
                        <a:t>Preconditions</a:t>
                      </a:r>
                      <a:endParaRPr sz="840" b="1">
                        <a:solidFill>
                          <a:srgbClr val="FFFFFF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27432" marB="27432" anchor="ctr">
                    <a:solidFill>
                      <a:srgbClr val="1F5C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0" b="1">
                          <a:solidFill>
                            <a:srgbClr val="FFFFFF"/>
                          </a:solidFill>
                          <a:latin typeface="Segoe UI" panose="020B0502040204020203"/>
                        </a:rPr>
                        <a:t>Test data</a:t>
                      </a:r>
                      <a:endParaRPr sz="840" b="1">
                        <a:solidFill>
                          <a:srgbClr val="FFFFFF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27432" marB="27432" anchor="ctr">
                    <a:solidFill>
                      <a:srgbClr val="1F5C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0" b="1">
                          <a:solidFill>
                            <a:srgbClr val="FFFFFF"/>
                          </a:solidFill>
                          <a:latin typeface="Segoe UI" panose="020B0502040204020203"/>
                        </a:rPr>
                        <a:t>Actions</a:t>
                      </a:r>
                      <a:endParaRPr sz="840" b="1">
                        <a:solidFill>
                          <a:srgbClr val="FFFFFF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27432" marB="27432" anchor="ctr">
                    <a:solidFill>
                      <a:srgbClr val="1F5C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0" b="1">
                          <a:solidFill>
                            <a:srgbClr val="FFFFFF"/>
                          </a:solidFill>
                          <a:latin typeface="Segoe UI" panose="020B0502040204020203"/>
                        </a:rPr>
                        <a:t>Expected outcome</a:t>
                      </a:r>
                      <a:endParaRPr sz="840" b="1">
                        <a:solidFill>
                          <a:srgbClr val="FFFFFF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27432" marB="27432" anchor="ctr">
                    <a:solidFill>
                      <a:srgbClr val="1F5C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0" b="1">
                          <a:solidFill>
                            <a:srgbClr val="FFFFFF"/>
                          </a:solidFill>
                          <a:latin typeface="Segoe UI" panose="020B0502040204020203"/>
                        </a:rPr>
                        <a:t>Pass / fail criteria</a:t>
                      </a:r>
                      <a:endParaRPr sz="840" b="1">
                        <a:solidFill>
                          <a:srgbClr val="FFFFFF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27432" marB="27432" anchor="ctr">
                    <a:solidFill>
                      <a:srgbClr val="1F5C8B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1">
                          <a:solidFill>
                            <a:srgbClr val="1F5C8B"/>
                          </a:solidFill>
                          <a:latin typeface="Segoe UI" panose="020B0502040204020203"/>
                        </a:rPr>
                        <a:t>S1</a:t>
                      </a:r>
                      <a:endParaRPr sz="800" b="1">
                        <a:solidFill>
                          <a:srgbClr val="1F5C8B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Normal path — self-pay patient pays, is treated and discharged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Camunda 8 running; Java workers started; no ledger row exists for the case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case DEMO-JAVA-01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charge_amount "10.01"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fundingStatus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patient_payment_required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Start process → register as referral → referral accepted → visit attended → P5 authorise treatment → letter → P7 patient payment required + 10.01 → P6 resources available → P5 authorise discharge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Logs: request-payment SUCCESS … publishing payment-result, then send-booking-confirmation SENT. Instance COMPLETED at end event Care episode ended. payment_ledger = 1 row, status SUCCESSFUL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PASS = all four observations. FAIL = any log missing, or the instance is still ACTIVE.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1">
                          <a:solidFill>
                            <a:srgbClr val="1F5C8B"/>
                          </a:solidFill>
                          <a:latin typeface="Segoe UI" panose="020B0502040204020203"/>
                        </a:rPr>
                        <a:t>S2</a:t>
                      </a:r>
                      <a:endParaRPr sz="800" b="1">
                        <a:solidFill>
                          <a:srgbClr val="1F5C8B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Exception — payment is unsuccessful (demo rule: amount ends in 0)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Same as S1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case DEMO-JAVA-01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charge_amount "10.00"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Same as S1 up to and including P7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Log request-payment UNSUCCESSFUL. mark-payment-investigate writes payment_ledger status INVESTIGATE. Token waits at the human task Resolve funding issue. No second charge is issued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PASS = token is NOT at BookTreatment and the ledger holds exactly 1 INVESTIGATE row. FAIL = booking reached, or more than 1 ledger row.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3F7FA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1">
                          <a:solidFill>
                            <a:srgbClr val="1F5C8B"/>
                          </a:solidFill>
                          <a:latin typeface="Segoe UI" panose="020B0502040204020203"/>
                        </a:rPr>
                        <a:t>S3</a:t>
                      </a:r>
                      <a:endParaRPr sz="800" b="1">
                        <a:solidFill>
                          <a:srgbClr val="1F5C8B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Alternative — funding already settled, provider is not called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Case has reached P7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fundingStatus "hospital_funded"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(also insurer_approved /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patient_paid / arrangement)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charge_amount empty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Complete P7 with that funding outcome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No request-payment log line at all. Token goes straight to P6 Confirm treatment booking. payment_ledger has 0 rows for the case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PASS = zero payment logs and zero ledger rows. FAIL = any provider call recorded.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1">
                          <a:solidFill>
                            <a:srgbClr val="1F5C8B"/>
                          </a:solidFill>
                          <a:latin typeface="Segoe UI" panose="020B0502040204020203"/>
                        </a:rPr>
                        <a:t>S4</a:t>
                      </a:r>
                      <a:endParaRPr sz="800" b="1">
                        <a:solidFill>
                          <a:srgbClr val="1F5C8B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Exception — a clinical change that moves money, refund recorded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An active case has reached the clinical-change step (P11/P12)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case DEMO-001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financeAdjustment "resolved"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charge_amount "25.50"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P11/P12 authorise modification → moneyAffected = true → P7/P11/P12 approve and record refund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request-refund returns refund_status SUCCESSFUL, refund_recorded true, refund_transaction_reference starting RF-. Ledger amount 25.50. audit_event action request-refund. Process continues to the revised clinical plan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PASS = all four returned values match and there is exactly 1 ledger row. FAIL = missing audit row, or status ≠ SUCCESSFUL.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3F7FA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1">
                          <a:solidFill>
                            <a:srgbClr val="1F5C8B"/>
                          </a:solidFill>
                          <a:latin typeface="Segoe UI" panose="020B0502040204020203"/>
                        </a:rPr>
                        <a:t>S5</a:t>
                      </a:r>
                      <a:endParaRPr sz="800" b="1">
                        <a:solidFill>
                          <a:srgbClr val="1F5C8B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Alternative — urgent care requires clinician authorisation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Case has reached P7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fundingStatus "urgent_review"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then urgentDecision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authorise | hold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Complete P7 with urgent_review → P8 clinician authorises urgent care with reason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authorise → urgentCase true and the token reaches P6 booking. hold → the token returns to P7 Funding and never reaches booking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PASS = routing matches the decision. FAIL = booking is reached after hold.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172200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A6B7B"/>
                </a:solidFill>
                <a:latin typeface="Segoe UI" panose="020B0502040204020203"/>
              </a:rPr>
              <a:t>S1–S3 are demonstrated live in Camunda Tasklist; S4–S5 are demonstrated by the console log and the Operate variable view.</a:t>
            </a:r>
            <a:endParaRPr sz="850" b="0">
              <a:solidFill>
                <a:srgbClr val="5A6B7B"/>
              </a:solidFill>
              <a:latin typeface="Segoe UI" panose="020B05020402040202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11185855" cy="10972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06372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5A6B7B"/>
                </a:solidFill>
                <a:latin typeface="Segoe UI" panose="020B0502040204020203"/>
              </a:rPr>
              <a:t>Hospital Pathway · Camunda 8 · AISD Part 2</a:t>
            </a:r>
            <a:endParaRPr sz="800" b="0">
              <a:solidFill>
                <a:srgbClr val="5A6B7B"/>
              </a:solidFill>
              <a:latin typeface="Segoe UI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140135" y="6473952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5A6B7B"/>
                </a:solidFill>
                <a:latin typeface="Segoe UI" panose="020B0502040204020203"/>
              </a:rPr>
              <a:t>4</a:t>
            </a:r>
            <a:endParaRPr sz="800" b="0">
              <a:solidFill>
                <a:srgbClr val="5A6B7B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F5C8B"/>
                </a:solidFill>
                <a:latin typeface="Segoe UI" panose="020B0502040204020203"/>
              </a:rPr>
              <a:t>TASK 02 · ACCEPTANCE TEST PLAN (2 OF 2)</a:t>
            </a:r>
            <a:endParaRPr sz="1050" b="1">
              <a:solidFill>
                <a:srgbClr val="1F5C8B"/>
              </a:solidFill>
              <a:latin typeface="Segoe UI" panose="020B05020402040202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8585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>
                <a:solidFill>
                  <a:srgbClr val="1A2634"/>
                </a:solidFill>
                <a:latin typeface="Segoe UI" panose="020B0502040204020203"/>
              </a:rPr>
              <a:t>Measurable acceptance criteria — worker-level and negative scenarios</a:t>
            </a:r>
            <a:endParaRPr sz="2300" b="1">
              <a:solidFill>
                <a:srgbClr val="1A2634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85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A6B7B"/>
                </a:solidFill>
                <a:latin typeface="Segoe UI" panose="020B0502040204020203"/>
              </a:rPr>
              <a:t>These are the checks that prove the external workers are safe to retry and safe to fail.</a:t>
            </a:r>
            <a:endParaRPr sz="1050" b="0">
              <a:solidFill>
                <a:srgbClr val="5A6B7B"/>
              </a:solidFill>
              <a:latin typeface="Segoe UI" panose="020B0502040204020203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61872"/>
          <a:ext cx="11185851" cy="4974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972"/>
                <a:gridCol w="1481691"/>
                <a:gridCol w="1353643"/>
                <a:gridCol w="1390228"/>
                <a:gridCol w="2213390"/>
                <a:gridCol w="2396315"/>
                <a:gridCol w="2039612"/>
              </a:tblGrid>
              <a:tr h="310896">
                <a:tc>
                  <a:txBody>
                    <a:bodyPr/>
                    <a:lstStyle/>
                    <a:p>
                      <a:r>
                        <a:rPr sz="840" b="1">
                          <a:solidFill>
                            <a:srgbClr val="FFFFFF"/>
                          </a:solidFill>
                          <a:latin typeface="Segoe UI" panose="020B0502040204020203"/>
                        </a:rPr>
                        <a:t>#</a:t>
                      </a:r>
                      <a:endParaRPr sz="840" b="1">
                        <a:solidFill>
                          <a:srgbClr val="FFFFFF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27432" marB="27432" anchor="ctr">
                    <a:solidFill>
                      <a:srgbClr val="1F5C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0" b="1">
                          <a:solidFill>
                            <a:srgbClr val="FFFFFF"/>
                          </a:solidFill>
                          <a:latin typeface="Segoe UI" panose="020B0502040204020203"/>
                        </a:rPr>
                        <a:t>Test scenario</a:t>
                      </a:r>
                      <a:endParaRPr sz="840" b="1">
                        <a:solidFill>
                          <a:srgbClr val="FFFFFF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27432" marB="27432" anchor="ctr">
                    <a:solidFill>
                      <a:srgbClr val="1F5C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0" b="1">
                          <a:solidFill>
                            <a:srgbClr val="FFFFFF"/>
                          </a:solidFill>
                          <a:latin typeface="Segoe UI" panose="020B0502040204020203"/>
                        </a:rPr>
                        <a:t>Preconditions</a:t>
                      </a:r>
                      <a:endParaRPr sz="840" b="1">
                        <a:solidFill>
                          <a:srgbClr val="FFFFFF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27432" marB="27432" anchor="ctr">
                    <a:solidFill>
                      <a:srgbClr val="1F5C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0" b="1">
                          <a:solidFill>
                            <a:srgbClr val="FFFFFF"/>
                          </a:solidFill>
                          <a:latin typeface="Segoe UI" panose="020B0502040204020203"/>
                        </a:rPr>
                        <a:t>Test data</a:t>
                      </a:r>
                      <a:endParaRPr sz="840" b="1">
                        <a:solidFill>
                          <a:srgbClr val="FFFFFF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27432" marB="27432" anchor="ctr">
                    <a:solidFill>
                      <a:srgbClr val="1F5C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0" b="1">
                          <a:solidFill>
                            <a:srgbClr val="FFFFFF"/>
                          </a:solidFill>
                          <a:latin typeface="Segoe UI" panose="020B0502040204020203"/>
                        </a:rPr>
                        <a:t>Actions</a:t>
                      </a:r>
                      <a:endParaRPr sz="840" b="1">
                        <a:solidFill>
                          <a:srgbClr val="FFFFFF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27432" marB="27432" anchor="ctr">
                    <a:solidFill>
                      <a:srgbClr val="1F5C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0" b="1">
                          <a:solidFill>
                            <a:srgbClr val="FFFFFF"/>
                          </a:solidFill>
                          <a:latin typeface="Segoe UI" panose="020B0502040204020203"/>
                        </a:rPr>
                        <a:t>Expected outcome</a:t>
                      </a:r>
                      <a:endParaRPr sz="840" b="1">
                        <a:solidFill>
                          <a:srgbClr val="FFFFFF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27432" marB="27432" anchor="ctr">
                    <a:solidFill>
                      <a:srgbClr val="1F5C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0" b="1">
                          <a:solidFill>
                            <a:srgbClr val="FFFFFF"/>
                          </a:solidFill>
                          <a:latin typeface="Segoe UI" panose="020B0502040204020203"/>
                        </a:rPr>
                        <a:t>Pass / fail criteria</a:t>
                      </a:r>
                      <a:endParaRPr sz="840" b="1">
                        <a:solidFill>
                          <a:srgbClr val="FFFFFF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27432" marB="27432" anchor="ctr">
                    <a:solidFill>
                      <a:srgbClr val="1F5C8B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1">
                          <a:solidFill>
                            <a:srgbClr val="1F5C8B"/>
                          </a:solidFill>
                          <a:latin typeface="Segoe UI" panose="020B0502040204020203"/>
                        </a:rPr>
                        <a:t>S6</a:t>
                      </a:r>
                      <a:endParaRPr sz="800" b="1">
                        <a:solidFill>
                          <a:srgbClr val="1F5C8B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Worker idempotency — the same payment is requested twice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S1 has already completed once for this case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case DEMO-JAVA-01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payment_requested_once = true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Trigger request-payment again with the same case reference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Log: request-payment idempotent reuse. Returned payment_status and transaction_reference are unchanged. payment_ledger row count stays 1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PASS = identical values and 1 row. FAIL = a new row, or a new transaction reference.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1">
                          <a:solidFill>
                            <a:srgbClr val="1F5C8B"/>
                          </a:solidFill>
                          <a:latin typeface="Segoe UI" panose="020B0502040204020203"/>
                        </a:rPr>
                        <a:t>S7</a:t>
                      </a:r>
                      <a:endParaRPr sz="800" b="1">
                        <a:solidFill>
                          <a:srgbClr val="1F5C8B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Worker idempotency — the same refund is requested twice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Clean ledger and audit table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case A-REF-003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financeAdjustment "resolved"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charge_amount "12.00"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Call request-refund twice with exactly the same variables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The second call returns exactly the same map as the first. Ledger count = 1. Audit count = 1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PASS = both counts are exactly 1. FAIL = any duplicate row in either table.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3F7FA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1">
                          <a:solidFill>
                            <a:srgbClr val="1F5C8B"/>
                          </a:solidFill>
                          <a:latin typeface="Segoe UI" panose="020B0502040204020203"/>
                        </a:rPr>
                        <a:t>S8</a:t>
                      </a:r>
                      <a:endParaRPr sz="800" b="1">
                        <a:solidFill>
                          <a:srgbClr val="1F5C8B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Negative — invalid payment input must write nothing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Clean ledger and audit table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variables with no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case_reference and no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patientId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Call request-payment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The job fails with error code payment-input-invalid. No message is published. payment_ledger count = 0. audit_event count = 0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PASS = both counts are 0. FAIL = any row written despite the failure.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1">
                          <a:solidFill>
                            <a:srgbClr val="1F5C8B"/>
                          </a:solidFill>
                          <a:latin typeface="Segoe UI" panose="020B0502040204020203"/>
                        </a:rPr>
                        <a:t>S9</a:t>
                      </a:r>
                      <a:endParaRPr sz="800" b="1">
                        <a:solidFill>
                          <a:srgbClr val="1F5C8B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Negative — a money-affected change is never auto-refunded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Clean audit table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changeTarget "discharge"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moneyAffected = true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Call notify-care-change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careChangeNotificationStatus = SENT_FINANCE_REVIEW_REQUIRED. The result contains no financeAdjustment or fundingStatus key. The token still waits at Finance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PASS = status is exactly SENT_FINANCE_REVIEW_REQUIRED. FAIL = the worker issues a refund by itself.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3F7FA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1">
                          <a:solidFill>
                            <a:srgbClr val="1F5C8B"/>
                          </a:solidFill>
                          <a:latin typeface="Segoe UI" panose="020B0502040204020203"/>
                        </a:rPr>
                        <a:t>S10</a:t>
                      </a:r>
                      <a:endParaRPr sz="800" b="1">
                        <a:solidFill>
                          <a:srgbClr val="1F5C8B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Deployability — model and code cannot drift apart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Repository checked out; Python 3 available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Coursework/hospital-pathway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(all sources)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Run: python scripts/test_member_d_bpmn.py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Every zeebe:taskDefinition type in the BPMN has a matching @JobWorker(type=…) in Java, and every sequence-flow reference agrees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A2634"/>
                          </a:solidFill>
                          <a:latin typeface="Segoe UI" panose="020B0502040204020203"/>
                        </a:rPr>
                        <a:t>PASS = the unittest run reports OK. FAIL = any job type without a worker.</a:t>
                      </a:r>
                      <a:endParaRPr sz="800" b="0">
                        <a:solidFill>
                          <a:srgbClr val="1A2634"/>
                        </a:solidFill>
                        <a:latin typeface="Segoe UI" panose="020B0502040204020203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172200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A6B7B"/>
                </a:solidFill>
                <a:latin typeface="Segoe UI" panose="020B0502040204020203"/>
              </a:rPr>
              <a:t>S6–S9 are automated JUnit tests (MemberAPathwayWorkersTest, MemberDPathwayWorkersTest) against a real H2 database; S10 is a Python test over the BPMN XML.</a:t>
            </a:r>
            <a:endParaRPr sz="850" b="0">
              <a:solidFill>
                <a:srgbClr val="5A6B7B"/>
              </a:solidFill>
              <a:latin typeface="Segoe UI" panose="020B05020402040202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11185855" cy="10972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06372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5A6B7B"/>
                </a:solidFill>
                <a:latin typeface="Segoe UI" panose="020B0502040204020203"/>
              </a:rPr>
              <a:t>Hospital Pathway · Camunda 8 · AISD Part 2</a:t>
            </a:r>
            <a:endParaRPr sz="800" b="0">
              <a:solidFill>
                <a:srgbClr val="5A6B7B"/>
              </a:solidFill>
              <a:latin typeface="Segoe UI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140135" y="6473952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5A6B7B"/>
                </a:solidFill>
                <a:latin typeface="Segoe UI" panose="020B0502040204020203"/>
              </a:rPr>
              <a:t>5</a:t>
            </a:r>
            <a:endParaRPr sz="800" b="0">
              <a:solidFill>
                <a:srgbClr val="5A6B7B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8325</Words>
  <Application>WPS 演示</Application>
  <PresentationFormat>宽屏</PresentationFormat>
  <Paragraphs>376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宋体</vt:lpstr>
      <vt:lpstr>Wingdings</vt:lpstr>
      <vt:lpstr>Arial</vt:lpstr>
      <vt:lpstr>Segoe UI</vt:lpstr>
      <vt:lpstr>Consolas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微信用户</cp:lastModifiedBy>
  <cp:revision>5</cp:revision>
  <dcterms:created xsi:type="dcterms:W3CDTF">2013-01-27T09:14:00Z</dcterms:created>
  <dcterms:modified xsi:type="dcterms:W3CDTF">2026-09-29T01:18:31Z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DA018896D2F745D4A7D50C3CB49B05DF_13</vt:lpwstr>
  </property>
  <property fmtid="{D5CDD505-2E9C-101B-9397-08002B2CF9AE}" pid="3" name="KSOProductBuildVer">
    <vt:lpwstr>2052-12.1.0.28505</vt:lpwstr>
  </property>
</Properties>
</file>